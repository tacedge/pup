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claude-0/-home-user-PUP/2d4cec0e-a52e-5368-bb54-803c6f37698d/scratchpad/logo-trimmed.png">    </p:cNvPr>
          <p:cNvPicPr>
            <a:picLocks noChangeAspect="1"/>
          </p:cNvPicPr>
          <p:nvPr/>
        </p:nvPicPr>
        <p:blipFill>
          <a:blip r:embed="rId1"/>
          <a:stretch>
            <a:fillRect/>
          </a:stretch>
        </p:blipFill>
        <p:spPr>
          <a:xfrm>
            <a:off x="457200" y="329184"/>
            <a:ext cx="1572768" cy="380390"/>
          </a:xfrm>
          <a:prstGeom prst="rect">
            <a:avLst/>
          </a:prstGeom>
        </p:spPr>
      </p:pic>
      <p:sp>
        <p:nvSpPr>
          <p:cNvPr id="3" name="Text 0"/>
          <p:cNvSpPr/>
          <p:nvPr/>
        </p:nvSpPr>
        <p:spPr>
          <a:xfrm>
            <a:off x="457200" y="804672"/>
            <a:ext cx="6647688" cy="384048"/>
          </a:xfrm>
          <a:prstGeom prst="rect">
            <a:avLst/>
          </a:prstGeom>
          <a:noFill/>
          <a:ln/>
        </p:spPr>
        <p:txBody>
          <a:bodyPr wrap="square" lIns="0" tIns="0" rIns="0" bIns="0" rtlCol="0" anchor="ctr"/>
          <a:lstStyle/>
          <a:p>
            <a:pPr algn="l" indent="0" marL="0">
              <a:buNone/>
            </a:pPr>
            <a:r>
              <a:rPr lang="en-US" sz="2500" b="1" dirty="0">
                <a:solidFill>
                  <a:srgbClr val="000000"/>
                </a:solidFill>
                <a:latin typeface="Arial" pitchFamily="34" charset="0"/>
                <a:ea typeface="Arial" pitchFamily="34" charset="-122"/>
                <a:cs typeface="Arial" pitchFamily="34" charset="-120"/>
              </a:rPr>
              <a:t>ELDA COMMAND</a:t>
            </a:r>
            <a:endParaRPr lang="en-US" sz="2500" dirty="0"/>
          </a:p>
        </p:txBody>
      </p:sp>
      <p:sp>
        <p:nvSpPr>
          <p:cNvPr id="4" name="Text 1"/>
          <p:cNvSpPr/>
          <p:nvPr/>
        </p:nvSpPr>
        <p:spPr>
          <a:xfrm>
            <a:off x="457200" y="1170432"/>
            <a:ext cx="6647688" cy="201168"/>
          </a:xfrm>
          <a:prstGeom prst="rect">
            <a:avLst/>
          </a:prstGeom>
          <a:noFill/>
          <a:ln/>
        </p:spPr>
        <p:txBody>
          <a:bodyPr wrap="square" lIns="0" tIns="0" rIns="0" bIns="0" rtlCol="0" anchor="ctr"/>
          <a:lstStyle/>
          <a:p>
            <a:pPr algn="l" indent="0" marL="0">
              <a:buNone/>
            </a:pPr>
            <a:r>
              <a:rPr lang="en-US" sz="1150" dirty="0">
                <a:solidFill>
                  <a:srgbClr val="002516"/>
                </a:solidFill>
                <a:latin typeface="Arial" pitchFamily="34" charset="0"/>
                <a:ea typeface="Arial" pitchFamily="34" charset="-122"/>
                <a:cs typeface="Arial" pitchFamily="34" charset="-120"/>
              </a:rPr>
              <a:t>Experiential Leadership Development Activity</a:t>
            </a:r>
            <a:endParaRPr lang="en-US" sz="1150" dirty="0"/>
          </a:p>
        </p:txBody>
      </p:sp>
      <p:sp>
        <p:nvSpPr>
          <p:cNvPr id="5" name="Text 2"/>
          <p:cNvSpPr/>
          <p:nvPr/>
        </p:nvSpPr>
        <p:spPr>
          <a:xfrm>
            <a:off x="457200" y="1371600"/>
            <a:ext cx="5184648" cy="182880"/>
          </a:xfrm>
          <a:prstGeom prst="rect">
            <a:avLst/>
          </a:prstGeom>
          <a:noFill/>
          <a:ln/>
        </p:spPr>
        <p:txBody>
          <a:bodyPr wrap="square" lIns="0" tIns="0" rIns="0" bIns="0" rtlCol="0" anchor="ctr"/>
          <a:lstStyle/>
          <a:p>
            <a:pPr algn="l" indent="0" marL="0">
              <a:buNone/>
            </a:pPr>
            <a:r>
              <a:rPr lang="en-US" sz="850" i="1" dirty="0">
                <a:solidFill>
                  <a:srgbClr val="7F7F7F"/>
                </a:solidFill>
                <a:latin typeface="Arial" pitchFamily="34" charset="0"/>
                <a:ea typeface="Arial" pitchFamily="34" charset="-122"/>
                <a:cs typeface="Arial" pitchFamily="34" charset="-120"/>
              </a:rPr>
              <a:t>NZ Army Leadership Centre  |  Army Command School</a:t>
            </a:r>
            <a:endParaRPr lang="en-US" sz="850" dirty="0"/>
          </a:p>
        </p:txBody>
      </p:sp>
      <p:sp>
        <p:nvSpPr>
          <p:cNvPr id="6" name="Text 3"/>
          <p:cNvSpPr/>
          <p:nvPr/>
        </p:nvSpPr>
        <p:spPr>
          <a:xfrm>
            <a:off x="5641848" y="1371600"/>
            <a:ext cx="1463040" cy="182880"/>
          </a:xfrm>
          <a:prstGeom prst="rect">
            <a:avLst/>
          </a:prstGeom>
          <a:noFill/>
          <a:ln/>
        </p:spPr>
        <p:txBody>
          <a:bodyPr wrap="square" lIns="0" tIns="0" rIns="0" bIns="0" rtlCol="0" anchor="ctr"/>
          <a:lstStyle/>
          <a:p>
            <a:pPr algn="r" indent="0" marL="0">
              <a:buNone/>
            </a:pPr>
            <a:r>
              <a:rPr lang="en-US" sz="850" dirty="0">
                <a:solidFill>
                  <a:srgbClr val="7F7F7F"/>
                </a:solidFill>
                <a:latin typeface="Arial" pitchFamily="34" charset="0"/>
                <a:ea typeface="Arial" pitchFamily="34" charset="-122"/>
                <a:cs typeface="Arial" pitchFamily="34" charset="-120"/>
              </a:rPr>
              <a:t>August 2026</a:t>
            </a:r>
            <a:endParaRPr lang="en-US" sz="850" dirty="0"/>
          </a:p>
        </p:txBody>
      </p:sp>
      <p:sp>
        <p:nvSpPr>
          <p:cNvPr id="7" name="Shape 4"/>
          <p:cNvSpPr/>
          <p:nvPr/>
        </p:nvSpPr>
        <p:spPr>
          <a:xfrm>
            <a:off x="457200" y="1609344"/>
            <a:ext cx="6647688" cy="25603"/>
          </a:xfrm>
          <a:prstGeom prst="rect">
            <a:avLst/>
          </a:prstGeom>
          <a:solidFill>
            <a:srgbClr val="C62026"/>
          </a:solidFill>
          <a:ln/>
        </p:spPr>
      </p:sp>
      <p:sp>
        <p:nvSpPr>
          <p:cNvPr id="8" name="Text 5"/>
          <p:cNvSpPr/>
          <p:nvPr/>
        </p:nvSpPr>
        <p:spPr>
          <a:xfrm>
            <a:off x="457200" y="1737360"/>
            <a:ext cx="6647688" cy="676656"/>
          </a:xfrm>
          <a:prstGeom prst="rect">
            <a:avLst/>
          </a:prstGeom>
          <a:noFill/>
          <a:ln/>
        </p:spPr>
        <p:txBody>
          <a:bodyPr wrap="square" lIns="0" tIns="0" rIns="0" bIns="0" rtlCol="0" anchor="t"/>
          <a:lstStyle/>
          <a:p>
            <a:pPr algn="l" indent="0" marL="0">
              <a:lnSpc>
                <a:spcPct val="115000"/>
              </a:lnSpc>
              <a:buNone/>
            </a:pPr>
            <a:r>
              <a:rPr lang="en-US" sz="1000" dirty="0">
                <a:solidFill>
                  <a:srgbClr val="000000"/>
                </a:solidFill>
                <a:latin typeface="Arial" pitchFamily="34" charset="0"/>
                <a:ea typeface="Arial" pitchFamily="34" charset="-122"/>
                <a:cs typeface="Arial" pitchFamily="34" charset="-120"/>
              </a:rPr>
              <a:t>ELDA Command develops leaders who can perform, adapt and influence others under operational pressure. Rather than teaching leadership in a classroom, it exposes leadership behaviour through demanding physical, mental and interpersonal challenge, then converts that experience into lasting behavioural change. Every participant leaves with a written Leadership Development Plan grounded in observed behaviour rather than self-perception.</a:t>
            </a:r>
            <a:endParaRPr lang="en-US" sz="1000" dirty="0"/>
          </a:p>
        </p:txBody>
      </p:sp>
      <p:sp>
        <p:nvSpPr>
          <p:cNvPr id="9" name="Shape 6"/>
          <p:cNvSpPr/>
          <p:nvPr/>
        </p:nvSpPr>
        <p:spPr>
          <a:xfrm>
            <a:off x="457200" y="2487168"/>
            <a:ext cx="45720" cy="420624"/>
          </a:xfrm>
          <a:prstGeom prst="rect">
            <a:avLst/>
          </a:prstGeom>
          <a:solidFill>
            <a:srgbClr val="C62026"/>
          </a:solidFill>
          <a:ln/>
        </p:spPr>
      </p:sp>
      <p:sp>
        <p:nvSpPr>
          <p:cNvPr id="10" name="Text 7"/>
          <p:cNvSpPr/>
          <p:nvPr/>
        </p:nvSpPr>
        <p:spPr>
          <a:xfrm>
            <a:off x="621792" y="2468880"/>
            <a:ext cx="6483096" cy="475488"/>
          </a:xfrm>
          <a:prstGeom prst="rect">
            <a:avLst/>
          </a:prstGeom>
          <a:noFill/>
          <a:ln/>
        </p:spPr>
        <p:txBody>
          <a:bodyPr wrap="square" lIns="0" tIns="0" rIns="0" bIns="0" rtlCol="0" anchor="t"/>
          <a:lstStyle/>
          <a:p>
            <a:pPr algn="l" indent="0" marL="0">
              <a:lnSpc>
                <a:spcPct val="110000"/>
              </a:lnSpc>
              <a:buNone/>
            </a:pPr>
            <a:r>
              <a:rPr lang="en-US" sz="960" i="1" dirty="0">
                <a:solidFill>
                  <a:srgbClr val="002516"/>
                </a:solidFill>
                <a:latin typeface="Arial" pitchFamily="34" charset="0"/>
                <a:ea typeface="Arial" pitchFamily="34" charset="-122"/>
                <a:cs typeface="Arial" pitchFamily="34" charset="-120"/>
              </a:rPr>
              <a:t>Leadership behaviour is most accurately revealed under sustained pressure, uncertainty and fatigue. ELDA deliberately creates those conditions, then uses structured reflection and peer feedback to convert experience into enduring behavioural change.</a:t>
            </a:r>
            <a:endParaRPr lang="en-US" sz="960" dirty="0"/>
          </a:p>
        </p:txBody>
      </p:sp>
      <p:sp>
        <p:nvSpPr>
          <p:cNvPr id="11" name="Shape 8"/>
          <p:cNvSpPr/>
          <p:nvPr/>
        </p:nvSpPr>
        <p:spPr>
          <a:xfrm>
            <a:off x="457200" y="2999232"/>
            <a:ext cx="6647688" cy="603504"/>
          </a:xfrm>
          <a:prstGeom prst="roundRect">
            <a:avLst>
              <a:gd name="adj" fmla="val 9091"/>
            </a:avLst>
          </a:prstGeom>
          <a:solidFill>
            <a:srgbClr val="002516"/>
          </a:solidFill>
          <a:ln/>
        </p:spPr>
      </p:sp>
      <p:sp>
        <p:nvSpPr>
          <p:cNvPr id="12" name="Text 9"/>
          <p:cNvSpPr/>
          <p:nvPr/>
        </p:nvSpPr>
        <p:spPr>
          <a:xfrm>
            <a:off x="658368" y="3063240"/>
            <a:ext cx="1097280" cy="164592"/>
          </a:xfrm>
          <a:prstGeom prst="rect">
            <a:avLst/>
          </a:prstGeom>
          <a:noFill/>
          <a:ln/>
        </p:spPr>
        <p:txBody>
          <a:bodyPr wrap="square" lIns="0" tIns="0" rIns="0" bIns="0" rtlCol="0" anchor="ctr"/>
          <a:lstStyle/>
          <a:p>
            <a:pPr algn="l" indent="0" marL="0">
              <a:buNone/>
            </a:pPr>
            <a:r>
              <a:rPr lang="en-US" sz="800" b="1" spc="160" kern="0" dirty="0">
                <a:solidFill>
                  <a:srgbClr val="CDD2B7"/>
                </a:solidFill>
                <a:latin typeface="Arial" pitchFamily="34" charset="0"/>
                <a:ea typeface="Arial" pitchFamily="34" charset="-122"/>
                <a:cs typeface="Arial" pitchFamily="34" charset="-120"/>
              </a:rPr>
              <a:t>AIM</a:t>
            </a:r>
            <a:endParaRPr lang="en-US" sz="800" dirty="0"/>
          </a:p>
        </p:txBody>
      </p:sp>
      <p:sp>
        <p:nvSpPr>
          <p:cNvPr id="13" name="Text 10"/>
          <p:cNvSpPr/>
          <p:nvPr/>
        </p:nvSpPr>
        <p:spPr>
          <a:xfrm>
            <a:off x="658368" y="3236976"/>
            <a:ext cx="6245352" cy="310896"/>
          </a:xfrm>
          <a:prstGeom prst="rect">
            <a:avLst/>
          </a:prstGeom>
          <a:noFill/>
          <a:ln/>
        </p:spPr>
        <p:txBody>
          <a:bodyPr wrap="square" lIns="0" tIns="0" rIns="0" bIns="0" rtlCol="0" anchor="t"/>
          <a:lstStyle/>
          <a:p>
            <a:pPr algn="l" indent="0" marL="0">
              <a:lnSpc>
                <a:spcPct val="110000"/>
              </a:lnSpc>
              <a:buNone/>
            </a:pPr>
            <a:r>
              <a:rPr lang="en-US" sz="960" dirty="0">
                <a:solidFill>
                  <a:srgbClr val="FFFFFF"/>
                </a:solidFill>
                <a:latin typeface="Arial" pitchFamily="34" charset="0"/>
                <a:ea typeface="Arial" pitchFamily="34" charset="-122"/>
                <a:cs typeface="Arial" pitchFamily="34" charset="-120"/>
              </a:rPr>
              <a:t>To develop leaders who can consistently perform, adapt and influence others under pressure, while strengthening individual effectiveness and collective team performance.</a:t>
            </a:r>
            <a:endParaRPr lang="en-US" sz="960" dirty="0"/>
          </a:p>
        </p:txBody>
      </p:sp>
      <p:sp>
        <p:nvSpPr>
          <p:cNvPr id="14" name="Text 11"/>
          <p:cNvSpPr/>
          <p:nvPr/>
        </p:nvSpPr>
        <p:spPr>
          <a:xfrm>
            <a:off x="457200" y="3675888"/>
            <a:ext cx="6647688" cy="182880"/>
          </a:xfrm>
          <a:prstGeom prst="rect">
            <a:avLst/>
          </a:prstGeom>
          <a:noFill/>
          <a:ln/>
        </p:spPr>
        <p:txBody>
          <a:bodyPr wrap="square" lIns="0" tIns="0" rIns="0" bIns="0" rtlCol="0" anchor="ctr"/>
          <a:lstStyle/>
          <a:p>
            <a:pPr algn="l" indent="0" marL="0">
              <a:buNone/>
            </a:pPr>
            <a:r>
              <a:rPr lang="en-US" sz="850" b="1" spc="140" kern="0" dirty="0">
                <a:solidFill>
                  <a:srgbClr val="002516"/>
                </a:solidFill>
                <a:latin typeface="Arial" pitchFamily="34" charset="0"/>
                <a:ea typeface="Arial" pitchFamily="34" charset="-122"/>
                <a:cs typeface="Arial" pitchFamily="34" charset="-120"/>
              </a:rPr>
              <a:t>LEARNING OUTCOMES</a:t>
            </a:r>
            <a:endParaRPr lang="en-US" sz="850" dirty="0"/>
          </a:p>
        </p:txBody>
      </p:sp>
      <p:sp>
        <p:nvSpPr>
          <p:cNvPr id="15" name="Shape 12"/>
          <p:cNvSpPr/>
          <p:nvPr/>
        </p:nvSpPr>
        <p:spPr>
          <a:xfrm>
            <a:off x="457200" y="3877056"/>
            <a:ext cx="2130552" cy="694944"/>
          </a:xfrm>
          <a:prstGeom prst="roundRect">
            <a:avLst>
              <a:gd name="adj" fmla="val 7895"/>
            </a:avLst>
          </a:prstGeom>
          <a:solidFill>
            <a:srgbClr val="CDD2B7">
              <a:alpha val="45000"/>
            </a:srgbClr>
          </a:solidFill>
          <a:ln w="12700">
            <a:solidFill>
              <a:srgbClr val="CDD2B7"/>
            </a:solidFill>
            <a:prstDash val="solid"/>
          </a:ln>
        </p:spPr>
      </p:sp>
      <p:sp>
        <p:nvSpPr>
          <p:cNvPr id="16" name="Shape 13"/>
          <p:cNvSpPr/>
          <p:nvPr/>
        </p:nvSpPr>
        <p:spPr>
          <a:xfrm>
            <a:off x="585216" y="3968496"/>
            <a:ext cx="201168" cy="201168"/>
          </a:xfrm>
          <a:prstGeom prst="ellipse">
            <a:avLst/>
          </a:prstGeom>
          <a:solidFill>
            <a:srgbClr val="002516"/>
          </a:solidFill>
          <a:ln/>
        </p:spPr>
      </p:sp>
      <p:sp>
        <p:nvSpPr>
          <p:cNvPr id="17" name="Text 14"/>
          <p:cNvSpPr/>
          <p:nvPr/>
        </p:nvSpPr>
        <p:spPr>
          <a:xfrm>
            <a:off x="585216" y="3968496"/>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1</a:t>
            </a:r>
            <a:endParaRPr lang="en-US" sz="800" dirty="0"/>
          </a:p>
        </p:txBody>
      </p:sp>
      <p:sp>
        <p:nvSpPr>
          <p:cNvPr id="18" name="Text 15"/>
          <p:cNvSpPr/>
          <p:nvPr/>
        </p:nvSpPr>
        <p:spPr>
          <a:xfrm>
            <a:off x="841248" y="3968496"/>
            <a:ext cx="1618488" cy="201168"/>
          </a:xfrm>
          <a:prstGeom prst="rect">
            <a:avLst/>
          </a:prstGeom>
          <a:noFill/>
          <a:ln/>
        </p:spPr>
        <p:txBody>
          <a:bodyPr wrap="square" lIns="0" tIns="0" rIns="0" bIns="0" rtlCol="0" anchor="ctr"/>
          <a:lstStyle/>
          <a:p>
            <a:pPr algn="l" indent="0" marL="0">
              <a:buNone/>
            </a:pPr>
            <a:r>
              <a:rPr lang="en-US" sz="860" b="1" dirty="0">
                <a:solidFill>
                  <a:srgbClr val="002516"/>
                </a:solidFill>
                <a:latin typeface="Arial" pitchFamily="34" charset="0"/>
                <a:ea typeface="Arial" pitchFamily="34" charset="-122"/>
                <a:cs typeface="Arial" pitchFamily="34" charset="-120"/>
              </a:rPr>
              <a:t>PERFORMANCE MINDSET</a:t>
            </a:r>
            <a:endParaRPr lang="en-US" sz="860" dirty="0"/>
          </a:p>
        </p:txBody>
      </p:sp>
      <p:sp>
        <p:nvSpPr>
          <p:cNvPr id="19" name="Text 16"/>
          <p:cNvSpPr/>
          <p:nvPr/>
        </p:nvSpPr>
        <p:spPr>
          <a:xfrm>
            <a:off x="585216" y="4187952"/>
            <a:ext cx="1874520" cy="365760"/>
          </a:xfrm>
          <a:prstGeom prst="rect">
            <a:avLst/>
          </a:prstGeom>
          <a:noFill/>
          <a:ln/>
        </p:spPr>
        <p:txBody>
          <a:bodyPr wrap="square" lIns="0" tIns="0" rIns="0" bIns="0" rtlCol="0" anchor="t"/>
          <a:lstStyle/>
          <a:p>
            <a:pPr algn="l" indent="0" marL="0">
              <a:lnSpc>
                <a:spcPct val="110000"/>
              </a:lnSpc>
              <a:buNone/>
            </a:pPr>
            <a:r>
              <a:rPr lang="en-US" sz="840" dirty="0">
                <a:solidFill>
                  <a:srgbClr val="000000"/>
                </a:solidFill>
                <a:latin typeface="Arial" pitchFamily="34" charset="0"/>
                <a:ea typeface="Arial" pitchFamily="34" charset="-122"/>
                <a:cs typeface="Arial" pitchFamily="34" charset="-120"/>
              </a:rPr>
              <a:t>Build the mental skills to perform and decide under pressure.</a:t>
            </a:r>
            <a:endParaRPr lang="en-US" sz="840" dirty="0"/>
          </a:p>
        </p:txBody>
      </p:sp>
      <p:sp>
        <p:nvSpPr>
          <p:cNvPr id="20" name="Shape 17"/>
          <p:cNvSpPr/>
          <p:nvPr/>
        </p:nvSpPr>
        <p:spPr>
          <a:xfrm>
            <a:off x="2715768" y="3877056"/>
            <a:ext cx="2130552" cy="694944"/>
          </a:xfrm>
          <a:prstGeom prst="roundRect">
            <a:avLst>
              <a:gd name="adj" fmla="val 7895"/>
            </a:avLst>
          </a:prstGeom>
          <a:solidFill>
            <a:srgbClr val="CDD2B7">
              <a:alpha val="45000"/>
            </a:srgbClr>
          </a:solidFill>
          <a:ln w="12700">
            <a:solidFill>
              <a:srgbClr val="CDD2B7"/>
            </a:solidFill>
            <a:prstDash val="solid"/>
          </a:ln>
        </p:spPr>
      </p:sp>
      <p:sp>
        <p:nvSpPr>
          <p:cNvPr id="21" name="Shape 18"/>
          <p:cNvSpPr/>
          <p:nvPr/>
        </p:nvSpPr>
        <p:spPr>
          <a:xfrm>
            <a:off x="2843784" y="3968496"/>
            <a:ext cx="201168" cy="201168"/>
          </a:xfrm>
          <a:prstGeom prst="ellipse">
            <a:avLst/>
          </a:prstGeom>
          <a:solidFill>
            <a:srgbClr val="002516"/>
          </a:solidFill>
          <a:ln/>
        </p:spPr>
      </p:sp>
      <p:sp>
        <p:nvSpPr>
          <p:cNvPr id="22" name="Text 19"/>
          <p:cNvSpPr/>
          <p:nvPr/>
        </p:nvSpPr>
        <p:spPr>
          <a:xfrm>
            <a:off x="2843784" y="3968496"/>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2</a:t>
            </a:r>
            <a:endParaRPr lang="en-US" sz="800" dirty="0"/>
          </a:p>
        </p:txBody>
      </p:sp>
      <p:sp>
        <p:nvSpPr>
          <p:cNvPr id="23" name="Text 20"/>
          <p:cNvSpPr/>
          <p:nvPr/>
        </p:nvSpPr>
        <p:spPr>
          <a:xfrm>
            <a:off x="3099816" y="3968496"/>
            <a:ext cx="1618488" cy="201168"/>
          </a:xfrm>
          <a:prstGeom prst="rect">
            <a:avLst/>
          </a:prstGeom>
          <a:noFill/>
          <a:ln/>
        </p:spPr>
        <p:txBody>
          <a:bodyPr wrap="square" lIns="0" tIns="0" rIns="0" bIns="0" rtlCol="0" anchor="ctr"/>
          <a:lstStyle/>
          <a:p>
            <a:pPr algn="l" indent="0" marL="0">
              <a:buNone/>
            </a:pPr>
            <a:r>
              <a:rPr lang="en-US" sz="860" b="1" dirty="0">
                <a:solidFill>
                  <a:srgbClr val="002516"/>
                </a:solidFill>
                <a:latin typeface="Arial" pitchFamily="34" charset="0"/>
                <a:ea typeface="Arial" pitchFamily="34" charset="-122"/>
                <a:cs typeface="Arial" pitchFamily="34" charset="-120"/>
              </a:rPr>
              <a:t>THE ACTIVITY</a:t>
            </a:r>
            <a:endParaRPr lang="en-US" sz="860" dirty="0"/>
          </a:p>
        </p:txBody>
      </p:sp>
      <p:sp>
        <p:nvSpPr>
          <p:cNvPr id="24" name="Text 21"/>
          <p:cNvSpPr/>
          <p:nvPr/>
        </p:nvSpPr>
        <p:spPr>
          <a:xfrm>
            <a:off x="2843784" y="4187952"/>
            <a:ext cx="1874520" cy="365760"/>
          </a:xfrm>
          <a:prstGeom prst="rect">
            <a:avLst/>
          </a:prstGeom>
          <a:noFill/>
          <a:ln/>
        </p:spPr>
        <p:txBody>
          <a:bodyPr wrap="square" lIns="0" tIns="0" rIns="0" bIns="0" rtlCol="0" anchor="t"/>
          <a:lstStyle/>
          <a:p>
            <a:pPr algn="l" indent="0" marL="0">
              <a:lnSpc>
                <a:spcPct val="110000"/>
              </a:lnSpc>
              <a:buNone/>
            </a:pPr>
            <a:r>
              <a:rPr lang="en-US" sz="840" dirty="0">
                <a:solidFill>
                  <a:srgbClr val="000000"/>
                </a:solidFill>
                <a:latin typeface="Arial" pitchFamily="34" charset="0"/>
                <a:ea typeface="Arial" pitchFamily="34" charset="-122"/>
                <a:cs typeface="Arial" pitchFamily="34" charset="-120"/>
              </a:rPr>
              <a:t>Lead and follow through a genuinely demanding serial.</a:t>
            </a:r>
            <a:endParaRPr lang="en-US" sz="840" dirty="0"/>
          </a:p>
        </p:txBody>
      </p:sp>
      <p:sp>
        <p:nvSpPr>
          <p:cNvPr id="25" name="Shape 22"/>
          <p:cNvSpPr/>
          <p:nvPr/>
        </p:nvSpPr>
        <p:spPr>
          <a:xfrm>
            <a:off x="4974336" y="3877056"/>
            <a:ext cx="2130552" cy="694944"/>
          </a:xfrm>
          <a:prstGeom prst="roundRect">
            <a:avLst>
              <a:gd name="adj" fmla="val 7895"/>
            </a:avLst>
          </a:prstGeom>
          <a:solidFill>
            <a:srgbClr val="CDD2B7">
              <a:alpha val="45000"/>
            </a:srgbClr>
          </a:solidFill>
          <a:ln w="12700">
            <a:solidFill>
              <a:srgbClr val="CDD2B7"/>
            </a:solidFill>
            <a:prstDash val="solid"/>
          </a:ln>
        </p:spPr>
      </p:sp>
      <p:sp>
        <p:nvSpPr>
          <p:cNvPr id="26" name="Shape 23"/>
          <p:cNvSpPr/>
          <p:nvPr/>
        </p:nvSpPr>
        <p:spPr>
          <a:xfrm>
            <a:off x="5102352" y="3968496"/>
            <a:ext cx="201168" cy="201168"/>
          </a:xfrm>
          <a:prstGeom prst="ellipse">
            <a:avLst/>
          </a:prstGeom>
          <a:solidFill>
            <a:srgbClr val="002516"/>
          </a:solidFill>
          <a:ln/>
        </p:spPr>
      </p:sp>
      <p:sp>
        <p:nvSpPr>
          <p:cNvPr id="27" name="Text 24"/>
          <p:cNvSpPr/>
          <p:nvPr/>
        </p:nvSpPr>
        <p:spPr>
          <a:xfrm>
            <a:off x="5102352" y="3968496"/>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3</a:t>
            </a:r>
            <a:endParaRPr lang="en-US" sz="800" dirty="0"/>
          </a:p>
        </p:txBody>
      </p:sp>
      <p:sp>
        <p:nvSpPr>
          <p:cNvPr id="28" name="Text 25"/>
          <p:cNvSpPr/>
          <p:nvPr/>
        </p:nvSpPr>
        <p:spPr>
          <a:xfrm>
            <a:off x="5358384" y="3968496"/>
            <a:ext cx="1618488" cy="201168"/>
          </a:xfrm>
          <a:prstGeom prst="rect">
            <a:avLst/>
          </a:prstGeom>
          <a:noFill/>
          <a:ln/>
        </p:spPr>
        <p:txBody>
          <a:bodyPr wrap="square" lIns="0" tIns="0" rIns="0" bIns="0" rtlCol="0" anchor="ctr"/>
          <a:lstStyle/>
          <a:p>
            <a:pPr algn="l" indent="0" marL="0">
              <a:buNone/>
            </a:pPr>
            <a:r>
              <a:rPr lang="en-US" sz="860" b="1" dirty="0">
                <a:solidFill>
                  <a:srgbClr val="002516"/>
                </a:solidFill>
                <a:latin typeface="Arial" pitchFamily="34" charset="0"/>
                <a:ea typeface="Arial" pitchFamily="34" charset="-122"/>
                <a:cs typeface="Arial" pitchFamily="34" charset="-120"/>
              </a:rPr>
              <a:t>DEVELOPMENT PLAN</a:t>
            </a:r>
            <a:endParaRPr lang="en-US" sz="860" dirty="0"/>
          </a:p>
        </p:txBody>
      </p:sp>
      <p:sp>
        <p:nvSpPr>
          <p:cNvPr id="29" name="Text 26"/>
          <p:cNvSpPr/>
          <p:nvPr/>
        </p:nvSpPr>
        <p:spPr>
          <a:xfrm>
            <a:off x="5102352" y="4187952"/>
            <a:ext cx="1874520" cy="365760"/>
          </a:xfrm>
          <a:prstGeom prst="rect">
            <a:avLst/>
          </a:prstGeom>
          <a:noFill/>
          <a:ln/>
        </p:spPr>
        <p:txBody>
          <a:bodyPr wrap="square" lIns="0" tIns="0" rIns="0" bIns="0" rtlCol="0" anchor="t"/>
          <a:lstStyle/>
          <a:p>
            <a:pPr algn="l" indent="0" marL="0">
              <a:lnSpc>
                <a:spcPct val="110000"/>
              </a:lnSpc>
              <a:buNone/>
            </a:pPr>
            <a:r>
              <a:rPr lang="en-US" sz="840" dirty="0">
                <a:solidFill>
                  <a:srgbClr val="000000"/>
                </a:solidFill>
                <a:latin typeface="Arial" pitchFamily="34" charset="0"/>
                <a:ea typeface="Arial" pitchFamily="34" charset="-122"/>
                <a:cs typeface="Arial" pitchFamily="34" charset="-120"/>
              </a:rPr>
              <a:t>Transfer observed behaviour into command effectiveness.</a:t>
            </a:r>
            <a:endParaRPr lang="en-US" sz="840" dirty="0"/>
          </a:p>
        </p:txBody>
      </p:sp>
      <p:sp>
        <p:nvSpPr>
          <p:cNvPr id="30" name="Text 27"/>
          <p:cNvSpPr/>
          <p:nvPr/>
        </p:nvSpPr>
        <p:spPr>
          <a:xfrm>
            <a:off x="457200" y="4663440"/>
            <a:ext cx="6647688" cy="182880"/>
          </a:xfrm>
          <a:prstGeom prst="rect">
            <a:avLst/>
          </a:prstGeom>
          <a:noFill/>
          <a:ln/>
        </p:spPr>
        <p:txBody>
          <a:bodyPr wrap="square" lIns="0" tIns="0" rIns="0" bIns="0" rtlCol="0" anchor="ctr"/>
          <a:lstStyle/>
          <a:p>
            <a:pPr algn="l" indent="0" marL="0">
              <a:buNone/>
            </a:pPr>
            <a:r>
              <a:rPr lang="en-US" sz="850" b="1" spc="140" kern="0" dirty="0">
                <a:solidFill>
                  <a:srgbClr val="002516"/>
                </a:solidFill>
                <a:latin typeface="Arial" pitchFamily="34" charset="0"/>
                <a:ea typeface="Arial" pitchFamily="34" charset="-122"/>
                <a:cs typeface="Arial" pitchFamily="34" charset="-120"/>
              </a:rPr>
              <a:t>HOW IT IS STRUCTURED: THE PERFORMANCE CYCLE</a:t>
            </a:r>
            <a:endParaRPr lang="en-US" sz="850" dirty="0"/>
          </a:p>
        </p:txBody>
      </p:sp>
      <p:sp>
        <p:nvSpPr>
          <p:cNvPr id="31" name="Shape 28"/>
          <p:cNvSpPr/>
          <p:nvPr/>
        </p:nvSpPr>
        <p:spPr>
          <a:xfrm>
            <a:off x="457200" y="4864608"/>
            <a:ext cx="2130552" cy="237744"/>
          </a:xfrm>
          <a:prstGeom prst="rect">
            <a:avLst/>
          </a:prstGeom>
          <a:solidFill>
            <a:srgbClr val="002516"/>
          </a:solidFill>
          <a:ln/>
        </p:spPr>
      </p:sp>
      <p:sp>
        <p:nvSpPr>
          <p:cNvPr id="32" name="Text 29"/>
          <p:cNvSpPr/>
          <p:nvPr/>
        </p:nvSpPr>
        <p:spPr>
          <a:xfrm>
            <a:off x="457200" y="4864608"/>
            <a:ext cx="2130552" cy="237744"/>
          </a:xfrm>
          <a:prstGeom prst="rect">
            <a:avLst/>
          </a:prstGeom>
          <a:noFill/>
          <a:ln/>
        </p:spPr>
        <p:txBody>
          <a:bodyPr wrap="square" lIns="0" tIns="0" rIns="0" bIns="0" rtlCol="0" anchor="ctr"/>
          <a:lstStyle/>
          <a:p>
            <a:pPr algn="ctr" indent="0" marL="0">
              <a:buNone/>
            </a:pPr>
            <a:r>
              <a:rPr lang="en-US" sz="950" b="1" spc="160" kern="0" dirty="0">
                <a:solidFill>
                  <a:srgbClr val="FFFFFF"/>
                </a:solidFill>
                <a:latin typeface="Arial" pitchFamily="34" charset="0"/>
                <a:ea typeface="Arial" pitchFamily="34" charset="-122"/>
                <a:cs typeface="Arial" pitchFamily="34" charset="-120"/>
              </a:rPr>
              <a:t>PREPARE</a:t>
            </a:r>
            <a:endParaRPr lang="en-US" sz="950" dirty="0"/>
          </a:p>
        </p:txBody>
      </p:sp>
      <p:sp>
        <p:nvSpPr>
          <p:cNvPr id="33" name="Text 30"/>
          <p:cNvSpPr/>
          <p:nvPr/>
        </p:nvSpPr>
        <p:spPr>
          <a:xfrm>
            <a:off x="475488" y="5148072"/>
            <a:ext cx="2093976" cy="1115568"/>
          </a:xfrm>
          <a:prstGeom prst="rect">
            <a:avLst/>
          </a:prstGeom>
          <a:noFill/>
          <a:ln/>
        </p:spPr>
        <p:txBody>
          <a:bodyPr wrap="square" lIns="0" tIns="0" rIns="0" bIns="0" rtlCol="0" anchor="t"/>
          <a:lstStyle/>
          <a:p>
            <a:pPr algn="l" marL="127000" indent="-127000">
              <a:lnSpc>
                <a:spcPct val="110000"/>
              </a:lnSpc>
              <a:spcAft>
                <a:spcPts val="400"/>
              </a:spcAft>
              <a:buSzPct val="100000"/>
              <a:buChar char="•"/>
            </a:pPr>
            <a:r>
              <a:rPr lang="en-US" sz="820" dirty="0">
                <a:solidFill>
                  <a:srgbClr val="000000"/>
                </a:solidFill>
                <a:latin typeface="Arial" pitchFamily="34" charset="0"/>
                <a:ea typeface="Arial" pitchFamily="34" charset="-122"/>
                <a:cs typeface="Arial" pitchFamily="34" charset="-120"/>
              </a:rPr>
              <a:t>Leadership Personality Report: a Five Factor profile of behaviour day to day, under pressure, and the drivers behind it.</a:t>
            </a:r>
            <a:endParaRPr lang="en-US" sz="820" dirty="0"/>
          </a:p>
          <a:p>
            <a:pPr algn="l" marL="127000" indent="-127000">
              <a:lnSpc>
                <a:spcPct val="110000"/>
              </a:lnSpc>
              <a:spcAft>
                <a:spcPts val="400"/>
              </a:spcAft>
              <a:buSzPct val="100000"/>
              <a:buChar char="•"/>
            </a:pPr>
            <a:r>
              <a:rPr lang="en-US" sz="820" dirty="0">
                <a:solidFill>
                  <a:srgbClr val="000000"/>
                </a:solidFill>
                <a:latin typeface="Arial" pitchFamily="34" charset="0"/>
                <a:ea typeface="Arial" pitchFamily="34" charset="-122"/>
                <a:cs typeface="Arial" pitchFamily="34" charset="-120"/>
              </a:rPr>
              <a:t>Identify the behaviours that will help and hinder performance.</a:t>
            </a:r>
            <a:endParaRPr lang="en-US" sz="820" dirty="0"/>
          </a:p>
          <a:p>
            <a:pPr algn="l" marL="127000" indent="-127000">
              <a:lnSpc>
                <a:spcPct val="110000"/>
              </a:lnSpc>
              <a:spcAft>
                <a:spcPts val="400"/>
              </a:spcAft>
              <a:buSzPct val="100000"/>
              <a:buChar char="•"/>
            </a:pPr>
            <a:r>
              <a:rPr lang="en-US" sz="820" dirty="0">
                <a:solidFill>
                  <a:srgbClr val="000000"/>
                </a:solidFill>
                <a:latin typeface="Arial" pitchFamily="34" charset="0"/>
                <a:ea typeface="Arial" pitchFamily="34" charset="-122"/>
                <a:cs typeface="Arial" pitchFamily="34" charset="-120"/>
              </a:rPr>
              <a:t>Select the mental skills to be used during the activity.</a:t>
            </a:r>
            <a:endParaRPr lang="en-US" sz="820" dirty="0"/>
          </a:p>
        </p:txBody>
      </p:sp>
      <p:sp>
        <p:nvSpPr>
          <p:cNvPr id="34" name="Shape 31"/>
          <p:cNvSpPr/>
          <p:nvPr/>
        </p:nvSpPr>
        <p:spPr>
          <a:xfrm>
            <a:off x="2715768" y="4864608"/>
            <a:ext cx="2130552" cy="237744"/>
          </a:xfrm>
          <a:prstGeom prst="rect">
            <a:avLst/>
          </a:prstGeom>
          <a:solidFill>
            <a:srgbClr val="3A4B00"/>
          </a:solidFill>
          <a:ln/>
        </p:spPr>
      </p:sp>
      <p:sp>
        <p:nvSpPr>
          <p:cNvPr id="35" name="Text 32"/>
          <p:cNvSpPr/>
          <p:nvPr/>
        </p:nvSpPr>
        <p:spPr>
          <a:xfrm>
            <a:off x="2715768" y="4864608"/>
            <a:ext cx="2130552" cy="237744"/>
          </a:xfrm>
          <a:prstGeom prst="rect">
            <a:avLst/>
          </a:prstGeom>
          <a:noFill/>
          <a:ln/>
        </p:spPr>
        <p:txBody>
          <a:bodyPr wrap="square" lIns="0" tIns="0" rIns="0" bIns="0" rtlCol="0" anchor="ctr"/>
          <a:lstStyle/>
          <a:p>
            <a:pPr algn="ctr" indent="0" marL="0">
              <a:buNone/>
            </a:pPr>
            <a:r>
              <a:rPr lang="en-US" sz="950" b="1" spc="160" kern="0" dirty="0">
                <a:solidFill>
                  <a:srgbClr val="FFFFFF"/>
                </a:solidFill>
                <a:latin typeface="Arial" pitchFamily="34" charset="0"/>
                <a:ea typeface="Arial" pitchFamily="34" charset="-122"/>
                <a:cs typeface="Arial" pitchFamily="34" charset="-120"/>
              </a:rPr>
              <a:t>PERFORM</a:t>
            </a:r>
            <a:endParaRPr lang="en-US" sz="950" dirty="0"/>
          </a:p>
        </p:txBody>
      </p:sp>
      <p:sp>
        <p:nvSpPr>
          <p:cNvPr id="36" name="Text 33"/>
          <p:cNvSpPr/>
          <p:nvPr/>
        </p:nvSpPr>
        <p:spPr>
          <a:xfrm>
            <a:off x="2734056" y="5148072"/>
            <a:ext cx="2093976" cy="1115568"/>
          </a:xfrm>
          <a:prstGeom prst="rect">
            <a:avLst/>
          </a:prstGeom>
          <a:noFill/>
          <a:ln/>
        </p:spPr>
        <p:txBody>
          <a:bodyPr wrap="square" lIns="0" tIns="0" rIns="0" bIns="0" rtlCol="0" anchor="t"/>
          <a:lstStyle/>
          <a:p>
            <a:pPr algn="l" marL="127000" indent="-127000">
              <a:lnSpc>
                <a:spcPct val="110000"/>
              </a:lnSpc>
              <a:spcAft>
                <a:spcPts val="400"/>
              </a:spcAft>
              <a:buSzPct val="100000"/>
              <a:buChar char="•"/>
            </a:pPr>
            <a:r>
              <a:rPr lang="en-US" sz="820" dirty="0">
                <a:solidFill>
                  <a:srgbClr val="000000"/>
                </a:solidFill>
                <a:latin typeface="Arial" pitchFamily="34" charset="0"/>
                <a:ea typeface="Arial" pitchFamily="34" charset="-122"/>
                <a:cs typeface="Arial" pitchFamily="34" charset="-120"/>
              </a:rPr>
              <a:t>Execute the activity as a team under sustained physical and mental load.</a:t>
            </a:r>
            <a:endParaRPr lang="en-US" sz="820" dirty="0"/>
          </a:p>
          <a:p>
            <a:pPr algn="l" marL="127000" indent="-127000">
              <a:lnSpc>
                <a:spcPct val="110000"/>
              </a:lnSpc>
              <a:spcAft>
                <a:spcPts val="400"/>
              </a:spcAft>
              <a:buSzPct val="100000"/>
              <a:buChar char="•"/>
            </a:pPr>
            <a:r>
              <a:rPr lang="en-US" sz="820" dirty="0">
                <a:solidFill>
                  <a:srgbClr val="000000"/>
                </a:solidFill>
                <a:latin typeface="Arial" pitchFamily="34" charset="0"/>
                <a:ea typeface="Arial" pitchFamily="34" charset="-122"/>
                <a:cs typeface="Arial" pitchFamily="34" charset="-120"/>
              </a:rPr>
              <a:t>Apply the selected behaviours and mental skills in real time.</a:t>
            </a:r>
            <a:endParaRPr lang="en-US" sz="820" dirty="0"/>
          </a:p>
          <a:p>
            <a:pPr algn="l" marL="127000" indent="-127000">
              <a:lnSpc>
                <a:spcPct val="110000"/>
              </a:lnSpc>
              <a:spcAft>
                <a:spcPts val="400"/>
              </a:spcAft>
              <a:buSzPct val="100000"/>
              <a:buChar char="•"/>
            </a:pPr>
            <a:r>
              <a:rPr lang="en-US" sz="820" dirty="0">
                <a:solidFill>
                  <a:srgbClr val="000000"/>
                </a:solidFill>
                <a:latin typeface="Arial" pitchFamily="34" charset="0"/>
                <a:ea typeface="Arial" pitchFamily="34" charset="-122"/>
                <a:cs typeface="Arial" pitchFamily="34" charset="-120"/>
              </a:rPr>
              <a:t>Peers observe leadership behaviour continuously, in context.</a:t>
            </a:r>
            <a:endParaRPr lang="en-US" sz="820" dirty="0"/>
          </a:p>
        </p:txBody>
      </p:sp>
      <p:sp>
        <p:nvSpPr>
          <p:cNvPr id="37" name="Shape 34"/>
          <p:cNvSpPr/>
          <p:nvPr/>
        </p:nvSpPr>
        <p:spPr>
          <a:xfrm>
            <a:off x="4974336" y="4864608"/>
            <a:ext cx="2130552" cy="237744"/>
          </a:xfrm>
          <a:prstGeom prst="rect">
            <a:avLst/>
          </a:prstGeom>
          <a:solidFill>
            <a:srgbClr val="A89662"/>
          </a:solidFill>
          <a:ln/>
        </p:spPr>
      </p:sp>
      <p:sp>
        <p:nvSpPr>
          <p:cNvPr id="38" name="Text 35"/>
          <p:cNvSpPr/>
          <p:nvPr/>
        </p:nvSpPr>
        <p:spPr>
          <a:xfrm>
            <a:off x="4974336" y="4864608"/>
            <a:ext cx="2130552" cy="237744"/>
          </a:xfrm>
          <a:prstGeom prst="rect">
            <a:avLst/>
          </a:prstGeom>
          <a:noFill/>
          <a:ln/>
        </p:spPr>
        <p:txBody>
          <a:bodyPr wrap="square" lIns="0" tIns="0" rIns="0" bIns="0" rtlCol="0" anchor="ctr"/>
          <a:lstStyle/>
          <a:p>
            <a:pPr algn="ctr" indent="0" marL="0">
              <a:buNone/>
            </a:pPr>
            <a:r>
              <a:rPr lang="en-US" sz="950" b="1" spc="160" kern="0" dirty="0">
                <a:solidFill>
                  <a:srgbClr val="FFFFFF"/>
                </a:solidFill>
                <a:latin typeface="Arial" pitchFamily="34" charset="0"/>
                <a:ea typeface="Arial" pitchFamily="34" charset="-122"/>
                <a:cs typeface="Arial" pitchFamily="34" charset="-120"/>
              </a:rPr>
              <a:t>RECOVER</a:t>
            </a:r>
            <a:endParaRPr lang="en-US" sz="950" dirty="0"/>
          </a:p>
        </p:txBody>
      </p:sp>
      <p:sp>
        <p:nvSpPr>
          <p:cNvPr id="39" name="Text 36"/>
          <p:cNvSpPr/>
          <p:nvPr/>
        </p:nvSpPr>
        <p:spPr>
          <a:xfrm>
            <a:off x="4992624" y="5148072"/>
            <a:ext cx="2093976" cy="1115568"/>
          </a:xfrm>
          <a:prstGeom prst="rect">
            <a:avLst/>
          </a:prstGeom>
          <a:noFill/>
          <a:ln/>
        </p:spPr>
        <p:txBody>
          <a:bodyPr wrap="square" lIns="0" tIns="0" rIns="0" bIns="0" rtlCol="0" anchor="t"/>
          <a:lstStyle/>
          <a:p>
            <a:pPr algn="l" marL="127000" indent="-127000">
              <a:lnSpc>
                <a:spcPct val="110000"/>
              </a:lnSpc>
              <a:spcAft>
                <a:spcPts val="400"/>
              </a:spcAft>
              <a:buSzPct val="100000"/>
              <a:buChar char="•"/>
            </a:pPr>
            <a:r>
              <a:rPr lang="en-US" sz="820" dirty="0">
                <a:solidFill>
                  <a:srgbClr val="000000"/>
                </a:solidFill>
                <a:latin typeface="Arial" pitchFamily="34" charset="0"/>
                <a:ea typeface="Arial" pitchFamily="34" charset="-122"/>
                <a:cs typeface="Arial" pitchFamily="34" charset="-120"/>
              </a:rPr>
              <a:t>Structured self and peer feedback, written then delivered face to face.</a:t>
            </a:r>
            <a:endParaRPr lang="en-US" sz="820" dirty="0"/>
          </a:p>
          <a:p>
            <a:pPr algn="l" marL="127000" indent="-127000">
              <a:lnSpc>
                <a:spcPct val="110000"/>
              </a:lnSpc>
              <a:spcAft>
                <a:spcPts val="400"/>
              </a:spcAft>
              <a:buSzPct val="100000"/>
              <a:buChar char="•"/>
            </a:pPr>
            <a:r>
              <a:rPr lang="en-US" sz="820" dirty="0">
                <a:solidFill>
                  <a:srgbClr val="000000"/>
                </a:solidFill>
                <a:latin typeface="Arial" pitchFamily="34" charset="0"/>
                <a:ea typeface="Arial" pitchFamily="34" charset="-122"/>
                <a:cs typeface="Arial" pitchFamily="34" charset="-120"/>
              </a:rPr>
              <a:t>Systematic self-reflection on the hardest moments of the activity.</a:t>
            </a:r>
            <a:endParaRPr lang="en-US" sz="820" dirty="0"/>
          </a:p>
          <a:p>
            <a:pPr algn="l" marL="127000" indent="-127000">
              <a:lnSpc>
                <a:spcPct val="110000"/>
              </a:lnSpc>
              <a:spcAft>
                <a:spcPts val="400"/>
              </a:spcAft>
              <a:buSzPct val="100000"/>
              <a:buChar char="•"/>
            </a:pPr>
            <a:r>
              <a:rPr lang="en-US" sz="820" dirty="0">
                <a:solidFill>
                  <a:srgbClr val="000000"/>
                </a:solidFill>
                <a:latin typeface="Arial" pitchFamily="34" charset="0"/>
                <a:ea typeface="Arial" pitchFamily="34" charset="-122"/>
                <a:cs typeface="Arial" pitchFamily="34" charset="-120"/>
              </a:rPr>
              <a:t>Build the Leadership Development Plan and keep, stop, start Game Plan.</a:t>
            </a:r>
            <a:endParaRPr lang="en-US" sz="820" dirty="0"/>
          </a:p>
        </p:txBody>
      </p:sp>
      <p:sp>
        <p:nvSpPr>
          <p:cNvPr id="40" name="Text 37"/>
          <p:cNvSpPr/>
          <p:nvPr/>
        </p:nvSpPr>
        <p:spPr>
          <a:xfrm>
            <a:off x="457200" y="6400800"/>
            <a:ext cx="6647688" cy="182880"/>
          </a:xfrm>
          <a:prstGeom prst="rect">
            <a:avLst/>
          </a:prstGeom>
          <a:noFill/>
          <a:ln/>
        </p:spPr>
        <p:txBody>
          <a:bodyPr wrap="square" lIns="0" tIns="0" rIns="0" bIns="0" rtlCol="0" anchor="ctr"/>
          <a:lstStyle/>
          <a:p>
            <a:pPr algn="l" indent="0" marL="0">
              <a:buNone/>
            </a:pPr>
            <a:r>
              <a:rPr lang="en-US" sz="850" b="1" spc="140" kern="0" dirty="0">
                <a:solidFill>
                  <a:srgbClr val="002516"/>
                </a:solidFill>
                <a:latin typeface="Arial" pitchFamily="34" charset="0"/>
                <a:ea typeface="Arial" pitchFamily="34" charset="-122"/>
                <a:cs typeface="Arial" pitchFamily="34" charset="-120"/>
              </a:rPr>
              <a:t>WHAT IS COVERED</a:t>
            </a:r>
            <a:endParaRPr lang="en-US" sz="850" dirty="0"/>
          </a:p>
        </p:txBody>
      </p:sp>
      <p:sp>
        <p:nvSpPr>
          <p:cNvPr id="41" name="Shape 38"/>
          <p:cNvSpPr/>
          <p:nvPr/>
        </p:nvSpPr>
        <p:spPr>
          <a:xfrm>
            <a:off x="457200" y="6638544"/>
            <a:ext cx="41148" cy="128016"/>
          </a:xfrm>
          <a:prstGeom prst="rect">
            <a:avLst/>
          </a:prstGeom>
          <a:solidFill>
            <a:srgbClr val="C62026"/>
          </a:solidFill>
          <a:ln/>
        </p:spPr>
      </p:sp>
      <p:sp>
        <p:nvSpPr>
          <p:cNvPr id="42" name="Text 39"/>
          <p:cNvSpPr/>
          <p:nvPr/>
        </p:nvSpPr>
        <p:spPr>
          <a:xfrm>
            <a:off x="585216" y="6601968"/>
            <a:ext cx="1874520" cy="201168"/>
          </a:xfrm>
          <a:prstGeom prst="rect">
            <a:avLst/>
          </a:prstGeom>
          <a:noFill/>
          <a:ln/>
        </p:spPr>
        <p:txBody>
          <a:bodyPr wrap="square" lIns="0" tIns="0" rIns="0" bIns="0" rtlCol="0" anchor="t"/>
          <a:lstStyle/>
          <a:p>
            <a:pPr algn="l" indent="0" marL="0">
              <a:buNone/>
            </a:pPr>
            <a:r>
              <a:rPr lang="en-US" sz="880" b="1" dirty="0">
                <a:solidFill>
                  <a:srgbClr val="002516"/>
                </a:solidFill>
                <a:latin typeface="Arial" pitchFamily="34" charset="0"/>
                <a:ea typeface="Arial" pitchFamily="34" charset="-122"/>
                <a:cs typeface="Arial" pitchFamily="34" charset="-120"/>
              </a:rPr>
              <a:t>Leadership fundamentals</a:t>
            </a:r>
            <a:endParaRPr lang="en-US" sz="880" dirty="0"/>
          </a:p>
        </p:txBody>
      </p:sp>
      <p:sp>
        <p:nvSpPr>
          <p:cNvPr id="43" name="Text 40"/>
          <p:cNvSpPr/>
          <p:nvPr/>
        </p:nvSpPr>
        <p:spPr>
          <a:xfrm>
            <a:off x="2505456" y="6601968"/>
            <a:ext cx="4599432" cy="402336"/>
          </a:xfrm>
          <a:prstGeom prst="rect">
            <a:avLst/>
          </a:prstGeom>
          <a:noFill/>
          <a:ln/>
        </p:spPr>
        <p:txBody>
          <a:bodyPr wrap="square" lIns="0" tIns="0" rIns="0" bIns="0" rtlCol="0" anchor="t"/>
          <a:lstStyle/>
          <a:p>
            <a:pPr algn="l" indent="0" marL="0">
              <a:lnSpc>
                <a:spcPct val="110000"/>
              </a:lnSpc>
              <a:buNone/>
            </a:pPr>
            <a:r>
              <a:rPr lang="en-US" sz="820" dirty="0">
                <a:solidFill>
                  <a:srgbClr val="000000"/>
                </a:solidFill>
                <a:latin typeface="Arial" pitchFamily="34" charset="0"/>
                <a:ea typeface="Arial" pitchFamily="34" charset="-122"/>
                <a:cs typeface="Arial" pitchFamily="34" charset="-120"/>
              </a:rPr>
              <a:t>Command, management and leadership as distinct functions. The four pillars of trust: competence, predictability, benevolence and integrity. Identity against reputation, and the four competency domains.</a:t>
            </a:r>
            <a:endParaRPr lang="en-US" sz="820" dirty="0"/>
          </a:p>
        </p:txBody>
      </p:sp>
      <p:sp>
        <p:nvSpPr>
          <p:cNvPr id="44" name="Shape 41"/>
          <p:cNvSpPr/>
          <p:nvPr/>
        </p:nvSpPr>
        <p:spPr>
          <a:xfrm>
            <a:off x="457200" y="7059168"/>
            <a:ext cx="41148" cy="128016"/>
          </a:xfrm>
          <a:prstGeom prst="rect">
            <a:avLst/>
          </a:prstGeom>
          <a:solidFill>
            <a:srgbClr val="C62026"/>
          </a:solidFill>
          <a:ln/>
        </p:spPr>
      </p:sp>
      <p:sp>
        <p:nvSpPr>
          <p:cNvPr id="45" name="Text 42"/>
          <p:cNvSpPr/>
          <p:nvPr/>
        </p:nvSpPr>
        <p:spPr>
          <a:xfrm>
            <a:off x="585216" y="7022592"/>
            <a:ext cx="1874520" cy="201168"/>
          </a:xfrm>
          <a:prstGeom prst="rect">
            <a:avLst/>
          </a:prstGeom>
          <a:noFill/>
          <a:ln/>
        </p:spPr>
        <p:txBody>
          <a:bodyPr wrap="square" lIns="0" tIns="0" rIns="0" bIns="0" rtlCol="0" anchor="t"/>
          <a:lstStyle/>
          <a:p>
            <a:pPr algn="l" indent="0" marL="0">
              <a:buNone/>
            </a:pPr>
            <a:r>
              <a:rPr lang="en-US" sz="880" b="1" dirty="0">
                <a:solidFill>
                  <a:srgbClr val="002516"/>
                </a:solidFill>
                <a:latin typeface="Arial" pitchFamily="34" charset="0"/>
                <a:ea typeface="Arial" pitchFamily="34" charset="-122"/>
                <a:cs typeface="Arial" pitchFamily="34" charset="-120"/>
              </a:rPr>
              <a:t>Leadership Personality Report</a:t>
            </a:r>
            <a:endParaRPr lang="en-US" sz="880" dirty="0"/>
          </a:p>
        </p:txBody>
      </p:sp>
      <p:sp>
        <p:nvSpPr>
          <p:cNvPr id="46" name="Text 43"/>
          <p:cNvSpPr/>
          <p:nvPr/>
        </p:nvSpPr>
        <p:spPr>
          <a:xfrm>
            <a:off x="2505456" y="7022592"/>
            <a:ext cx="4599432" cy="402336"/>
          </a:xfrm>
          <a:prstGeom prst="rect">
            <a:avLst/>
          </a:prstGeom>
          <a:noFill/>
          <a:ln/>
        </p:spPr>
        <p:txBody>
          <a:bodyPr wrap="square" lIns="0" tIns="0" rIns="0" bIns="0" rtlCol="0" anchor="t"/>
          <a:lstStyle/>
          <a:p>
            <a:pPr algn="l" indent="0" marL="0">
              <a:lnSpc>
                <a:spcPct val="110000"/>
              </a:lnSpc>
              <a:buNone/>
            </a:pPr>
            <a:r>
              <a:rPr lang="en-US" sz="820" dirty="0">
                <a:solidFill>
                  <a:srgbClr val="000000"/>
                </a:solidFill>
                <a:latin typeface="Arial" pitchFamily="34" charset="0"/>
                <a:ea typeface="Arial" pitchFamily="34" charset="-122"/>
                <a:cs typeface="Arial" pitchFamily="34" charset="-120"/>
              </a:rPr>
              <a:t>A validated Five Factor instrument reporting day to day behaviour, behaviour under pressure or with the guard down, and the needs and drivers behind it.</a:t>
            </a:r>
            <a:endParaRPr lang="en-US" sz="820" dirty="0"/>
          </a:p>
        </p:txBody>
      </p:sp>
      <p:sp>
        <p:nvSpPr>
          <p:cNvPr id="47" name="Shape 44"/>
          <p:cNvSpPr/>
          <p:nvPr/>
        </p:nvSpPr>
        <p:spPr>
          <a:xfrm>
            <a:off x="457200" y="7479792"/>
            <a:ext cx="41148" cy="128016"/>
          </a:xfrm>
          <a:prstGeom prst="rect">
            <a:avLst/>
          </a:prstGeom>
          <a:solidFill>
            <a:srgbClr val="C62026"/>
          </a:solidFill>
          <a:ln/>
        </p:spPr>
      </p:sp>
      <p:sp>
        <p:nvSpPr>
          <p:cNvPr id="48" name="Text 45"/>
          <p:cNvSpPr/>
          <p:nvPr/>
        </p:nvSpPr>
        <p:spPr>
          <a:xfrm>
            <a:off x="585216" y="7443216"/>
            <a:ext cx="1874520" cy="201168"/>
          </a:xfrm>
          <a:prstGeom prst="rect">
            <a:avLst/>
          </a:prstGeom>
          <a:noFill/>
          <a:ln/>
        </p:spPr>
        <p:txBody>
          <a:bodyPr wrap="square" lIns="0" tIns="0" rIns="0" bIns="0" rtlCol="0" anchor="t"/>
          <a:lstStyle/>
          <a:p>
            <a:pPr algn="l" indent="0" marL="0">
              <a:buNone/>
            </a:pPr>
            <a:r>
              <a:rPr lang="en-US" sz="880" b="1" dirty="0">
                <a:solidFill>
                  <a:srgbClr val="002516"/>
                </a:solidFill>
                <a:latin typeface="Arial" pitchFamily="34" charset="0"/>
                <a:ea typeface="Arial" pitchFamily="34" charset="-122"/>
                <a:cs typeface="Arial" pitchFamily="34" charset="-120"/>
              </a:rPr>
              <a:t>Self and peer feedback</a:t>
            </a:r>
            <a:endParaRPr lang="en-US" sz="880" dirty="0"/>
          </a:p>
        </p:txBody>
      </p:sp>
      <p:sp>
        <p:nvSpPr>
          <p:cNvPr id="49" name="Text 46"/>
          <p:cNvSpPr/>
          <p:nvPr/>
        </p:nvSpPr>
        <p:spPr>
          <a:xfrm>
            <a:off x="2505456" y="7443216"/>
            <a:ext cx="4599432" cy="402336"/>
          </a:xfrm>
          <a:prstGeom prst="rect">
            <a:avLst/>
          </a:prstGeom>
          <a:noFill/>
          <a:ln/>
        </p:spPr>
        <p:txBody>
          <a:bodyPr wrap="square" lIns="0" tIns="0" rIns="0" bIns="0" rtlCol="0" anchor="t"/>
          <a:lstStyle/>
          <a:p>
            <a:pPr algn="l" indent="0" marL="0">
              <a:lnSpc>
                <a:spcPct val="110000"/>
              </a:lnSpc>
              <a:buNone/>
            </a:pPr>
            <a:r>
              <a:rPr lang="en-US" sz="820" dirty="0">
                <a:solidFill>
                  <a:srgbClr val="000000"/>
                </a:solidFill>
                <a:latin typeface="Arial" pitchFamily="34" charset="0"/>
                <a:ea typeface="Arial" pitchFamily="34" charset="-122"/>
                <a:cs typeface="Arial" pitchFamily="34" charset="-120"/>
              </a:rPr>
              <a:t>Every participant gives and receives specific behavioural feedback on one strength to sustain and one behaviour to adapt, evidenced by what was observed during the activity.</a:t>
            </a:r>
            <a:endParaRPr lang="en-US" sz="820" dirty="0"/>
          </a:p>
        </p:txBody>
      </p:sp>
      <p:sp>
        <p:nvSpPr>
          <p:cNvPr id="50" name="Shape 47"/>
          <p:cNvSpPr/>
          <p:nvPr/>
        </p:nvSpPr>
        <p:spPr>
          <a:xfrm>
            <a:off x="457200" y="7900416"/>
            <a:ext cx="41148" cy="128016"/>
          </a:xfrm>
          <a:prstGeom prst="rect">
            <a:avLst/>
          </a:prstGeom>
          <a:solidFill>
            <a:srgbClr val="C62026"/>
          </a:solidFill>
          <a:ln/>
        </p:spPr>
      </p:sp>
      <p:sp>
        <p:nvSpPr>
          <p:cNvPr id="51" name="Text 48"/>
          <p:cNvSpPr/>
          <p:nvPr/>
        </p:nvSpPr>
        <p:spPr>
          <a:xfrm>
            <a:off x="585216" y="7863840"/>
            <a:ext cx="1874520" cy="201168"/>
          </a:xfrm>
          <a:prstGeom prst="rect">
            <a:avLst/>
          </a:prstGeom>
          <a:noFill/>
          <a:ln/>
        </p:spPr>
        <p:txBody>
          <a:bodyPr wrap="square" lIns="0" tIns="0" rIns="0" bIns="0" rtlCol="0" anchor="t"/>
          <a:lstStyle/>
          <a:p>
            <a:pPr algn="l" indent="0" marL="0">
              <a:buNone/>
            </a:pPr>
            <a:r>
              <a:rPr lang="en-US" sz="880" b="1" dirty="0">
                <a:solidFill>
                  <a:srgbClr val="002516"/>
                </a:solidFill>
                <a:latin typeface="Arial" pitchFamily="34" charset="0"/>
                <a:ea typeface="Arial" pitchFamily="34" charset="-122"/>
                <a:cs typeface="Arial" pitchFamily="34" charset="-120"/>
              </a:rPr>
              <a:t>Performance under pressure</a:t>
            </a:r>
            <a:endParaRPr lang="en-US" sz="880" dirty="0"/>
          </a:p>
        </p:txBody>
      </p:sp>
      <p:sp>
        <p:nvSpPr>
          <p:cNvPr id="52" name="Text 49"/>
          <p:cNvSpPr/>
          <p:nvPr/>
        </p:nvSpPr>
        <p:spPr>
          <a:xfrm>
            <a:off x="2505456" y="7863840"/>
            <a:ext cx="4599432" cy="402336"/>
          </a:xfrm>
          <a:prstGeom prst="rect">
            <a:avLst/>
          </a:prstGeom>
          <a:noFill/>
          <a:ln/>
        </p:spPr>
        <p:txBody>
          <a:bodyPr wrap="square" lIns="0" tIns="0" rIns="0" bIns="0" rtlCol="0" anchor="t"/>
          <a:lstStyle/>
          <a:p>
            <a:pPr algn="l" indent="0" marL="0">
              <a:lnSpc>
                <a:spcPct val="110000"/>
              </a:lnSpc>
              <a:buNone/>
            </a:pPr>
            <a:r>
              <a:rPr lang="en-US" sz="820" dirty="0">
                <a:solidFill>
                  <a:srgbClr val="000000"/>
                </a:solidFill>
                <a:latin typeface="Arial" pitchFamily="34" charset="0"/>
                <a:ea typeface="Arial" pitchFamily="34" charset="-122"/>
                <a:cs typeface="Arial" pitchFamily="34" charset="-120"/>
              </a:rPr>
              <a:t>Red head and blue head, performance as potential less interference, and a mental-skills set: noticing, grounding, tactical breathing, self-talk, visualisation, chunking and recovery habits.</a:t>
            </a:r>
            <a:endParaRPr lang="en-US" sz="820" dirty="0"/>
          </a:p>
        </p:txBody>
      </p:sp>
      <p:sp>
        <p:nvSpPr>
          <p:cNvPr id="53" name="Shape 50"/>
          <p:cNvSpPr/>
          <p:nvPr/>
        </p:nvSpPr>
        <p:spPr>
          <a:xfrm>
            <a:off x="457200" y="8321040"/>
            <a:ext cx="41148" cy="128016"/>
          </a:xfrm>
          <a:prstGeom prst="rect">
            <a:avLst/>
          </a:prstGeom>
          <a:solidFill>
            <a:srgbClr val="C62026"/>
          </a:solidFill>
          <a:ln/>
        </p:spPr>
      </p:sp>
      <p:sp>
        <p:nvSpPr>
          <p:cNvPr id="54" name="Text 51"/>
          <p:cNvSpPr/>
          <p:nvPr/>
        </p:nvSpPr>
        <p:spPr>
          <a:xfrm>
            <a:off x="585216" y="8284464"/>
            <a:ext cx="1874520" cy="201168"/>
          </a:xfrm>
          <a:prstGeom prst="rect">
            <a:avLst/>
          </a:prstGeom>
          <a:noFill/>
          <a:ln/>
        </p:spPr>
        <p:txBody>
          <a:bodyPr wrap="square" lIns="0" tIns="0" rIns="0" bIns="0" rtlCol="0" anchor="t"/>
          <a:lstStyle/>
          <a:p>
            <a:pPr algn="l" indent="0" marL="0">
              <a:buNone/>
            </a:pPr>
            <a:r>
              <a:rPr lang="en-US" sz="880" b="1" dirty="0">
                <a:solidFill>
                  <a:srgbClr val="002516"/>
                </a:solidFill>
                <a:latin typeface="Arial" pitchFamily="34" charset="0"/>
                <a:ea typeface="Arial" pitchFamily="34" charset="-122"/>
                <a:cs typeface="Arial" pitchFamily="34" charset="-120"/>
              </a:rPr>
              <a:t>Leadership Development Plan</a:t>
            </a:r>
            <a:endParaRPr lang="en-US" sz="880" dirty="0"/>
          </a:p>
        </p:txBody>
      </p:sp>
      <p:sp>
        <p:nvSpPr>
          <p:cNvPr id="55" name="Text 52"/>
          <p:cNvSpPr/>
          <p:nvPr/>
        </p:nvSpPr>
        <p:spPr>
          <a:xfrm>
            <a:off x="2505456" y="8284464"/>
            <a:ext cx="4599432" cy="402336"/>
          </a:xfrm>
          <a:prstGeom prst="rect">
            <a:avLst/>
          </a:prstGeom>
          <a:noFill/>
          <a:ln/>
        </p:spPr>
        <p:txBody>
          <a:bodyPr wrap="square" lIns="0" tIns="0" rIns="0" bIns="0" rtlCol="0" anchor="t"/>
          <a:lstStyle/>
          <a:p>
            <a:pPr algn="l" indent="0" marL="0">
              <a:lnSpc>
                <a:spcPct val="110000"/>
              </a:lnSpc>
              <a:buNone/>
            </a:pPr>
            <a:r>
              <a:rPr lang="en-US" sz="820" dirty="0">
                <a:solidFill>
                  <a:srgbClr val="000000"/>
                </a:solidFill>
                <a:latin typeface="Arial" pitchFamily="34" charset="0"/>
                <a:ea typeface="Arial" pitchFamily="34" charset="-122"/>
                <a:cs typeface="Arial" pitchFamily="34" charset="-120"/>
              </a:rPr>
              <a:t>Three leadership behaviours to sustain and three to adapt, converted into keep, stop and start strategies that are effective, actionable and observable, then disclosed to the team.</a:t>
            </a:r>
            <a:endParaRPr lang="en-US" sz="820" dirty="0"/>
          </a:p>
        </p:txBody>
      </p:sp>
      <p:sp>
        <p:nvSpPr>
          <p:cNvPr id="56" name="Shape 53"/>
          <p:cNvSpPr/>
          <p:nvPr/>
        </p:nvSpPr>
        <p:spPr>
          <a:xfrm>
            <a:off x="457200" y="8741664"/>
            <a:ext cx="6647688" cy="822960"/>
          </a:xfrm>
          <a:prstGeom prst="roundRect">
            <a:avLst>
              <a:gd name="adj" fmla="val 6667"/>
            </a:avLst>
          </a:prstGeom>
          <a:solidFill>
            <a:srgbClr val="CDD2B7">
              <a:alpha val="38000"/>
            </a:srgbClr>
          </a:solidFill>
          <a:ln/>
        </p:spPr>
      </p:sp>
      <p:sp>
        <p:nvSpPr>
          <p:cNvPr id="57" name="Text 54"/>
          <p:cNvSpPr/>
          <p:nvPr/>
        </p:nvSpPr>
        <p:spPr>
          <a:xfrm>
            <a:off x="658368" y="8805672"/>
            <a:ext cx="6245352" cy="182880"/>
          </a:xfrm>
          <a:prstGeom prst="rect">
            <a:avLst/>
          </a:prstGeom>
          <a:noFill/>
          <a:ln/>
        </p:spPr>
        <p:txBody>
          <a:bodyPr wrap="square" lIns="0" tIns="0" rIns="0" bIns="0" rtlCol="0" anchor="ctr"/>
          <a:lstStyle/>
          <a:p>
            <a:pPr algn="l" indent="0" marL="0">
              <a:buNone/>
            </a:pPr>
            <a:r>
              <a:rPr lang="en-US" sz="850" b="1" spc="140" kern="0" dirty="0">
                <a:solidFill>
                  <a:srgbClr val="002516"/>
                </a:solidFill>
                <a:latin typeface="Arial" pitchFamily="34" charset="0"/>
                <a:ea typeface="Arial" pitchFamily="34" charset="-122"/>
                <a:cs typeface="Arial" pitchFamily="34" charset="-120"/>
              </a:rPr>
              <a:t>WHAT A UNIT GETS BACK</a:t>
            </a:r>
            <a:endParaRPr lang="en-US" sz="850" dirty="0"/>
          </a:p>
        </p:txBody>
      </p:sp>
      <p:sp>
        <p:nvSpPr>
          <p:cNvPr id="58" name="Text 55"/>
          <p:cNvSpPr/>
          <p:nvPr/>
        </p:nvSpPr>
        <p:spPr>
          <a:xfrm>
            <a:off x="658368" y="9006840"/>
            <a:ext cx="3031236" cy="246888"/>
          </a:xfrm>
          <a:prstGeom prst="rect">
            <a:avLst/>
          </a:prstGeom>
          <a:noFill/>
          <a:ln/>
        </p:spPr>
        <p:txBody>
          <a:bodyPr wrap="square" lIns="0" tIns="0" rIns="0" bIns="0" rtlCol="0" anchor="t"/>
          <a:lstStyle/>
          <a:p>
            <a:pPr algn="l" marL="127000" indent="-127000">
              <a:buSzPct val="100000"/>
              <a:buChar char="•"/>
            </a:pPr>
            <a:r>
              <a:rPr lang="en-US" sz="810" dirty="0">
                <a:solidFill>
                  <a:srgbClr val="000000"/>
                </a:solidFill>
                <a:latin typeface="Arial" pitchFamily="34" charset="0"/>
                <a:ea typeface="Arial" pitchFamily="34" charset="-122"/>
                <a:cs typeface="Arial" pitchFamily="34" charset="-120"/>
              </a:rPr>
              <a:t>Leadership behaviour assessed under real load, not self-reported.</a:t>
            </a:r>
            <a:endParaRPr lang="en-US" sz="810" dirty="0"/>
          </a:p>
        </p:txBody>
      </p:sp>
      <p:sp>
        <p:nvSpPr>
          <p:cNvPr id="59" name="Text 56"/>
          <p:cNvSpPr/>
          <p:nvPr/>
        </p:nvSpPr>
        <p:spPr>
          <a:xfrm>
            <a:off x="3872484" y="9006840"/>
            <a:ext cx="3031236" cy="246888"/>
          </a:xfrm>
          <a:prstGeom prst="rect">
            <a:avLst/>
          </a:prstGeom>
          <a:noFill/>
          <a:ln/>
        </p:spPr>
        <p:txBody>
          <a:bodyPr wrap="square" lIns="0" tIns="0" rIns="0" bIns="0" rtlCol="0" anchor="t"/>
          <a:lstStyle/>
          <a:p>
            <a:pPr algn="l" marL="127000" indent="-127000">
              <a:buSzPct val="100000"/>
              <a:buChar char="•"/>
            </a:pPr>
            <a:r>
              <a:rPr lang="en-US" sz="810" dirty="0">
                <a:solidFill>
                  <a:srgbClr val="000000"/>
                </a:solidFill>
                <a:latin typeface="Arial" pitchFamily="34" charset="0"/>
                <a:ea typeface="Arial" pitchFamily="34" charset="-122"/>
                <a:cs typeface="Arial" pitchFamily="34" charset="-120"/>
              </a:rPr>
              <a:t>Each leader holds peer evidence of how their behaviour actually lands.</a:t>
            </a:r>
            <a:endParaRPr lang="en-US" sz="810" dirty="0"/>
          </a:p>
        </p:txBody>
      </p:sp>
      <p:sp>
        <p:nvSpPr>
          <p:cNvPr id="60" name="Text 57"/>
          <p:cNvSpPr/>
          <p:nvPr/>
        </p:nvSpPr>
        <p:spPr>
          <a:xfrm>
            <a:off x="658368" y="9272016"/>
            <a:ext cx="3031236" cy="246888"/>
          </a:xfrm>
          <a:prstGeom prst="rect">
            <a:avLst/>
          </a:prstGeom>
          <a:noFill/>
          <a:ln/>
        </p:spPr>
        <p:txBody>
          <a:bodyPr wrap="square" lIns="0" tIns="0" rIns="0" bIns="0" rtlCol="0" anchor="t"/>
          <a:lstStyle/>
          <a:p>
            <a:pPr algn="l" marL="127000" indent="-127000">
              <a:buSzPct val="100000"/>
              <a:buChar char="•"/>
            </a:pPr>
            <a:r>
              <a:rPr lang="en-US" sz="810" dirty="0">
                <a:solidFill>
                  <a:srgbClr val="000000"/>
                </a:solidFill>
                <a:latin typeface="Arial" pitchFamily="34" charset="0"/>
                <a:ea typeface="Arial" pitchFamily="34" charset="-122"/>
                <a:cs typeface="Arial" pitchFamily="34" charset="-120"/>
              </a:rPr>
              <a:t>Every leader returns with a written plan for behavioural adaptation.</a:t>
            </a:r>
            <a:endParaRPr lang="en-US" sz="810" dirty="0"/>
          </a:p>
        </p:txBody>
      </p:sp>
      <p:sp>
        <p:nvSpPr>
          <p:cNvPr id="61" name="Text 58"/>
          <p:cNvSpPr/>
          <p:nvPr/>
        </p:nvSpPr>
        <p:spPr>
          <a:xfrm>
            <a:off x="3872484" y="9272016"/>
            <a:ext cx="3031236" cy="246888"/>
          </a:xfrm>
          <a:prstGeom prst="rect">
            <a:avLst/>
          </a:prstGeom>
          <a:noFill/>
          <a:ln/>
        </p:spPr>
        <p:txBody>
          <a:bodyPr wrap="square" lIns="0" tIns="0" rIns="0" bIns="0" rtlCol="0" anchor="t"/>
          <a:lstStyle/>
          <a:p>
            <a:pPr algn="l" marL="127000" indent="-127000">
              <a:buSzPct val="100000"/>
              <a:buChar char="•"/>
            </a:pPr>
            <a:r>
              <a:rPr lang="en-US" sz="810" dirty="0">
                <a:solidFill>
                  <a:srgbClr val="000000"/>
                </a:solidFill>
                <a:latin typeface="Arial" pitchFamily="34" charset="0"/>
                <a:ea typeface="Arial" pitchFamily="34" charset="-122"/>
                <a:cs typeface="Arial" pitchFamily="34" charset="-120"/>
              </a:rPr>
              <a:t>Nested in the NZDF Leadership Framework, Lead Self to Lead Organisation.</a:t>
            </a:r>
            <a:endParaRPr lang="en-US" sz="810" dirty="0"/>
          </a:p>
        </p:txBody>
      </p:sp>
      <p:sp>
        <p:nvSpPr>
          <p:cNvPr id="62" name="Shape 59"/>
          <p:cNvSpPr/>
          <p:nvPr/>
        </p:nvSpPr>
        <p:spPr>
          <a:xfrm>
            <a:off x="457200" y="9656064"/>
            <a:ext cx="6647688" cy="493776"/>
          </a:xfrm>
          <a:prstGeom prst="rect">
            <a:avLst/>
          </a:prstGeom>
          <a:solidFill>
            <a:srgbClr val="FFFFFF"/>
          </a:solidFill>
          <a:ln w="9525">
            <a:solidFill>
              <a:srgbClr val="002516"/>
            </a:solidFill>
            <a:prstDash val="solid"/>
          </a:ln>
        </p:spPr>
      </p:sp>
      <p:sp>
        <p:nvSpPr>
          <p:cNvPr id="63" name="Text 60"/>
          <p:cNvSpPr/>
          <p:nvPr/>
        </p:nvSpPr>
        <p:spPr>
          <a:xfrm>
            <a:off x="621792" y="9720072"/>
            <a:ext cx="6318504" cy="384048"/>
          </a:xfrm>
          <a:prstGeom prst="rect">
            <a:avLst/>
          </a:prstGeom>
          <a:noFill/>
          <a:ln/>
        </p:spPr>
        <p:txBody>
          <a:bodyPr wrap="square" lIns="0" tIns="0" rIns="0" bIns="0" rtlCol="0" anchor="t"/>
          <a:lstStyle/>
          <a:p>
            <a:pPr algn="l" indent="0" marL="0">
              <a:lnSpc>
                <a:spcPct val="110000"/>
              </a:lnSpc>
              <a:buNone/>
            </a:pPr>
            <a:r>
              <a:rPr lang="en-US" sz="820" b="1" spc="60" kern="0" dirty="0">
                <a:solidFill>
                  <a:srgbClr val="002516"/>
                </a:solidFill>
                <a:latin typeface="Arial" pitchFamily="34" charset="0"/>
                <a:ea typeface="Arial" pitchFamily="34" charset="-122"/>
                <a:cs typeface="Arial" pitchFamily="34" charset="-120"/>
              </a:rPr>
              <a:t>DELIVERED BY THE NZ ARMY LEADERSHIP CENTRE.  </a:t>
            </a:r>
            <a:pPr algn="l" indent="0" marL="0">
              <a:lnSpc>
                <a:spcPct val="110000"/>
              </a:lnSpc>
              <a:buNone/>
            </a:pPr>
            <a:r>
              <a:rPr lang="en-US" sz="820" dirty="0">
                <a:solidFill>
                  <a:srgbClr val="000000"/>
                </a:solidFill>
                <a:latin typeface="Arial" pitchFamily="34" charset="0"/>
                <a:ea typeface="Arial" pitchFamily="34" charset="-122"/>
                <a:cs typeface="Arial" pitchFamily="34" charset="-120"/>
              </a:rPr>
              <a:t>ELDA Command is developed and delivered by the NZ Army Leadership Centre as part of the Army Command School. It integrates validated psychometrics, evidence-based performance psychology and experiential leadership development within the NZDF Leadership Framework.</a:t>
            </a:r>
            <a:endParaRPr lang="en-US" sz="820" dirty="0"/>
          </a:p>
        </p:txBody>
      </p:sp>
      <p:sp>
        <p:nvSpPr>
          <p:cNvPr id="64" name="Text 61"/>
          <p:cNvSpPr/>
          <p:nvPr/>
        </p:nvSpPr>
        <p:spPr>
          <a:xfrm>
            <a:off x="457200" y="10222992"/>
            <a:ext cx="6647688" cy="310896"/>
          </a:xfrm>
          <a:prstGeom prst="rect">
            <a:avLst/>
          </a:prstGeom>
          <a:noFill/>
          <a:ln/>
        </p:spPr>
        <p:txBody>
          <a:bodyPr wrap="square" lIns="0" tIns="0" rIns="0" bIns="0" rtlCol="0" anchor="t"/>
          <a:lstStyle/>
          <a:p>
            <a:pPr algn="l" indent="0" marL="0">
              <a:lnSpc>
                <a:spcPct val="110000"/>
              </a:lnSpc>
              <a:buNone/>
            </a:pPr>
            <a:r>
              <a:rPr lang="en-US" sz="860" dirty="0">
                <a:solidFill>
                  <a:srgbClr val="000000"/>
                </a:solidFill>
                <a:latin typeface="Arial" pitchFamily="34" charset="0"/>
                <a:ea typeface="Arial" pitchFamily="34" charset="-122"/>
                <a:cs typeface="Arial" pitchFamily="34" charset="-120"/>
              </a:rPr>
              <a:t>NZALC welcomes the opportunity to tailor an ELDA Command serial to 2nd Commando Regiment's operational context and leadership priorities. Initial scoping would confirm participant profile, activity design, delivery model and support requirements.</a:t>
            </a:r>
            <a:endParaRPr lang="en-US" sz="86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NZ Army Leadership Centre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ELDA Command</dc:title>
  <dc:subject>Experiential Leadership Development Activity</dc:subject>
  <dc:creator>PptxGenJS</dc:creator>
  <cp:lastModifiedBy>PptxGenJS</cp:lastModifiedBy>
  <cp:revision>1</cp:revision>
  <dcterms:created xsi:type="dcterms:W3CDTF">2026-08-05T05:31:28Z</dcterms:created>
  <dcterms:modified xsi:type="dcterms:W3CDTF">2026-08-05T05:31:28Z</dcterms:modified>
</cp:coreProperties>
</file>