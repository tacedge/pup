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PUP/2d4cec0e-a52e-5368-bb54-803c6f37698d/scratchpad/logo-trimmed.png">    </p:cNvPr>
          <p:cNvPicPr>
            <a:picLocks noChangeAspect="1"/>
          </p:cNvPicPr>
          <p:nvPr/>
        </p:nvPicPr>
        <p:blipFill>
          <a:blip r:embed="rId1"/>
          <a:stretch>
            <a:fillRect/>
          </a:stretch>
        </p:blipFill>
        <p:spPr>
          <a:xfrm>
            <a:off x="457200" y="329184"/>
            <a:ext cx="1572768" cy="380390"/>
          </a:xfrm>
          <a:prstGeom prst="rect">
            <a:avLst/>
          </a:prstGeom>
        </p:spPr>
      </p:pic>
      <p:sp>
        <p:nvSpPr>
          <p:cNvPr id="3" name="Text 0"/>
          <p:cNvSpPr/>
          <p:nvPr/>
        </p:nvSpPr>
        <p:spPr>
          <a:xfrm>
            <a:off x="457200" y="822960"/>
            <a:ext cx="6647688" cy="384048"/>
          </a:xfrm>
          <a:prstGeom prst="rect">
            <a:avLst/>
          </a:prstGeom>
          <a:noFill/>
          <a:ln/>
        </p:spPr>
        <p:txBody>
          <a:bodyPr wrap="square" lIns="0" tIns="0" rIns="0" bIns="0" rtlCol="0" anchor="ctr"/>
          <a:lstStyle/>
          <a:p>
            <a:pPr algn="l" indent="0" marL="0">
              <a:buNone/>
            </a:pPr>
            <a:r>
              <a:rPr lang="en-US" sz="2500" b="1" dirty="0">
                <a:solidFill>
                  <a:srgbClr val="000000"/>
                </a:solidFill>
                <a:latin typeface="Arial" pitchFamily="34" charset="0"/>
                <a:ea typeface="Arial" pitchFamily="34" charset="-122"/>
                <a:cs typeface="Arial" pitchFamily="34" charset="-120"/>
              </a:rPr>
              <a:t>ELDA COMMAND</a:t>
            </a:r>
            <a:endParaRPr lang="en-US" sz="2500" dirty="0"/>
          </a:p>
        </p:txBody>
      </p:sp>
      <p:sp>
        <p:nvSpPr>
          <p:cNvPr id="4" name="Text 1"/>
          <p:cNvSpPr/>
          <p:nvPr/>
        </p:nvSpPr>
        <p:spPr>
          <a:xfrm>
            <a:off x="457200" y="1188720"/>
            <a:ext cx="6647688" cy="201168"/>
          </a:xfrm>
          <a:prstGeom prst="rect">
            <a:avLst/>
          </a:prstGeom>
          <a:noFill/>
          <a:ln/>
        </p:spPr>
        <p:txBody>
          <a:bodyPr wrap="square" lIns="0" tIns="0" rIns="0" bIns="0" rtlCol="0" anchor="ctr"/>
          <a:lstStyle/>
          <a:p>
            <a:pPr algn="l" indent="0" marL="0">
              <a:buNone/>
            </a:pPr>
            <a:r>
              <a:rPr lang="en-US" sz="1150" dirty="0">
                <a:solidFill>
                  <a:srgbClr val="002516"/>
                </a:solidFill>
                <a:latin typeface="Arial" pitchFamily="34" charset="0"/>
                <a:ea typeface="Arial" pitchFamily="34" charset="-122"/>
                <a:cs typeface="Arial" pitchFamily="34" charset="-120"/>
              </a:rPr>
              <a:t>Experiential Leadership Development Activity</a:t>
            </a:r>
            <a:endParaRPr lang="en-US" sz="1150" dirty="0"/>
          </a:p>
        </p:txBody>
      </p:sp>
      <p:sp>
        <p:nvSpPr>
          <p:cNvPr id="5" name="Text 2"/>
          <p:cNvSpPr/>
          <p:nvPr/>
        </p:nvSpPr>
        <p:spPr>
          <a:xfrm>
            <a:off x="457200" y="1389888"/>
            <a:ext cx="6647688" cy="182880"/>
          </a:xfrm>
          <a:prstGeom prst="rect">
            <a:avLst/>
          </a:prstGeom>
          <a:noFill/>
          <a:ln/>
        </p:spPr>
        <p:txBody>
          <a:bodyPr wrap="square" lIns="0" tIns="0" rIns="0" bIns="0" rtlCol="0" anchor="ctr"/>
          <a:lstStyle/>
          <a:p>
            <a:pPr algn="l" indent="0" marL="0">
              <a:buNone/>
            </a:pPr>
            <a:r>
              <a:rPr lang="en-US" sz="850" i="1" dirty="0">
                <a:solidFill>
                  <a:srgbClr val="7F7F7F"/>
                </a:solidFill>
                <a:latin typeface="Arial" pitchFamily="34" charset="0"/>
                <a:ea typeface="Arial" pitchFamily="34" charset="-122"/>
                <a:cs typeface="Arial" pitchFamily="34" charset="-120"/>
              </a:rPr>
              <a:t>NZ Army Leadership Centre  |  Army Command School</a:t>
            </a:r>
            <a:endParaRPr lang="en-US" sz="850" dirty="0"/>
          </a:p>
        </p:txBody>
      </p:sp>
      <p:sp>
        <p:nvSpPr>
          <p:cNvPr id="6" name="Shape 3"/>
          <p:cNvSpPr/>
          <p:nvPr/>
        </p:nvSpPr>
        <p:spPr>
          <a:xfrm>
            <a:off x="457200" y="1627632"/>
            <a:ext cx="6647688" cy="25603"/>
          </a:xfrm>
          <a:prstGeom prst="rect">
            <a:avLst/>
          </a:prstGeom>
          <a:solidFill>
            <a:srgbClr val="C62026"/>
          </a:solidFill>
          <a:ln/>
        </p:spPr>
      </p:sp>
      <p:sp>
        <p:nvSpPr>
          <p:cNvPr id="7" name="Text 4"/>
          <p:cNvSpPr/>
          <p:nvPr/>
        </p:nvSpPr>
        <p:spPr>
          <a:xfrm>
            <a:off x="457200" y="1773936"/>
            <a:ext cx="6647688" cy="566928"/>
          </a:xfrm>
          <a:prstGeom prst="rect">
            <a:avLst/>
          </a:prstGeom>
          <a:noFill/>
          <a:ln/>
        </p:spPr>
        <p:txBody>
          <a:bodyPr wrap="square" lIns="0" tIns="0" rIns="0" bIns="0" rtlCol="0" anchor="t"/>
          <a:lstStyle/>
          <a:p>
            <a:pPr algn="l" indent="0" marL="0">
              <a:lnSpc>
                <a:spcPct val="115000"/>
              </a:lnSpc>
              <a:buNone/>
            </a:pPr>
            <a:r>
              <a:rPr lang="en-US" sz="1000" dirty="0">
                <a:solidFill>
                  <a:srgbClr val="000000"/>
                </a:solidFill>
                <a:latin typeface="Arial" pitchFamily="34" charset="0"/>
                <a:ea typeface="Arial" pitchFamily="34" charset="-122"/>
                <a:cs typeface="Arial" pitchFamily="34" charset="-120"/>
              </a:rPr>
              <a:t>ELDA is a leadership development activity, not a classroom course. Participants lead and follow as a team through a demanding activity, where behaviour is exposed under genuine physical, mental and interpersonal load. Profiling, peer feedback and mental-skills training convert that experience into a written plan for the unit.</a:t>
            </a:r>
            <a:endParaRPr lang="en-US" sz="1000" dirty="0"/>
          </a:p>
        </p:txBody>
      </p:sp>
      <p:sp>
        <p:nvSpPr>
          <p:cNvPr id="8" name="Shape 5"/>
          <p:cNvSpPr/>
          <p:nvPr/>
        </p:nvSpPr>
        <p:spPr>
          <a:xfrm>
            <a:off x="457200" y="2432304"/>
            <a:ext cx="6647688" cy="786384"/>
          </a:xfrm>
          <a:prstGeom prst="roundRect">
            <a:avLst>
              <a:gd name="adj" fmla="val 6977"/>
            </a:avLst>
          </a:prstGeom>
          <a:solidFill>
            <a:srgbClr val="002516"/>
          </a:solidFill>
          <a:ln/>
        </p:spPr>
      </p:sp>
      <p:sp>
        <p:nvSpPr>
          <p:cNvPr id="9" name="Text 6"/>
          <p:cNvSpPr/>
          <p:nvPr/>
        </p:nvSpPr>
        <p:spPr>
          <a:xfrm>
            <a:off x="658368" y="2523744"/>
            <a:ext cx="1097280" cy="182880"/>
          </a:xfrm>
          <a:prstGeom prst="rect">
            <a:avLst/>
          </a:prstGeom>
          <a:noFill/>
          <a:ln/>
        </p:spPr>
        <p:txBody>
          <a:bodyPr wrap="square" lIns="0" tIns="0" rIns="0" bIns="0" rtlCol="0" anchor="ctr"/>
          <a:lstStyle/>
          <a:p>
            <a:pPr algn="l" indent="0" marL="0">
              <a:buNone/>
            </a:pPr>
            <a:r>
              <a:rPr lang="en-US" sz="800" b="1" spc="160" kern="0" dirty="0">
                <a:solidFill>
                  <a:srgbClr val="CDD2B7"/>
                </a:solidFill>
                <a:latin typeface="Arial" pitchFamily="34" charset="0"/>
                <a:ea typeface="Arial" pitchFamily="34" charset="-122"/>
                <a:cs typeface="Arial" pitchFamily="34" charset="-120"/>
              </a:rPr>
              <a:t>AIM</a:t>
            </a:r>
            <a:endParaRPr lang="en-US" sz="800" dirty="0"/>
          </a:p>
        </p:txBody>
      </p:sp>
      <p:sp>
        <p:nvSpPr>
          <p:cNvPr id="10" name="Text 7"/>
          <p:cNvSpPr/>
          <p:nvPr/>
        </p:nvSpPr>
        <p:spPr>
          <a:xfrm>
            <a:off x="658368" y="2706624"/>
            <a:ext cx="6245352" cy="438912"/>
          </a:xfrm>
          <a:prstGeom prst="rect">
            <a:avLst/>
          </a:prstGeom>
          <a:noFill/>
          <a:ln/>
        </p:spPr>
        <p:txBody>
          <a:bodyPr wrap="square" lIns="0" tIns="0" rIns="0" bIns="0" rtlCol="0" anchor="t"/>
          <a:lstStyle/>
          <a:p>
            <a:pPr algn="l" indent="0" marL="0">
              <a:lnSpc>
                <a:spcPct val="110000"/>
              </a:lnSpc>
              <a:buNone/>
            </a:pPr>
            <a:r>
              <a:rPr lang="en-US" sz="950" dirty="0">
                <a:solidFill>
                  <a:srgbClr val="FFFFFF"/>
                </a:solidFill>
                <a:latin typeface="Arial" pitchFamily="34" charset="0"/>
                <a:ea typeface="Arial" pitchFamily="34" charset="-122"/>
                <a:cs typeface="Arial" pitchFamily="34" charset="-120"/>
              </a:rPr>
              <a:t>To enhance leadership and maintain warrior ethos in order to provide world class, operationally focused leaders. This is achieved through completing a challenging activity supported by leadership tools and selected psychometrics, followed by reflection and behaviour selection to increase effectiveness.</a:t>
            </a:r>
            <a:endParaRPr lang="en-US" sz="950" dirty="0"/>
          </a:p>
        </p:txBody>
      </p:sp>
      <p:sp>
        <p:nvSpPr>
          <p:cNvPr id="11" name="Text 8"/>
          <p:cNvSpPr/>
          <p:nvPr/>
        </p:nvSpPr>
        <p:spPr>
          <a:xfrm>
            <a:off x="457200" y="3328416"/>
            <a:ext cx="6647688" cy="182880"/>
          </a:xfrm>
          <a:prstGeom prst="rect">
            <a:avLst/>
          </a:prstGeom>
          <a:noFill/>
          <a:ln/>
        </p:spPr>
        <p:txBody>
          <a:bodyPr wrap="square" lIns="0" tIns="0" rIns="0" bIns="0" rtlCol="0" anchor="ctr"/>
          <a:lstStyle/>
          <a:p>
            <a:pPr algn="l" indent="0" marL="0">
              <a:buNone/>
            </a:pPr>
            <a:r>
              <a:rPr lang="en-US" sz="850" b="1" spc="140" kern="0" dirty="0">
                <a:solidFill>
                  <a:srgbClr val="002516"/>
                </a:solidFill>
                <a:latin typeface="Arial" pitchFamily="34" charset="0"/>
                <a:ea typeface="Arial" pitchFamily="34" charset="-122"/>
                <a:cs typeface="Arial" pitchFamily="34" charset="-120"/>
              </a:rPr>
              <a:t>LEARNING OUTCOMES</a:t>
            </a:r>
            <a:endParaRPr lang="en-US" sz="850" dirty="0"/>
          </a:p>
        </p:txBody>
      </p:sp>
      <p:sp>
        <p:nvSpPr>
          <p:cNvPr id="12" name="Shape 9"/>
          <p:cNvSpPr/>
          <p:nvPr/>
        </p:nvSpPr>
        <p:spPr>
          <a:xfrm>
            <a:off x="457200" y="3566160"/>
            <a:ext cx="2130552" cy="749808"/>
          </a:xfrm>
          <a:prstGeom prst="roundRect">
            <a:avLst>
              <a:gd name="adj" fmla="val 7317"/>
            </a:avLst>
          </a:prstGeom>
          <a:solidFill>
            <a:srgbClr val="CDD2B7">
              <a:alpha val="45000"/>
            </a:srgbClr>
          </a:solidFill>
          <a:ln w="12700">
            <a:solidFill>
              <a:srgbClr val="CDD2B7"/>
            </a:solidFill>
            <a:prstDash val="solid"/>
          </a:ln>
        </p:spPr>
      </p:sp>
      <p:sp>
        <p:nvSpPr>
          <p:cNvPr id="13" name="Shape 10"/>
          <p:cNvSpPr/>
          <p:nvPr/>
        </p:nvSpPr>
        <p:spPr>
          <a:xfrm>
            <a:off x="585216" y="3675888"/>
            <a:ext cx="201168" cy="201168"/>
          </a:xfrm>
          <a:prstGeom prst="ellipse">
            <a:avLst/>
          </a:prstGeom>
          <a:solidFill>
            <a:srgbClr val="002516"/>
          </a:solidFill>
          <a:ln/>
        </p:spPr>
      </p:sp>
      <p:sp>
        <p:nvSpPr>
          <p:cNvPr id="14" name="Text 11"/>
          <p:cNvSpPr/>
          <p:nvPr/>
        </p:nvSpPr>
        <p:spPr>
          <a:xfrm>
            <a:off x="585216" y="367588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15" name="Text 12"/>
          <p:cNvSpPr/>
          <p:nvPr/>
        </p:nvSpPr>
        <p:spPr>
          <a:xfrm>
            <a:off x="841248" y="3675888"/>
            <a:ext cx="1618488" cy="201168"/>
          </a:xfrm>
          <a:prstGeom prst="rect">
            <a:avLst/>
          </a:prstGeom>
          <a:noFill/>
          <a:ln/>
        </p:spPr>
        <p:txBody>
          <a:bodyPr wrap="square" lIns="0" tIns="0" rIns="0" bIns="0" rtlCol="0" anchor="ctr"/>
          <a:lstStyle/>
          <a:p>
            <a:pPr algn="l" indent="0" marL="0">
              <a:buNone/>
            </a:pPr>
            <a:r>
              <a:rPr lang="en-US" sz="860" b="1" dirty="0">
                <a:solidFill>
                  <a:srgbClr val="002516"/>
                </a:solidFill>
                <a:latin typeface="Arial" pitchFamily="34" charset="0"/>
                <a:ea typeface="Arial" pitchFamily="34" charset="-122"/>
                <a:cs typeface="Arial" pitchFamily="34" charset="-120"/>
              </a:rPr>
              <a:t>PERFORMANCE MINDSET</a:t>
            </a:r>
            <a:endParaRPr lang="en-US" sz="860" dirty="0"/>
          </a:p>
        </p:txBody>
      </p:sp>
      <p:sp>
        <p:nvSpPr>
          <p:cNvPr id="16" name="Text 13"/>
          <p:cNvSpPr/>
          <p:nvPr/>
        </p:nvSpPr>
        <p:spPr>
          <a:xfrm>
            <a:off x="585216" y="3895344"/>
            <a:ext cx="1874520" cy="384048"/>
          </a:xfrm>
          <a:prstGeom prst="rect">
            <a:avLst/>
          </a:prstGeom>
          <a:noFill/>
          <a:ln/>
        </p:spPr>
        <p:txBody>
          <a:bodyPr wrap="square" lIns="0" tIns="0" rIns="0" bIns="0" rtlCol="0" anchor="t"/>
          <a:lstStyle/>
          <a:p>
            <a:pPr algn="l" indent="0" marL="0">
              <a:lnSpc>
                <a:spcPct val="110000"/>
              </a:lnSpc>
              <a:buNone/>
            </a:pPr>
            <a:r>
              <a:rPr lang="en-US" sz="840" dirty="0">
                <a:solidFill>
                  <a:srgbClr val="000000"/>
                </a:solidFill>
                <a:latin typeface="Arial" pitchFamily="34" charset="0"/>
                <a:ea typeface="Arial" pitchFamily="34" charset="-122"/>
                <a:cs typeface="Arial" pitchFamily="34" charset="-120"/>
              </a:rPr>
              <a:t>Develop the mental skills to perform under pressure.</a:t>
            </a:r>
            <a:endParaRPr lang="en-US" sz="840" dirty="0"/>
          </a:p>
        </p:txBody>
      </p:sp>
      <p:sp>
        <p:nvSpPr>
          <p:cNvPr id="17" name="Shape 14"/>
          <p:cNvSpPr/>
          <p:nvPr/>
        </p:nvSpPr>
        <p:spPr>
          <a:xfrm>
            <a:off x="2715768" y="3566160"/>
            <a:ext cx="2130552" cy="749808"/>
          </a:xfrm>
          <a:prstGeom prst="roundRect">
            <a:avLst>
              <a:gd name="adj" fmla="val 7317"/>
            </a:avLst>
          </a:prstGeom>
          <a:solidFill>
            <a:srgbClr val="CDD2B7">
              <a:alpha val="45000"/>
            </a:srgbClr>
          </a:solidFill>
          <a:ln w="12700">
            <a:solidFill>
              <a:srgbClr val="CDD2B7"/>
            </a:solidFill>
            <a:prstDash val="solid"/>
          </a:ln>
        </p:spPr>
      </p:sp>
      <p:sp>
        <p:nvSpPr>
          <p:cNvPr id="18" name="Shape 15"/>
          <p:cNvSpPr/>
          <p:nvPr/>
        </p:nvSpPr>
        <p:spPr>
          <a:xfrm>
            <a:off x="2843784" y="3675888"/>
            <a:ext cx="201168" cy="201168"/>
          </a:xfrm>
          <a:prstGeom prst="ellipse">
            <a:avLst/>
          </a:prstGeom>
          <a:solidFill>
            <a:srgbClr val="002516"/>
          </a:solidFill>
          <a:ln/>
        </p:spPr>
      </p:sp>
      <p:sp>
        <p:nvSpPr>
          <p:cNvPr id="19" name="Text 16"/>
          <p:cNvSpPr/>
          <p:nvPr/>
        </p:nvSpPr>
        <p:spPr>
          <a:xfrm>
            <a:off x="2843784" y="367588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0" name="Text 17"/>
          <p:cNvSpPr/>
          <p:nvPr/>
        </p:nvSpPr>
        <p:spPr>
          <a:xfrm>
            <a:off x="3099816" y="3675888"/>
            <a:ext cx="1618488" cy="201168"/>
          </a:xfrm>
          <a:prstGeom prst="rect">
            <a:avLst/>
          </a:prstGeom>
          <a:noFill/>
          <a:ln/>
        </p:spPr>
        <p:txBody>
          <a:bodyPr wrap="square" lIns="0" tIns="0" rIns="0" bIns="0" rtlCol="0" anchor="ctr"/>
          <a:lstStyle/>
          <a:p>
            <a:pPr algn="l" indent="0" marL="0">
              <a:buNone/>
            </a:pPr>
            <a:r>
              <a:rPr lang="en-US" sz="860" b="1" dirty="0">
                <a:solidFill>
                  <a:srgbClr val="002516"/>
                </a:solidFill>
                <a:latin typeface="Arial" pitchFamily="34" charset="0"/>
                <a:ea typeface="Arial" pitchFamily="34" charset="-122"/>
                <a:cs typeface="Arial" pitchFamily="34" charset="-120"/>
              </a:rPr>
              <a:t>THE ACTIVITY</a:t>
            </a:r>
            <a:endParaRPr lang="en-US" sz="860" dirty="0"/>
          </a:p>
        </p:txBody>
      </p:sp>
      <p:sp>
        <p:nvSpPr>
          <p:cNvPr id="21" name="Text 18"/>
          <p:cNvSpPr/>
          <p:nvPr/>
        </p:nvSpPr>
        <p:spPr>
          <a:xfrm>
            <a:off x="2843784" y="3895344"/>
            <a:ext cx="1874520" cy="384048"/>
          </a:xfrm>
          <a:prstGeom prst="rect">
            <a:avLst/>
          </a:prstGeom>
          <a:noFill/>
          <a:ln/>
        </p:spPr>
        <p:txBody>
          <a:bodyPr wrap="square" lIns="0" tIns="0" rIns="0" bIns="0" rtlCol="0" anchor="t"/>
          <a:lstStyle/>
          <a:p>
            <a:pPr algn="l" indent="0" marL="0">
              <a:lnSpc>
                <a:spcPct val="110000"/>
              </a:lnSpc>
              <a:buNone/>
            </a:pPr>
            <a:r>
              <a:rPr lang="en-US" sz="840" dirty="0">
                <a:solidFill>
                  <a:srgbClr val="000000"/>
                </a:solidFill>
                <a:latin typeface="Arial" pitchFamily="34" charset="0"/>
                <a:ea typeface="Arial" pitchFamily="34" charset="-122"/>
                <a:cs typeface="Arial" pitchFamily="34" charset="-120"/>
              </a:rPr>
              <a:t>Lead and follow through a genuinely challenging serial.</a:t>
            </a:r>
            <a:endParaRPr lang="en-US" sz="840" dirty="0"/>
          </a:p>
        </p:txBody>
      </p:sp>
      <p:sp>
        <p:nvSpPr>
          <p:cNvPr id="22" name="Shape 19"/>
          <p:cNvSpPr/>
          <p:nvPr/>
        </p:nvSpPr>
        <p:spPr>
          <a:xfrm>
            <a:off x="4974336" y="3566160"/>
            <a:ext cx="2130552" cy="749808"/>
          </a:xfrm>
          <a:prstGeom prst="roundRect">
            <a:avLst>
              <a:gd name="adj" fmla="val 7317"/>
            </a:avLst>
          </a:prstGeom>
          <a:solidFill>
            <a:srgbClr val="CDD2B7">
              <a:alpha val="45000"/>
            </a:srgbClr>
          </a:solidFill>
          <a:ln w="12700">
            <a:solidFill>
              <a:srgbClr val="CDD2B7"/>
            </a:solidFill>
            <a:prstDash val="solid"/>
          </a:ln>
        </p:spPr>
      </p:sp>
      <p:sp>
        <p:nvSpPr>
          <p:cNvPr id="23" name="Shape 20"/>
          <p:cNvSpPr/>
          <p:nvPr/>
        </p:nvSpPr>
        <p:spPr>
          <a:xfrm>
            <a:off x="5102352" y="3675888"/>
            <a:ext cx="201168" cy="201168"/>
          </a:xfrm>
          <a:prstGeom prst="ellipse">
            <a:avLst/>
          </a:prstGeom>
          <a:solidFill>
            <a:srgbClr val="002516"/>
          </a:solidFill>
          <a:ln/>
        </p:spPr>
      </p:sp>
      <p:sp>
        <p:nvSpPr>
          <p:cNvPr id="24" name="Text 21"/>
          <p:cNvSpPr/>
          <p:nvPr/>
        </p:nvSpPr>
        <p:spPr>
          <a:xfrm>
            <a:off x="5102352" y="367588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25" name="Text 22"/>
          <p:cNvSpPr/>
          <p:nvPr/>
        </p:nvSpPr>
        <p:spPr>
          <a:xfrm>
            <a:off x="5358384" y="3675888"/>
            <a:ext cx="1618488" cy="201168"/>
          </a:xfrm>
          <a:prstGeom prst="rect">
            <a:avLst/>
          </a:prstGeom>
          <a:noFill/>
          <a:ln/>
        </p:spPr>
        <p:txBody>
          <a:bodyPr wrap="square" lIns="0" tIns="0" rIns="0" bIns="0" rtlCol="0" anchor="ctr"/>
          <a:lstStyle/>
          <a:p>
            <a:pPr algn="l" indent="0" marL="0">
              <a:buNone/>
            </a:pPr>
            <a:r>
              <a:rPr lang="en-US" sz="860" b="1" dirty="0">
                <a:solidFill>
                  <a:srgbClr val="002516"/>
                </a:solidFill>
                <a:latin typeface="Arial" pitchFamily="34" charset="0"/>
                <a:ea typeface="Arial" pitchFamily="34" charset="-122"/>
                <a:cs typeface="Arial" pitchFamily="34" charset="-120"/>
              </a:rPr>
              <a:t>DEVELOPMENT PLAN</a:t>
            </a:r>
            <a:endParaRPr lang="en-US" sz="860" dirty="0"/>
          </a:p>
        </p:txBody>
      </p:sp>
      <p:sp>
        <p:nvSpPr>
          <p:cNvPr id="26" name="Text 23"/>
          <p:cNvSpPr/>
          <p:nvPr/>
        </p:nvSpPr>
        <p:spPr>
          <a:xfrm>
            <a:off x="5102352" y="3895344"/>
            <a:ext cx="1874520" cy="384048"/>
          </a:xfrm>
          <a:prstGeom prst="rect">
            <a:avLst/>
          </a:prstGeom>
          <a:noFill/>
          <a:ln/>
        </p:spPr>
        <p:txBody>
          <a:bodyPr wrap="square" lIns="0" tIns="0" rIns="0" bIns="0" rtlCol="0" anchor="t"/>
          <a:lstStyle/>
          <a:p>
            <a:pPr algn="l" indent="0" marL="0">
              <a:lnSpc>
                <a:spcPct val="110000"/>
              </a:lnSpc>
              <a:buNone/>
            </a:pPr>
            <a:r>
              <a:rPr lang="en-US" sz="840" dirty="0">
                <a:solidFill>
                  <a:srgbClr val="000000"/>
                </a:solidFill>
                <a:latin typeface="Arial" pitchFamily="34" charset="0"/>
                <a:ea typeface="Arial" pitchFamily="34" charset="-122"/>
                <a:cs typeface="Arial" pitchFamily="34" charset="-120"/>
              </a:rPr>
              <a:t>Leave with an actionable plan for the workplace.</a:t>
            </a:r>
            <a:endParaRPr lang="en-US" sz="840" dirty="0"/>
          </a:p>
        </p:txBody>
      </p:sp>
      <p:sp>
        <p:nvSpPr>
          <p:cNvPr id="27" name="Text 24"/>
          <p:cNvSpPr/>
          <p:nvPr/>
        </p:nvSpPr>
        <p:spPr>
          <a:xfrm>
            <a:off x="457200" y="4443984"/>
            <a:ext cx="6647688" cy="182880"/>
          </a:xfrm>
          <a:prstGeom prst="rect">
            <a:avLst/>
          </a:prstGeom>
          <a:noFill/>
          <a:ln/>
        </p:spPr>
        <p:txBody>
          <a:bodyPr wrap="square" lIns="0" tIns="0" rIns="0" bIns="0" rtlCol="0" anchor="ctr"/>
          <a:lstStyle/>
          <a:p>
            <a:pPr algn="l" indent="0" marL="0">
              <a:buNone/>
            </a:pPr>
            <a:r>
              <a:rPr lang="en-US" sz="850" b="1" spc="140" kern="0" dirty="0">
                <a:solidFill>
                  <a:srgbClr val="002516"/>
                </a:solidFill>
                <a:latin typeface="Arial" pitchFamily="34" charset="0"/>
                <a:ea typeface="Arial" pitchFamily="34" charset="-122"/>
                <a:cs typeface="Arial" pitchFamily="34" charset="-120"/>
              </a:rPr>
              <a:t>HOW IT IS STRUCTURED: THE PERFORMANCE CYCLE</a:t>
            </a:r>
            <a:endParaRPr lang="en-US" sz="850" dirty="0"/>
          </a:p>
        </p:txBody>
      </p:sp>
      <p:sp>
        <p:nvSpPr>
          <p:cNvPr id="28" name="Shape 25"/>
          <p:cNvSpPr/>
          <p:nvPr/>
        </p:nvSpPr>
        <p:spPr>
          <a:xfrm>
            <a:off x="457200" y="4681728"/>
            <a:ext cx="2130552" cy="237744"/>
          </a:xfrm>
          <a:prstGeom prst="rect">
            <a:avLst/>
          </a:prstGeom>
          <a:solidFill>
            <a:srgbClr val="002516"/>
          </a:solidFill>
          <a:ln/>
        </p:spPr>
      </p:sp>
      <p:sp>
        <p:nvSpPr>
          <p:cNvPr id="29" name="Text 26"/>
          <p:cNvSpPr/>
          <p:nvPr/>
        </p:nvSpPr>
        <p:spPr>
          <a:xfrm>
            <a:off x="457200" y="4681728"/>
            <a:ext cx="2130552" cy="237744"/>
          </a:xfrm>
          <a:prstGeom prst="rect">
            <a:avLst/>
          </a:prstGeom>
          <a:noFill/>
          <a:ln/>
        </p:spPr>
        <p:txBody>
          <a:bodyPr wrap="square" lIns="0" tIns="0" rIns="0" bIns="0" rtlCol="0" anchor="ctr"/>
          <a:lstStyle/>
          <a:p>
            <a:pPr algn="ctr" indent="0" marL="0">
              <a:buNone/>
            </a:pPr>
            <a:r>
              <a:rPr lang="en-US" sz="950" b="1" spc="160" kern="0" dirty="0">
                <a:solidFill>
                  <a:srgbClr val="FFFFFF"/>
                </a:solidFill>
                <a:latin typeface="Arial" pitchFamily="34" charset="0"/>
                <a:ea typeface="Arial" pitchFamily="34" charset="-122"/>
                <a:cs typeface="Arial" pitchFamily="34" charset="-120"/>
              </a:rPr>
              <a:t>PREPARE</a:t>
            </a:r>
            <a:endParaRPr lang="en-US" sz="950" dirty="0"/>
          </a:p>
        </p:txBody>
      </p:sp>
      <p:sp>
        <p:nvSpPr>
          <p:cNvPr id="30" name="Text 27"/>
          <p:cNvSpPr/>
          <p:nvPr/>
        </p:nvSpPr>
        <p:spPr>
          <a:xfrm>
            <a:off x="475488" y="4974336"/>
            <a:ext cx="2093976" cy="1207008"/>
          </a:xfrm>
          <a:prstGeom prst="rect">
            <a:avLst/>
          </a:prstGeom>
          <a:noFill/>
          <a:ln/>
        </p:spPr>
        <p:txBody>
          <a:bodyPr wrap="square" lIns="0" tIns="0" rIns="0" bIns="0" rtlCol="0" anchor="t"/>
          <a:lstStyle/>
          <a:p>
            <a:pPr algn="l" marL="127000" indent="-127000">
              <a:lnSpc>
                <a:spcPct val="110000"/>
              </a:lnSpc>
              <a:spcAft>
                <a:spcPts val="500"/>
              </a:spcAft>
              <a:buSzPct val="100000"/>
              <a:buChar char="•"/>
            </a:pPr>
            <a:r>
              <a:rPr lang="en-US" sz="820" dirty="0">
                <a:solidFill>
                  <a:srgbClr val="000000"/>
                </a:solidFill>
                <a:latin typeface="Arial" pitchFamily="34" charset="0"/>
                <a:ea typeface="Arial" pitchFamily="34" charset="-122"/>
                <a:cs typeface="Arial" pitchFamily="34" charset="-120"/>
              </a:rPr>
              <a:t>Leadership Personality Report: a Five Factor profile covering day to day behaviour, behaviour under pressure, and personal drivers.</a:t>
            </a:r>
            <a:endParaRPr lang="en-US" sz="820" dirty="0"/>
          </a:p>
          <a:p>
            <a:pPr algn="l" marL="127000" indent="-127000">
              <a:lnSpc>
                <a:spcPct val="110000"/>
              </a:lnSpc>
              <a:spcAft>
                <a:spcPts val="500"/>
              </a:spcAft>
              <a:buSzPct val="100000"/>
              <a:buChar char="•"/>
            </a:pPr>
            <a:r>
              <a:rPr lang="en-US" sz="820" dirty="0">
                <a:solidFill>
                  <a:srgbClr val="000000"/>
                </a:solidFill>
                <a:latin typeface="Arial" pitchFamily="34" charset="0"/>
                <a:ea typeface="Arial" pitchFamily="34" charset="-122"/>
                <a:cs typeface="Arial" pitchFamily="34" charset="-120"/>
              </a:rPr>
              <a:t>Identify the behaviours that will help and hinder performance.</a:t>
            </a:r>
            <a:endParaRPr lang="en-US" sz="820" dirty="0"/>
          </a:p>
          <a:p>
            <a:pPr algn="l" marL="127000" indent="-127000">
              <a:lnSpc>
                <a:spcPct val="110000"/>
              </a:lnSpc>
              <a:spcAft>
                <a:spcPts val="500"/>
              </a:spcAft>
              <a:buSzPct val="100000"/>
              <a:buChar char="•"/>
            </a:pPr>
            <a:r>
              <a:rPr lang="en-US" sz="820" dirty="0">
                <a:solidFill>
                  <a:srgbClr val="000000"/>
                </a:solidFill>
                <a:latin typeface="Arial" pitchFamily="34" charset="0"/>
                <a:ea typeface="Arial" pitchFamily="34" charset="-122"/>
                <a:cs typeface="Arial" pitchFamily="34" charset="-120"/>
              </a:rPr>
              <a:t>Select the mental skills to be used during the activity.</a:t>
            </a:r>
            <a:endParaRPr lang="en-US" sz="820" dirty="0"/>
          </a:p>
        </p:txBody>
      </p:sp>
      <p:sp>
        <p:nvSpPr>
          <p:cNvPr id="31" name="Shape 28"/>
          <p:cNvSpPr/>
          <p:nvPr/>
        </p:nvSpPr>
        <p:spPr>
          <a:xfrm>
            <a:off x="2715768" y="4681728"/>
            <a:ext cx="2130552" cy="237744"/>
          </a:xfrm>
          <a:prstGeom prst="rect">
            <a:avLst/>
          </a:prstGeom>
          <a:solidFill>
            <a:srgbClr val="3A4B00"/>
          </a:solidFill>
          <a:ln/>
        </p:spPr>
      </p:sp>
      <p:sp>
        <p:nvSpPr>
          <p:cNvPr id="32" name="Text 29"/>
          <p:cNvSpPr/>
          <p:nvPr/>
        </p:nvSpPr>
        <p:spPr>
          <a:xfrm>
            <a:off x="2715768" y="4681728"/>
            <a:ext cx="2130552" cy="237744"/>
          </a:xfrm>
          <a:prstGeom prst="rect">
            <a:avLst/>
          </a:prstGeom>
          <a:noFill/>
          <a:ln/>
        </p:spPr>
        <p:txBody>
          <a:bodyPr wrap="square" lIns="0" tIns="0" rIns="0" bIns="0" rtlCol="0" anchor="ctr"/>
          <a:lstStyle/>
          <a:p>
            <a:pPr algn="ctr" indent="0" marL="0">
              <a:buNone/>
            </a:pPr>
            <a:r>
              <a:rPr lang="en-US" sz="950" b="1" spc="160" kern="0" dirty="0">
                <a:solidFill>
                  <a:srgbClr val="FFFFFF"/>
                </a:solidFill>
                <a:latin typeface="Arial" pitchFamily="34" charset="0"/>
                <a:ea typeface="Arial" pitchFamily="34" charset="-122"/>
                <a:cs typeface="Arial" pitchFamily="34" charset="-120"/>
              </a:rPr>
              <a:t>PERFORM</a:t>
            </a:r>
            <a:endParaRPr lang="en-US" sz="950" dirty="0"/>
          </a:p>
        </p:txBody>
      </p:sp>
      <p:sp>
        <p:nvSpPr>
          <p:cNvPr id="33" name="Text 30"/>
          <p:cNvSpPr/>
          <p:nvPr/>
        </p:nvSpPr>
        <p:spPr>
          <a:xfrm>
            <a:off x="2734056" y="4974336"/>
            <a:ext cx="2093976" cy="1207008"/>
          </a:xfrm>
          <a:prstGeom prst="rect">
            <a:avLst/>
          </a:prstGeom>
          <a:noFill/>
          <a:ln/>
        </p:spPr>
        <p:txBody>
          <a:bodyPr wrap="square" lIns="0" tIns="0" rIns="0" bIns="0" rtlCol="0" anchor="t"/>
          <a:lstStyle/>
          <a:p>
            <a:pPr algn="l" marL="127000" indent="-127000">
              <a:lnSpc>
                <a:spcPct val="110000"/>
              </a:lnSpc>
              <a:spcAft>
                <a:spcPts val="500"/>
              </a:spcAft>
              <a:buSzPct val="100000"/>
              <a:buChar char="•"/>
            </a:pPr>
            <a:r>
              <a:rPr lang="en-US" sz="820" dirty="0">
                <a:solidFill>
                  <a:srgbClr val="000000"/>
                </a:solidFill>
                <a:latin typeface="Arial" pitchFamily="34" charset="0"/>
                <a:ea typeface="Arial" pitchFamily="34" charset="-122"/>
                <a:cs typeface="Arial" pitchFamily="34" charset="-120"/>
              </a:rPr>
              <a:t>Execute the activity as a team under sustained physical and mental load.</a:t>
            </a:r>
            <a:endParaRPr lang="en-US" sz="820" dirty="0"/>
          </a:p>
          <a:p>
            <a:pPr algn="l" marL="127000" indent="-127000">
              <a:lnSpc>
                <a:spcPct val="110000"/>
              </a:lnSpc>
              <a:spcAft>
                <a:spcPts val="500"/>
              </a:spcAft>
              <a:buSzPct val="100000"/>
              <a:buChar char="•"/>
            </a:pPr>
            <a:r>
              <a:rPr lang="en-US" sz="820" dirty="0">
                <a:solidFill>
                  <a:srgbClr val="000000"/>
                </a:solidFill>
                <a:latin typeface="Arial" pitchFamily="34" charset="0"/>
                <a:ea typeface="Arial" pitchFamily="34" charset="-122"/>
                <a:cs typeface="Arial" pitchFamily="34" charset="-120"/>
              </a:rPr>
              <a:t>Apply the selected behaviours and mental skills in real time.</a:t>
            </a:r>
            <a:endParaRPr lang="en-US" sz="820" dirty="0"/>
          </a:p>
          <a:p>
            <a:pPr algn="l" marL="127000" indent="-127000">
              <a:lnSpc>
                <a:spcPct val="110000"/>
              </a:lnSpc>
              <a:spcAft>
                <a:spcPts val="500"/>
              </a:spcAft>
              <a:buSzPct val="100000"/>
              <a:buChar char="•"/>
            </a:pPr>
            <a:r>
              <a:rPr lang="en-US" sz="820" dirty="0">
                <a:solidFill>
                  <a:srgbClr val="000000"/>
                </a:solidFill>
                <a:latin typeface="Arial" pitchFamily="34" charset="0"/>
                <a:ea typeface="Arial" pitchFamily="34" charset="-122"/>
                <a:cs typeface="Arial" pitchFamily="34" charset="-120"/>
              </a:rPr>
              <a:t>Peers observe leadership behaviour continuously, in context.</a:t>
            </a:r>
            <a:endParaRPr lang="en-US" sz="820" dirty="0"/>
          </a:p>
        </p:txBody>
      </p:sp>
      <p:sp>
        <p:nvSpPr>
          <p:cNvPr id="34" name="Shape 31"/>
          <p:cNvSpPr/>
          <p:nvPr/>
        </p:nvSpPr>
        <p:spPr>
          <a:xfrm>
            <a:off x="4974336" y="4681728"/>
            <a:ext cx="2130552" cy="237744"/>
          </a:xfrm>
          <a:prstGeom prst="rect">
            <a:avLst/>
          </a:prstGeom>
          <a:solidFill>
            <a:srgbClr val="A89662"/>
          </a:solidFill>
          <a:ln/>
        </p:spPr>
      </p:sp>
      <p:sp>
        <p:nvSpPr>
          <p:cNvPr id="35" name="Text 32"/>
          <p:cNvSpPr/>
          <p:nvPr/>
        </p:nvSpPr>
        <p:spPr>
          <a:xfrm>
            <a:off x="4974336" y="4681728"/>
            <a:ext cx="2130552" cy="237744"/>
          </a:xfrm>
          <a:prstGeom prst="rect">
            <a:avLst/>
          </a:prstGeom>
          <a:noFill/>
          <a:ln/>
        </p:spPr>
        <p:txBody>
          <a:bodyPr wrap="square" lIns="0" tIns="0" rIns="0" bIns="0" rtlCol="0" anchor="ctr"/>
          <a:lstStyle/>
          <a:p>
            <a:pPr algn="ctr" indent="0" marL="0">
              <a:buNone/>
            </a:pPr>
            <a:r>
              <a:rPr lang="en-US" sz="950" b="1" spc="160" kern="0" dirty="0">
                <a:solidFill>
                  <a:srgbClr val="FFFFFF"/>
                </a:solidFill>
                <a:latin typeface="Arial" pitchFamily="34" charset="0"/>
                <a:ea typeface="Arial" pitchFamily="34" charset="-122"/>
                <a:cs typeface="Arial" pitchFamily="34" charset="-120"/>
              </a:rPr>
              <a:t>RECOVER</a:t>
            </a:r>
            <a:endParaRPr lang="en-US" sz="950" dirty="0"/>
          </a:p>
        </p:txBody>
      </p:sp>
      <p:sp>
        <p:nvSpPr>
          <p:cNvPr id="36" name="Text 33"/>
          <p:cNvSpPr/>
          <p:nvPr/>
        </p:nvSpPr>
        <p:spPr>
          <a:xfrm>
            <a:off x="4992624" y="4974336"/>
            <a:ext cx="2093976" cy="1207008"/>
          </a:xfrm>
          <a:prstGeom prst="rect">
            <a:avLst/>
          </a:prstGeom>
          <a:noFill/>
          <a:ln/>
        </p:spPr>
        <p:txBody>
          <a:bodyPr wrap="square" lIns="0" tIns="0" rIns="0" bIns="0" rtlCol="0" anchor="t"/>
          <a:lstStyle/>
          <a:p>
            <a:pPr algn="l" marL="127000" indent="-127000">
              <a:lnSpc>
                <a:spcPct val="110000"/>
              </a:lnSpc>
              <a:spcAft>
                <a:spcPts val="500"/>
              </a:spcAft>
              <a:buSzPct val="100000"/>
              <a:buChar char="•"/>
            </a:pPr>
            <a:r>
              <a:rPr lang="en-US" sz="820" dirty="0">
                <a:solidFill>
                  <a:srgbClr val="000000"/>
                </a:solidFill>
                <a:latin typeface="Arial" pitchFamily="34" charset="0"/>
                <a:ea typeface="Arial" pitchFamily="34" charset="-122"/>
                <a:cs typeface="Arial" pitchFamily="34" charset="-120"/>
              </a:rPr>
              <a:t>Structured self and peer feedback, written then delivered face to face.</a:t>
            </a:r>
            <a:endParaRPr lang="en-US" sz="820" dirty="0"/>
          </a:p>
          <a:p>
            <a:pPr algn="l" marL="127000" indent="-127000">
              <a:lnSpc>
                <a:spcPct val="110000"/>
              </a:lnSpc>
              <a:spcAft>
                <a:spcPts val="500"/>
              </a:spcAft>
              <a:buSzPct val="100000"/>
              <a:buChar char="•"/>
            </a:pPr>
            <a:r>
              <a:rPr lang="en-US" sz="820" dirty="0">
                <a:solidFill>
                  <a:srgbClr val="000000"/>
                </a:solidFill>
                <a:latin typeface="Arial" pitchFamily="34" charset="0"/>
                <a:ea typeface="Arial" pitchFamily="34" charset="-122"/>
                <a:cs typeface="Arial" pitchFamily="34" charset="-120"/>
              </a:rPr>
              <a:t>Systematic self-reflection on the hardest moments of the activity.</a:t>
            </a:r>
            <a:endParaRPr lang="en-US" sz="820" dirty="0"/>
          </a:p>
          <a:p>
            <a:pPr algn="l" marL="127000" indent="-127000">
              <a:lnSpc>
                <a:spcPct val="110000"/>
              </a:lnSpc>
              <a:spcAft>
                <a:spcPts val="500"/>
              </a:spcAft>
              <a:buSzPct val="100000"/>
              <a:buChar char="•"/>
            </a:pPr>
            <a:r>
              <a:rPr lang="en-US" sz="820" dirty="0">
                <a:solidFill>
                  <a:srgbClr val="000000"/>
                </a:solidFill>
                <a:latin typeface="Arial" pitchFamily="34" charset="0"/>
                <a:ea typeface="Arial" pitchFamily="34" charset="-122"/>
                <a:cs typeface="Arial" pitchFamily="34" charset="-120"/>
              </a:rPr>
              <a:t>Build the Leadership Development Plan and keep, stop, start Game Plan.</a:t>
            </a:r>
            <a:endParaRPr lang="en-US" sz="820" dirty="0"/>
          </a:p>
        </p:txBody>
      </p:sp>
      <p:sp>
        <p:nvSpPr>
          <p:cNvPr id="37" name="Text 34"/>
          <p:cNvSpPr/>
          <p:nvPr/>
        </p:nvSpPr>
        <p:spPr>
          <a:xfrm>
            <a:off x="457200" y="6272784"/>
            <a:ext cx="6647688" cy="182880"/>
          </a:xfrm>
          <a:prstGeom prst="rect">
            <a:avLst/>
          </a:prstGeom>
          <a:noFill/>
          <a:ln/>
        </p:spPr>
        <p:txBody>
          <a:bodyPr wrap="square" lIns="0" tIns="0" rIns="0" bIns="0" rtlCol="0" anchor="ctr"/>
          <a:lstStyle/>
          <a:p>
            <a:pPr algn="l" indent="0" marL="0">
              <a:buNone/>
            </a:pPr>
            <a:r>
              <a:rPr lang="en-US" sz="850" b="1" spc="140" kern="0" dirty="0">
                <a:solidFill>
                  <a:srgbClr val="002516"/>
                </a:solidFill>
                <a:latin typeface="Arial" pitchFamily="34" charset="0"/>
                <a:ea typeface="Arial" pitchFamily="34" charset="-122"/>
                <a:cs typeface="Arial" pitchFamily="34" charset="-120"/>
              </a:rPr>
              <a:t>WHAT IS COVERED</a:t>
            </a:r>
            <a:endParaRPr lang="en-US" sz="850" dirty="0"/>
          </a:p>
        </p:txBody>
      </p:sp>
      <p:sp>
        <p:nvSpPr>
          <p:cNvPr id="38" name="Shape 35"/>
          <p:cNvSpPr/>
          <p:nvPr/>
        </p:nvSpPr>
        <p:spPr>
          <a:xfrm>
            <a:off x="457200" y="6551676"/>
            <a:ext cx="41148" cy="132588"/>
          </a:xfrm>
          <a:prstGeom prst="rect">
            <a:avLst/>
          </a:prstGeom>
          <a:solidFill>
            <a:srgbClr val="C62026"/>
          </a:solidFill>
          <a:ln/>
        </p:spPr>
      </p:sp>
      <p:sp>
        <p:nvSpPr>
          <p:cNvPr id="39" name="Text 36"/>
          <p:cNvSpPr/>
          <p:nvPr/>
        </p:nvSpPr>
        <p:spPr>
          <a:xfrm>
            <a:off x="585216" y="6510528"/>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Leadership fundamentals</a:t>
            </a:r>
            <a:endParaRPr lang="en-US" sz="880" dirty="0"/>
          </a:p>
        </p:txBody>
      </p:sp>
      <p:sp>
        <p:nvSpPr>
          <p:cNvPr id="40" name="Text 37"/>
          <p:cNvSpPr/>
          <p:nvPr/>
        </p:nvSpPr>
        <p:spPr>
          <a:xfrm>
            <a:off x="2505456" y="6510528"/>
            <a:ext cx="4599432" cy="420624"/>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Command, management and leadership as distinct functions. The four pillars of trust: competence, predictability, benevolence and integrity. Identity against reputation, and the four competency domains.</a:t>
            </a:r>
            <a:endParaRPr lang="en-US" sz="820" dirty="0"/>
          </a:p>
        </p:txBody>
      </p:sp>
      <p:sp>
        <p:nvSpPr>
          <p:cNvPr id="41" name="Shape 38"/>
          <p:cNvSpPr/>
          <p:nvPr/>
        </p:nvSpPr>
        <p:spPr>
          <a:xfrm>
            <a:off x="457200" y="7027164"/>
            <a:ext cx="41148" cy="132588"/>
          </a:xfrm>
          <a:prstGeom prst="rect">
            <a:avLst/>
          </a:prstGeom>
          <a:solidFill>
            <a:srgbClr val="C62026"/>
          </a:solidFill>
          <a:ln/>
        </p:spPr>
      </p:sp>
      <p:sp>
        <p:nvSpPr>
          <p:cNvPr id="42" name="Text 39"/>
          <p:cNvSpPr/>
          <p:nvPr/>
        </p:nvSpPr>
        <p:spPr>
          <a:xfrm>
            <a:off x="585216" y="6986016"/>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Leadership Personality Report</a:t>
            </a:r>
            <a:endParaRPr lang="en-US" sz="880" dirty="0"/>
          </a:p>
        </p:txBody>
      </p:sp>
      <p:sp>
        <p:nvSpPr>
          <p:cNvPr id="43" name="Text 40"/>
          <p:cNvSpPr/>
          <p:nvPr/>
        </p:nvSpPr>
        <p:spPr>
          <a:xfrm>
            <a:off x="2505456" y="6986016"/>
            <a:ext cx="4599432" cy="420624"/>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A validated Five Factor instrument reporting day to day behaviour, behaviour under pressure or with the guard down, and the needs and drivers behind it.</a:t>
            </a:r>
            <a:endParaRPr lang="en-US" sz="820" dirty="0"/>
          </a:p>
        </p:txBody>
      </p:sp>
      <p:sp>
        <p:nvSpPr>
          <p:cNvPr id="44" name="Shape 41"/>
          <p:cNvSpPr/>
          <p:nvPr/>
        </p:nvSpPr>
        <p:spPr>
          <a:xfrm>
            <a:off x="457200" y="7502652"/>
            <a:ext cx="41148" cy="132588"/>
          </a:xfrm>
          <a:prstGeom prst="rect">
            <a:avLst/>
          </a:prstGeom>
          <a:solidFill>
            <a:srgbClr val="C62026"/>
          </a:solidFill>
          <a:ln/>
        </p:spPr>
      </p:sp>
      <p:sp>
        <p:nvSpPr>
          <p:cNvPr id="45" name="Text 42"/>
          <p:cNvSpPr/>
          <p:nvPr/>
        </p:nvSpPr>
        <p:spPr>
          <a:xfrm>
            <a:off x="585216" y="7461504"/>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Self and peer feedback</a:t>
            </a:r>
            <a:endParaRPr lang="en-US" sz="880" dirty="0"/>
          </a:p>
        </p:txBody>
      </p:sp>
      <p:sp>
        <p:nvSpPr>
          <p:cNvPr id="46" name="Text 43"/>
          <p:cNvSpPr/>
          <p:nvPr/>
        </p:nvSpPr>
        <p:spPr>
          <a:xfrm>
            <a:off x="2505456" y="7461504"/>
            <a:ext cx="4599432" cy="420624"/>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Every participant gives and receives specific behavioural feedback on one development area and one strength, evidenced by what was observed during the activity.</a:t>
            </a:r>
            <a:endParaRPr lang="en-US" sz="820" dirty="0"/>
          </a:p>
        </p:txBody>
      </p:sp>
      <p:sp>
        <p:nvSpPr>
          <p:cNvPr id="47" name="Shape 44"/>
          <p:cNvSpPr/>
          <p:nvPr/>
        </p:nvSpPr>
        <p:spPr>
          <a:xfrm>
            <a:off x="457200" y="7978140"/>
            <a:ext cx="41148" cy="132588"/>
          </a:xfrm>
          <a:prstGeom prst="rect">
            <a:avLst/>
          </a:prstGeom>
          <a:solidFill>
            <a:srgbClr val="C62026"/>
          </a:solidFill>
          <a:ln/>
        </p:spPr>
      </p:sp>
      <p:sp>
        <p:nvSpPr>
          <p:cNvPr id="48" name="Text 45"/>
          <p:cNvSpPr/>
          <p:nvPr/>
        </p:nvSpPr>
        <p:spPr>
          <a:xfrm>
            <a:off x="585216" y="7936992"/>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Performance under pressure</a:t>
            </a:r>
            <a:endParaRPr lang="en-US" sz="880" dirty="0"/>
          </a:p>
        </p:txBody>
      </p:sp>
      <p:sp>
        <p:nvSpPr>
          <p:cNvPr id="49" name="Text 46"/>
          <p:cNvSpPr/>
          <p:nvPr/>
        </p:nvSpPr>
        <p:spPr>
          <a:xfrm>
            <a:off x="2505456" y="7936992"/>
            <a:ext cx="4599432" cy="420624"/>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Red head and blue head, performance as potential less interference, and a mental-skills set: noticing, grounding, tactical breathing, self-talk, visualisation, chunking and recovery habits.</a:t>
            </a:r>
            <a:endParaRPr lang="en-US" sz="820" dirty="0"/>
          </a:p>
        </p:txBody>
      </p:sp>
      <p:sp>
        <p:nvSpPr>
          <p:cNvPr id="50" name="Shape 47"/>
          <p:cNvSpPr/>
          <p:nvPr/>
        </p:nvSpPr>
        <p:spPr>
          <a:xfrm>
            <a:off x="457200" y="8453628"/>
            <a:ext cx="41148" cy="132588"/>
          </a:xfrm>
          <a:prstGeom prst="rect">
            <a:avLst/>
          </a:prstGeom>
          <a:solidFill>
            <a:srgbClr val="C62026"/>
          </a:solidFill>
          <a:ln/>
        </p:spPr>
      </p:sp>
      <p:sp>
        <p:nvSpPr>
          <p:cNvPr id="51" name="Text 48"/>
          <p:cNvSpPr/>
          <p:nvPr/>
        </p:nvSpPr>
        <p:spPr>
          <a:xfrm>
            <a:off x="585216" y="8412480"/>
            <a:ext cx="1874520" cy="201168"/>
          </a:xfrm>
          <a:prstGeom prst="rect">
            <a:avLst/>
          </a:prstGeom>
          <a:noFill/>
          <a:ln/>
        </p:spPr>
        <p:txBody>
          <a:bodyPr wrap="square" lIns="0" tIns="0" rIns="0" bIns="0" rtlCol="0" anchor="t"/>
          <a:lstStyle/>
          <a:p>
            <a:pPr algn="l" indent="0" marL="0">
              <a:buNone/>
            </a:pPr>
            <a:r>
              <a:rPr lang="en-US" sz="880" b="1" dirty="0">
                <a:solidFill>
                  <a:srgbClr val="002516"/>
                </a:solidFill>
                <a:latin typeface="Arial" pitchFamily="34" charset="0"/>
                <a:ea typeface="Arial" pitchFamily="34" charset="-122"/>
                <a:cs typeface="Arial" pitchFamily="34" charset="-120"/>
              </a:rPr>
              <a:t>Leadership Development Plan</a:t>
            </a:r>
            <a:endParaRPr lang="en-US" sz="880" dirty="0"/>
          </a:p>
        </p:txBody>
      </p:sp>
      <p:sp>
        <p:nvSpPr>
          <p:cNvPr id="52" name="Text 49"/>
          <p:cNvSpPr/>
          <p:nvPr/>
        </p:nvSpPr>
        <p:spPr>
          <a:xfrm>
            <a:off x="2505456" y="8412480"/>
            <a:ext cx="4599432" cy="420624"/>
          </a:xfrm>
          <a:prstGeom prst="rect">
            <a:avLst/>
          </a:prstGeom>
          <a:noFill/>
          <a:ln/>
        </p:spPr>
        <p:txBody>
          <a:bodyPr wrap="square" lIns="0" tIns="0" rIns="0" bIns="0" rtlCol="0" anchor="t"/>
          <a:lstStyle/>
          <a:p>
            <a:pPr algn="l" indent="0" marL="0">
              <a:lnSpc>
                <a:spcPct val="110000"/>
              </a:lnSpc>
              <a:buNone/>
            </a:pPr>
            <a:r>
              <a:rPr lang="en-US" sz="820" dirty="0">
                <a:solidFill>
                  <a:srgbClr val="000000"/>
                </a:solidFill>
                <a:latin typeface="Arial" pitchFamily="34" charset="0"/>
                <a:ea typeface="Arial" pitchFamily="34" charset="-122"/>
                <a:cs typeface="Arial" pitchFamily="34" charset="-120"/>
              </a:rPr>
              <a:t>Three development areas and three strengths, converted into keep, stop and start strategies that are effective, actionable and observable, then disclosed to the team.</a:t>
            </a:r>
            <a:endParaRPr lang="en-US" sz="820" dirty="0"/>
          </a:p>
        </p:txBody>
      </p:sp>
      <p:sp>
        <p:nvSpPr>
          <p:cNvPr id="53" name="Shape 50"/>
          <p:cNvSpPr/>
          <p:nvPr/>
        </p:nvSpPr>
        <p:spPr>
          <a:xfrm>
            <a:off x="457200" y="8997696"/>
            <a:ext cx="6647688" cy="950976"/>
          </a:xfrm>
          <a:prstGeom prst="roundRect">
            <a:avLst>
              <a:gd name="adj" fmla="val 5769"/>
            </a:avLst>
          </a:prstGeom>
          <a:solidFill>
            <a:srgbClr val="CDD2B7">
              <a:alpha val="38000"/>
            </a:srgbClr>
          </a:solidFill>
          <a:ln/>
        </p:spPr>
      </p:sp>
      <p:sp>
        <p:nvSpPr>
          <p:cNvPr id="54" name="Text 51"/>
          <p:cNvSpPr/>
          <p:nvPr/>
        </p:nvSpPr>
        <p:spPr>
          <a:xfrm>
            <a:off x="658368" y="9089136"/>
            <a:ext cx="6245352" cy="182880"/>
          </a:xfrm>
          <a:prstGeom prst="rect">
            <a:avLst/>
          </a:prstGeom>
          <a:noFill/>
          <a:ln/>
        </p:spPr>
        <p:txBody>
          <a:bodyPr wrap="square" lIns="0" tIns="0" rIns="0" bIns="0" rtlCol="0" anchor="ctr"/>
          <a:lstStyle/>
          <a:p>
            <a:pPr algn="l" indent="0" marL="0">
              <a:buNone/>
            </a:pPr>
            <a:r>
              <a:rPr lang="en-US" sz="850" b="1" spc="140" kern="0" dirty="0">
                <a:solidFill>
                  <a:srgbClr val="002516"/>
                </a:solidFill>
                <a:latin typeface="Arial" pitchFamily="34" charset="0"/>
                <a:ea typeface="Arial" pitchFamily="34" charset="-122"/>
                <a:cs typeface="Arial" pitchFamily="34" charset="-120"/>
              </a:rPr>
              <a:t>WHAT A UNIT GETS BACK</a:t>
            </a:r>
            <a:endParaRPr lang="en-US" sz="850" dirty="0"/>
          </a:p>
        </p:txBody>
      </p:sp>
      <p:sp>
        <p:nvSpPr>
          <p:cNvPr id="55" name="Text 52"/>
          <p:cNvSpPr/>
          <p:nvPr/>
        </p:nvSpPr>
        <p:spPr>
          <a:xfrm>
            <a:off x="658368" y="9272016"/>
            <a:ext cx="3031236" cy="283464"/>
          </a:xfrm>
          <a:prstGeom prst="rect">
            <a:avLst/>
          </a:prstGeom>
          <a:noFill/>
          <a:ln/>
        </p:spPr>
        <p:txBody>
          <a:bodyPr wrap="square" lIns="0" tIns="0" rIns="0" bIns="0" rtlCol="0" anchor="t"/>
          <a:lstStyle/>
          <a:p>
            <a:pPr algn="l" marL="127000" indent="-127000">
              <a:buSzPct val="100000"/>
              <a:buChar char="•"/>
            </a:pPr>
            <a:r>
              <a:rPr lang="en-US" sz="810" dirty="0">
                <a:solidFill>
                  <a:srgbClr val="000000"/>
                </a:solidFill>
                <a:latin typeface="Arial" pitchFamily="34" charset="0"/>
                <a:ea typeface="Arial" pitchFamily="34" charset="-122"/>
                <a:cs typeface="Arial" pitchFamily="34" charset="-120"/>
              </a:rPr>
              <a:t>Leadership behaviour observed under real load rather than self-reported.</a:t>
            </a:r>
            <a:endParaRPr lang="en-US" sz="810" dirty="0"/>
          </a:p>
        </p:txBody>
      </p:sp>
      <p:sp>
        <p:nvSpPr>
          <p:cNvPr id="56" name="Text 53"/>
          <p:cNvSpPr/>
          <p:nvPr/>
        </p:nvSpPr>
        <p:spPr>
          <a:xfrm>
            <a:off x="3872484" y="9272016"/>
            <a:ext cx="3031236" cy="283464"/>
          </a:xfrm>
          <a:prstGeom prst="rect">
            <a:avLst/>
          </a:prstGeom>
          <a:noFill/>
          <a:ln/>
        </p:spPr>
        <p:txBody>
          <a:bodyPr wrap="square" lIns="0" tIns="0" rIns="0" bIns="0" rtlCol="0" anchor="t"/>
          <a:lstStyle/>
          <a:p>
            <a:pPr algn="l" marL="127000" indent="-127000">
              <a:buSzPct val="100000"/>
              <a:buChar char="•"/>
            </a:pPr>
            <a:r>
              <a:rPr lang="en-US" sz="810" dirty="0">
                <a:solidFill>
                  <a:srgbClr val="000000"/>
                </a:solidFill>
                <a:latin typeface="Arial" pitchFamily="34" charset="0"/>
                <a:ea typeface="Arial" pitchFamily="34" charset="-122"/>
                <a:cs typeface="Arial" pitchFamily="34" charset="-120"/>
              </a:rPr>
              <a:t>Each leader holds peer evidence of how their behaviour actually lands.</a:t>
            </a:r>
            <a:endParaRPr lang="en-US" sz="810" dirty="0"/>
          </a:p>
        </p:txBody>
      </p:sp>
      <p:sp>
        <p:nvSpPr>
          <p:cNvPr id="57" name="Text 54"/>
          <p:cNvSpPr/>
          <p:nvPr/>
        </p:nvSpPr>
        <p:spPr>
          <a:xfrm>
            <a:off x="658368" y="9573768"/>
            <a:ext cx="3031236" cy="283464"/>
          </a:xfrm>
          <a:prstGeom prst="rect">
            <a:avLst/>
          </a:prstGeom>
          <a:noFill/>
          <a:ln/>
        </p:spPr>
        <p:txBody>
          <a:bodyPr wrap="square" lIns="0" tIns="0" rIns="0" bIns="0" rtlCol="0" anchor="t"/>
          <a:lstStyle/>
          <a:p>
            <a:pPr algn="l" marL="127000" indent="-127000">
              <a:buSzPct val="100000"/>
              <a:buChar char="•"/>
            </a:pPr>
            <a:r>
              <a:rPr lang="en-US" sz="810" dirty="0">
                <a:solidFill>
                  <a:srgbClr val="000000"/>
                </a:solidFill>
                <a:latin typeface="Arial" pitchFamily="34" charset="0"/>
                <a:ea typeface="Arial" pitchFamily="34" charset="-122"/>
                <a:cs typeface="Arial" pitchFamily="34" charset="-120"/>
              </a:rPr>
              <a:t>Every participant returns with a written, observable development plan.</a:t>
            </a:r>
            <a:endParaRPr lang="en-US" sz="810" dirty="0"/>
          </a:p>
        </p:txBody>
      </p:sp>
      <p:sp>
        <p:nvSpPr>
          <p:cNvPr id="58" name="Text 55"/>
          <p:cNvSpPr/>
          <p:nvPr/>
        </p:nvSpPr>
        <p:spPr>
          <a:xfrm>
            <a:off x="3872484" y="9573768"/>
            <a:ext cx="3031236" cy="283464"/>
          </a:xfrm>
          <a:prstGeom prst="rect">
            <a:avLst/>
          </a:prstGeom>
          <a:noFill/>
          <a:ln/>
        </p:spPr>
        <p:txBody>
          <a:bodyPr wrap="square" lIns="0" tIns="0" rIns="0" bIns="0" rtlCol="0" anchor="t"/>
          <a:lstStyle/>
          <a:p>
            <a:pPr algn="l" marL="127000" indent="-127000">
              <a:buSzPct val="100000"/>
              <a:buChar char="•"/>
            </a:pPr>
            <a:r>
              <a:rPr lang="en-US" sz="810" dirty="0">
                <a:solidFill>
                  <a:srgbClr val="000000"/>
                </a:solidFill>
                <a:latin typeface="Arial" pitchFamily="34" charset="0"/>
                <a:ea typeface="Arial" pitchFamily="34" charset="-122"/>
                <a:cs typeface="Arial" pitchFamily="34" charset="-120"/>
              </a:rPr>
              <a:t>Nested in the NZDF Leadership Framework from Lead Self to Lead Organisation.</a:t>
            </a:r>
            <a:endParaRPr lang="en-US" sz="810" dirty="0"/>
          </a:p>
        </p:txBody>
      </p:sp>
      <p:sp>
        <p:nvSpPr>
          <p:cNvPr id="59" name="Text 56"/>
          <p:cNvSpPr/>
          <p:nvPr/>
        </p:nvSpPr>
        <p:spPr>
          <a:xfrm>
            <a:off x="457200" y="10058400"/>
            <a:ext cx="6647688" cy="384048"/>
          </a:xfrm>
          <a:prstGeom prst="rect">
            <a:avLst/>
          </a:prstGeom>
          <a:noFill/>
          <a:ln/>
        </p:spPr>
        <p:txBody>
          <a:bodyPr wrap="square" lIns="0" tIns="0" rIns="0" bIns="0" rtlCol="0" anchor="t"/>
          <a:lstStyle/>
          <a:p>
            <a:pPr algn="l" indent="0" marL="0">
              <a:lnSpc>
                <a:spcPct val="110000"/>
              </a:lnSpc>
              <a:buNone/>
            </a:pPr>
            <a:r>
              <a:rPr lang="en-US" sz="860" b="1" dirty="0">
                <a:solidFill>
                  <a:srgbClr val="002516"/>
                </a:solidFill>
                <a:latin typeface="Arial" pitchFamily="34" charset="0"/>
                <a:ea typeface="Arial" pitchFamily="34" charset="-122"/>
                <a:cs typeface="Arial" pitchFamily="34" charset="-120"/>
              </a:rPr>
              <a:t>Next step.  </a:t>
            </a:r>
            <a:pPr algn="l" indent="0" marL="0">
              <a:lnSpc>
                <a:spcPct val="110000"/>
              </a:lnSpc>
              <a:buNone/>
            </a:pPr>
            <a:r>
              <a:rPr lang="en-US" sz="860" dirty="0">
                <a:solidFill>
                  <a:srgbClr val="000000"/>
                </a:solidFill>
                <a:latin typeface="Arial" pitchFamily="34" charset="0"/>
                <a:ea typeface="Arial" pitchFamily="34" charset="-122"/>
                <a:cs typeface="Arial" pitchFamily="34" charset="-120"/>
              </a:rPr>
              <a:t>NZALC can scope a serial in New Zealand for 2027. Confirmation is required of participant numbers and rank range, preferred window, activity and terrain, staff and instructor support, psychometric licensing, and cost and logistic arrangements.</a:t>
            </a:r>
            <a:endParaRPr lang="en-US" sz="860" dirty="0"/>
          </a:p>
        </p:txBody>
      </p:sp>
      <p:sp>
        <p:nvSpPr>
          <p:cNvPr id="60" name="Text 57"/>
          <p:cNvSpPr/>
          <p:nvPr/>
        </p:nvSpPr>
        <p:spPr>
          <a:xfrm>
            <a:off x="457200" y="10424160"/>
            <a:ext cx="6647688" cy="164592"/>
          </a:xfrm>
          <a:prstGeom prst="rect">
            <a:avLst/>
          </a:prstGeom>
          <a:noFill/>
          <a:ln/>
        </p:spPr>
        <p:txBody>
          <a:bodyPr wrap="square" lIns="0" tIns="0" rIns="0" bIns="0" rtlCol="0" anchor="ctr"/>
          <a:lstStyle/>
          <a:p>
            <a:pPr algn="r" indent="0" marL="0">
              <a:buNone/>
            </a:pPr>
            <a:r>
              <a:rPr lang="en-US" sz="700" dirty="0">
                <a:solidFill>
                  <a:srgbClr val="7F7F7F"/>
                </a:solidFill>
                <a:latin typeface="Arial" pitchFamily="34" charset="0"/>
                <a:ea typeface="Arial" pitchFamily="34" charset="-122"/>
                <a:cs typeface="Arial" pitchFamily="34" charset="-120"/>
              </a:rPr>
              <a:t>Prepared for 2nd Commando Regiment  |  August 2026</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NZ Army Leadership Centre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ELDA Command</dc:title>
  <dc:subject>Experiential Leadership Development Activity</dc:subject>
  <dc:creator>PptxGenJS</dc:creator>
  <cp:lastModifiedBy>PptxGenJS</cp:lastModifiedBy>
  <cp:revision>1</cp:revision>
  <dcterms:created xsi:type="dcterms:W3CDTF">2026-08-05T05:20:31Z</dcterms:created>
  <dcterms:modified xsi:type="dcterms:W3CDTF">2026-08-05T05:20:31Z</dcterms:modified>
</cp:coreProperties>
</file>