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1572768" cy="3803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04672"/>
            <a:ext cx="6647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ELDA COMMAND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7200" y="1170432"/>
            <a:ext cx="6647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Experiential Leadership Development Activity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5184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Army Leadership Centre  |  Army Command School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641848" y="13716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1609344"/>
            <a:ext cx="6647688" cy="25603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792224"/>
            <a:ext cx="6647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ELDA Command develops leaders to perform, adapt and influence under operational pressure. Participants lead and follow through a demanding physical, mental and interpersonal activity. Observed behaviour, peer feedback and structured reflection are converted into a written Leadership Development Plan.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487168"/>
            <a:ext cx="6647688" cy="402336"/>
          </a:xfrm>
          <a:prstGeom prst="roundRect">
            <a:avLst>
              <a:gd name="adj" fmla="val 13636"/>
            </a:avLst>
          </a:prstGeom>
          <a:solidFill>
            <a:srgbClr val="002516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248716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243584" y="2487168"/>
            <a:ext cx="5660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individual command effectiveness and collective team performance under pressure.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457200" y="3108960"/>
            <a:ext cx="6647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3310128"/>
            <a:ext cx="2130552" cy="420624"/>
          </a:xfrm>
          <a:prstGeom prst="roundRect">
            <a:avLst>
              <a:gd name="adj" fmla="val 13043"/>
            </a:avLst>
          </a:prstGeom>
          <a:solidFill>
            <a:srgbClr val="CDD2B7">
              <a:alpha val="45000"/>
            </a:srgbClr>
          </a:solidFill>
          <a:ln w="12700">
            <a:solidFill>
              <a:srgbClr val="CDD2B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5216" y="3419856"/>
            <a:ext cx="201168" cy="201168"/>
          </a:xfrm>
          <a:prstGeom prst="ellipse">
            <a:avLst/>
          </a:prstGeom>
          <a:solidFill>
            <a:srgbClr val="002516"/>
          </a:solidFill>
          <a:ln/>
        </p:spPr>
      </p:sp>
      <p:sp>
        <p:nvSpPr>
          <p:cNvPr id="15" name="Text 12"/>
          <p:cNvSpPr/>
          <p:nvPr/>
        </p:nvSpPr>
        <p:spPr>
          <a:xfrm>
            <a:off x="585216" y="3419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2960" y="331012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UNDER PRESSURE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2715768" y="3310128"/>
            <a:ext cx="2130552" cy="420624"/>
          </a:xfrm>
          <a:prstGeom prst="roundRect">
            <a:avLst>
              <a:gd name="adj" fmla="val 13043"/>
            </a:avLst>
          </a:prstGeom>
          <a:solidFill>
            <a:srgbClr val="CDD2B7">
              <a:alpha val="45000"/>
            </a:srgbClr>
          </a:solidFill>
          <a:ln w="12700">
            <a:solidFill>
              <a:srgbClr val="CDD2B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43784" y="3419856"/>
            <a:ext cx="201168" cy="201168"/>
          </a:xfrm>
          <a:prstGeom prst="ellipse">
            <a:avLst/>
          </a:prstGeom>
          <a:solidFill>
            <a:srgbClr val="002516"/>
          </a:solidFill>
          <a:ln/>
        </p:spPr>
      </p:sp>
      <p:sp>
        <p:nvSpPr>
          <p:cNvPr id="19" name="Text 16"/>
          <p:cNvSpPr/>
          <p:nvPr/>
        </p:nvSpPr>
        <p:spPr>
          <a:xfrm>
            <a:off x="2843784" y="3419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081528" y="331012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UNDER LOAD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4974336" y="3310128"/>
            <a:ext cx="2130552" cy="420624"/>
          </a:xfrm>
          <a:prstGeom prst="roundRect">
            <a:avLst>
              <a:gd name="adj" fmla="val 13043"/>
            </a:avLst>
          </a:prstGeom>
          <a:solidFill>
            <a:srgbClr val="CDD2B7">
              <a:alpha val="45000"/>
            </a:srgbClr>
          </a:solidFill>
          <a:ln w="12700">
            <a:solidFill>
              <a:srgbClr val="CDD2B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02352" y="3419856"/>
            <a:ext cx="201168" cy="201168"/>
          </a:xfrm>
          <a:prstGeom prst="ellipse">
            <a:avLst/>
          </a:prstGeom>
          <a:solidFill>
            <a:srgbClr val="002516"/>
          </a:solidFill>
          <a:ln/>
        </p:spPr>
      </p:sp>
      <p:sp>
        <p:nvSpPr>
          <p:cNvPr id="23" name="Text 20"/>
          <p:cNvSpPr/>
          <p:nvPr/>
        </p:nvSpPr>
        <p:spPr>
          <a:xfrm>
            <a:off x="5102352" y="3419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40096" y="331012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BEHAVIOUR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457200" y="3986784"/>
            <a:ext cx="6647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PERFORMANCE CYCLE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187952"/>
            <a:ext cx="2130552" cy="256032"/>
          </a:xfrm>
          <a:prstGeom prst="rect">
            <a:avLst/>
          </a:prstGeom>
          <a:solidFill>
            <a:srgbClr val="002516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418795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75488" y="4517136"/>
            <a:ext cx="20939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everyday and under-pressure behaviour and personal drivers.</a:t>
            </a:r>
            <a:endParaRPr lang="en-US" sz="820" dirty="0"/>
          </a:p>
          <a:p>
            <a:pPr algn="l" marL="127000" indent="-1270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behaviours that will help or hinder performance.</a:t>
            </a:r>
            <a:endParaRPr lang="en-US" sz="820" dirty="0"/>
          </a:p>
          <a:p>
            <a:pPr algn="l" marL="127000" indent="-1270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mental skills for the activity.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2715768" y="4187952"/>
            <a:ext cx="2130552" cy="256032"/>
          </a:xfrm>
          <a:prstGeom prst="rect">
            <a:avLst/>
          </a:prstGeom>
          <a:solidFill>
            <a:srgbClr val="3A4B00"/>
          </a:solidFill>
          <a:ln/>
        </p:spPr>
      </p:sp>
      <p:sp>
        <p:nvSpPr>
          <p:cNvPr id="30" name="Text 27"/>
          <p:cNvSpPr/>
          <p:nvPr/>
        </p:nvSpPr>
        <p:spPr>
          <a:xfrm>
            <a:off x="2715768" y="418795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734056" y="4517136"/>
            <a:ext cx="20939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and follow as a team under sustained physical and mental load.</a:t>
            </a:r>
            <a:endParaRPr lang="en-US" sz="820" dirty="0"/>
          </a:p>
          <a:p>
            <a:pPr algn="l" marL="127000" indent="-1270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selected behaviours and mental skills in real time.</a:t>
            </a:r>
            <a:endParaRPr lang="en-US" sz="820" dirty="0"/>
          </a:p>
          <a:p>
            <a:pPr algn="l" marL="127000" indent="-1270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peer leadership behaviour in context.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4974336" y="4187952"/>
            <a:ext cx="2130552" cy="256032"/>
          </a:xfrm>
          <a:prstGeom prst="rect">
            <a:avLst/>
          </a:prstGeom>
          <a:solidFill>
            <a:srgbClr val="A89662"/>
          </a:solidFill>
          <a:ln/>
        </p:spPr>
      </p:sp>
      <p:sp>
        <p:nvSpPr>
          <p:cNvPr id="33" name="Text 30"/>
          <p:cNvSpPr/>
          <p:nvPr/>
        </p:nvSpPr>
        <p:spPr>
          <a:xfrm>
            <a:off x="4974336" y="418795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992624" y="4517136"/>
            <a:ext cx="20939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and receive structured face-to-face feedback.</a:t>
            </a:r>
            <a:endParaRPr lang="en-US" sz="820" dirty="0"/>
          </a:p>
          <a:p>
            <a:pPr algn="l" marL="127000" indent="-1270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 on critical moments during the activity.</a:t>
            </a:r>
            <a:endParaRPr lang="en-US" sz="820" dirty="0"/>
          </a:p>
          <a:p>
            <a:pPr algn="l" marL="127000" indent="-1270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Leadership Development Plan and Keep, Stop, Start Game Plan.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457200" y="5760720"/>
            <a:ext cx="6647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COVERED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57200" y="6035040"/>
            <a:ext cx="41148" cy="128016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37" name="Text 34"/>
          <p:cNvSpPr/>
          <p:nvPr/>
        </p:nvSpPr>
        <p:spPr>
          <a:xfrm>
            <a:off x="585216" y="59984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fundamentals</a:t>
            </a:r>
            <a:endParaRPr lang="en-US" sz="880" dirty="0"/>
          </a:p>
        </p:txBody>
      </p:sp>
      <p:sp>
        <p:nvSpPr>
          <p:cNvPr id="38" name="Text 35"/>
          <p:cNvSpPr/>
          <p:nvPr/>
        </p:nvSpPr>
        <p:spPr>
          <a:xfrm>
            <a:off x="2505456" y="5998464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Command, management and leadership; trust; identity and reputation; and the four competency domains.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457200" y="6455664"/>
            <a:ext cx="41148" cy="128016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40" name="Text 37"/>
          <p:cNvSpPr/>
          <p:nvPr/>
        </p:nvSpPr>
        <p:spPr>
          <a:xfrm>
            <a:off x="585216" y="64190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Personality Report</a:t>
            </a:r>
            <a:endParaRPr lang="en-US" sz="880" dirty="0"/>
          </a:p>
        </p:txBody>
      </p:sp>
      <p:sp>
        <p:nvSpPr>
          <p:cNvPr id="41" name="Text 38"/>
          <p:cNvSpPr/>
          <p:nvPr/>
        </p:nvSpPr>
        <p:spPr>
          <a:xfrm>
            <a:off x="2505456" y="6419088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validated Five-Factor profile of everyday behaviour, behaviour under pressure, and underlying needs and drivers.</a:t>
            </a:r>
            <a:endParaRPr lang="en-US" sz="840" dirty="0"/>
          </a:p>
        </p:txBody>
      </p:sp>
      <p:sp>
        <p:nvSpPr>
          <p:cNvPr id="42" name="Shape 39"/>
          <p:cNvSpPr/>
          <p:nvPr/>
        </p:nvSpPr>
        <p:spPr>
          <a:xfrm>
            <a:off x="457200" y="6876288"/>
            <a:ext cx="41148" cy="128016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5216" y="68397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and peer feedback</a:t>
            </a:r>
            <a:endParaRPr lang="en-US" sz="880" dirty="0"/>
          </a:p>
        </p:txBody>
      </p:sp>
      <p:sp>
        <p:nvSpPr>
          <p:cNvPr id="44" name="Text 41"/>
          <p:cNvSpPr/>
          <p:nvPr/>
        </p:nvSpPr>
        <p:spPr>
          <a:xfrm>
            <a:off x="2505456" y="6839712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strength to sustain and one behaviour to adapt, supported by evidence observed during the activity.</a:t>
            </a:r>
            <a:endParaRPr lang="en-US" sz="840" dirty="0"/>
          </a:p>
        </p:txBody>
      </p:sp>
      <p:sp>
        <p:nvSpPr>
          <p:cNvPr id="45" name="Shape 42"/>
          <p:cNvSpPr/>
          <p:nvPr/>
        </p:nvSpPr>
        <p:spPr>
          <a:xfrm>
            <a:off x="457200" y="7296912"/>
            <a:ext cx="41148" cy="128016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5216" y="726033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under pressure</a:t>
            </a:r>
            <a:endParaRPr lang="en-US" sz="880" dirty="0"/>
          </a:p>
        </p:txBody>
      </p:sp>
      <p:sp>
        <p:nvSpPr>
          <p:cNvPr id="47" name="Text 44"/>
          <p:cNvSpPr/>
          <p:nvPr/>
        </p:nvSpPr>
        <p:spPr>
          <a:xfrm>
            <a:off x="2505456" y="7260336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head and blue head, performance as potential less interference, and practical mental skills including tactical breathing, self-talk, visualisation, chunking and recovery.</a:t>
            </a:r>
            <a:endParaRPr lang="en-US" sz="840" dirty="0"/>
          </a:p>
        </p:txBody>
      </p:sp>
      <p:sp>
        <p:nvSpPr>
          <p:cNvPr id="48" name="Shape 45"/>
          <p:cNvSpPr/>
          <p:nvPr/>
        </p:nvSpPr>
        <p:spPr>
          <a:xfrm>
            <a:off x="457200" y="7717536"/>
            <a:ext cx="41148" cy="128016"/>
          </a:xfrm>
          <a:prstGeom prst="rect">
            <a:avLst/>
          </a:prstGeom>
          <a:solidFill>
            <a:srgbClr val="C620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5216" y="76809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Development Plan</a:t>
            </a:r>
            <a:endParaRPr lang="en-US" sz="880" dirty="0"/>
          </a:p>
        </p:txBody>
      </p:sp>
      <p:sp>
        <p:nvSpPr>
          <p:cNvPr id="50" name="Text 47"/>
          <p:cNvSpPr/>
          <p:nvPr/>
        </p:nvSpPr>
        <p:spPr>
          <a:xfrm>
            <a:off x="2505456" y="7680960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behaviours to sustain and three to adapt, converted into observable Keep, Stop, Start actions.</a:t>
            </a:r>
            <a:endParaRPr lang="en-US" sz="840" dirty="0"/>
          </a:p>
        </p:txBody>
      </p:sp>
      <p:sp>
        <p:nvSpPr>
          <p:cNvPr id="51" name="Shape 48"/>
          <p:cNvSpPr/>
          <p:nvPr/>
        </p:nvSpPr>
        <p:spPr>
          <a:xfrm>
            <a:off x="457200" y="8284464"/>
            <a:ext cx="6647688" cy="731520"/>
          </a:xfrm>
          <a:prstGeom prst="roundRect">
            <a:avLst>
              <a:gd name="adj" fmla="val 7500"/>
            </a:avLst>
          </a:prstGeom>
          <a:solidFill>
            <a:srgbClr val="CDD2B7">
              <a:alpha val="38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658368" y="8366760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UNIT GETS BACK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658368" y="8595360"/>
            <a:ext cx="3031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buSzPct val="100000"/>
              <a:buChar char="•"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behaviour evidenced under real load.</a:t>
            </a:r>
            <a:endParaRPr lang="en-US" sz="840" dirty="0"/>
          </a:p>
        </p:txBody>
      </p:sp>
      <p:sp>
        <p:nvSpPr>
          <p:cNvPr id="54" name="Text 51"/>
          <p:cNvSpPr/>
          <p:nvPr/>
        </p:nvSpPr>
        <p:spPr>
          <a:xfrm>
            <a:off x="3872484" y="8595360"/>
            <a:ext cx="3031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buSzPct val="100000"/>
              <a:buChar char="•"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feedback on how each leader affects others.</a:t>
            </a:r>
            <a:endParaRPr lang="en-US" sz="840" dirty="0"/>
          </a:p>
        </p:txBody>
      </p:sp>
      <p:sp>
        <p:nvSpPr>
          <p:cNvPr id="55" name="Text 52"/>
          <p:cNvSpPr/>
          <p:nvPr/>
        </p:nvSpPr>
        <p:spPr>
          <a:xfrm>
            <a:off x="658368" y="8814816"/>
            <a:ext cx="3031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buSzPct val="100000"/>
              <a:buChar char="•"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written plan for behavioural adaptation.</a:t>
            </a:r>
            <a:endParaRPr lang="en-US" sz="840" dirty="0"/>
          </a:p>
        </p:txBody>
      </p:sp>
      <p:sp>
        <p:nvSpPr>
          <p:cNvPr id="56" name="Text 53"/>
          <p:cNvSpPr/>
          <p:nvPr/>
        </p:nvSpPr>
        <p:spPr>
          <a:xfrm>
            <a:off x="3872484" y="8814816"/>
            <a:ext cx="3031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buSzPct val="100000"/>
              <a:buChar char="•"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with the NZDF Leadership Framework.</a:t>
            </a:r>
            <a:endParaRPr lang="en-US" sz="840" dirty="0"/>
          </a:p>
        </p:txBody>
      </p:sp>
      <p:sp>
        <p:nvSpPr>
          <p:cNvPr id="57" name="Shape 54"/>
          <p:cNvSpPr/>
          <p:nvPr/>
        </p:nvSpPr>
        <p:spPr>
          <a:xfrm>
            <a:off x="457200" y="9363456"/>
            <a:ext cx="664768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2516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21792" y="9363456"/>
            <a:ext cx="6318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40" b="1" spc="6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BY NZALC.  </a:t>
            </a:r>
            <a:pPr algn="l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ELDA Command is delivered by the NZ Army Leadership Centre as part of the Army Command School, integrating validated psychometrics, performance psychology and experiential leadership development.</a:t>
            </a:r>
            <a:endParaRPr lang="en-US" sz="840" dirty="0"/>
          </a:p>
        </p:txBody>
      </p:sp>
      <p:sp>
        <p:nvSpPr>
          <p:cNvPr id="59" name="Text 56"/>
          <p:cNvSpPr/>
          <p:nvPr/>
        </p:nvSpPr>
        <p:spPr>
          <a:xfrm>
            <a:off x="457200" y="9930384"/>
            <a:ext cx="6647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57200" y="10131552"/>
            <a:ext cx="6647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 tailored 2027 ELDA Command serial for 2nd Commando Regiment, confirming participant profile, activity design, delivery model and support requirements.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NZ Army Leadership Centre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ELDA Command</dc:title>
  <dc:subject>Experiential Leadership Development Activity</dc:subject>
  <dc:creator>PptxGenJS</dc:creator>
  <cp:lastModifiedBy>PptxGenJS</cp:lastModifiedBy>
  <cp:revision>1</cp:revision>
  <dcterms:created xsi:type="dcterms:W3CDTF">2026-08-05T06:21:25Z</dcterms:created>
  <dcterms:modified xsi:type="dcterms:W3CDTF">2026-08-05T06:21:25Z</dcterms:modified>
</cp:coreProperties>
</file>