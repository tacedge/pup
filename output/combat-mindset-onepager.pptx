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0000"/>
          </a:solidFill>
          <a:ln/>
        </p:spPr>
      </p:sp>
      <p:sp>
        <p:nvSpPr>
          <p:cNvPr id="3" name="Text 1"/>
          <p:cNvSpPr/>
          <p:nvPr/>
        </p:nvSpPr>
        <p:spPr>
          <a:xfrm>
            <a:off x="0" y="0"/>
            <a:ext cx="12191695" cy="164592"/>
          </a:xfrm>
          <a:prstGeom prst="rect">
            <a:avLst/>
          </a:prstGeom>
          <a:noFill/>
          <a:ln/>
        </p:spPr>
        <p:txBody>
          <a:bodyPr wrap="square" lIns="0" tIns="0" rIns="0" bIns="0" rtlCol="0" anchor="ctr"/>
          <a:lstStyle/>
          <a:p>
            <a:pPr algn="ctr" indent="0" marL="0">
              <a:buNone/>
            </a:pPr>
            <a:r>
              <a:rPr lang="en-US" sz="800" b="1" spc="400" kern="0" dirty="0">
                <a:solidFill>
                  <a:srgbClr val="FFFFFF"/>
                </a:solidFill>
                <a:latin typeface="Arial" pitchFamily="34" charset="0"/>
                <a:ea typeface="Arial" pitchFamily="34" charset="-122"/>
                <a:cs typeface="Arial" pitchFamily="34" charset="-120"/>
              </a:rPr>
              <a:t>UNCLASSIFIED</a:t>
            </a:r>
            <a:endParaRPr lang="en-US" sz="800" dirty="0"/>
          </a:p>
        </p:txBody>
      </p:sp>
      <p:sp>
        <p:nvSpPr>
          <p:cNvPr id="4" name="Shape 2"/>
          <p:cNvSpPr/>
          <p:nvPr/>
        </p:nvSpPr>
        <p:spPr>
          <a:xfrm>
            <a:off x="0" y="6693408"/>
            <a:ext cx="12191695" cy="164592"/>
          </a:xfrm>
          <a:prstGeom prst="rect">
            <a:avLst/>
          </a:prstGeom>
          <a:solidFill>
            <a:srgbClr val="000000"/>
          </a:solidFill>
          <a:ln/>
        </p:spPr>
      </p:sp>
      <p:sp>
        <p:nvSpPr>
          <p:cNvPr id="5" name="Text 3"/>
          <p:cNvSpPr/>
          <p:nvPr/>
        </p:nvSpPr>
        <p:spPr>
          <a:xfrm>
            <a:off x="0" y="6693408"/>
            <a:ext cx="12191695" cy="164592"/>
          </a:xfrm>
          <a:prstGeom prst="rect">
            <a:avLst/>
          </a:prstGeom>
          <a:noFill/>
          <a:ln/>
        </p:spPr>
        <p:txBody>
          <a:bodyPr wrap="square" lIns="0" tIns="0" rIns="0" bIns="0" rtlCol="0" anchor="ctr"/>
          <a:lstStyle/>
          <a:p>
            <a:pPr algn="ctr" indent="0" marL="0">
              <a:buNone/>
            </a:pPr>
            <a:r>
              <a:rPr lang="en-US" sz="800" b="1" spc="400" kern="0" dirty="0">
                <a:solidFill>
                  <a:srgbClr val="FFFFFF"/>
                </a:solidFill>
                <a:latin typeface="Arial" pitchFamily="34" charset="0"/>
                <a:ea typeface="Arial" pitchFamily="34" charset="-122"/>
                <a:cs typeface="Arial" pitchFamily="34" charset="-120"/>
              </a:rPr>
              <a:t>UNCLASSIFIED</a:t>
            </a:r>
            <a:endParaRPr lang="en-US" sz="800" dirty="0"/>
          </a:p>
        </p:txBody>
      </p:sp>
      <p:sp>
        <p:nvSpPr>
          <p:cNvPr id="6" name="Text 4"/>
          <p:cNvSpPr/>
          <p:nvPr/>
        </p:nvSpPr>
        <p:spPr>
          <a:xfrm>
            <a:off x="411480" y="6693408"/>
            <a:ext cx="5852160" cy="164592"/>
          </a:xfrm>
          <a:prstGeom prst="rect">
            <a:avLst/>
          </a:prstGeom>
          <a:noFill/>
          <a:ln/>
        </p:spPr>
        <p:txBody>
          <a:bodyPr wrap="square" lIns="0" tIns="0" rIns="0" bIns="0" rtlCol="0" anchor="ctr"/>
          <a:lstStyle/>
          <a:p>
            <a:pPr algn="l" indent="0" marL="0">
              <a:buNone/>
            </a:pPr>
            <a:r>
              <a:rPr lang="en-US" sz="650" dirty="0">
                <a:solidFill>
                  <a:srgbClr val="CDD2B7"/>
                </a:solidFill>
                <a:latin typeface="Arial" pitchFamily="34" charset="0"/>
                <a:ea typeface="Arial" pitchFamily="34" charset="-122"/>
                <a:cs typeface="Arial" pitchFamily="34" charset="-120"/>
              </a:rPr>
              <a:t>NZALC / Human Performance Cell   ·   NZALC/HPC 2026   ·   Draft v0.3   ·   July 2026</a:t>
            </a:r>
            <a:endParaRPr lang="en-US" sz="650" dirty="0"/>
          </a:p>
        </p:txBody>
      </p:sp>
      <p:sp>
        <p:nvSpPr>
          <p:cNvPr id="7" name="Text 5"/>
          <p:cNvSpPr/>
          <p:nvPr/>
        </p:nvSpPr>
        <p:spPr>
          <a:xfrm>
            <a:off x="9418320" y="6693408"/>
            <a:ext cx="2368296" cy="164592"/>
          </a:xfrm>
          <a:prstGeom prst="rect">
            <a:avLst/>
          </a:prstGeom>
          <a:noFill/>
          <a:ln/>
        </p:spPr>
        <p:txBody>
          <a:bodyPr wrap="square" lIns="0" tIns="0" rIns="0" bIns="0" rtlCol="0" anchor="ctr"/>
          <a:lstStyle/>
          <a:p>
            <a:pPr algn="r" indent="0" marL="0">
              <a:buNone/>
            </a:pPr>
            <a:r>
              <a:rPr lang="en-US" sz="650" dirty="0">
                <a:solidFill>
                  <a:srgbClr val="CDD2B7"/>
                </a:solidFill>
                <a:latin typeface="Arial" pitchFamily="34" charset="0"/>
                <a:ea typeface="Arial" pitchFamily="34" charset="-122"/>
                <a:cs typeface="Arial" pitchFamily="34" charset="-120"/>
              </a:rPr>
              <a:t>Distribution: COMDT ACS</a:t>
            </a:r>
            <a:endParaRPr lang="en-US" sz="650" dirty="0"/>
          </a:p>
        </p:txBody>
      </p:sp>
      <p:pic>
        <p:nvPicPr>
          <p:cNvPr id="8" name="Image 0" descr="/tmp/claude-0/-home-user-PUP/2d4cec0e-a52e-5368-bb54-803c6f37698d/scratchpad/logo-trimmed.png">    </p:cNvPr>
          <p:cNvPicPr>
            <a:picLocks noChangeAspect="1"/>
          </p:cNvPicPr>
          <p:nvPr/>
        </p:nvPicPr>
        <p:blipFill>
          <a:blip r:embed="rId1"/>
          <a:stretch>
            <a:fillRect/>
          </a:stretch>
        </p:blipFill>
        <p:spPr>
          <a:xfrm>
            <a:off x="411480" y="301752"/>
            <a:ext cx="1207008" cy="291694"/>
          </a:xfrm>
          <a:prstGeom prst="rect">
            <a:avLst/>
          </a:prstGeom>
        </p:spPr>
      </p:pic>
      <p:sp>
        <p:nvSpPr>
          <p:cNvPr id="9" name="Text 6"/>
          <p:cNvSpPr/>
          <p:nvPr/>
        </p:nvSpPr>
        <p:spPr>
          <a:xfrm>
            <a:off x="1847088" y="237744"/>
            <a:ext cx="6766560" cy="365760"/>
          </a:xfrm>
          <a:prstGeom prst="rect">
            <a:avLst/>
          </a:prstGeom>
          <a:noFill/>
          <a:ln/>
        </p:spPr>
        <p:txBody>
          <a:bodyPr wrap="square" lIns="0" tIns="0" rIns="0" bIns="0" rtlCol="0" anchor="ctr"/>
          <a:lstStyle/>
          <a:p>
            <a:pPr algn="l" indent="0" marL="0">
              <a:buNone/>
            </a:pPr>
            <a:r>
              <a:rPr lang="en-US" sz="2200" b="1" dirty="0">
                <a:solidFill>
                  <a:srgbClr val="000000"/>
                </a:solidFill>
                <a:latin typeface="Arial" pitchFamily="34" charset="0"/>
                <a:ea typeface="Arial" pitchFamily="34" charset="-122"/>
                <a:cs typeface="Arial" pitchFamily="34" charset="-120"/>
              </a:rPr>
              <a:t>COMBAT MINDSET — THE WAY FORWARD</a:t>
            </a:r>
            <a:endParaRPr lang="en-US" sz="2200" dirty="0"/>
          </a:p>
        </p:txBody>
      </p:sp>
      <p:sp>
        <p:nvSpPr>
          <p:cNvPr id="10" name="Text 7"/>
          <p:cNvSpPr/>
          <p:nvPr/>
        </p:nvSpPr>
        <p:spPr>
          <a:xfrm>
            <a:off x="1847088" y="603504"/>
            <a:ext cx="6949440" cy="201168"/>
          </a:xfrm>
          <a:prstGeom prst="rect">
            <a:avLst/>
          </a:prstGeom>
          <a:noFill/>
          <a:ln/>
        </p:spPr>
        <p:txBody>
          <a:bodyPr wrap="square" lIns="0" tIns="0" rIns="0" bIns="0" rtlCol="0" anchor="ctr"/>
          <a:lstStyle/>
          <a:p>
            <a:pPr algn="l" indent="0" marL="0">
              <a:buNone/>
            </a:pPr>
            <a:r>
              <a:rPr lang="en-US" sz="950" i="1" dirty="0">
                <a:solidFill>
                  <a:srgbClr val="000000"/>
                </a:solidFill>
                <a:latin typeface="Arial" pitchFamily="34" charset="0"/>
                <a:ea typeface="Arial" pitchFamily="34" charset="-122"/>
                <a:cs typeface="Arial" pitchFamily="34" charset="-120"/>
              </a:rPr>
              <a:t>Defining, developing and assuring the human-performance capability Army requires to remain effective in combat.</a:t>
            </a:r>
            <a:endParaRPr lang="en-US" sz="950" dirty="0"/>
          </a:p>
        </p:txBody>
      </p:sp>
      <p:sp>
        <p:nvSpPr>
          <p:cNvPr id="11" name="Text 8"/>
          <p:cNvSpPr/>
          <p:nvPr/>
        </p:nvSpPr>
        <p:spPr>
          <a:xfrm>
            <a:off x="8961120" y="256032"/>
            <a:ext cx="2825496" cy="256032"/>
          </a:xfrm>
          <a:prstGeom prst="rect">
            <a:avLst/>
          </a:prstGeom>
          <a:noFill/>
          <a:ln/>
        </p:spPr>
        <p:txBody>
          <a:bodyPr wrap="square" lIns="0" tIns="0" rIns="0" bIns="0" rtlCol="0" anchor="ctr"/>
          <a:lstStyle/>
          <a:p>
            <a:pPr algn="r" indent="0" marL="0">
              <a:buNone/>
            </a:pPr>
            <a:r>
              <a:rPr lang="en-US" sz="1500" b="1" spc="300" kern="0" dirty="0">
                <a:solidFill>
                  <a:srgbClr val="C62026"/>
                </a:solidFill>
                <a:latin typeface="Arial" pitchFamily="34" charset="0"/>
                <a:ea typeface="Arial" pitchFamily="34" charset="-122"/>
                <a:cs typeface="Arial" pitchFamily="34" charset="-120"/>
              </a:rPr>
              <a:t>HARDER TO KILL</a:t>
            </a:r>
            <a:endParaRPr lang="en-US" sz="1500" dirty="0"/>
          </a:p>
        </p:txBody>
      </p:sp>
      <p:sp>
        <p:nvSpPr>
          <p:cNvPr id="12" name="Text 9"/>
          <p:cNvSpPr/>
          <p:nvPr/>
        </p:nvSpPr>
        <p:spPr>
          <a:xfrm>
            <a:off x="8229600" y="521208"/>
            <a:ext cx="3557016" cy="164592"/>
          </a:xfrm>
          <a:prstGeom prst="rect">
            <a:avLst/>
          </a:prstGeom>
          <a:noFill/>
          <a:ln/>
        </p:spPr>
        <p:txBody>
          <a:bodyPr wrap="square" lIns="0" tIns="0" rIns="0" bIns="0" rtlCol="0" anchor="ctr"/>
          <a:lstStyle/>
          <a:p>
            <a:pPr algn="r" indent="0" marL="0">
              <a:buNone/>
            </a:pPr>
            <a:r>
              <a:rPr lang="en-US" sz="750" dirty="0">
                <a:solidFill>
                  <a:srgbClr val="000000"/>
                </a:solidFill>
                <a:latin typeface="Arial" pitchFamily="34" charset="0"/>
                <a:ea typeface="Arial" pitchFamily="34" charset="-122"/>
                <a:cs typeface="Arial" pitchFamily="34" charset="-120"/>
              </a:rPr>
              <a:t>Proposed Warfighter Focus line — subject to sponsor endorsement</a:t>
            </a:r>
            <a:endParaRPr lang="en-US" sz="750" dirty="0"/>
          </a:p>
        </p:txBody>
      </p:sp>
      <p:sp>
        <p:nvSpPr>
          <p:cNvPr id="13" name="Shape 10"/>
          <p:cNvSpPr/>
          <p:nvPr/>
        </p:nvSpPr>
        <p:spPr>
          <a:xfrm>
            <a:off x="411480" y="932688"/>
            <a:ext cx="6949440" cy="566928"/>
          </a:xfrm>
          <a:prstGeom prst="rect">
            <a:avLst/>
          </a:prstGeom>
          <a:solidFill>
            <a:srgbClr val="000000"/>
          </a:solidFill>
          <a:ln/>
        </p:spPr>
      </p:sp>
      <p:sp>
        <p:nvSpPr>
          <p:cNvPr id="14" name="Text 11"/>
          <p:cNvSpPr/>
          <p:nvPr/>
        </p:nvSpPr>
        <p:spPr>
          <a:xfrm>
            <a:off x="576072" y="978408"/>
            <a:ext cx="6620256" cy="182880"/>
          </a:xfrm>
          <a:prstGeom prst="rect">
            <a:avLst/>
          </a:prstGeom>
          <a:noFill/>
          <a:ln/>
        </p:spPr>
        <p:txBody>
          <a:bodyPr wrap="square" lIns="0" tIns="0" rIns="0" bIns="0" rtlCol="0" anchor="ctr"/>
          <a:lstStyle/>
          <a:p>
            <a:pPr algn="l" indent="0" marL="0">
              <a:buNone/>
            </a:pPr>
            <a:r>
              <a:rPr lang="en-US" sz="1250" b="1" dirty="0">
                <a:solidFill>
                  <a:srgbClr val="FFFFFF"/>
                </a:solidFill>
                <a:latin typeface="Arial" pitchFamily="34" charset="0"/>
                <a:ea typeface="Arial" pitchFamily="34" charset="-122"/>
                <a:cs typeface="Arial" pitchFamily="34" charset="-120"/>
              </a:rPr>
              <a:t>WARFIGHTING IMPERATIVE</a:t>
            </a:r>
            <a:endParaRPr lang="en-US" sz="1250" dirty="0"/>
          </a:p>
        </p:txBody>
      </p:sp>
      <p:sp>
        <p:nvSpPr>
          <p:cNvPr id="15" name="Text 12"/>
          <p:cNvSpPr/>
          <p:nvPr/>
        </p:nvSpPr>
        <p:spPr>
          <a:xfrm>
            <a:off x="576072" y="1170432"/>
            <a:ext cx="6620256" cy="292608"/>
          </a:xfrm>
          <a:prstGeom prst="rect">
            <a:avLst/>
          </a:prstGeom>
          <a:noFill/>
          <a:ln/>
        </p:spPr>
        <p:txBody>
          <a:bodyPr wrap="square" lIns="0" tIns="0" rIns="0" bIns="0" rtlCol="0" anchor="t"/>
          <a:lstStyle/>
          <a:p>
            <a:pPr algn="l" indent="0" marL="0">
              <a:buNone/>
            </a:pPr>
            <a:r>
              <a:rPr lang="en-US" sz="900" dirty="0">
                <a:solidFill>
                  <a:srgbClr val="FFFFFF"/>
                </a:solidFill>
                <a:latin typeface="Arial" pitchFamily="34" charset="0"/>
                <a:ea typeface="Arial" pitchFamily="34" charset="-122"/>
                <a:cs typeface="Arial" pitchFamily="34" charset="-120"/>
              </a:rPr>
              <a:t>Army requires individuals, teams and leaders who remain effective and act decisively, persistently, adaptively and ethically under the threat, adversity and uncertainty of combat.</a:t>
            </a:r>
            <a:endParaRPr lang="en-US" sz="900" dirty="0"/>
          </a:p>
        </p:txBody>
      </p:sp>
      <p:sp>
        <p:nvSpPr>
          <p:cNvPr id="16" name="Shape 13"/>
          <p:cNvSpPr/>
          <p:nvPr/>
        </p:nvSpPr>
        <p:spPr>
          <a:xfrm rot="10800000">
            <a:off x="3822192" y="1545336"/>
            <a:ext cx="128016" cy="91440"/>
          </a:xfrm>
          <a:prstGeom prst="triangle">
            <a:avLst/>
          </a:prstGeom>
          <a:solidFill>
            <a:srgbClr val="C62026"/>
          </a:solidFill>
          <a:ln/>
        </p:spPr>
      </p:sp>
      <p:sp>
        <p:nvSpPr>
          <p:cNvPr id="17" name="Shape 14"/>
          <p:cNvSpPr/>
          <p:nvPr/>
        </p:nvSpPr>
        <p:spPr>
          <a:xfrm>
            <a:off x="411480" y="1682496"/>
            <a:ext cx="6949440" cy="713232"/>
          </a:xfrm>
          <a:prstGeom prst="rect">
            <a:avLst/>
          </a:prstGeom>
          <a:solidFill>
            <a:srgbClr val="C62026"/>
          </a:solidFill>
          <a:ln/>
        </p:spPr>
      </p:sp>
      <p:sp>
        <p:nvSpPr>
          <p:cNvPr id="18" name="Text 15"/>
          <p:cNvSpPr/>
          <p:nvPr/>
        </p:nvSpPr>
        <p:spPr>
          <a:xfrm>
            <a:off x="576072" y="1728216"/>
            <a:ext cx="3291840" cy="219456"/>
          </a:xfrm>
          <a:prstGeom prst="rect">
            <a:avLst/>
          </a:prstGeom>
          <a:noFill/>
          <a:ln/>
        </p:spPr>
        <p:txBody>
          <a:bodyPr wrap="square" lIns="0" tIns="0" rIns="0" bIns="0" rtlCol="0" anchor="ctr"/>
          <a:lstStyle/>
          <a:p>
            <a:pPr algn="l" indent="0" marL="0">
              <a:buNone/>
            </a:pPr>
            <a:r>
              <a:rPr lang="en-US" sz="1250" b="1" dirty="0">
                <a:solidFill>
                  <a:srgbClr val="FFFFFF"/>
                </a:solidFill>
                <a:latin typeface="Arial" pitchFamily="34" charset="0"/>
                <a:ea typeface="Arial" pitchFamily="34" charset="-122"/>
                <a:cs typeface="Arial" pitchFamily="34" charset="-120"/>
              </a:rPr>
              <a:t>COMBAT MINDSET</a:t>
            </a:r>
            <a:endParaRPr lang="en-US" sz="1250" dirty="0"/>
          </a:p>
        </p:txBody>
      </p:sp>
      <p:sp>
        <p:nvSpPr>
          <p:cNvPr id="19" name="Text 16"/>
          <p:cNvSpPr/>
          <p:nvPr/>
        </p:nvSpPr>
        <p:spPr>
          <a:xfrm>
            <a:off x="3840480" y="1746504"/>
            <a:ext cx="3383280" cy="182880"/>
          </a:xfrm>
          <a:prstGeom prst="rect">
            <a:avLst/>
          </a:prstGeom>
          <a:noFill/>
          <a:ln/>
        </p:spPr>
        <p:txBody>
          <a:bodyPr wrap="square" lIns="0" tIns="0" rIns="0" bIns="0" rtlCol="0" anchor="ctr"/>
          <a:lstStyle/>
          <a:p>
            <a:pPr algn="r" indent="0" marL="0">
              <a:buNone/>
            </a:pPr>
            <a:r>
              <a:rPr lang="en-US" sz="750" b="1" spc="150" kern="0" dirty="0">
                <a:solidFill>
                  <a:srgbClr val="CDD2B7"/>
                </a:solidFill>
                <a:latin typeface="Arial" pitchFamily="34" charset="0"/>
                <a:ea typeface="Arial" pitchFamily="34" charset="-122"/>
                <a:cs typeface="Arial" pitchFamily="34" charset="-120"/>
              </a:rPr>
              <a:t>COMBAT-SPECIFIC EXPRESSION</a:t>
            </a:r>
            <a:endParaRPr lang="en-US" sz="750" dirty="0"/>
          </a:p>
        </p:txBody>
      </p:sp>
      <p:sp>
        <p:nvSpPr>
          <p:cNvPr id="20" name="Text 17"/>
          <p:cNvSpPr/>
          <p:nvPr/>
        </p:nvSpPr>
        <p:spPr>
          <a:xfrm>
            <a:off x="576072" y="1956816"/>
            <a:ext cx="6620256" cy="402336"/>
          </a:xfrm>
          <a:prstGeom prst="rect">
            <a:avLst/>
          </a:prstGeom>
          <a:noFill/>
          <a:ln/>
        </p:spPr>
        <p:txBody>
          <a:bodyPr wrap="square" lIns="0" tIns="0" rIns="0" bIns="0" rtlCol="0" anchor="t"/>
          <a:lstStyle/>
          <a:p>
            <a:pPr algn="l" indent="0" marL="0">
              <a:buNone/>
            </a:pPr>
            <a:r>
              <a:rPr lang="en-US" sz="900" dirty="0">
                <a:solidFill>
                  <a:srgbClr val="FFFFFF"/>
                </a:solidFill>
                <a:latin typeface="Arial" pitchFamily="34" charset="0"/>
                <a:ea typeface="Arial" pitchFamily="34" charset="-122"/>
                <a:cs typeface="Arial" pitchFamily="34" charset="-120"/>
              </a:rPr>
              <a:t>The individual and collective readiness and disposition to remain effective and act decisively, persistently, adaptively and ethically under the threat, adversity and uncertainty of combat in order to achieve the mission.</a:t>
            </a:r>
            <a:endParaRPr lang="en-US" sz="900" dirty="0"/>
          </a:p>
        </p:txBody>
      </p:sp>
      <p:sp>
        <p:nvSpPr>
          <p:cNvPr id="21" name="Shape 18"/>
          <p:cNvSpPr/>
          <p:nvPr/>
        </p:nvSpPr>
        <p:spPr>
          <a:xfrm rot="10800000">
            <a:off x="3822192" y="2459736"/>
            <a:ext cx="128016" cy="91440"/>
          </a:xfrm>
          <a:prstGeom prst="triangle">
            <a:avLst/>
          </a:prstGeom>
          <a:solidFill>
            <a:srgbClr val="002516"/>
          </a:solidFill>
          <a:ln/>
        </p:spPr>
      </p:sp>
      <p:sp>
        <p:nvSpPr>
          <p:cNvPr id="22" name="Text 19"/>
          <p:cNvSpPr/>
          <p:nvPr/>
        </p:nvSpPr>
        <p:spPr>
          <a:xfrm>
            <a:off x="4014216" y="2432304"/>
            <a:ext cx="2651760" cy="146304"/>
          </a:xfrm>
          <a:prstGeom prst="rect">
            <a:avLst/>
          </a:prstGeom>
          <a:noFill/>
          <a:ln/>
        </p:spPr>
        <p:txBody>
          <a:bodyPr wrap="square" lIns="0" tIns="0" rIns="0" bIns="0" rtlCol="0" anchor="ctr"/>
          <a:lstStyle/>
          <a:p>
            <a:pPr algn="l" indent="0" marL="0">
              <a:buNone/>
            </a:pPr>
            <a:r>
              <a:rPr lang="en-US" sz="850" i="1" dirty="0">
                <a:solidFill>
                  <a:srgbClr val="000000"/>
                </a:solidFill>
                <a:latin typeface="Arial" pitchFamily="34" charset="0"/>
                <a:ea typeface="Arial" pitchFamily="34" charset="-122"/>
                <a:cs typeface="Arial" pitchFamily="34" charset="-120"/>
              </a:rPr>
              <a:t>enabled by</a:t>
            </a:r>
            <a:endParaRPr lang="en-US" sz="850" dirty="0"/>
          </a:p>
        </p:txBody>
      </p:sp>
      <p:sp>
        <p:nvSpPr>
          <p:cNvPr id="23" name="Shape 20"/>
          <p:cNvSpPr/>
          <p:nvPr/>
        </p:nvSpPr>
        <p:spPr>
          <a:xfrm>
            <a:off x="411480" y="2615184"/>
            <a:ext cx="6949440" cy="1078992"/>
          </a:xfrm>
          <a:prstGeom prst="rect">
            <a:avLst/>
          </a:prstGeom>
          <a:solidFill>
            <a:srgbClr val="002516"/>
          </a:solidFill>
          <a:ln/>
        </p:spPr>
      </p:sp>
      <p:sp>
        <p:nvSpPr>
          <p:cNvPr id="24" name="Text 21"/>
          <p:cNvSpPr/>
          <p:nvPr/>
        </p:nvSpPr>
        <p:spPr>
          <a:xfrm>
            <a:off x="576072" y="2660904"/>
            <a:ext cx="3291840" cy="219456"/>
          </a:xfrm>
          <a:prstGeom prst="rect">
            <a:avLst/>
          </a:prstGeom>
          <a:noFill/>
          <a:ln/>
        </p:spPr>
        <p:txBody>
          <a:bodyPr wrap="square" lIns="0" tIns="0" rIns="0" bIns="0" rtlCol="0" anchor="ctr"/>
          <a:lstStyle/>
          <a:p>
            <a:pPr algn="l" indent="0" marL="0">
              <a:buNone/>
            </a:pPr>
            <a:r>
              <a:rPr lang="en-US" sz="1250" b="1" dirty="0">
                <a:solidFill>
                  <a:srgbClr val="FFFFFF"/>
                </a:solidFill>
                <a:latin typeface="Arial" pitchFamily="34" charset="0"/>
                <a:ea typeface="Arial" pitchFamily="34" charset="-122"/>
                <a:cs typeface="Arial" pitchFamily="34" charset="-120"/>
              </a:rPr>
              <a:t>PERFORMANCE UNDER PRESSURE</a:t>
            </a:r>
            <a:endParaRPr lang="en-US" sz="1250" dirty="0"/>
          </a:p>
        </p:txBody>
      </p:sp>
      <p:sp>
        <p:nvSpPr>
          <p:cNvPr id="25" name="Text 22"/>
          <p:cNvSpPr/>
          <p:nvPr/>
        </p:nvSpPr>
        <p:spPr>
          <a:xfrm>
            <a:off x="3840480" y="2679192"/>
            <a:ext cx="3383280" cy="182880"/>
          </a:xfrm>
          <a:prstGeom prst="rect">
            <a:avLst/>
          </a:prstGeom>
          <a:noFill/>
          <a:ln/>
        </p:spPr>
        <p:txBody>
          <a:bodyPr wrap="square" lIns="0" tIns="0" rIns="0" bIns="0" rtlCol="0" anchor="ctr"/>
          <a:lstStyle/>
          <a:p>
            <a:pPr algn="r" indent="0" marL="0">
              <a:buNone/>
            </a:pPr>
            <a:r>
              <a:rPr lang="en-US" sz="750" b="1" spc="150" kern="0" dirty="0">
                <a:solidFill>
                  <a:srgbClr val="CDD2B7"/>
                </a:solidFill>
                <a:latin typeface="Arial" pitchFamily="34" charset="0"/>
                <a:ea typeface="Arial" pitchFamily="34" charset="-122"/>
                <a:cs typeface="Arial" pitchFamily="34" charset="-120"/>
              </a:rPr>
              <a:t>ENABLING HUMAN-PERFORMANCE CAPABILITY</a:t>
            </a:r>
            <a:endParaRPr lang="en-US" sz="750" dirty="0"/>
          </a:p>
        </p:txBody>
      </p:sp>
      <p:sp>
        <p:nvSpPr>
          <p:cNvPr id="26" name="Text 23"/>
          <p:cNvSpPr/>
          <p:nvPr/>
        </p:nvSpPr>
        <p:spPr>
          <a:xfrm>
            <a:off x="576072" y="2889504"/>
            <a:ext cx="6620256" cy="768096"/>
          </a:xfrm>
          <a:prstGeom prst="rect">
            <a:avLst/>
          </a:prstGeom>
          <a:noFill/>
          <a:ln/>
        </p:spPr>
        <p:txBody>
          <a:bodyPr wrap="square" lIns="0" tIns="0" rIns="0" bIns="0" rtlCol="0" anchor="t"/>
          <a:lstStyle/>
          <a:p>
            <a:pPr algn="l" indent="0" marL="0">
              <a:buNone/>
            </a:pPr>
            <a:r>
              <a:rPr lang="en-US" sz="900" dirty="0">
                <a:solidFill>
                  <a:srgbClr val="FFFFFF"/>
                </a:solidFill>
                <a:latin typeface="Arial" pitchFamily="34" charset="0"/>
                <a:ea typeface="Arial" pitchFamily="34" charset="-122"/>
                <a:cs typeface="Arial" pitchFamily="34" charset="-120"/>
              </a:rPr>
              <a:t>The trainable individual and collective human-performance capability to prepare for, maintain effective performance through, adapt within and recover from pressure.</a:t>
            </a:r>
            <a:endParaRPr lang="en-US" sz="900" dirty="0"/>
          </a:p>
        </p:txBody>
      </p:sp>
      <p:sp>
        <p:nvSpPr>
          <p:cNvPr id="27" name="Shape 24"/>
          <p:cNvSpPr/>
          <p:nvPr/>
        </p:nvSpPr>
        <p:spPr>
          <a:xfrm>
            <a:off x="576072" y="3246120"/>
            <a:ext cx="1078992" cy="192024"/>
          </a:xfrm>
          <a:prstGeom prst="rect">
            <a:avLst/>
          </a:prstGeom>
          <a:solidFill>
            <a:srgbClr val="CDD2B7"/>
          </a:solidFill>
          <a:ln/>
        </p:spPr>
      </p:sp>
      <p:sp>
        <p:nvSpPr>
          <p:cNvPr id="28" name="Text 25"/>
          <p:cNvSpPr/>
          <p:nvPr/>
        </p:nvSpPr>
        <p:spPr>
          <a:xfrm>
            <a:off x="576072" y="3246120"/>
            <a:ext cx="1078992" cy="192024"/>
          </a:xfrm>
          <a:prstGeom prst="rect">
            <a:avLst/>
          </a:prstGeom>
          <a:noFill/>
          <a:ln/>
        </p:spPr>
        <p:txBody>
          <a:bodyPr wrap="square" lIns="0" tIns="0" rIns="0" bIns="0" rtlCol="0" anchor="ctr"/>
          <a:lstStyle/>
          <a:p>
            <a:pPr algn="ctr" indent="0" marL="0">
              <a:buNone/>
            </a:pPr>
            <a:r>
              <a:rPr lang="en-US" sz="800" b="1" spc="150" kern="0" dirty="0">
                <a:solidFill>
                  <a:srgbClr val="002516"/>
                </a:solidFill>
                <a:latin typeface="Arial" pitchFamily="34" charset="0"/>
                <a:ea typeface="Arial" pitchFamily="34" charset="-122"/>
                <a:cs typeface="Arial" pitchFamily="34" charset="-120"/>
              </a:rPr>
              <a:t>PREPARE</a:t>
            </a:r>
            <a:endParaRPr lang="en-US" sz="800" dirty="0"/>
          </a:p>
        </p:txBody>
      </p:sp>
      <p:sp>
        <p:nvSpPr>
          <p:cNvPr id="29" name="Shape 26"/>
          <p:cNvSpPr/>
          <p:nvPr/>
        </p:nvSpPr>
        <p:spPr>
          <a:xfrm>
            <a:off x="1764792" y="3246120"/>
            <a:ext cx="1078992" cy="192024"/>
          </a:xfrm>
          <a:prstGeom prst="rect">
            <a:avLst/>
          </a:prstGeom>
          <a:solidFill>
            <a:srgbClr val="CDD2B7"/>
          </a:solidFill>
          <a:ln/>
        </p:spPr>
      </p:sp>
      <p:sp>
        <p:nvSpPr>
          <p:cNvPr id="30" name="Text 27"/>
          <p:cNvSpPr/>
          <p:nvPr/>
        </p:nvSpPr>
        <p:spPr>
          <a:xfrm>
            <a:off x="1764792" y="3246120"/>
            <a:ext cx="1078992" cy="192024"/>
          </a:xfrm>
          <a:prstGeom prst="rect">
            <a:avLst/>
          </a:prstGeom>
          <a:noFill/>
          <a:ln/>
        </p:spPr>
        <p:txBody>
          <a:bodyPr wrap="square" lIns="0" tIns="0" rIns="0" bIns="0" rtlCol="0" anchor="ctr"/>
          <a:lstStyle/>
          <a:p>
            <a:pPr algn="ctr" indent="0" marL="0">
              <a:buNone/>
            </a:pPr>
            <a:r>
              <a:rPr lang="en-US" sz="800" b="1" spc="150" kern="0" dirty="0">
                <a:solidFill>
                  <a:srgbClr val="002516"/>
                </a:solidFill>
                <a:latin typeface="Arial" pitchFamily="34" charset="0"/>
                <a:ea typeface="Arial" pitchFamily="34" charset="-122"/>
                <a:cs typeface="Arial" pitchFamily="34" charset="-120"/>
              </a:rPr>
              <a:t>PERFORM</a:t>
            </a:r>
            <a:endParaRPr lang="en-US" sz="800" dirty="0"/>
          </a:p>
        </p:txBody>
      </p:sp>
      <p:sp>
        <p:nvSpPr>
          <p:cNvPr id="31" name="Shape 28"/>
          <p:cNvSpPr/>
          <p:nvPr/>
        </p:nvSpPr>
        <p:spPr>
          <a:xfrm>
            <a:off x="2953512" y="3246120"/>
            <a:ext cx="1078992" cy="192024"/>
          </a:xfrm>
          <a:prstGeom prst="rect">
            <a:avLst/>
          </a:prstGeom>
          <a:solidFill>
            <a:srgbClr val="CDD2B7"/>
          </a:solidFill>
          <a:ln/>
        </p:spPr>
      </p:sp>
      <p:sp>
        <p:nvSpPr>
          <p:cNvPr id="32" name="Text 29"/>
          <p:cNvSpPr/>
          <p:nvPr/>
        </p:nvSpPr>
        <p:spPr>
          <a:xfrm>
            <a:off x="2953512" y="3246120"/>
            <a:ext cx="1078992" cy="192024"/>
          </a:xfrm>
          <a:prstGeom prst="rect">
            <a:avLst/>
          </a:prstGeom>
          <a:noFill/>
          <a:ln/>
        </p:spPr>
        <p:txBody>
          <a:bodyPr wrap="square" lIns="0" tIns="0" rIns="0" bIns="0" rtlCol="0" anchor="ctr"/>
          <a:lstStyle/>
          <a:p>
            <a:pPr algn="ctr" indent="0" marL="0">
              <a:buNone/>
            </a:pPr>
            <a:r>
              <a:rPr lang="en-US" sz="800" b="1" spc="150" kern="0" dirty="0">
                <a:solidFill>
                  <a:srgbClr val="002516"/>
                </a:solidFill>
                <a:latin typeface="Arial" pitchFamily="34" charset="0"/>
                <a:ea typeface="Arial" pitchFamily="34" charset="-122"/>
                <a:cs typeface="Arial" pitchFamily="34" charset="-120"/>
              </a:rPr>
              <a:t>ADAPT</a:t>
            </a:r>
            <a:endParaRPr lang="en-US" sz="800" dirty="0"/>
          </a:p>
        </p:txBody>
      </p:sp>
      <p:sp>
        <p:nvSpPr>
          <p:cNvPr id="33" name="Shape 30"/>
          <p:cNvSpPr/>
          <p:nvPr/>
        </p:nvSpPr>
        <p:spPr>
          <a:xfrm>
            <a:off x="4142232" y="3246120"/>
            <a:ext cx="1078992" cy="192024"/>
          </a:xfrm>
          <a:prstGeom prst="rect">
            <a:avLst/>
          </a:prstGeom>
          <a:solidFill>
            <a:srgbClr val="CDD2B7"/>
          </a:solidFill>
          <a:ln/>
        </p:spPr>
      </p:sp>
      <p:sp>
        <p:nvSpPr>
          <p:cNvPr id="34" name="Text 31"/>
          <p:cNvSpPr/>
          <p:nvPr/>
        </p:nvSpPr>
        <p:spPr>
          <a:xfrm>
            <a:off x="4142232" y="3246120"/>
            <a:ext cx="1078992" cy="192024"/>
          </a:xfrm>
          <a:prstGeom prst="rect">
            <a:avLst/>
          </a:prstGeom>
          <a:noFill/>
          <a:ln/>
        </p:spPr>
        <p:txBody>
          <a:bodyPr wrap="square" lIns="0" tIns="0" rIns="0" bIns="0" rtlCol="0" anchor="ctr"/>
          <a:lstStyle/>
          <a:p>
            <a:pPr algn="ctr" indent="0" marL="0">
              <a:buNone/>
            </a:pPr>
            <a:r>
              <a:rPr lang="en-US" sz="800" b="1" spc="150" kern="0" dirty="0">
                <a:solidFill>
                  <a:srgbClr val="002516"/>
                </a:solidFill>
                <a:latin typeface="Arial" pitchFamily="34" charset="0"/>
                <a:ea typeface="Arial" pitchFamily="34" charset="-122"/>
                <a:cs typeface="Arial" pitchFamily="34" charset="-120"/>
              </a:rPr>
              <a:t>RECOVER</a:t>
            </a:r>
            <a:endParaRPr lang="en-US" sz="800" dirty="0"/>
          </a:p>
        </p:txBody>
      </p:sp>
      <p:sp>
        <p:nvSpPr>
          <p:cNvPr id="35" name="Text 32"/>
          <p:cNvSpPr/>
          <p:nvPr/>
        </p:nvSpPr>
        <p:spPr>
          <a:xfrm>
            <a:off x="576072" y="3474720"/>
            <a:ext cx="6620256" cy="164592"/>
          </a:xfrm>
          <a:prstGeom prst="rect">
            <a:avLst/>
          </a:prstGeom>
          <a:noFill/>
          <a:ln/>
        </p:spPr>
        <p:txBody>
          <a:bodyPr wrap="square" lIns="0" tIns="0" rIns="0" bIns="0" rtlCol="0" anchor="ctr"/>
          <a:lstStyle/>
          <a:p>
            <a:pPr algn="l" indent="0" marL="0">
              <a:buNone/>
            </a:pPr>
            <a:r>
              <a:rPr lang="en-US" sz="750" i="1" dirty="0">
                <a:solidFill>
                  <a:srgbClr val="CDD2B7"/>
                </a:solidFill>
                <a:latin typeface="Arial" pitchFamily="34" charset="0"/>
                <a:ea typeface="Arial" pitchFamily="34" charset="-122"/>
                <a:cs typeface="Arial" pitchFamily="34" charset="-120"/>
              </a:rPr>
              <a:t>Applicable across combat, command, crisis response, training, garrison leadership and high-risk technical activity.</a:t>
            </a:r>
            <a:endParaRPr lang="en-US" sz="750" dirty="0"/>
          </a:p>
        </p:txBody>
      </p:sp>
      <p:sp>
        <p:nvSpPr>
          <p:cNvPr id="36" name="Shape 33"/>
          <p:cNvSpPr/>
          <p:nvPr/>
        </p:nvSpPr>
        <p:spPr>
          <a:xfrm rot="10800000">
            <a:off x="3822192" y="3758184"/>
            <a:ext cx="128016" cy="91440"/>
          </a:xfrm>
          <a:prstGeom prst="triangle">
            <a:avLst/>
          </a:prstGeom>
          <a:solidFill>
            <a:srgbClr val="3A4B00"/>
          </a:solidFill>
          <a:ln/>
        </p:spPr>
      </p:sp>
      <p:sp>
        <p:nvSpPr>
          <p:cNvPr id="37" name="Text 34"/>
          <p:cNvSpPr/>
          <p:nvPr/>
        </p:nvSpPr>
        <p:spPr>
          <a:xfrm>
            <a:off x="4014216" y="3730752"/>
            <a:ext cx="2651760" cy="146304"/>
          </a:xfrm>
          <a:prstGeom prst="rect">
            <a:avLst/>
          </a:prstGeom>
          <a:noFill/>
          <a:ln/>
        </p:spPr>
        <p:txBody>
          <a:bodyPr wrap="square" lIns="0" tIns="0" rIns="0" bIns="0" rtlCol="0" anchor="ctr"/>
          <a:lstStyle/>
          <a:p>
            <a:pPr algn="l" indent="0" marL="0">
              <a:buNone/>
            </a:pPr>
            <a:r>
              <a:rPr lang="en-US" sz="850" i="1" dirty="0">
                <a:solidFill>
                  <a:srgbClr val="000000"/>
                </a:solidFill>
                <a:latin typeface="Arial" pitchFamily="34" charset="0"/>
                <a:ea typeface="Arial" pitchFamily="34" charset="-122"/>
                <a:cs typeface="Arial" pitchFamily="34" charset="-120"/>
              </a:rPr>
              <a:t>developed and organised through</a:t>
            </a:r>
            <a:endParaRPr lang="en-US" sz="850" dirty="0"/>
          </a:p>
        </p:txBody>
      </p:sp>
      <p:sp>
        <p:nvSpPr>
          <p:cNvPr id="38" name="Shape 35"/>
          <p:cNvSpPr/>
          <p:nvPr/>
        </p:nvSpPr>
        <p:spPr>
          <a:xfrm>
            <a:off x="411480" y="3913632"/>
            <a:ext cx="6949440" cy="978408"/>
          </a:xfrm>
          <a:prstGeom prst="rect">
            <a:avLst/>
          </a:prstGeom>
          <a:solidFill>
            <a:srgbClr val="3A4B00"/>
          </a:solidFill>
          <a:ln/>
        </p:spPr>
      </p:sp>
      <p:sp>
        <p:nvSpPr>
          <p:cNvPr id="39" name="Text 36"/>
          <p:cNvSpPr/>
          <p:nvPr/>
        </p:nvSpPr>
        <p:spPr>
          <a:xfrm>
            <a:off x="576072" y="3959352"/>
            <a:ext cx="3291840" cy="219456"/>
          </a:xfrm>
          <a:prstGeom prst="rect">
            <a:avLst/>
          </a:prstGeom>
          <a:noFill/>
          <a:ln/>
        </p:spPr>
        <p:txBody>
          <a:bodyPr wrap="square" lIns="0" tIns="0" rIns="0" bIns="0" rtlCol="0" anchor="ctr"/>
          <a:lstStyle/>
          <a:p>
            <a:pPr algn="l" indent="0" marL="0">
              <a:buNone/>
            </a:pPr>
            <a:r>
              <a:rPr lang="en-US" sz="1250" b="1" dirty="0">
                <a:solidFill>
                  <a:srgbClr val="FFFFFF"/>
                </a:solidFill>
                <a:latin typeface="Arial" pitchFamily="34" charset="0"/>
                <a:ea typeface="Arial" pitchFamily="34" charset="-122"/>
                <a:cs typeface="Arial" pitchFamily="34" charset="-120"/>
              </a:rPr>
              <a:t>ARMY COMBAT MINDSET FRAMEWORK</a:t>
            </a:r>
            <a:endParaRPr lang="en-US" sz="1250" dirty="0"/>
          </a:p>
        </p:txBody>
      </p:sp>
      <p:sp>
        <p:nvSpPr>
          <p:cNvPr id="40" name="Text 37"/>
          <p:cNvSpPr/>
          <p:nvPr/>
        </p:nvSpPr>
        <p:spPr>
          <a:xfrm>
            <a:off x="3840480" y="3977640"/>
            <a:ext cx="3383280" cy="182880"/>
          </a:xfrm>
          <a:prstGeom prst="rect">
            <a:avLst/>
          </a:prstGeom>
          <a:noFill/>
          <a:ln/>
        </p:spPr>
        <p:txBody>
          <a:bodyPr wrap="square" lIns="0" tIns="0" rIns="0" bIns="0" rtlCol="0" anchor="ctr"/>
          <a:lstStyle/>
          <a:p>
            <a:pPr algn="r" indent="0" marL="0">
              <a:buNone/>
            </a:pPr>
            <a:r>
              <a:rPr lang="en-US" sz="750" b="1" spc="150" kern="0" dirty="0">
                <a:solidFill>
                  <a:srgbClr val="CDD2B7"/>
                </a:solidFill>
                <a:latin typeface="Arial" pitchFamily="34" charset="0"/>
                <a:ea typeface="Arial" pitchFamily="34" charset="-122"/>
                <a:cs typeface="Arial" pitchFamily="34" charset="-120"/>
              </a:rPr>
              <a:t>ORGANISING MODEL</a:t>
            </a:r>
            <a:endParaRPr lang="en-US" sz="750" dirty="0"/>
          </a:p>
        </p:txBody>
      </p:sp>
      <p:sp>
        <p:nvSpPr>
          <p:cNvPr id="41" name="Text 38"/>
          <p:cNvSpPr/>
          <p:nvPr/>
        </p:nvSpPr>
        <p:spPr>
          <a:xfrm>
            <a:off x="576072" y="4187952"/>
            <a:ext cx="6620256" cy="667512"/>
          </a:xfrm>
          <a:prstGeom prst="rect">
            <a:avLst/>
          </a:prstGeom>
          <a:noFill/>
          <a:ln/>
        </p:spPr>
        <p:txBody>
          <a:bodyPr wrap="square" lIns="0" tIns="0" rIns="0" bIns="0" rtlCol="0" anchor="t"/>
          <a:lstStyle/>
          <a:p>
            <a:pPr algn="l" indent="0" marL="0">
              <a:buNone/>
            </a:pPr>
            <a:r>
              <a:rPr lang="en-US" sz="900" dirty="0">
                <a:solidFill>
                  <a:srgbClr val="FFFFFF"/>
                </a:solidFill>
                <a:latin typeface="Arial" pitchFamily="34" charset="0"/>
                <a:ea typeface="Arial" pitchFamily="34" charset="-122"/>
                <a:cs typeface="Arial" pitchFamily="34" charset="-120"/>
              </a:rPr>
              <a:t>The organising model through which Army defines, develops, integrates and assures the capabilities, products and governance arrangements that enable Combat Mindset.</a:t>
            </a:r>
            <a:endParaRPr lang="en-US" sz="900" dirty="0"/>
          </a:p>
        </p:txBody>
      </p:sp>
      <p:sp>
        <p:nvSpPr>
          <p:cNvPr id="42" name="Text 39"/>
          <p:cNvSpPr/>
          <p:nvPr/>
        </p:nvSpPr>
        <p:spPr>
          <a:xfrm>
            <a:off x="576072" y="4626864"/>
            <a:ext cx="6620256" cy="219456"/>
          </a:xfrm>
          <a:prstGeom prst="rect">
            <a:avLst/>
          </a:prstGeom>
          <a:noFill/>
          <a:ln/>
        </p:spPr>
        <p:txBody>
          <a:bodyPr wrap="square" lIns="0" tIns="0" rIns="0" bIns="0" rtlCol="0" anchor="t"/>
          <a:lstStyle/>
          <a:p>
            <a:pPr algn="l" indent="0" marL="0">
              <a:buNone/>
            </a:pPr>
            <a:r>
              <a:rPr lang="en-US" sz="750" i="1" dirty="0">
                <a:solidFill>
                  <a:srgbClr val="CDD2B7"/>
                </a:solidFill>
                <a:latin typeface="Arial" pitchFamily="34" charset="0"/>
                <a:ea typeface="Arial" pitchFamily="34" charset="-122"/>
                <a:cs typeface="Arial" pitchFamily="34" charset="-120"/>
              </a:rPr>
              <a:t>Organises:  definitions  ·  desired outcomes  ·  capability strands  ·  developmental progression  ·  products and methods  ·  delivery  ·  governance  ·  evidence  ·  assurance</a:t>
            </a:r>
            <a:endParaRPr lang="en-US" sz="750" dirty="0"/>
          </a:p>
        </p:txBody>
      </p:sp>
      <p:sp>
        <p:nvSpPr>
          <p:cNvPr id="43" name="Shape 40"/>
          <p:cNvSpPr/>
          <p:nvPr/>
        </p:nvSpPr>
        <p:spPr>
          <a:xfrm rot="10800000">
            <a:off x="3822192" y="4956048"/>
            <a:ext cx="128016" cy="91440"/>
          </a:xfrm>
          <a:prstGeom prst="triangle">
            <a:avLst/>
          </a:prstGeom>
          <a:solidFill>
            <a:srgbClr val="002516"/>
          </a:solidFill>
          <a:ln/>
        </p:spPr>
      </p:sp>
      <p:sp>
        <p:nvSpPr>
          <p:cNvPr id="44" name="Text 41"/>
          <p:cNvSpPr/>
          <p:nvPr/>
        </p:nvSpPr>
        <p:spPr>
          <a:xfrm>
            <a:off x="4014216" y="4928616"/>
            <a:ext cx="2651760" cy="146304"/>
          </a:xfrm>
          <a:prstGeom prst="rect">
            <a:avLst/>
          </a:prstGeom>
          <a:noFill/>
          <a:ln/>
        </p:spPr>
        <p:txBody>
          <a:bodyPr wrap="square" lIns="0" tIns="0" rIns="0" bIns="0" rtlCol="0" anchor="ctr"/>
          <a:lstStyle/>
          <a:p>
            <a:pPr algn="l" indent="0" marL="0">
              <a:buNone/>
            </a:pPr>
            <a:r>
              <a:rPr lang="en-US" sz="850" i="1" dirty="0">
                <a:solidFill>
                  <a:srgbClr val="000000"/>
                </a:solidFill>
                <a:latin typeface="Arial" pitchFamily="34" charset="0"/>
                <a:ea typeface="Arial" pitchFamily="34" charset="-122"/>
                <a:cs typeface="Arial" pitchFamily="34" charset="-120"/>
              </a:rPr>
              <a:t>delivered through</a:t>
            </a:r>
            <a:endParaRPr lang="en-US" sz="850" dirty="0"/>
          </a:p>
        </p:txBody>
      </p:sp>
      <p:sp>
        <p:nvSpPr>
          <p:cNvPr id="45" name="Shape 42"/>
          <p:cNvSpPr/>
          <p:nvPr/>
        </p:nvSpPr>
        <p:spPr>
          <a:xfrm>
            <a:off x="7589520" y="932688"/>
            <a:ext cx="4197096" cy="219456"/>
          </a:xfrm>
          <a:prstGeom prst="rect">
            <a:avLst/>
          </a:prstGeom>
          <a:solidFill>
            <a:srgbClr val="002516"/>
          </a:solidFill>
          <a:ln/>
        </p:spPr>
      </p:sp>
      <p:sp>
        <p:nvSpPr>
          <p:cNvPr id="46" name="Text 43"/>
          <p:cNvSpPr/>
          <p:nvPr/>
        </p:nvSpPr>
        <p:spPr>
          <a:xfrm>
            <a:off x="7699248" y="932688"/>
            <a:ext cx="3977640" cy="219456"/>
          </a:xfrm>
          <a:prstGeom prst="rect">
            <a:avLst/>
          </a:prstGeom>
          <a:noFill/>
          <a:ln/>
        </p:spPr>
        <p:txBody>
          <a:bodyPr wrap="square" lIns="0" tIns="0" rIns="0" bIns="0" rtlCol="0" anchor="ctr"/>
          <a:lstStyle/>
          <a:p>
            <a:pPr algn="l" indent="0" marL="0">
              <a:buNone/>
            </a:pPr>
            <a:r>
              <a:rPr lang="en-US" sz="900" b="1" dirty="0">
                <a:solidFill>
                  <a:srgbClr val="FFFFFF"/>
                </a:solidFill>
                <a:latin typeface="Arial" pitchFamily="34" charset="0"/>
                <a:ea typeface="Arial" pitchFamily="34" charset="-122"/>
                <a:cs typeface="Arial" pitchFamily="34" charset="-120"/>
              </a:rPr>
              <a:t>GOVERNANCE AND ASSURANCE — INTERIM MODEL</a:t>
            </a:r>
            <a:endParaRPr lang="en-US" sz="900" dirty="0"/>
          </a:p>
        </p:txBody>
      </p:sp>
      <p:sp>
        <p:nvSpPr>
          <p:cNvPr id="47" name="Shape 44"/>
          <p:cNvSpPr/>
          <p:nvPr/>
        </p:nvSpPr>
        <p:spPr>
          <a:xfrm>
            <a:off x="7589520" y="1152144"/>
            <a:ext cx="4197096" cy="1947672"/>
          </a:xfrm>
          <a:prstGeom prst="rect">
            <a:avLst/>
          </a:prstGeom>
          <a:solidFill>
            <a:srgbClr val="FFFFFF"/>
          </a:solidFill>
          <a:ln w="9525">
            <a:solidFill>
              <a:srgbClr val="A89662"/>
            </a:solidFill>
            <a:prstDash val="solid"/>
          </a:ln>
        </p:spPr>
      </p:sp>
      <p:sp>
        <p:nvSpPr>
          <p:cNvPr id="48" name="Text 45"/>
          <p:cNvSpPr/>
          <p:nvPr/>
        </p:nvSpPr>
        <p:spPr>
          <a:xfrm>
            <a:off x="7699248" y="1207008"/>
            <a:ext cx="3977640" cy="265176"/>
          </a:xfrm>
          <a:prstGeom prst="rect">
            <a:avLst/>
          </a:prstGeom>
          <a:noFill/>
          <a:ln/>
        </p:spPr>
        <p:txBody>
          <a:bodyPr wrap="square" lIns="0" tIns="0" rIns="0" bIns="0" rtlCol="0" anchor="ctr"/>
          <a:lstStyle/>
          <a:p>
            <a:pPr algn="l" indent="0" marL="0">
              <a:buNone/>
            </a:pPr>
            <a:r>
              <a:rPr lang="en-US" sz="800" b="1" dirty="0">
                <a:solidFill>
                  <a:srgbClr val="002516"/>
                </a:solidFill>
                <a:latin typeface="Arial" pitchFamily="34" charset="0"/>
                <a:ea typeface="Arial" pitchFamily="34" charset="-122"/>
                <a:cs typeface="Arial" pitchFamily="34" charset="-120"/>
              </a:rPr>
              <a:t>Army Sponsor</a:t>
            </a:r>
            <a:pPr algn="l" indent="0" marL="0">
              <a:buNone/>
            </a:pPr>
            <a:r>
              <a:rPr lang="en-US" sz="800" dirty="0">
                <a:solidFill>
                  <a:srgbClr val="000000"/>
                </a:solidFill>
                <a:latin typeface="Arial" pitchFamily="34" charset="0"/>
                <a:ea typeface="Arial" pitchFamily="34" charset="-122"/>
                <a:cs typeface="Arial" pitchFamily="34" charset="-120"/>
              </a:rPr>
              <a:t>  —  Strategic sponsorship and policy direction</a:t>
            </a:r>
            <a:endParaRPr lang="en-US" sz="800" dirty="0"/>
          </a:p>
        </p:txBody>
      </p:sp>
      <p:sp>
        <p:nvSpPr>
          <p:cNvPr id="49" name="Text 46"/>
          <p:cNvSpPr/>
          <p:nvPr/>
        </p:nvSpPr>
        <p:spPr>
          <a:xfrm>
            <a:off x="7699248" y="1476756"/>
            <a:ext cx="3977640" cy="265176"/>
          </a:xfrm>
          <a:prstGeom prst="rect">
            <a:avLst/>
          </a:prstGeom>
          <a:noFill/>
          <a:ln/>
        </p:spPr>
        <p:txBody>
          <a:bodyPr wrap="square" lIns="0" tIns="0" rIns="0" bIns="0" rtlCol="0" anchor="ctr"/>
          <a:lstStyle/>
          <a:p>
            <a:pPr algn="l" indent="0" marL="0">
              <a:buNone/>
            </a:pPr>
            <a:r>
              <a:rPr lang="en-US" sz="800" b="1" dirty="0">
                <a:solidFill>
                  <a:srgbClr val="002516"/>
                </a:solidFill>
                <a:latin typeface="Arial" pitchFamily="34" charset="0"/>
                <a:ea typeface="Arial" pitchFamily="34" charset="-122"/>
                <a:cs typeface="Arial" pitchFamily="34" charset="-120"/>
              </a:rPr>
              <a:t>COMDT ACS</a:t>
            </a:r>
            <a:pPr algn="l" indent="0" marL="0">
              <a:buNone/>
            </a:pPr>
            <a:r>
              <a:rPr lang="en-US" sz="800" dirty="0">
                <a:solidFill>
                  <a:srgbClr val="000000"/>
                </a:solidFill>
                <a:latin typeface="Arial" pitchFamily="34" charset="0"/>
                <a:ea typeface="Arial" pitchFamily="34" charset="-122"/>
                <a:cs typeface="Arial" pitchFamily="34" charset="-120"/>
              </a:rPr>
              <a:t>  —  Interim capability integrator</a:t>
            </a:r>
            <a:endParaRPr lang="en-US" sz="800" dirty="0"/>
          </a:p>
        </p:txBody>
      </p:sp>
      <p:sp>
        <p:nvSpPr>
          <p:cNvPr id="50" name="Text 47"/>
          <p:cNvSpPr/>
          <p:nvPr/>
        </p:nvSpPr>
        <p:spPr>
          <a:xfrm>
            <a:off x="7699248" y="1746504"/>
            <a:ext cx="3977640" cy="265176"/>
          </a:xfrm>
          <a:prstGeom prst="rect">
            <a:avLst/>
          </a:prstGeom>
          <a:noFill/>
          <a:ln/>
        </p:spPr>
        <p:txBody>
          <a:bodyPr wrap="square" lIns="0" tIns="0" rIns="0" bIns="0" rtlCol="0" anchor="ctr"/>
          <a:lstStyle/>
          <a:p>
            <a:pPr algn="l" indent="0" marL="0">
              <a:buNone/>
            </a:pPr>
            <a:r>
              <a:rPr lang="en-US" sz="800" b="1" dirty="0">
                <a:solidFill>
                  <a:srgbClr val="002516"/>
                </a:solidFill>
                <a:latin typeface="Arial" pitchFamily="34" charset="0"/>
                <a:ea typeface="Arial" pitchFamily="34" charset="-122"/>
                <a:cs typeface="Arial" pitchFamily="34" charset="-120"/>
              </a:rPr>
              <a:t>ACS</a:t>
            </a:r>
            <a:pPr algn="l" indent="0" marL="0">
              <a:buNone/>
            </a:pPr>
            <a:r>
              <a:rPr lang="en-US" sz="800" dirty="0">
                <a:solidFill>
                  <a:srgbClr val="000000"/>
                </a:solidFill>
                <a:latin typeface="Arial" pitchFamily="34" charset="0"/>
                <a:ea typeface="Arial" pitchFamily="34" charset="-122"/>
                <a:cs typeface="Arial" pitchFamily="34" charset="-120"/>
              </a:rPr>
              <a:t>  —  Framework development and delivery coordination</a:t>
            </a:r>
            <a:endParaRPr lang="en-US" sz="800" dirty="0"/>
          </a:p>
        </p:txBody>
      </p:sp>
      <p:sp>
        <p:nvSpPr>
          <p:cNvPr id="51" name="Text 48"/>
          <p:cNvSpPr/>
          <p:nvPr/>
        </p:nvSpPr>
        <p:spPr>
          <a:xfrm>
            <a:off x="7699248" y="2016252"/>
            <a:ext cx="3977640" cy="265176"/>
          </a:xfrm>
          <a:prstGeom prst="rect">
            <a:avLst/>
          </a:prstGeom>
          <a:noFill/>
          <a:ln/>
        </p:spPr>
        <p:txBody>
          <a:bodyPr wrap="square" lIns="0" tIns="0" rIns="0" bIns="0" rtlCol="0" anchor="ctr"/>
          <a:lstStyle/>
          <a:p>
            <a:pPr algn="l" indent="0" marL="0">
              <a:buNone/>
            </a:pPr>
            <a:r>
              <a:rPr lang="en-US" sz="800" b="1" dirty="0">
                <a:solidFill>
                  <a:srgbClr val="002516"/>
                </a:solidFill>
                <a:latin typeface="Arial" pitchFamily="34" charset="0"/>
                <a:ea typeface="Arial" pitchFamily="34" charset="-122"/>
                <a:cs typeface="Arial" pitchFamily="34" charset="-120"/>
              </a:rPr>
              <a:t>Human Performance Cell</a:t>
            </a:r>
            <a:pPr algn="l" indent="0" marL="0">
              <a:buNone/>
            </a:pPr>
            <a:r>
              <a:rPr lang="en-US" sz="800" dirty="0">
                <a:solidFill>
                  <a:srgbClr val="000000"/>
                </a:solidFill>
                <a:latin typeface="Arial" pitchFamily="34" charset="0"/>
                <a:ea typeface="Arial" pitchFamily="34" charset="-122"/>
                <a:cs typeface="Arial" pitchFamily="34" charset="-120"/>
              </a:rPr>
              <a:t>  —  COGCON product steward; performance-cognition adviser</a:t>
            </a:r>
            <a:endParaRPr lang="en-US" sz="800" dirty="0"/>
          </a:p>
        </p:txBody>
      </p:sp>
      <p:sp>
        <p:nvSpPr>
          <p:cNvPr id="52" name="Text 49"/>
          <p:cNvSpPr/>
          <p:nvPr/>
        </p:nvSpPr>
        <p:spPr>
          <a:xfrm>
            <a:off x="7699248" y="2286000"/>
            <a:ext cx="3977640" cy="265176"/>
          </a:xfrm>
          <a:prstGeom prst="rect">
            <a:avLst/>
          </a:prstGeom>
          <a:noFill/>
          <a:ln/>
        </p:spPr>
        <p:txBody>
          <a:bodyPr wrap="square" lIns="0" tIns="0" rIns="0" bIns="0" rtlCol="0" anchor="ctr"/>
          <a:lstStyle/>
          <a:p>
            <a:pPr algn="l" indent="0" marL="0">
              <a:buNone/>
            </a:pPr>
            <a:r>
              <a:rPr lang="en-US" sz="800" b="1" dirty="0">
                <a:solidFill>
                  <a:srgbClr val="002516"/>
                </a:solidFill>
                <a:latin typeface="Arial" pitchFamily="34" charset="0"/>
                <a:ea typeface="Arial" pitchFamily="34" charset="-122"/>
                <a:cs typeface="Arial" pitchFamily="34" charset="-120"/>
              </a:rPr>
              <a:t>Domain advisers</a:t>
            </a:r>
            <a:pPr algn="l" indent="0" marL="0">
              <a:buNone/>
            </a:pPr>
            <a:r>
              <a:rPr lang="en-US" sz="800" dirty="0">
                <a:solidFill>
                  <a:srgbClr val="000000"/>
                </a:solidFill>
                <a:latin typeface="Arial" pitchFamily="34" charset="0"/>
                <a:ea typeface="Arial" pitchFamily="34" charset="-122"/>
                <a:cs typeface="Arial" pitchFamily="34" charset="-120"/>
              </a:rPr>
              <a:t>  —  NZDF Psychology, ILD, doctrine, physical performance</a:t>
            </a:r>
            <a:endParaRPr lang="en-US" sz="800" dirty="0"/>
          </a:p>
        </p:txBody>
      </p:sp>
      <p:sp>
        <p:nvSpPr>
          <p:cNvPr id="53" name="Text 50"/>
          <p:cNvSpPr/>
          <p:nvPr/>
        </p:nvSpPr>
        <p:spPr>
          <a:xfrm>
            <a:off x="7699248" y="2555748"/>
            <a:ext cx="3977640" cy="265176"/>
          </a:xfrm>
          <a:prstGeom prst="rect">
            <a:avLst/>
          </a:prstGeom>
          <a:noFill/>
          <a:ln/>
        </p:spPr>
        <p:txBody>
          <a:bodyPr wrap="square" lIns="0" tIns="0" rIns="0" bIns="0" rtlCol="0" anchor="ctr"/>
          <a:lstStyle/>
          <a:p>
            <a:pPr algn="l" indent="0" marL="0">
              <a:buNone/>
            </a:pPr>
            <a:r>
              <a:rPr lang="en-US" sz="800" b="1" dirty="0">
                <a:solidFill>
                  <a:srgbClr val="002516"/>
                </a:solidFill>
                <a:latin typeface="Arial" pitchFamily="34" charset="0"/>
                <a:ea typeface="Arial" pitchFamily="34" charset="-122"/>
                <a:cs typeface="Arial" pitchFamily="34" charset="-120"/>
              </a:rPr>
              <a:t>Delivery</a:t>
            </a:r>
            <a:pPr algn="l" indent="0" marL="0">
              <a:buNone/>
            </a:pPr>
            <a:r>
              <a:rPr lang="en-US" sz="800" dirty="0">
                <a:solidFill>
                  <a:srgbClr val="000000"/>
                </a:solidFill>
                <a:latin typeface="Arial" pitchFamily="34" charset="0"/>
                <a:ea typeface="Arial" pitchFamily="34" charset="-122"/>
                <a:cs typeface="Arial" pitchFamily="34" charset="-120"/>
              </a:rPr>
              <a:t>  —  Training establishments, units, existing instructors</a:t>
            </a:r>
            <a:endParaRPr lang="en-US" sz="800" dirty="0"/>
          </a:p>
        </p:txBody>
      </p:sp>
      <p:sp>
        <p:nvSpPr>
          <p:cNvPr id="54" name="Text 51"/>
          <p:cNvSpPr/>
          <p:nvPr/>
        </p:nvSpPr>
        <p:spPr>
          <a:xfrm>
            <a:off x="7699248" y="2825496"/>
            <a:ext cx="3977640" cy="265176"/>
          </a:xfrm>
          <a:prstGeom prst="rect">
            <a:avLst/>
          </a:prstGeom>
          <a:noFill/>
          <a:ln/>
        </p:spPr>
        <p:txBody>
          <a:bodyPr wrap="square" lIns="0" tIns="0" rIns="0" bIns="0" rtlCol="0" anchor="ctr"/>
          <a:lstStyle/>
          <a:p>
            <a:pPr algn="l" indent="0" marL="0">
              <a:buNone/>
            </a:pPr>
            <a:r>
              <a:rPr lang="en-US" sz="800" b="1" dirty="0">
                <a:solidFill>
                  <a:srgbClr val="002516"/>
                </a:solidFill>
                <a:latin typeface="Arial" pitchFamily="34" charset="0"/>
                <a:ea typeface="Arial" pitchFamily="34" charset="-122"/>
                <a:cs typeface="Arial" pitchFamily="34" charset="-120"/>
              </a:rPr>
              <a:t>Assurance</a:t>
            </a:r>
            <a:pPr algn="l" indent="0" marL="0">
              <a:buNone/>
            </a:pPr>
            <a:r>
              <a:rPr lang="en-US" sz="800" dirty="0">
                <a:solidFill>
                  <a:srgbClr val="000000"/>
                </a:solidFill>
                <a:latin typeface="Arial" pitchFamily="34" charset="0"/>
                <a:ea typeface="Arial" pitchFamily="34" charset="-122"/>
                <a:cs typeface="Arial" pitchFamily="34" charset="-120"/>
              </a:rPr>
              <a:t>  —  Layered: doctrine, evidence, professional, learning, delivery, operational</a:t>
            </a:r>
            <a:endParaRPr lang="en-US" sz="800" dirty="0"/>
          </a:p>
        </p:txBody>
      </p:sp>
      <p:sp>
        <p:nvSpPr>
          <p:cNvPr id="55" name="Shape 52"/>
          <p:cNvSpPr/>
          <p:nvPr/>
        </p:nvSpPr>
        <p:spPr>
          <a:xfrm>
            <a:off x="7589520" y="3255264"/>
            <a:ext cx="4197096" cy="219456"/>
          </a:xfrm>
          <a:prstGeom prst="rect">
            <a:avLst/>
          </a:prstGeom>
          <a:solidFill>
            <a:srgbClr val="002516"/>
          </a:solidFill>
          <a:ln/>
        </p:spPr>
      </p:sp>
      <p:sp>
        <p:nvSpPr>
          <p:cNvPr id="56" name="Text 53"/>
          <p:cNvSpPr/>
          <p:nvPr/>
        </p:nvSpPr>
        <p:spPr>
          <a:xfrm>
            <a:off x="7699248" y="3255264"/>
            <a:ext cx="3977640" cy="219456"/>
          </a:xfrm>
          <a:prstGeom prst="rect">
            <a:avLst/>
          </a:prstGeom>
          <a:noFill/>
          <a:ln/>
        </p:spPr>
        <p:txBody>
          <a:bodyPr wrap="square" lIns="0" tIns="0" rIns="0" bIns="0" rtlCol="0" anchor="ctr"/>
          <a:lstStyle/>
          <a:p>
            <a:pPr algn="l" indent="0" marL="0">
              <a:buNone/>
            </a:pPr>
            <a:r>
              <a:rPr lang="en-US" sz="900" b="1" dirty="0">
                <a:solidFill>
                  <a:srgbClr val="FFFFFF"/>
                </a:solidFill>
                <a:latin typeface="Arial" pitchFamily="34" charset="0"/>
                <a:ea typeface="Arial" pitchFamily="34" charset="-122"/>
                <a:cs typeface="Arial" pitchFamily="34" charset="-120"/>
              </a:rPr>
              <a:t>PROGRAMME OF WORK — 2026</a:t>
            </a:r>
            <a:endParaRPr lang="en-US" sz="900" dirty="0"/>
          </a:p>
        </p:txBody>
      </p:sp>
      <p:sp>
        <p:nvSpPr>
          <p:cNvPr id="57" name="Shape 54"/>
          <p:cNvSpPr/>
          <p:nvPr/>
        </p:nvSpPr>
        <p:spPr>
          <a:xfrm>
            <a:off x="7589520" y="3474720"/>
            <a:ext cx="4197096" cy="658368"/>
          </a:xfrm>
          <a:prstGeom prst="rect">
            <a:avLst/>
          </a:prstGeom>
          <a:solidFill>
            <a:srgbClr val="FFFFFF"/>
          </a:solidFill>
          <a:ln w="9525">
            <a:solidFill>
              <a:srgbClr val="A89662"/>
            </a:solidFill>
            <a:prstDash val="solid"/>
          </a:ln>
        </p:spPr>
      </p:sp>
      <p:sp>
        <p:nvSpPr>
          <p:cNvPr id="58" name="Shape 55"/>
          <p:cNvSpPr/>
          <p:nvPr/>
        </p:nvSpPr>
        <p:spPr>
          <a:xfrm>
            <a:off x="7699248" y="3566160"/>
            <a:ext cx="624840" cy="219456"/>
          </a:xfrm>
          <a:prstGeom prst="chevron">
            <a:avLst/>
          </a:prstGeom>
          <a:solidFill>
            <a:srgbClr val="3A4B00"/>
          </a:solidFill>
          <a:ln/>
        </p:spPr>
      </p:sp>
      <p:sp>
        <p:nvSpPr>
          <p:cNvPr id="59" name="Text 56"/>
          <p:cNvSpPr/>
          <p:nvPr/>
        </p:nvSpPr>
        <p:spPr>
          <a:xfrm>
            <a:off x="7699248" y="3566160"/>
            <a:ext cx="624840" cy="219456"/>
          </a:xfrm>
          <a:prstGeom prst="rect">
            <a:avLst/>
          </a:prstGeom>
          <a:noFill/>
          <a:ln/>
        </p:spPr>
        <p:txBody>
          <a:bodyPr wrap="square" lIns="0" tIns="0" rIns="0" bIns="0" rtlCol="0" anchor="ctr"/>
          <a:lstStyle/>
          <a:p>
            <a:pPr algn="ctr" indent="0" marL="0">
              <a:buNone/>
            </a:pPr>
            <a:r>
              <a:rPr lang="en-US" sz="680" b="1" dirty="0">
                <a:solidFill>
                  <a:srgbClr val="FFFFFF"/>
                </a:solidFill>
                <a:latin typeface="Arial" pitchFamily="34" charset="0"/>
                <a:ea typeface="Arial" pitchFamily="34" charset="-122"/>
                <a:cs typeface="Arial" pitchFamily="34" charset="-120"/>
              </a:rPr>
              <a:t>DEFINE</a:t>
            </a:r>
            <a:endParaRPr lang="en-US" sz="680" dirty="0"/>
          </a:p>
        </p:txBody>
      </p:sp>
      <p:sp>
        <p:nvSpPr>
          <p:cNvPr id="60" name="Shape 57"/>
          <p:cNvSpPr/>
          <p:nvPr/>
        </p:nvSpPr>
        <p:spPr>
          <a:xfrm>
            <a:off x="8369808" y="3566160"/>
            <a:ext cx="624840" cy="219456"/>
          </a:xfrm>
          <a:prstGeom prst="chevron">
            <a:avLst/>
          </a:prstGeom>
          <a:solidFill>
            <a:srgbClr val="3A4B00"/>
          </a:solidFill>
          <a:ln/>
        </p:spPr>
      </p:sp>
      <p:sp>
        <p:nvSpPr>
          <p:cNvPr id="61" name="Text 58"/>
          <p:cNvSpPr/>
          <p:nvPr/>
        </p:nvSpPr>
        <p:spPr>
          <a:xfrm>
            <a:off x="8369808" y="3566160"/>
            <a:ext cx="624840" cy="219456"/>
          </a:xfrm>
          <a:prstGeom prst="rect">
            <a:avLst/>
          </a:prstGeom>
          <a:noFill/>
          <a:ln/>
        </p:spPr>
        <p:txBody>
          <a:bodyPr wrap="square" lIns="0" tIns="0" rIns="0" bIns="0" rtlCol="0" anchor="ctr"/>
          <a:lstStyle/>
          <a:p>
            <a:pPr algn="ctr" indent="0" marL="0">
              <a:buNone/>
            </a:pPr>
            <a:r>
              <a:rPr lang="en-US" sz="680" b="1" dirty="0">
                <a:solidFill>
                  <a:srgbClr val="FFFFFF"/>
                </a:solidFill>
                <a:latin typeface="Arial" pitchFamily="34" charset="0"/>
                <a:ea typeface="Arial" pitchFamily="34" charset="-122"/>
                <a:cs typeface="Arial" pitchFamily="34" charset="-120"/>
              </a:rPr>
              <a:t>MAP</a:t>
            </a:r>
            <a:endParaRPr lang="en-US" sz="680" dirty="0"/>
          </a:p>
        </p:txBody>
      </p:sp>
      <p:sp>
        <p:nvSpPr>
          <p:cNvPr id="62" name="Shape 59"/>
          <p:cNvSpPr/>
          <p:nvPr/>
        </p:nvSpPr>
        <p:spPr>
          <a:xfrm>
            <a:off x="9040368" y="3566160"/>
            <a:ext cx="624840" cy="219456"/>
          </a:xfrm>
          <a:prstGeom prst="chevron">
            <a:avLst/>
          </a:prstGeom>
          <a:solidFill>
            <a:srgbClr val="3A4B00"/>
          </a:solidFill>
          <a:ln/>
        </p:spPr>
      </p:sp>
      <p:sp>
        <p:nvSpPr>
          <p:cNvPr id="63" name="Text 60"/>
          <p:cNvSpPr/>
          <p:nvPr/>
        </p:nvSpPr>
        <p:spPr>
          <a:xfrm>
            <a:off x="9040368" y="3566160"/>
            <a:ext cx="624840" cy="219456"/>
          </a:xfrm>
          <a:prstGeom prst="rect">
            <a:avLst/>
          </a:prstGeom>
          <a:noFill/>
          <a:ln/>
        </p:spPr>
        <p:txBody>
          <a:bodyPr wrap="square" lIns="0" tIns="0" rIns="0" bIns="0" rtlCol="0" anchor="ctr"/>
          <a:lstStyle/>
          <a:p>
            <a:pPr algn="ctr" indent="0" marL="0">
              <a:buNone/>
            </a:pPr>
            <a:r>
              <a:rPr lang="en-US" sz="680" b="1" dirty="0">
                <a:solidFill>
                  <a:srgbClr val="FFFFFF"/>
                </a:solidFill>
                <a:latin typeface="Arial" pitchFamily="34" charset="0"/>
                <a:ea typeface="Arial" pitchFamily="34" charset="-122"/>
                <a:cs typeface="Arial" pitchFamily="34" charset="-120"/>
              </a:rPr>
              <a:t>DEVELOP</a:t>
            </a:r>
            <a:endParaRPr lang="en-US" sz="680" dirty="0"/>
          </a:p>
        </p:txBody>
      </p:sp>
      <p:sp>
        <p:nvSpPr>
          <p:cNvPr id="64" name="Shape 61"/>
          <p:cNvSpPr/>
          <p:nvPr/>
        </p:nvSpPr>
        <p:spPr>
          <a:xfrm>
            <a:off x="9710928" y="3566160"/>
            <a:ext cx="624840" cy="219456"/>
          </a:xfrm>
          <a:prstGeom prst="chevron">
            <a:avLst/>
          </a:prstGeom>
          <a:solidFill>
            <a:srgbClr val="3A4B00"/>
          </a:solidFill>
          <a:ln/>
        </p:spPr>
      </p:sp>
      <p:sp>
        <p:nvSpPr>
          <p:cNvPr id="65" name="Text 62"/>
          <p:cNvSpPr/>
          <p:nvPr/>
        </p:nvSpPr>
        <p:spPr>
          <a:xfrm>
            <a:off x="9710928" y="3566160"/>
            <a:ext cx="624840" cy="219456"/>
          </a:xfrm>
          <a:prstGeom prst="rect">
            <a:avLst/>
          </a:prstGeom>
          <a:noFill/>
          <a:ln/>
        </p:spPr>
        <p:txBody>
          <a:bodyPr wrap="square" lIns="0" tIns="0" rIns="0" bIns="0" rtlCol="0" anchor="ctr"/>
          <a:lstStyle/>
          <a:p>
            <a:pPr algn="ctr" indent="0" marL="0">
              <a:buNone/>
            </a:pPr>
            <a:r>
              <a:rPr lang="en-US" sz="680" b="1" dirty="0">
                <a:solidFill>
                  <a:srgbClr val="FFFFFF"/>
                </a:solidFill>
                <a:latin typeface="Arial" pitchFamily="34" charset="0"/>
                <a:ea typeface="Arial" pitchFamily="34" charset="-122"/>
                <a:cs typeface="Arial" pitchFamily="34" charset="-120"/>
              </a:rPr>
              <a:t>VALIDATE</a:t>
            </a:r>
            <a:endParaRPr lang="en-US" sz="680" dirty="0"/>
          </a:p>
        </p:txBody>
      </p:sp>
      <p:sp>
        <p:nvSpPr>
          <p:cNvPr id="66" name="Shape 63"/>
          <p:cNvSpPr/>
          <p:nvPr/>
        </p:nvSpPr>
        <p:spPr>
          <a:xfrm>
            <a:off x="10381488" y="3566160"/>
            <a:ext cx="624840" cy="219456"/>
          </a:xfrm>
          <a:prstGeom prst="chevron">
            <a:avLst/>
          </a:prstGeom>
          <a:solidFill>
            <a:srgbClr val="FFFFFF"/>
          </a:solidFill>
          <a:ln w="12700">
            <a:solidFill>
              <a:srgbClr val="3A4B00"/>
            </a:solidFill>
            <a:prstDash val="solid"/>
          </a:ln>
        </p:spPr>
      </p:sp>
      <p:sp>
        <p:nvSpPr>
          <p:cNvPr id="67" name="Text 64"/>
          <p:cNvSpPr/>
          <p:nvPr/>
        </p:nvSpPr>
        <p:spPr>
          <a:xfrm>
            <a:off x="10381488" y="3566160"/>
            <a:ext cx="624840" cy="219456"/>
          </a:xfrm>
          <a:prstGeom prst="rect">
            <a:avLst/>
          </a:prstGeom>
          <a:noFill/>
          <a:ln/>
        </p:spPr>
        <p:txBody>
          <a:bodyPr wrap="square" lIns="0" tIns="0" rIns="0" bIns="0" rtlCol="0" anchor="ctr"/>
          <a:lstStyle/>
          <a:p>
            <a:pPr algn="ctr" indent="0" marL="0">
              <a:buNone/>
            </a:pPr>
            <a:r>
              <a:rPr lang="en-US" sz="680" b="1" dirty="0">
                <a:solidFill>
                  <a:srgbClr val="3A4B00"/>
                </a:solidFill>
                <a:latin typeface="Arial" pitchFamily="34" charset="0"/>
                <a:ea typeface="Arial" pitchFamily="34" charset="-122"/>
                <a:cs typeface="Arial" pitchFamily="34" charset="-120"/>
              </a:rPr>
              <a:t>TRIAL</a:t>
            </a:r>
            <a:endParaRPr lang="en-US" sz="680" dirty="0"/>
          </a:p>
        </p:txBody>
      </p:sp>
      <p:sp>
        <p:nvSpPr>
          <p:cNvPr id="68" name="Shape 65"/>
          <p:cNvSpPr/>
          <p:nvPr/>
        </p:nvSpPr>
        <p:spPr>
          <a:xfrm>
            <a:off x="11052048" y="3566160"/>
            <a:ext cx="624840" cy="219456"/>
          </a:xfrm>
          <a:prstGeom prst="chevron">
            <a:avLst/>
          </a:prstGeom>
          <a:solidFill>
            <a:srgbClr val="3A4B00"/>
          </a:solidFill>
          <a:ln/>
        </p:spPr>
      </p:sp>
      <p:sp>
        <p:nvSpPr>
          <p:cNvPr id="69" name="Text 66"/>
          <p:cNvSpPr/>
          <p:nvPr/>
        </p:nvSpPr>
        <p:spPr>
          <a:xfrm>
            <a:off x="11052048" y="3566160"/>
            <a:ext cx="624840" cy="219456"/>
          </a:xfrm>
          <a:prstGeom prst="rect">
            <a:avLst/>
          </a:prstGeom>
          <a:noFill/>
          <a:ln/>
        </p:spPr>
        <p:txBody>
          <a:bodyPr wrap="square" lIns="0" tIns="0" rIns="0" bIns="0" rtlCol="0" anchor="ctr"/>
          <a:lstStyle/>
          <a:p>
            <a:pPr algn="ctr" indent="0" marL="0">
              <a:buNone/>
            </a:pPr>
            <a:r>
              <a:rPr lang="en-US" sz="680" b="1" dirty="0">
                <a:solidFill>
                  <a:srgbClr val="FFFFFF"/>
                </a:solidFill>
                <a:latin typeface="Arial" pitchFamily="34" charset="0"/>
                <a:ea typeface="Arial" pitchFamily="34" charset="-122"/>
                <a:cs typeface="Arial" pitchFamily="34" charset="-120"/>
              </a:rPr>
              <a:t>REPORT</a:t>
            </a:r>
            <a:endParaRPr lang="en-US" sz="680" dirty="0"/>
          </a:p>
        </p:txBody>
      </p:sp>
      <p:sp>
        <p:nvSpPr>
          <p:cNvPr id="70" name="Text 67"/>
          <p:cNvSpPr/>
          <p:nvPr/>
        </p:nvSpPr>
        <p:spPr>
          <a:xfrm>
            <a:off x="7699248" y="3813048"/>
            <a:ext cx="3977640" cy="292608"/>
          </a:xfrm>
          <a:prstGeom prst="rect">
            <a:avLst/>
          </a:prstGeom>
          <a:noFill/>
          <a:ln/>
        </p:spPr>
        <p:txBody>
          <a:bodyPr wrap="square" lIns="0" tIns="0" rIns="0" bIns="0" rtlCol="0" anchor="t"/>
          <a:lstStyle/>
          <a:p>
            <a:pPr algn="l" indent="0" marL="0">
              <a:buNone/>
            </a:pPr>
            <a:r>
              <a:rPr lang="en-US" sz="730" i="1" dirty="0">
                <a:solidFill>
                  <a:srgbClr val="000000"/>
                </a:solidFill>
                <a:latin typeface="Arial" pitchFamily="34" charset="0"/>
                <a:ea typeface="Arial" pitchFamily="34" charset="-122"/>
                <a:cs typeface="Arial" pitchFamily="34" charset="-120"/>
              </a:rPr>
              <a:t>Phase 4 is a limited COGCON MVP integration trial, subject to capacity. Report back November 2026: Framework v1.0, capability and product map, implementation plan.</a:t>
            </a:r>
            <a:endParaRPr lang="en-US" sz="730" dirty="0"/>
          </a:p>
        </p:txBody>
      </p:sp>
      <p:sp>
        <p:nvSpPr>
          <p:cNvPr id="71" name="Shape 68"/>
          <p:cNvSpPr/>
          <p:nvPr/>
        </p:nvSpPr>
        <p:spPr>
          <a:xfrm>
            <a:off x="7589520" y="4233672"/>
            <a:ext cx="4197096" cy="841248"/>
          </a:xfrm>
          <a:prstGeom prst="rect">
            <a:avLst/>
          </a:prstGeom>
          <a:solidFill>
            <a:srgbClr val="002516"/>
          </a:solidFill>
          <a:ln/>
        </p:spPr>
      </p:sp>
      <p:sp>
        <p:nvSpPr>
          <p:cNvPr id="72" name="Text 69"/>
          <p:cNvSpPr/>
          <p:nvPr/>
        </p:nvSpPr>
        <p:spPr>
          <a:xfrm>
            <a:off x="7699248" y="4279392"/>
            <a:ext cx="3977640" cy="164592"/>
          </a:xfrm>
          <a:prstGeom prst="rect">
            <a:avLst/>
          </a:prstGeom>
          <a:noFill/>
          <a:ln/>
        </p:spPr>
        <p:txBody>
          <a:bodyPr wrap="square" lIns="0" tIns="0" rIns="0" bIns="0" rtlCol="0" anchor="ctr"/>
          <a:lstStyle/>
          <a:p>
            <a:pPr algn="l" indent="0" marL="0">
              <a:buNone/>
            </a:pPr>
            <a:r>
              <a:rPr lang="en-US" sz="900" b="1" spc="200" kern="0" dirty="0">
                <a:solidFill>
                  <a:srgbClr val="CDD2B7"/>
                </a:solidFill>
                <a:latin typeface="Arial" pitchFamily="34" charset="0"/>
                <a:ea typeface="Arial" pitchFamily="34" charset="-122"/>
                <a:cs typeface="Arial" pitchFamily="34" charset="-120"/>
              </a:rPr>
              <a:t>THE OUTCOME</a:t>
            </a:r>
            <a:endParaRPr lang="en-US" sz="900" dirty="0"/>
          </a:p>
        </p:txBody>
      </p:sp>
      <p:sp>
        <p:nvSpPr>
          <p:cNvPr id="73" name="Text 70"/>
          <p:cNvSpPr/>
          <p:nvPr/>
        </p:nvSpPr>
        <p:spPr>
          <a:xfrm>
            <a:off x="7699248" y="4453128"/>
            <a:ext cx="3977640" cy="585216"/>
          </a:xfrm>
          <a:prstGeom prst="rect">
            <a:avLst/>
          </a:prstGeom>
          <a:noFill/>
          <a:ln/>
        </p:spPr>
        <p:txBody>
          <a:bodyPr wrap="square" lIns="0" tIns="0" rIns="0" bIns="0" rtlCol="0" anchor="t"/>
          <a:lstStyle/>
          <a:p>
            <a:pPr algn="l" indent="0" marL="0">
              <a:buNone/>
            </a:pPr>
            <a:r>
              <a:rPr lang="en-US" sz="820" dirty="0">
                <a:solidFill>
                  <a:srgbClr val="FFFFFF"/>
                </a:solidFill>
                <a:latin typeface="Arial" pitchFamily="34" charset="0"/>
                <a:ea typeface="Arial" pitchFamily="34" charset="-122"/>
                <a:cs typeface="Arial" pitchFamily="34" charset="-120"/>
              </a:rPr>
              <a:t>A coherent, joined-up and assured Army approach that deliberately develops individuals, teams and leaders who remain effective under pressure and are prepared to act decisively, persistently, adaptively and ethically in combat.</a:t>
            </a:r>
            <a:endParaRPr lang="en-US" sz="820" dirty="0"/>
          </a:p>
        </p:txBody>
      </p:sp>
      <p:sp>
        <p:nvSpPr>
          <p:cNvPr id="74" name="Shape 71"/>
          <p:cNvSpPr/>
          <p:nvPr/>
        </p:nvSpPr>
        <p:spPr>
          <a:xfrm>
            <a:off x="411480" y="5138928"/>
            <a:ext cx="11375136" cy="182880"/>
          </a:xfrm>
          <a:prstGeom prst="rect">
            <a:avLst/>
          </a:prstGeom>
          <a:solidFill>
            <a:srgbClr val="002516"/>
          </a:solidFill>
          <a:ln/>
        </p:spPr>
      </p:sp>
      <p:sp>
        <p:nvSpPr>
          <p:cNvPr id="75" name="Text 72"/>
          <p:cNvSpPr/>
          <p:nvPr/>
        </p:nvSpPr>
        <p:spPr>
          <a:xfrm>
            <a:off x="521208" y="5138928"/>
            <a:ext cx="11155680" cy="182880"/>
          </a:xfrm>
          <a:prstGeom prst="rect">
            <a:avLst/>
          </a:prstGeom>
          <a:noFill/>
          <a:ln/>
        </p:spPr>
        <p:txBody>
          <a:bodyPr wrap="square" lIns="0" tIns="0" rIns="0" bIns="0" rtlCol="0" anchor="ctr"/>
          <a:lstStyle/>
          <a:p>
            <a:pPr algn="l" indent="0" marL="0">
              <a:buNone/>
            </a:pPr>
            <a:r>
              <a:rPr lang="en-US" sz="850" b="1" dirty="0">
                <a:solidFill>
                  <a:srgbClr val="FFFFFF"/>
                </a:solidFill>
                <a:latin typeface="Arial" pitchFamily="34" charset="0"/>
                <a:ea typeface="Arial" pitchFamily="34" charset="-122"/>
                <a:cs typeface="Arial" pitchFamily="34" charset="-120"/>
              </a:rPr>
              <a:t>CAPABILITY STRANDS — WHAT WE BUILD</a:t>
            </a:r>
            <a:endParaRPr lang="en-US" sz="850" dirty="0"/>
          </a:p>
        </p:txBody>
      </p:sp>
      <p:sp>
        <p:nvSpPr>
          <p:cNvPr id="76" name="Shape 73"/>
          <p:cNvSpPr/>
          <p:nvPr/>
        </p:nvSpPr>
        <p:spPr>
          <a:xfrm>
            <a:off x="411480" y="5358384"/>
            <a:ext cx="1577993" cy="402336"/>
          </a:xfrm>
          <a:prstGeom prst="rect">
            <a:avLst/>
          </a:prstGeom>
          <a:solidFill>
            <a:srgbClr val="CDD2B7"/>
          </a:solidFill>
          <a:ln/>
        </p:spPr>
      </p:sp>
      <p:sp>
        <p:nvSpPr>
          <p:cNvPr id="77" name="Text 74"/>
          <p:cNvSpPr/>
          <p:nvPr/>
        </p:nvSpPr>
        <p:spPr>
          <a:xfrm>
            <a:off x="438912" y="5358384"/>
            <a:ext cx="1523129" cy="402336"/>
          </a:xfrm>
          <a:prstGeom prst="rect">
            <a:avLst/>
          </a:prstGeom>
          <a:noFill/>
          <a:ln/>
        </p:spPr>
        <p:txBody>
          <a:bodyPr wrap="square" lIns="0" tIns="0" rIns="0" bIns="0" rtlCol="0" anchor="ctr"/>
          <a:lstStyle/>
          <a:p>
            <a:pPr algn="ctr" indent="0" marL="0">
              <a:buNone/>
            </a:pPr>
            <a:r>
              <a:rPr lang="en-US" sz="760" b="1" dirty="0">
                <a:solidFill>
                  <a:srgbClr val="002516"/>
                </a:solidFill>
                <a:latin typeface="Arial" pitchFamily="34" charset="0"/>
                <a:ea typeface="Arial" pitchFamily="34" charset="-122"/>
                <a:cs typeface="Arial" pitchFamily="34" charset="-120"/>
              </a:rPr>
              <a:t>Leadership</a:t>
            </a:r>
            <a:endParaRPr lang="en-US" sz="760" dirty="0"/>
          </a:p>
        </p:txBody>
      </p:sp>
      <p:sp>
        <p:nvSpPr>
          <p:cNvPr id="78" name="Shape 75"/>
          <p:cNvSpPr/>
          <p:nvPr/>
        </p:nvSpPr>
        <p:spPr>
          <a:xfrm>
            <a:off x="2044337" y="5358384"/>
            <a:ext cx="1577993" cy="402336"/>
          </a:xfrm>
          <a:prstGeom prst="rect">
            <a:avLst/>
          </a:prstGeom>
          <a:solidFill>
            <a:srgbClr val="CDD2B7"/>
          </a:solidFill>
          <a:ln/>
        </p:spPr>
      </p:sp>
      <p:sp>
        <p:nvSpPr>
          <p:cNvPr id="79" name="Text 76"/>
          <p:cNvSpPr/>
          <p:nvPr/>
        </p:nvSpPr>
        <p:spPr>
          <a:xfrm>
            <a:off x="2071769" y="5358384"/>
            <a:ext cx="1523129" cy="402336"/>
          </a:xfrm>
          <a:prstGeom prst="rect">
            <a:avLst/>
          </a:prstGeom>
          <a:noFill/>
          <a:ln/>
        </p:spPr>
        <p:txBody>
          <a:bodyPr wrap="square" lIns="0" tIns="0" rIns="0" bIns="0" rtlCol="0" anchor="ctr"/>
          <a:lstStyle/>
          <a:p>
            <a:pPr algn="ctr" indent="0" marL="0">
              <a:buNone/>
            </a:pPr>
            <a:r>
              <a:rPr lang="en-US" sz="760" b="1" dirty="0">
                <a:solidFill>
                  <a:srgbClr val="002516"/>
                </a:solidFill>
                <a:latin typeface="Arial" pitchFamily="34" charset="0"/>
                <a:ea typeface="Arial" pitchFamily="34" charset="-122"/>
                <a:cs typeface="Arial" pitchFamily="34" charset="-120"/>
              </a:rPr>
              <a:t>Mental skills</a:t>
            </a:r>
            <a:endParaRPr lang="en-US" sz="760" dirty="0"/>
          </a:p>
        </p:txBody>
      </p:sp>
      <p:sp>
        <p:nvSpPr>
          <p:cNvPr id="80" name="Shape 77"/>
          <p:cNvSpPr/>
          <p:nvPr/>
        </p:nvSpPr>
        <p:spPr>
          <a:xfrm>
            <a:off x="3677194" y="5358384"/>
            <a:ext cx="1577993" cy="402336"/>
          </a:xfrm>
          <a:prstGeom prst="rect">
            <a:avLst/>
          </a:prstGeom>
          <a:solidFill>
            <a:srgbClr val="CDD2B7"/>
          </a:solidFill>
          <a:ln/>
        </p:spPr>
      </p:sp>
      <p:sp>
        <p:nvSpPr>
          <p:cNvPr id="81" name="Text 78"/>
          <p:cNvSpPr/>
          <p:nvPr/>
        </p:nvSpPr>
        <p:spPr>
          <a:xfrm>
            <a:off x="3704626" y="5358384"/>
            <a:ext cx="1523129" cy="402336"/>
          </a:xfrm>
          <a:prstGeom prst="rect">
            <a:avLst/>
          </a:prstGeom>
          <a:noFill/>
          <a:ln/>
        </p:spPr>
        <p:txBody>
          <a:bodyPr wrap="square" lIns="0" tIns="0" rIns="0" bIns="0" rtlCol="0" anchor="ctr"/>
          <a:lstStyle/>
          <a:p>
            <a:pPr algn="ctr" indent="0" marL="0">
              <a:buNone/>
            </a:pPr>
            <a:r>
              <a:rPr lang="en-US" sz="760" b="1" dirty="0">
                <a:solidFill>
                  <a:srgbClr val="002516"/>
                </a:solidFill>
                <a:latin typeface="Arial" pitchFamily="34" charset="0"/>
                <a:ea typeface="Arial" pitchFamily="34" charset="-122"/>
                <a:cs typeface="Arial" pitchFamily="34" charset="-120"/>
              </a:rPr>
              <a:t>Performance cognition</a:t>
            </a:r>
            <a:endParaRPr lang="en-US" sz="760" dirty="0"/>
          </a:p>
        </p:txBody>
      </p:sp>
      <p:sp>
        <p:nvSpPr>
          <p:cNvPr id="82" name="Shape 79"/>
          <p:cNvSpPr/>
          <p:nvPr/>
        </p:nvSpPr>
        <p:spPr>
          <a:xfrm>
            <a:off x="5310051" y="5358384"/>
            <a:ext cx="1577993" cy="402336"/>
          </a:xfrm>
          <a:prstGeom prst="rect">
            <a:avLst/>
          </a:prstGeom>
          <a:solidFill>
            <a:srgbClr val="CDD2B7"/>
          </a:solidFill>
          <a:ln/>
        </p:spPr>
      </p:sp>
      <p:sp>
        <p:nvSpPr>
          <p:cNvPr id="83" name="Text 80"/>
          <p:cNvSpPr/>
          <p:nvPr/>
        </p:nvSpPr>
        <p:spPr>
          <a:xfrm>
            <a:off x="5337483" y="5358384"/>
            <a:ext cx="1523129" cy="402336"/>
          </a:xfrm>
          <a:prstGeom prst="rect">
            <a:avLst/>
          </a:prstGeom>
          <a:noFill/>
          <a:ln/>
        </p:spPr>
        <p:txBody>
          <a:bodyPr wrap="square" lIns="0" tIns="0" rIns="0" bIns="0" rtlCol="0" anchor="ctr"/>
          <a:lstStyle/>
          <a:p>
            <a:pPr algn="ctr" indent="0" marL="0">
              <a:buNone/>
            </a:pPr>
            <a:r>
              <a:rPr lang="en-US" sz="760" b="1" dirty="0">
                <a:solidFill>
                  <a:srgbClr val="002516"/>
                </a:solidFill>
                <a:latin typeface="Arial" pitchFamily="34" charset="0"/>
                <a:ea typeface="Arial" pitchFamily="34" charset="-122"/>
                <a:cs typeface="Arial" pitchFamily="34" charset="-120"/>
              </a:rPr>
              <a:t>Resilience &amp; recovery</a:t>
            </a:r>
            <a:endParaRPr lang="en-US" sz="760" dirty="0"/>
          </a:p>
        </p:txBody>
      </p:sp>
      <p:sp>
        <p:nvSpPr>
          <p:cNvPr id="84" name="Shape 81"/>
          <p:cNvSpPr/>
          <p:nvPr/>
        </p:nvSpPr>
        <p:spPr>
          <a:xfrm>
            <a:off x="6942909" y="5358384"/>
            <a:ext cx="1577993" cy="402336"/>
          </a:xfrm>
          <a:prstGeom prst="rect">
            <a:avLst/>
          </a:prstGeom>
          <a:solidFill>
            <a:srgbClr val="CDD2B7"/>
          </a:solidFill>
          <a:ln/>
        </p:spPr>
      </p:sp>
      <p:sp>
        <p:nvSpPr>
          <p:cNvPr id="85" name="Text 82"/>
          <p:cNvSpPr/>
          <p:nvPr/>
        </p:nvSpPr>
        <p:spPr>
          <a:xfrm>
            <a:off x="6970341" y="5358384"/>
            <a:ext cx="1523129" cy="402336"/>
          </a:xfrm>
          <a:prstGeom prst="rect">
            <a:avLst/>
          </a:prstGeom>
          <a:noFill/>
          <a:ln/>
        </p:spPr>
        <p:txBody>
          <a:bodyPr wrap="square" lIns="0" tIns="0" rIns="0" bIns="0" rtlCol="0" anchor="ctr"/>
          <a:lstStyle/>
          <a:p>
            <a:pPr algn="ctr" indent="0" marL="0">
              <a:buNone/>
            </a:pPr>
            <a:r>
              <a:rPr lang="en-US" sz="760" b="1" dirty="0">
                <a:solidFill>
                  <a:srgbClr val="002516"/>
                </a:solidFill>
                <a:latin typeface="Arial" pitchFamily="34" charset="0"/>
                <a:ea typeface="Arial" pitchFamily="34" charset="-122"/>
                <a:cs typeface="Arial" pitchFamily="34" charset="-120"/>
              </a:rPr>
              <a:t>Physical performance</a:t>
            </a:r>
            <a:endParaRPr lang="en-US" sz="760" dirty="0"/>
          </a:p>
        </p:txBody>
      </p:sp>
      <p:sp>
        <p:nvSpPr>
          <p:cNvPr id="86" name="Shape 83"/>
          <p:cNvSpPr/>
          <p:nvPr/>
        </p:nvSpPr>
        <p:spPr>
          <a:xfrm>
            <a:off x="8575766" y="5358384"/>
            <a:ext cx="1577993" cy="402336"/>
          </a:xfrm>
          <a:prstGeom prst="rect">
            <a:avLst/>
          </a:prstGeom>
          <a:solidFill>
            <a:srgbClr val="CDD2B7"/>
          </a:solidFill>
          <a:ln/>
        </p:spPr>
      </p:sp>
      <p:sp>
        <p:nvSpPr>
          <p:cNvPr id="87" name="Text 84"/>
          <p:cNvSpPr/>
          <p:nvPr/>
        </p:nvSpPr>
        <p:spPr>
          <a:xfrm>
            <a:off x="8603198" y="5358384"/>
            <a:ext cx="1523129" cy="402336"/>
          </a:xfrm>
          <a:prstGeom prst="rect">
            <a:avLst/>
          </a:prstGeom>
          <a:noFill/>
          <a:ln/>
        </p:spPr>
        <p:txBody>
          <a:bodyPr wrap="square" lIns="0" tIns="0" rIns="0" bIns="0" rtlCol="0" anchor="ctr"/>
          <a:lstStyle/>
          <a:p>
            <a:pPr algn="ctr" indent="0" marL="0">
              <a:buNone/>
            </a:pPr>
            <a:r>
              <a:rPr lang="en-US" sz="760" b="1" dirty="0">
                <a:solidFill>
                  <a:srgbClr val="002516"/>
                </a:solidFill>
                <a:latin typeface="Arial" pitchFamily="34" charset="0"/>
                <a:ea typeface="Arial" pitchFamily="34" charset="-122"/>
                <a:cs typeface="Arial" pitchFamily="34" charset="-120"/>
              </a:rPr>
              <a:t>Professional identity &amp; values</a:t>
            </a:r>
            <a:endParaRPr lang="en-US" sz="760" dirty="0"/>
          </a:p>
        </p:txBody>
      </p:sp>
      <p:sp>
        <p:nvSpPr>
          <p:cNvPr id="88" name="Shape 85"/>
          <p:cNvSpPr/>
          <p:nvPr/>
        </p:nvSpPr>
        <p:spPr>
          <a:xfrm>
            <a:off x="10208623" y="5358384"/>
            <a:ext cx="1577993" cy="402336"/>
          </a:xfrm>
          <a:prstGeom prst="rect">
            <a:avLst/>
          </a:prstGeom>
          <a:solidFill>
            <a:srgbClr val="CDD2B7"/>
          </a:solidFill>
          <a:ln/>
        </p:spPr>
      </p:sp>
      <p:sp>
        <p:nvSpPr>
          <p:cNvPr id="89" name="Text 86"/>
          <p:cNvSpPr/>
          <p:nvPr/>
        </p:nvSpPr>
        <p:spPr>
          <a:xfrm>
            <a:off x="10236055" y="5358384"/>
            <a:ext cx="1523129" cy="402336"/>
          </a:xfrm>
          <a:prstGeom prst="rect">
            <a:avLst/>
          </a:prstGeom>
          <a:noFill/>
          <a:ln/>
        </p:spPr>
        <p:txBody>
          <a:bodyPr wrap="square" lIns="0" tIns="0" rIns="0" bIns="0" rtlCol="0" anchor="ctr"/>
          <a:lstStyle/>
          <a:p>
            <a:pPr algn="ctr" indent="0" marL="0">
              <a:buNone/>
            </a:pPr>
            <a:r>
              <a:rPr lang="en-US" sz="760" b="1" dirty="0">
                <a:solidFill>
                  <a:srgbClr val="002516"/>
                </a:solidFill>
                <a:latin typeface="Arial" pitchFamily="34" charset="0"/>
                <a:ea typeface="Arial" pitchFamily="34" charset="-122"/>
                <a:cs typeface="Arial" pitchFamily="34" charset="-120"/>
              </a:rPr>
              <a:t>Individual &amp; collective exposure to pressure</a:t>
            </a:r>
            <a:endParaRPr lang="en-US" sz="760" dirty="0"/>
          </a:p>
        </p:txBody>
      </p:sp>
      <p:sp>
        <p:nvSpPr>
          <p:cNvPr id="90" name="Shape 87"/>
          <p:cNvSpPr/>
          <p:nvPr/>
        </p:nvSpPr>
        <p:spPr>
          <a:xfrm>
            <a:off x="411480" y="5852160"/>
            <a:ext cx="11375136" cy="182880"/>
          </a:xfrm>
          <a:prstGeom prst="rect">
            <a:avLst/>
          </a:prstGeom>
          <a:solidFill>
            <a:srgbClr val="002516"/>
          </a:solidFill>
          <a:ln/>
        </p:spPr>
      </p:sp>
      <p:sp>
        <p:nvSpPr>
          <p:cNvPr id="91" name="Text 88"/>
          <p:cNvSpPr/>
          <p:nvPr/>
        </p:nvSpPr>
        <p:spPr>
          <a:xfrm>
            <a:off x="521208" y="5852160"/>
            <a:ext cx="11155680" cy="182880"/>
          </a:xfrm>
          <a:prstGeom prst="rect">
            <a:avLst/>
          </a:prstGeom>
          <a:noFill/>
          <a:ln/>
        </p:spPr>
        <p:txBody>
          <a:bodyPr wrap="square" lIns="0" tIns="0" rIns="0" bIns="0" rtlCol="0" anchor="ctr"/>
          <a:lstStyle/>
          <a:p>
            <a:pPr algn="l" indent="0" marL="0">
              <a:buNone/>
            </a:pPr>
            <a:r>
              <a:rPr lang="en-US" sz="850" b="1" dirty="0">
                <a:solidFill>
                  <a:srgbClr val="FFFFFF"/>
                </a:solidFill>
                <a:latin typeface="Arial" pitchFamily="34" charset="0"/>
                <a:ea typeface="Arial" pitchFamily="34" charset="-122"/>
                <a:cs typeface="Arial" pitchFamily="34" charset="-120"/>
              </a:rPr>
              <a:t>TRAINING PRODUCTS AND METHODS — HOW WE BUILD IT</a:t>
            </a:r>
            <a:endParaRPr lang="en-US" sz="850" dirty="0"/>
          </a:p>
        </p:txBody>
      </p:sp>
      <p:sp>
        <p:nvSpPr>
          <p:cNvPr id="92" name="Shape 89"/>
          <p:cNvSpPr/>
          <p:nvPr/>
        </p:nvSpPr>
        <p:spPr>
          <a:xfrm>
            <a:off x="411480" y="6071616"/>
            <a:ext cx="1577993" cy="420624"/>
          </a:xfrm>
          <a:prstGeom prst="rect">
            <a:avLst/>
          </a:prstGeom>
          <a:solidFill>
            <a:srgbClr val="FFFFFF"/>
          </a:solidFill>
          <a:ln w="9525">
            <a:solidFill>
              <a:srgbClr val="A89662"/>
            </a:solidFill>
            <a:prstDash val="solid"/>
          </a:ln>
        </p:spPr>
      </p:sp>
      <p:sp>
        <p:nvSpPr>
          <p:cNvPr id="93" name="Text 90"/>
          <p:cNvSpPr/>
          <p:nvPr/>
        </p:nvSpPr>
        <p:spPr>
          <a:xfrm>
            <a:off x="448056" y="6071616"/>
            <a:ext cx="1504841" cy="420624"/>
          </a:xfrm>
          <a:prstGeom prst="rect">
            <a:avLst/>
          </a:prstGeom>
          <a:noFill/>
          <a:ln/>
        </p:spPr>
        <p:txBody>
          <a:bodyPr wrap="square" lIns="0" tIns="0" rIns="0" bIns="0" rtlCol="0" anchor="ctr"/>
          <a:lstStyle/>
          <a:p>
            <a:pPr algn="ctr" indent="0" marL="0">
              <a:buNone/>
            </a:pPr>
            <a:r>
              <a:rPr lang="en-US" sz="740" b="1" dirty="0">
                <a:solidFill>
                  <a:srgbClr val="000000"/>
                </a:solidFill>
                <a:latin typeface="Arial" pitchFamily="34" charset="0"/>
                <a:ea typeface="Arial" pitchFamily="34" charset="-122"/>
                <a:cs typeface="Arial" pitchFamily="34" charset="-120"/>
              </a:rPr>
              <a:t>NZALC Performance Under Pressure package</a:t>
            </a:r>
            <a:endParaRPr lang="en-US" sz="740" dirty="0"/>
          </a:p>
        </p:txBody>
      </p:sp>
      <p:sp>
        <p:nvSpPr>
          <p:cNvPr id="94" name="Shape 91"/>
          <p:cNvSpPr/>
          <p:nvPr/>
        </p:nvSpPr>
        <p:spPr>
          <a:xfrm>
            <a:off x="2044337" y="6071616"/>
            <a:ext cx="1577993" cy="420624"/>
          </a:xfrm>
          <a:prstGeom prst="rect">
            <a:avLst/>
          </a:prstGeom>
          <a:solidFill>
            <a:srgbClr val="FFFFFF"/>
          </a:solidFill>
          <a:ln w="9525">
            <a:solidFill>
              <a:srgbClr val="A89662"/>
            </a:solidFill>
            <a:prstDash val="solid"/>
          </a:ln>
        </p:spPr>
      </p:sp>
      <p:sp>
        <p:nvSpPr>
          <p:cNvPr id="95" name="Text 92"/>
          <p:cNvSpPr/>
          <p:nvPr/>
        </p:nvSpPr>
        <p:spPr>
          <a:xfrm>
            <a:off x="2080913" y="6071616"/>
            <a:ext cx="1504841" cy="420624"/>
          </a:xfrm>
          <a:prstGeom prst="rect">
            <a:avLst/>
          </a:prstGeom>
          <a:noFill/>
          <a:ln/>
        </p:spPr>
        <p:txBody>
          <a:bodyPr wrap="square" lIns="0" tIns="0" rIns="0" bIns="0" rtlCol="0" anchor="ctr"/>
          <a:lstStyle/>
          <a:p>
            <a:pPr algn="ctr" indent="0" marL="0">
              <a:buNone/>
            </a:pPr>
            <a:r>
              <a:rPr lang="en-US" sz="740" b="1" dirty="0">
                <a:solidFill>
                  <a:srgbClr val="000000"/>
                </a:solidFill>
                <a:latin typeface="Arial" pitchFamily="34" charset="0"/>
                <a:ea typeface="Arial" pitchFamily="34" charset="-122"/>
                <a:cs typeface="Arial" pitchFamily="34" charset="-120"/>
              </a:rPr>
              <a:t>NZDF Psychology products</a:t>
            </a:r>
            <a:endParaRPr lang="en-US" sz="740" dirty="0"/>
          </a:p>
        </p:txBody>
      </p:sp>
      <p:sp>
        <p:nvSpPr>
          <p:cNvPr id="96" name="Shape 93"/>
          <p:cNvSpPr/>
          <p:nvPr/>
        </p:nvSpPr>
        <p:spPr>
          <a:xfrm>
            <a:off x="3677194" y="6071616"/>
            <a:ext cx="1577993" cy="420624"/>
          </a:xfrm>
          <a:prstGeom prst="rect">
            <a:avLst/>
          </a:prstGeom>
          <a:solidFill>
            <a:srgbClr val="FFFFFF"/>
          </a:solidFill>
          <a:ln w="9525">
            <a:solidFill>
              <a:srgbClr val="A89662"/>
            </a:solidFill>
            <a:prstDash val="solid"/>
          </a:ln>
        </p:spPr>
      </p:sp>
      <p:sp>
        <p:nvSpPr>
          <p:cNvPr id="97" name="Text 94"/>
          <p:cNvSpPr/>
          <p:nvPr/>
        </p:nvSpPr>
        <p:spPr>
          <a:xfrm>
            <a:off x="3713770" y="6071616"/>
            <a:ext cx="1504841" cy="420624"/>
          </a:xfrm>
          <a:prstGeom prst="rect">
            <a:avLst/>
          </a:prstGeom>
          <a:noFill/>
          <a:ln/>
        </p:spPr>
        <p:txBody>
          <a:bodyPr wrap="square" lIns="0" tIns="0" rIns="0" bIns="0" rtlCol="0" anchor="ctr"/>
          <a:lstStyle/>
          <a:p>
            <a:pPr algn="ctr" indent="0" marL="0">
              <a:buNone/>
            </a:pPr>
            <a:r>
              <a:rPr lang="en-US" sz="740" b="1" dirty="0">
                <a:solidFill>
                  <a:srgbClr val="000000"/>
                </a:solidFill>
                <a:latin typeface="Arial" pitchFamily="34" charset="0"/>
                <a:ea typeface="Arial" pitchFamily="34" charset="-122"/>
                <a:cs typeface="Arial" pitchFamily="34" charset="-120"/>
              </a:rPr>
              <a:t>COGCON MVP</a:t>
            </a:r>
            <a:endParaRPr lang="en-US" sz="740" dirty="0"/>
          </a:p>
          <a:p>
            <a:pPr algn="ctr" indent="0" marL="0">
              <a:buNone/>
            </a:pPr>
            <a:r>
              <a:rPr lang="en-US" sz="600" i="1" dirty="0">
                <a:solidFill>
                  <a:srgbClr val="000000"/>
                </a:solidFill>
                <a:latin typeface="Arial" pitchFamily="34" charset="0"/>
                <a:ea typeface="Arial" pitchFamily="34" charset="-122"/>
                <a:cs typeface="Arial" pitchFamily="34" charset="-120"/>
              </a:rPr>
              <a:t>Developmental product — performance-cognition strand</a:t>
            </a:r>
            <a:endParaRPr lang="en-US" sz="740" dirty="0"/>
          </a:p>
        </p:txBody>
      </p:sp>
      <p:sp>
        <p:nvSpPr>
          <p:cNvPr id="98" name="Shape 95"/>
          <p:cNvSpPr/>
          <p:nvPr/>
        </p:nvSpPr>
        <p:spPr>
          <a:xfrm>
            <a:off x="5310051" y="6071616"/>
            <a:ext cx="1577993" cy="420624"/>
          </a:xfrm>
          <a:prstGeom prst="rect">
            <a:avLst/>
          </a:prstGeom>
          <a:solidFill>
            <a:srgbClr val="FFFFFF"/>
          </a:solidFill>
          <a:ln w="9525">
            <a:solidFill>
              <a:srgbClr val="A89662"/>
            </a:solidFill>
            <a:prstDash val="solid"/>
          </a:ln>
        </p:spPr>
      </p:sp>
      <p:sp>
        <p:nvSpPr>
          <p:cNvPr id="99" name="Text 96"/>
          <p:cNvSpPr/>
          <p:nvPr/>
        </p:nvSpPr>
        <p:spPr>
          <a:xfrm>
            <a:off x="5346627" y="6071616"/>
            <a:ext cx="1504841" cy="420624"/>
          </a:xfrm>
          <a:prstGeom prst="rect">
            <a:avLst/>
          </a:prstGeom>
          <a:noFill/>
          <a:ln/>
        </p:spPr>
        <p:txBody>
          <a:bodyPr wrap="square" lIns="0" tIns="0" rIns="0" bIns="0" rtlCol="0" anchor="ctr"/>
          <a:lstStyle/>
          <a:p>
            <a:pPr algn="ctr" indent="0" marL="0">
              <a:buNone/>
            </a:pPr>
            <a:r>
              <a:rPr lang="en-US" sz="740" b="1" dirty="0">
                <a:solidFill>
                  <a:srgbClr val="000000"/>
                </a:solidFill>
                <a:latin typeface="Arial" pitchFamily="34" charset="0"/>
                <a:ea typeface="Arial" pitchFamily="34" charset="-122"/>
                <a:cs typeface="Arial" pitchFamily="34" charset="-120"/>
              </a:rPr>
              <a:t>Scenario &amp; experiential training</a:t>
            </a:r>
            <a:endParaRPr lang="en-US" sz="740" dirty="0"/>
          </a:p>
        </p:txBody>
      </p:sp>
      <p:sp>
        <p:nvSpPr>
          <p:cNvPr id="100" name="Shape 97"/>
          <p:cNvSpPr/>
          <p:nvPr/>
        </p:nvSpPr>
        <p:spPr>
          <a:xfrm>
            <a:off x="6942909" y="6071616"/>
            <a:ext cx="1577993" cy="420624"/>
          </a:xfrm>
          <a:prstGeom prst="rect">
            <a:avLst/>
          </a:prstGeom>
          <a:solidFill>
            <a:srgbClr val="FFFFFF"/>
          </a:solidFill>
          <a:ln w="9525">
            <a:solidFill>
              <a:srgbClr val="A89662"/>
            </a:solidFill>
            <a:prstDash val="solid"/>
          </a:ln>
        </p:spPr>
      </p:sp>
      <p:sp>
        <p:nvSpPr>
          <p:cNvPr id="101" name="Text 98"/>
          <p:cNvSpPr/>
          <p:nvPr/>
        </p:nvSpPr>
        <p:spPr>
          <a:xfrm>
            <a:off x="6979485" y="6071616"/>
            <a:ext cx="1504841" cy="420624"/>
          </a:xfrm>
          <a:prstGeom prst="rect">
            <a:avLst/>
          </a:prstGeom>
          <a:noFill/>
          <a:ln/>
        </p:spPr>
        <p:txBody>
          <a:bodyPr wrap="square" lIns="0" tIns="0" rIns="0" bIns="0" rtlCol="0" anchor="ctr"/>
          <a:lstStyle/>
          <a:p>
            <a:pPr algn="ctr" indent="0" marL="0">
              <a:buNone/>
            </a:pPr>
            <a:r>
              <a:rPr lang="en-US" sz="740" b="1" dirty="0">
                <a:solidFill>
                  <a:srgbClr val="000000"/>
                </a:solidFill>
                <a:latin typeface="Arial" pitchFamily="34" charset="0"/>
                <a:ea typeface="Arial" pitchFamily="34" charset="-122"/>
                <a:cs typeface="Arial" pitchFamily="34" charset="-120"/>
              </a:rPr>
              <a:t>Physical conditioning</a:t>
            </a:r>
            <a:endParaRPr lang="en-US" sz="740" dirty="0"/>
          </a:p>
        </p:txBody>
      </p:sp>
      <p:sp>
        <p:nvSpPr>
          <p:cNvPr id="102" name="Shape 99"/>
          <p:cNvSpPr/>
          <p:nvPr/>
        </p:nvSpPr>
        <p:spPr>
          <a:xfrm>
            <a:off x="8575766" y="6071616"/>
            <a:ext cx="1577993" cy="420624"/>
          </a:xfrm>
          <a:prstGeom prst="rect">
            <a:avLst/>
          </a:prstGeom>
          <a:solidFill>
            <a:srgbClr val="FFFFFF"/>
          </a:solidFill>
          <a:ln w="9525">
            <a:solidFill>
              <a:srgbClr val="A89662"/>
            </a:solidFill>
            <a:prstDash val="solid"/>
          </a:ln>
        </p:spPr>
      </p:sp>
      <p:sp>
        <p:nvSpPr>
          <p:cNvPr id="103" name="Text 100"/>
          <p:cNvSpPr/>
          <p:nvPr/>
        </p:nvSpPr>
        <p:spPr>
          <a:xfrm>
            <a:off x="8612342" y="6071616"/>
            <a:ext cx="1504841" cy="420624"/>
          </a:xfrm>
          <a:prstGeom prst="rect">
            <a:avLst/>
          </a:prstGeom>
          <a:noFill/>
          <a:ln/>
        </p:spPr>
        <p:txBody>
          <a:bodyPr wrap="square" lIns="0" tIns="0" rIns="0" bIns="0" rtlCol="0" anchor="ctr"/>
          <a:lstStyle/>
          <a:p>
            <a:pPr algn="ctr" indent="0" marL="0">
              <a:buNone/>
            </a:pPr>
            <a:r>
              <a:rPr lang="en-US" sz="740" b="1" dirty="0">
                <a:solidFill>
                  <a:srgbClr val="000000"/>
                </a:solidFill>
                <a:latin typeface="Arial" pitchFamily="34" charset="0"/>
                <a:ea typeface="Arial" pitchFamily="34" charset="-122"/>
                <a:cs typeface="Arial" pitchFamily="34" charset="-120"/>
              </a:rPr>
              <a:t>Structured reflection &amp; recovery</a:t>
            </a:r>
            <a:endParaRPr lang="en-US" sz="740" dirty="0"/>
          </a:p>
        </p:txBody>
      </p:sp>
      <p:sp>
        <p:nvSpPr>
          <p:cNvPr id="104" name="Shape 101"/>
          <p:cNvSpPr/>
          <p:nvPr/>
        </p:nvSpPr>
        <p:spPr>
          <a:xfrm>
            <a:off x="10208623" y="6071616"/>
            <a:ext cx="1577993" cy="420624"/>
          </a:xfrm>
          <a:prstGeom prst="rect">
            <a:avLst/>
          </a:prstGeom>
          <a:solidFill>
            <a:srgbClr val="FFFFFF"/>
          </a:solidFill>
          <a:ln w="9525">
            <a:solidFill>
              <a:srgbClr val="A89662"/>
            </a:solidFill>
            <a:prstDash val="solid"/>
          </a:ln>
        </p:spPr>
      </p:sp>
      <p:sp>
        <p:nvSpPr>
          <p:cNvPr id="105" name="Text 102"/>
          <p:cNvSpPr/>
          <p:nvPr/>
        </p:nvSpPr>
        <p:spPr>
          <a:xfrm>
            <a:off x="10245199" y="6071616"/>
            <a:ext cx="1504841" cy="420624"/>
          </a:xfrm>
          <a:prstGeom prst="rect">
            <a:avLst/>
          </a:prstGeom>
          <a:noFill/>
          <a:ln/>
        </p:spPr>
        <p:txBody>
          <a:bodyPr wrap="square" lIns="0" tIns="0" rIns="0" bIns="0" rtlCol="0" anchor="ctr"/>
          <a:lstStyle/>
          <a:p>
            <a:pPr algn="ctr" indent="0" marL="0">
              <a:buNone/>
            </a:pPr>
            <a:r>
              <a:rPr lang="en-US" sz="740" b="1" dirty="0">
                <a:solidFill>
                  <a:srgbClr val="000000"/>
                </a:solidFill>
                <a:latin typeface="Arial" pitchFamily="34" charset="0"/>
                <a:ea typeface="Arial" pitchFamily="34" charset="-122"/>
                <a:cs typeface="Arial" pitchFamily="34" charset="-120"/>
              </a:rPr>
              <a:t>Other products identified in Phase 1 mapping</a:t>
            </a:r>
            <a:endParaRPr lang="en-US" sz="740" dirty="0"/>
          </a:p>
        </p:txBody>
      </p:sp>
      <p:sp>
        <p:nvSpPr>
          <p:cNvPr id="106" name="Shape 103"/>
          <p:cNvSpPr/>
          <p:nvPr/>
        </p:nvSpPr>
        <p:spPr>
          <a:xfrm>
            <a:off x="4466191" y="5769864"/>
            <a:ext cx="0" cy="292608"/>
          </a:xfrm>
          <a:prstGeom prst="line">
            <a:avLst/>
          </a:prstGeom>
          <a:noFill/>
          <a:ln w="15875">
            <a:solidFill>
              <a:srgbClr val="C62026"/>
            </a:solidFill>
            <a:prstDash val="dash"/>
            <a:headEnd type="triangle"/>
          </a:ln>
        </p:spPr>
      </p:sp>
      <p:sp>
        <p:nvSpPr>
          <p:cNvPr id="107" name="Text 104"/>
          <p:cNvSpPr/>
          <p:nvPr/>
        </p:nvSpPr>
        <p:spPr>
          <a:xfrm>
            <a:off x="411480" y="6519672"/>
            <a:ext cx="7040880" cy="137160"/>
          </a:xfrm>
          <a:prstGeom prst="rect">
            <a:avLst/>
          </a:prstGeom>
          <a:noFill/>
          <a:ln/>
        </p:spPr>
        <p:txBody>
          <a:bodyPr wrap="square" lIns="0" tIns="0" rIns="0" bIns="0" rtlCol="0" anchor="ctr"/>
          <a:lstStyle/>
          <a:p>
            <a:pPr algn="l" indent="0" marL="0">
              <a:buNone/>
            </a:pPr>
            <a:r>
              <a:rPr lang="en-US" sz="680" i="1" dirty="0">
                <a:solidFill>
                  <a:srgbClr val="000000"/>
                </a:solidFill>
                <a:latin typeface="Arial" pitchFamily="34" charset="0"/>
                <a:ea typeface="Arial" pitchFamily="34" charset="-122"/>
                <a:cs typeface="Arial" pitchFamily="34" charset="-120"/>
              </a:rPr>
              <a:t>COGCON develops selected elements of Performance Under Pressure — not a complete Combat Mindset programme or a validated operational-readiness measure.</a:t>
            </a:r>
            <a:endParaRPr lang="en-US" sz="680" dirty="0"/>
          </a:p>
        </p:txBody>
      </p:sp>
      <p:sp>
        <p:nvSpPr>
          <p:cNvPr id="108" name="Text 105"/>
          <p:cNvSpPr/>
          <p:nvPr/>
        </p:nvSpPr>
        <p:spPr>
          <a:xfrm>
            <a:off x="7498080" y="6519672"/>
            <a:ext cx="4288536" cy="137160"/>
          </a:xfrm>
          <a:prstGeom prst="rect">
            <a:avLst/>
          </a:prstGeom>
          <a:noFill/>
          <a:ln/>
        </p:spPr>
        <p:txBody>
          <a:bodyPr wrap="square" lIns="0" tIns="0" rIns="0" bIns="0" rtlCol="0" anchor="ctr"/>
          <a:lstStyle/>
          <a:p>
            <a:pPr algn="r" indent="0" marL="0">
              <a:buNone/>
            </a:pPr>
            <a:r>
              <a:rPr lang="en-US" sz="680" b="1" dirty="0">
                <a:solidFill>
                  <a:srgbClr val="002516"/>
                </a:solidFill>
                <a:latin typeface="Arial" pitchFamily="34" charset="0"/>
                <a:ea typeface="Arial" pitchFamily="34" charset="-122"/>
                <a:cs typeface="Arial" pitchFamily="34" charset="-120"/>
              </a:rPr>
              <a:t>Prepare → Perform → Recover   ·   Lead Self → Lead Teams → Lead Leaders → Lead Systems</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2026-07-22T22:13:50Z</dcterms:created>
  <dcterms:modified xsi:type="dcterms:W3CDTF">2026-07-22T22:13:50Z</dcterms:modified>
</cp:coreProperties>
</file>