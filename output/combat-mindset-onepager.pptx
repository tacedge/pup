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p:spPr>
      </p:sp>
      <p:sp>
        <p:nvSpPr>
          <p:cNvPr id="3" name="Text 1"/>
          <p:cNvSpPr/>
          <p:nvPr/>
        </p:nvSpPr>
        <p:spPr>
          <a:xfrm>
            <a:off x="0" y="0"/>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4" name="Shape 2"/>
          <p:cNvSpPr/>
          <p:nvPr/>
        </p:nvSpPr>
        <p:spPr>
          <a:xfrm>
            <a:off x="0" y="6693408"/>
            <a:ext cx="12191695" cy="164592"/>
          </a:xfrm>
          <a:prstGeom prst="rect">
            <a:avLst/>
          </a:prstGeom>
          <a:solidFill>
            <a:srgbClr val="000000"/>
          </a:solidFill>
          <a:ln/>
        </p:spPr>
      </p:sp>
      <p:sp>
        <p:nvSpPr>
          <p:cNvPr id="5" name="Text 3"/>
          <p:cNvSpPr/>
          <p:nvPr/>
        </p:nvSpPr>
        <p:spPr>
          <a:xfrm>
            <a:off x="0" y="6693408"/>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6" name="Text 4"/>
          <p:cNvSpPr/>
          <p:nvPr/>
        </p:nvSpPr>
        <p:spPr>
          <a:xfrm>
            <a:off x="411480" y="6693408"/>
            <a:ext cx="5852160" cy="164592"/>
          </a:xfrm>
          <a:prstGeom prst="rect">
            <a:avLst/>
          </a:prstGeom>
          <a:noFill/>
          <a:ln/>
        </p:spPr>
        <p:txBody>
          <a:bodyPr wrap="square" lIns="0" tIns="0" rIns="0" bIns="0" rtlCol="0" anchor="ctr"/>
          <a:lstStyle/>
          <a:p>
            <a:pPr algn="l" indent="0" marL="0">
              <a:buNone/>
            </a:pPr>
            <a:r>
              <a:rPr lang="en-US" sz="650" dirty="0">
                <a:solidFill>
                  <a:srgbClr val="CDD2B7"/>
                </a:solidFill>
                <a:latin typeface="Arial" pitchFamily="34" charset="0"/>
                <a:ea typeface="Arial" pitchFamily="34" charset="-122"/>
                <a:cs typeface="Arial" pitchFamily="34" charset="-120"/>
              </a:rPr>
              <a:t>Army Command School   ·   ACS 2026   ·   Draft v0.5   ·   July 2026</a:t>
            </a:r>
            <a:endParaRPr lang="en-US" sz="650" dirty="0"/>
          </a:p>
        </p:txBody>
      </p:sp>
      <p:sp>
        <p:nvSpPr>
          <p:cNvPr id="7" name="Text 5"/>
          <p:cNvSpPr/>
          <p:nvPr/>
        </p:nvSpPr>
        <p:spPr>
          <a:xfrm>
            <a:off x="9418320" y="6693408"/>
            <a:ext cx="2368296" cy="164592"/>
          </a:xfrm>
          <a:prstGeom prst="rect">
            <a:avLst/>
          </a:prstGeom>
          <a:noFill/>
          <a:ln/>
        </p:spPr>
        <p:txBody>
          <a:bodyPr wrap="square" lIns="0" tIns="0" rIns="0" bIns="0" rtlCol="0" anchor="ctr"/>
          <a:lstStyle/>
          <a:p>
            <a:pPr algn="r" indent="0" marL="0">
              <a:buNone/>
            </a:pPr>
            <a:endParaRPr lang="en-US" sz="65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11480" y="301752"/>
            <a:ext cx="1207008" cy="291694"/>
          </a:xfrm>
          <a:prstGeom prst="rect">
            <a:avLst/>
          </a:prstGeom>
        </p:spPr>
      </p:pic>
      <p:sp>
        <p:nvSpPr>
          <p:cNvPr id="9" name="Text 6"/>
          <p:cNvSpPr/>
          <p:nvPr/>
        </p:nvSpPr>
        <p:spPr>
          <a:xfrm>
            <a:off x="1847088" y="237744"/>
            <a:ext cx="6766560" cy="365760"/>
          </a:xfrm>
          <a:prstGeom prst="rect">
            <a:avLst/>
          </a:prstGeom>
          <a:noFill/>
          <a:ln/>
        </p:spPr>
        <p:txBody>
          <a:bodyPr wrap="square" lIns="0" tIns="0" rIns="0" bIns="0" rtlCol="0" anchor="ctr"/>
          <a:lstStyle/>
          <a:p>
            <a:pPr algn="l" indent="0" marL="0">
              <a:buNone/>
            </a:pPr>
            <a:r>
              <a:rPr lang="en-US" sz="2200" b="1" dirty="0">
                <a:solidFill>
                  <a:srgbClr val="000000"/>
                </a:solidFill>
                <a:latin typeface="Arial" pitchFamily="34" charset="0"/>
                <a:ea typeface="Arial" pitchFamily="34" charset="-122"/>
                <a:cs typeface="Arial" pitchFamily="34" charset="-120"/>
              </a:rPr>
              <a:t>COMBAT MINDSET — THE WAY FORWARD</a:t>
            </a:r>
            <a:endParaRPr lang="en-US" sz="2200" dirty="0"/>
          </a:p>
        </p:txBody>
      </p:sp>
      <p:sp>
        <p:nvSpPr>
          <p:cNvPr id="10" name="Text 7"/>
          <p:cNvSpPr/>
          <p:nvPr/>
        </p:nvSpPr>
        <p:spPr>
          <a:xfrm>
            <a:off x="1847088" y="603504"/>
            <a:ext cx="6949440" cy="201168"/>
          </a:xfrm>
          <a:prstGeom prst="rect">
            <a:avLst/>
          </a:prstGeom>
          <a:noFill/>
          <a:ln/>
        </p:spPr>
        <p:txBody>
          <a:bodyPr wrap="square" lIns="0" tIns="0" rIns="0" bIns="0" rtlCol="0" anchor="ctr"/>
          <a:lstStyle/>
          <a:p>
            <a:pPr algn="l" indent="0" marL="0">
              <a:buNone/>
            </a:pPr>
            <a:r>
              <a:rPr lang="en-US" sz="95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950" dirty="0"/>
          </a:p>
        </p:txBody>
      </p:sp>
      <p:sp>
        <p:nvSpPr>
          <p:cNvPr id="11" name="Text 8"/>
          <p:cNvSpPr/>
          <p:nvPr/>
        </p:nvSpPr>
        <p:spPr>
          <a:xfrm>
            <a:off x="8961120" y="256032"/>
            <a:ext cx="2825496" cy="256032"/>
          </a:xfrm>
          <a:prstGeom prst="rect">
            <a:avLst/>
          </a:prstGeom>
          <a:noFill/>
          <a:ln/>
        </p:spPr>
        <p:txBody>
          <a:bodyPr wrap="square" lIns="0" tIns="0" rIns="0" bIns="0" rtlCol="0" anchor="ctr"/>
          <a:lstStyle/>
          <a:p>
            <a:pPr algn="r" indent="0" marL="0">
              <a:buNone/>
            </a:pPr>
            <a:r>
              <a:rPr lang="en-US" sz="1500" b="1" spc="300" kern="0" dirty="0">
                <a:solidFill>
                  <a:srgbClr val="C62026"/>
                </a:solidFill>
                <a:latin typeface="Arial" pitchFamily="34" charset="0"/>
                <a:ea typeface="Arial" pitchFamily="34" charset="-122"/>
                <a:cs typeface="Arial" pitchFamily="34" charset="-120"/>
              </a:rPr>
              <a:t>HARDER TO KILL</a:t>
            </a:r>
            <a:endParaRPr lang="en-US" sz="1500" dirty="0"/>
          </a:p>
        </p:txBody>
      </p:sp>
      <p:sp>
        <p:nvSpPr>
          <p:cNvPr id="12" name="Text 9"/>
          <p:cNvSpPr/>
          <p:nvPr/>
        </p:nvSpPr>
        <p:spPr>
          <a:xfrm>
            <a:off x="8229600" y="521208"/>
            <a:ext cx="3557016" cy="164592"/>
          </a:xfrm>
          <a:prstGeom prst="rect">
            <a:avLst/>
          </a:prstGeom>
          <a:noFill/>
          <a:ln/>
        </p:spPr>
        <p:txBody>
          <a:bodyPr wrap="square" lIns="0" tIns="0" rIns="0" bIns="0" rtlCol="0" anchor="ctr"/>
          <a:lstStyle/>
          <a:p>
            <a:pPr algn="r" indent="0" marL="0">
              <a:buNone/>
            </a:pPr>
            <a:r>
              <a:rPr lang="en-US" sz="750" dirty="0">
                <a:solidFill>
                  <a:srgbClr val="000000"/>
                </a:solidFill>
                <a:latin typeface="Arial" pitchFamily="34" charset="0"/>
                <a:ea typeface="Arial" pitchFamily="34" charset="-122"/>
                <a:cs typeface="Arial" pitchFamily="34" charset="-120"/>
              </a:rPr>
              <a:t>Proposed Warfighter Focus tagline — subject to sponsor endorsement</a:t>
            </a:r>
            <a:endParaRPr lang="en-US" sz="750" dirty="0"/>
          </a:p>
        </p:txBody>
      </p:sp>
      <p:sp>
        <p:nvSpPr>
          <p:cNvPr id="13" name="Shape 10"/>
          <p:cNvSpPr/>
          <p:nvPr/>
        </p:nvSpPr>
        <p:spPr>
          <a:xfrm>
            <a:off x="411480" y="932688"/>
            <a:ext cx="6949440" cy="566928"/>
          </a:xfrm>
          <a:prstGeom prst="rect">
            <a:avLst/>
          </a:prstGeom>
          <a:solidFill>
            <a:srgbClr val="000000"/>
          </a:solidFill>
          <a:ln/>
        </p:spPr>
      </p:sp>
      <p:sp>
        <p:nvSpPr>
          <p:cNvPr id="14" name="Text 11"/>
          <p:cNvSpPr/>
          <p:nvPr/>
        </p:nvSpPr>
        <p:spPr>
          <a:xfrm>
            <a:off x="576072" y="978408"/>
            <a:ext cx="6620256" cy="182880"/>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WARFIGHTING IMPERATIVE</a:t>
            </a:r>
            <a:endParaRPr lang="en-US" sz="1250" dirty="0"/>
          </a:p>
        </p:txBody>
      </p:sp>
      <p:sp>
        <p:nvSpPr>
          <p:cNvPr id="15" name="Text 12"/>
          <p:cNvSpPr/>
          <p:nvPr/>
        </p:nvSpPr>
        <p:spPr>
          <a:xfrm>
            <a:off x="576072" y="1170432"/>
            <a:ext cx="6620256" cy="292608"/>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900" dirty="0"/>
          </a:p>
        </p:txBody>
      </p:sp>
      <p:sp>
        <p:nvSpPr>
          <p:cNvPr id="16" name="Shape 13"/>
          <p:cNvSpPr/>
          <p:nvPr/>
        </p:nvSpPr>
        <p:spPr>
          <a:xfrm rot="10800000">
            <a:off x="3822192" y="1545336"/>
            <a:ext cx="128016" cy="91440"/>
          </a:xfrm>
          <a:prstGeom prst="triangle">
            <a:avLst/>
          </a:prstGeom>
          <a:solidFill>
            <a:srgbClr val="C62026"/>
          </a:solidFill>
          <a:ln/>
        </p:spPr>
      </p:sp>
      <p:sp>
        <p:nvSpPr>
          <p:cNvPr id="17" name="Shape 14"/>
          <p:cNvSpPr/>
          <p:nvPr/>
        </p:nvSpPr>
        <p:spPr>
          <a:xfrm>
            <a:off x="411480" y="1682496"/>
            <a:ext cx="6949440" cy="713232"/>
          </a:xfrm>
          <a:prstGeom prst="rect">
            <a:avLst/>
          </a:prstGeom>
          <a:solidFill>
            <a:srgbClr val="C62026"/>
          </a:solidFill>
          <a:ln/>
        </p:spPr>
      </p:sp>
      <p:sp>
        <p:nvSpPr>
          <p:cNvPr id="18" name="Text 15"/>
          <p:cNvSpPr/>
          <p:nvPr/>
        </p:nvSpPr>
        <p:spPr>
          <a:xfrm>
            <a:off x="576072" y="1728216"/>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COMBAT MINDSET</a:t>
            </a:r>
            <a:endParaRPr lang="en-US" sz="1250" dirty="0"/>
          </a:p>
        </p:txBody>
      </p:sp>
      <p:sp>
        <p:nvSpPr>
          <p:cNvPr id="19" name="Text 16"/>
          <p:cNvSpPr/>
          <p:nvPr/>
        </p:nvSpPr>
        <p:spPr>
          <a:xfrm>
            <a:off x="3840480" y="1746504"/>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Text 17"/>
          <p:cNvSpPr/>
          <p:nvPr/>
        </p:nvSpPr>
        <p:spPr>
          <a:xfrm>
            <a:off x="576072" y="1956816"/>
            <a:ext cx="6620256" cy="40233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900" dirty="0"/>
          </a:p>
        </p:txBody>
      </p:sp>
      <p:sp>
        <p:nvSpPr>
          <p:cNvPr id="21" name="Shape 18"/>
          <p:cNvSpPr/>
          <p:nvPr/>
        </p:nvSpPr>
        <p:spPr>
          <a:xfrm rot="10800000">
            <a:off x="3822192" y="2459736"/>
            <a:ext cx="128016" cy="91440"/>
          </a:xfrm>
          <a:prstGeom prst="triangle">
            <a:avLst/>
          </a:prstGeom>
          <a:solidFill>
            <a:srgbClr val="002516"/>
          </a:solidFill>
          <a:ln/>
        </p:spPr>
      </p:sp>
      <p:sp>
        <p:nvSpPr>
          <p:cNvPr id="22" name="Text 19"/>
          <p:cNvSpPr/>
          <p:nvPr/>
        </p:nvSpPr>
        <p:spPr>
          <a:xfrm>
            <a:off x="4014216" y="2432304"/>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enabled by</a:t>
            </a:r>
            <a:endParaRPr lang="en-US" sz="850" dirty="0"/>
          </a:p>
        </p:txBody>
      </p:sp>
      <p:sp>
        <p:nvSpPr>
          <p:cNvPr id="23" name="Shape 20"/>
          <p:cNvSpPr/>
          <p:nvPr/>
        </p:nvSpPr>
        <p:spPr>
          <a:xfrm>
            <a:off x="411480" y="2615184"/>
            <a:ext cx="6949440" cy="1078992"/>
          </a:xfrm>
          <a:prstGeom prst="rect">
            <a:avLst/>
          </a:prstGeom>
          <a:solidFill>
            <a:srgbClr val="002516"/>
          </a:solidFill>
          <a:ln/>
        </p:spPr>
      </p:sp>
      <p:sp>
        <p:nvSpPr>
          <p:cNvPr id="24" name="Text 21"/>
          <p:cNvSpPr/>
          <p:nvPr/>
        </p:nvSpPr>
        <p:spPr>
          <a:xfrm>
            <a:off x="576072" y="2660904"/>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PERFORMANCE UNDER PRESSURE</a:t>
            </a:r>
            <a:endParaRPr lang="en-US" sz="1250" dirty="0"/>
          </a:p>
        </p:txBody>
      </p:sp>
      <p:sp>
        <p:nvSpPr>
          <p:cNvPr id="25" name="Text 22"/>
          <p:cNvSpPr/>
          <p:nvPr/>
        </p:nvSpPr>
        <p:spPr>
          <a:xfrm>
            <a:off x="3840480" y="2679192"/>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6" name="Text 23"/>
          <p:cNvSpPr/>
          <p:nvPr/>
        </p:nvSpPr>
        <p:spPr>
          <a:xfrm>
            <a:off x="576072" y="2889504"/>
            <a:ext cx="6620256" cy="76809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trainable individual and collective human-performance capability to prepare for, maintain effective performance through, adapt within and recover from pressure.</a:t>
            </a:r>
            <a:endParaRPr lang="en-US" sz="900" dirty="0"/>
          </a:p>
        </p:txBody>
      </p:sp>
      <p:sp>
        <p:nvSpPr>
          <p:cNvPr id="27" name="Shape 24"/>
          <p:cNvSpPr/>
          <p:nvPr/>
        </p:nvSpPr>
        <p:spPr>
          <a:xfrm>
            <a:off x="576072" y="3246120"/>
            <a:ext cx="1078992" cy="192024"/>
          </a:xfrm>
          <a:prstGeom prst="rect">
            <a:avLst/>
          </a:prstGeom>
          <a:solidFill>
            <a:srgbClr val="CDD2B7"/>
          </a:solidFill>
          <a:ln/>
        </p:spPr>
      </p:sp>
      <p:sp>
        <p:nvSpPr>
          <p:cNvPr id="28" name="Text 25"/>
          <p:cNvSpPr/>
          <p:nvPr/>
        </p:nvSpPr>
        <p:spPr>
          <a:xfrm>
            <a:off x="57607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PREPARE</a:t>
            </a:r>
            <a:endParaRPr lang="en-US" sz="800" dirty="0"/>
          </a:p>
        </p:txBody>
      </p:sp>
      <p:sp>
        <p:nvSpPr>
          <p:cNvPr id="29" name="Shape 26"/>
          <p:cNvSpPr/>
          <p:nvPr/>
        </p:nvSpPr>
        <p:spPr>
          <a:xfrm>
            <a:off x="1764792" y="3246120"/>
            <a:ext cx="1078992" cy="192024"/>
          </a:xfrm>
          <a:prstGeom prst="rect">
            <a:avLst/>
          </a:prstGeom>
          <a:solidFill>
            <a:srgbClr val="CDD2B7"/>
          </a:solidFill>
          <a:ln/>
        </p:spPr>
      </p:sp>
      <p:sp>
        <p:nvSpPr>
          <p:cNvPr id="30" name="Text 27"/>
          <p:cNvSpPr/>
          <p:nvPr/>
        </p:nvSpPr>
        <p:spPr>
          <a:xfrm>
            <a:off x="176479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PERFORM</a:t>
            </a:r>
            <a:endParaRPr lang="en-US" sz="800" dirty="0"/>
          </a:p>
        </p:txBody>
      </p:sp>
      <p:sp>
        <p:nvSpPr>
          <p:cNvPr id="31" name="Shape 28"/>
          <p:cNvSpPr/>
          <p:nvPr/>
        </p:nvSpPr>
        <p:spPr>
          <a:xfrm>
            <a:off x="2953512" y="3246120"/>
            <a:ext cx="1078992" cy="192024"/>
          </a:xfrm>
          <a:prstGeom prst="rect">
            <a:avLst/>
          </a:prstGeom>
          <a:solidFill>
            <a:srgbClr val="CDD2B7"/>
          </a:solidFill>
          <a:ln/>
        </p:spPr>
      </p:sp>
      <p:sp>
        <p:nvSpPr>
          <p:cNvPr id="32" name="Text 29"/>
          <p:cNvSpPr/>
          <p:nvPr/>
        </p:nvSpPr>
        <p:spPr>
          <a:xfrm>
            <a:off x="295351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ADAPT</a:t>
            </a:r>
            <a:endParaRPr lang="en-US" sz="800" dirty="0"/>
          </a:p>
        </p:txBody>
      </p:sp>
      <p:sp>
        <p:nvSpPr>
          <p:cNvPr id="33" name="Shape 30"/>
          <p:cNvSpPr/>
          <p:nvPr/>
        </p:nvSpPr>
        <p:spPr>
          <a:xfrm>
            <a:off x="4142232" y="3246120"/>
            <a:ext cx="1078992" cy="192024"/>
          </a:xfrm>
          <a:prstGeom prst="rect">
            <a:avLst/>
          </a:prstGeom>
          <a:solidFill>
            <a:srgbClr val="CDD2B7"/>
          </a:solidFill>
          <a:ln/>
        </p:spPr>
      </p:sp>
      <p:sp>
        <p:nvSpPr>
          <p:cNvPr id="34" name="Text 31"/>
          <p:cNvSpPr/>
          <p:nvPr/>
        </p:nvSpPr>
        <p:spPr>
          <a:xfrm>
            <a:off x="414223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RECOVER</a:t>
            </a:r>
            <a:endParaRPr lang="en-US" sz="800" dirty="0"/>
          </a:p>
        </p:txBody>
      </p:sp>
      <p:sp>
        <p:nvSpPr>
          <p:cNvPr id="35" name="Text 32"/>
          <p:cNvSpPr/>
          <p:nvPr/>
        </p:nvSpPr>
        <p:spPr>
          <a:xfrm>
            <a:off x="576072" y="3474720"/>
            <a:ext cx="6620256" cy="164592"/>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3"/>
          <p:cNvSpPr/>
          <p:nvPr/>
        </p:nvSpPr>
        <p:spPr>
          <a:xfrm rot="10800000">
            <a:off x="3822192" y="3758184"/>
            <a:ext cx="128016" cy="91440"/>
          </a:xfrm>
          <a:prstGeom prst="triangle">
            <a:avLst/>
          </a:prstGeom>
          <a:solidFill>
            <a:srgbClr val="3A4B00"/>
          </a:solidFill>
          <a:ln/>
        </p:spPr>
      </p:sp>
      <p:sp>
        <p:nvSpPr>
          <p:cNvPr id="37" name="Text 34"/>
          <p:cNvSpPr/>
          <p:nvPr/>
        </p:nvSpPr>
        <p:spPr>
          <a:xfrm>
            <a:off x="4014216" y="3730752"/>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developed and organised through</a:t>
            </a:r>
            <a:endParaRPr lang="en-US" sz="850" dirty="0"/>
          </a:p>
        </p:txBody>
      </p:sp>
      <p:sp>
        <p:nvSpPr>
          <p:cNvPr id="38" name="Shape 35"/>
          <p:cNvSpPr/>
          <p:nvPr/>
        </p:nvSpPr>
        <p:spPr>
          <a:xfrm>
            <a:off x="411480" y="3913632"/>
            <a:ext cx="6949440" cy="978408"/>
          </a:xfrm>
          <a:prstGeom prst="rect">
            <a:avLst/>
          </a:prstGeom>
          <a:solidFill>
            <a:srgbClr val="3A4B00"/>
          </a:solidFill>
          <a:ln/>
        </p:spPr>
      </p:sp>
      <p:sp>
        <p:nvSpPr>
          <p:cNvPr id="39" name="Text 36"/>
          <p:cNvSpPr/>
          <p:nvPr/>
        </p:nvSpPr>
        <p:spPr>
          <a:xfrm>
            <a:off x="576072" y="3959352"/>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ARMY COMBAT MINDSET FRAMEWORK</a:t>
            </a:r>
            <a:endParaRPr lang="en-US" sz="1250" dirty="0"/>
          </a:p>
        </p:txBody>
      </p:sp>
      <p:sp>
        <p:nvSpPr>
          <p:cNvPr id="40" name="Text 37"/>
          <p:cNvSpPr/>
          <p:nvPr/>
        </p:nvSpPr>
        <p:spPr>
          <a:xfrm>
            <a:off x="3840480" y="3977640"/>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ORGANISING MODEL</a:t>
            </a:r>
            <a:endParaRPr lang="en-US" sz="750" dirty="0"/>
          </a:p>
        </p:txBody>
      </p:sp>
      <p:sp>
        <p:nvSpPr>
          <p:cNvPr id="41" name="Text 38"/>
          <p:cNvSpPr/>
          <p:nvPr/>
        </p:nvSpPr>
        <p:spPr>
          <a:xfrm>
            <a:off x="576072" y="4187952"/>
            <a:ext cx="6620256" cy="667512"/>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organising model through which Army defines, develops, integrates and assures the capabilities, products and governance arrangements that enable Combat Mindset.</a:t>
            </a:r>
            <a:endParaRPr lang="en-US" sz="900" dirty="0"/>
          </a:p>
        </p:txBody>
      </p:sp>
      <p:sp>
        <p:nvSpPr>
          <p:cNvPr id="42" name="Text 39"/>
          <p:cNvSpPr/>
          <p:nvPr/>
        </p:nvSpPr>
        <p:spPr>
          <a:xfrm>
            <a:off x="576072" y="4626864"/>
            <a:ext cx="6620256" cy="219456"/>
          </a:xfrm>
          <a:prstGeom prst="rect">
            <a:avLst/>
          </a:prstGeom>
          <a:noFill/>
          <a:ln/>
        </p:spPr>
        <p:txBody>
          <a:bodyPr wrap="square" lIns="0" tIns="0" rIns="0" bIns="0" rtlCol="0" anchor="t"/>
          <a:lstStyle/>
          <a:p>
            <a:pPr algn="l" indent="0" marL="0">
              <a:buNone/>
            </a:pPr>
            <a:r>
              <a:rPr lang="en-US" sz="750" i="1" dirty="0">
                <a:solidFill>
                  <a:srgbClr val="CDD2B7"/>
                </a:solidFill>
                <a:latin typeface="Arial" pitchFamily="34" charset="0"/>
                <a:ea typeface="Arial" pitchFamily="34" charset="-122"/>
                <a:cs typeface="Arial" pitchFamily="34" charset="-120"/>
              </a:rPr>
              <a:t>Organises:  definitions  ·  desired outcomes  ·  capability pillars  ·  developmental progression  ·  products and methods  ·  delivery  ·  governance  ·  evidence  ·  assurance</a:t>
            </a:r>
            <a:endParaRPr lang="en-US" sz="750" dirty="0"/>
          </a:p>
        </p:txBody>
      </p:sp>
      <p:sp>
        <p:nvSpPr>
          <p:cNvPr id="43" name="Shape 40"/>
          <p:cNvSpPr/>
          <p:nvPr/>
        </p:nvSpPr>
        <p:spPr>
          <a:xfrm rot="10800000">
            <a:off x="3822192" y="4956048"/>
            <a:ext cx="128016" cy="91440"/>
          </a:xfrm>
          <a:prstGeom prst="triangle">
            <a:avLst/>
          </a:prstGeom>
          <a:solidFill>
            <a:srgbClr val="002516"/>
          </a:solidFill>
          <a:ln/>
        </p:spPr>
      </p:sp>
      <p:sp>
        <p:nvSpPr>
          <p:cNvPr id="44" name="Text 41"/>
          <p:cNvSpPr/>
          <p:nvPr/>
        </p:nvSpPr>
        <p:spPr>
          <a:xfrm>
            <a:off x="4014216" y="4928616"/>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delivered through</a:t>
            </a:r>
            <a:endParaRPr lang="en-US" sz="850" dirty="0"/>
          </a:p>
        </p:txBody>
      </p:sp>
      <p:sp>
        <p:nvSpPr>
          <p:cNvPr id="45" name="Shape 42"/>
          <p:cNvSpPr/>
          <p:nvPr/>
        </p:nvSpPr>
        <p:spPr>
          <a:xfrm>
            <a:off x="7589520" y="932688"/>
            <a:ext cx="4197096" cy="219456"/>
          </a:xfrm>
          <a:prstGeom prst="rect">
            <a:avLst/>
          </a:prstGeom>
          <a:solidFill>
            <a:srgbClr val="002516"/>
          </a:solidFill>
          <a:ln/>
        </p:spPr>
      </p:sp>
      <p:sp>
        <p:nvSpPr>
          <p:cNvPr id="46" name="Text 43"/>
          <p:cNvSpPr/>
          <p:nvPr/>
        </p:nvSpPr>
        <p:spPr>
          <a:xfrm>
            <a:off x="7699248" y="932688"/>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GOVERNANCE AND ASSURANCE — INTERIM MODEL</a:t>
            </a:r>
            <a:endParaRPr lang="en-US" sz="900" dirty="0"/>
          </a:p>
        </p:txBody>
      </p:sp>
      <p:sp>
        <p:nvSpPr>
          <p:cNvPr id="47" name="Shape 44"/>
          <p:cNvSpPr/>
          <p:nvPr/>
        </p:nvSpPr>
        <p:spPr>
          <a:xfrm>
            <a:off x="7589520" y="1152144"/>
            <a:ext cx="4197096" cy="1947672"/>
          </a:xfrm>
          <a:prstGeom prst="rect">
            <a:avLst/>
          </a:prstGeom>
          <a:solidFill>
            <a:srgbClr val="FFFFFF"/>
          </a:solidFill>
          <a:ln w="9525">
            <a:solidFill>
              <a:srgbClr val="A89662"/>
            </a:solidFill>
            <a:prstDash val="solid"/>
          </a:ln>
        </p:spPr>
      </p:sp>
      <p:sp>
        <p:nvSpPr>
          <p:cNvPr id="48" name="Text 45"/>
          <p:cNvSpPr/>
          <p:nvPr/>
        </p:nvSpPr>
        <p:spPr>
          <a:xfrm>
            <a:off x="7699248" y="120700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Army Sponsor</a:t>
            </a:r>
            <a:pPr algn="l" indent="0" marL="0">
              <a:buNone/>
            </a:pPr>
            <a:r>
              <a:rPr lang="en-US" sz="800" dirty="0">
                <a:solidFill>
                  <a:srgbClr val="000000"/>
                </a:solidFill>
                <a:latin typeface="Arial" pitchFamily="34" charset="0"/>
                <a:ea typeface="Arial" pitchFamily="34" charset="-122"/>
                <a:cs typeface="Arial" pitchFamily="34" charset="-120"/>
              </a:rPr>
              <a:t>  —  Strategic sponsorship and policy direction</a:t>
            </a:r>
            <a:endParaRPr lang="en-US" sz="800" dirty="0"/>
          </a:p>
        </p:txBody>
      </p:sp>
      <p:sp>
        <p:nvSpPr>
          <p:cNvPr id="49" name="Text 46"/>
          <p:cNvSpPr/>
          <p:nvPr/>
        </p:nvSpPr>
        <p:spPr>
          <a:xfrm>
            <a:off x="7699248" y="147675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COMDT ACS</a:t>
            </a:r>
            <a:pPr algn="l" indent="0" marL="0">
              <a:buNone/>
            </a:pPr>
            <a:r>
              <a:rPr lang="en-US" sz="800" dirty="0">
                <a:solidFill>
                  <a:srgbClr val="000000"/>
                </a:solidFill>
                <a:latin typeface="Arial" pitchFamily="34" charset="0"/>
                <a:ea typeface="Arial" pitchFamily="34" charset="-122"/>
                <a:cs typeface="Arial" pitchFamily="34" charset="-120"/>
              </a:rPr>
              <a:t>  —  Interim capability integrator</a:t>
            </a:r>
            <a:endParaRPr lang="en-US" sz="800" dirty="0"/>
          </a:p>
        </p:txBody>
      </p:sp>
      <p:sp>
        <p:nvSpPr>
          <p:cNvPr id="50" name="Text 47"/>
          <p:cNvSpPr/>
          <p:nvPr/>
        </p:nvSpPr>
        <p:spPr>
          <a:xfrm>
            <a:off x="7699248" y="1746504"/>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ACS</a:t>
            </a:r>
            <a:pPr algn="l" indent="0" marL="0">
              <a:buNone/>
            </a:pPr>
            <a:r>
              <a:rPr lang="en-US" sz="800" dirty="0">
                <a:solidFill>
                  <a:srgbClr val="000000"/>
                </a:solidFill>
                <a:latin typeface="Arial" pitchFamily="34" charset="0"/>
                <a:ea typeface="Arial" pitchFamily="34" charset="-122"/>
                <a:cs typeface="Arial" pitchFamily="34" charset="-120"/>
              </a:rPr>
              <a:t>  —  Framework development and delivery coordination</a:t>
            </a:r>
            <a:endParaRPr lang="en-US" sz="800" dirty="0"/>
          </a:p>
        </p:txBody>
      </p:sp>
      <p:sp>
        <p:nvSpPr>
          <p:cNvPr id="51" name="Text 48"/>
          <p:cNvSpPr/>
          <p:nvPr/>
        </p:nvSpPr>
        <p:spPr>
          <a:xfrm>
            <a:off x="7699248" y="2016252"/>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Human Performance Cell</a:t>
            </a:r>
            <a:pPr algn="l" indent="0" marL="0">
              <a:buNone/>
            </a:pPr>
            <a:r>
              <a:rPr lang="en-US" sz="800" dirty="0">
                <a:solidFill>
                  <a:srgbClr val="000000"/>
                </a:solidFill>
                <a:latin typeface="Arial" pitchFamily="34" charset="0"/>
                <a:ea typeface="Arial" pitchFamily="34" charset="-122"/>
                <a:cs typeface="Arial" pitchFamily="34" charset="-120"/>
              </a:rPr>
              <a:t>  —  COGCON product steward; performance-cognition adviser</a:t>
            </a:r>
            <a:endParaRPr lang="en-US" sz="800" dirty="0"/>
          </a:p>
        </p:txBody>
      </p:sp>
      <p:sp>
        <p:nvSpPr>
          <p:cNvPr id="52" name="Text 49"/>
          <p:cNvSpPr/>
          <p:nvPr/>
        </p:nvSpPr>
        <p:spPr>
          <a:xfrm>
            <a:off x="7699248" y="2286000"/>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Domain advisers</a:t>
            </a:r>
            <a:pPr algn="l" indent="0" marL="0">
              <a:buNone/>
            </a:pPr>
            <a:r>
              <a:rPr lang="en-US" sz="800" dirty="0">
                <a:solidFill>
                  <a:srgbClr val="000000"/>
                </a:solidFill>
                <a:latin typeface="Arial" pitchFamily="34" charset="0"/>
                <a:ea typeface="Arial" pitchFamily="34" charset="-122"/>
                <a:cs typeface="Arial" pitchFamily="34" charset="-120"/>
              </a:rPr>
              <a:t>  —  NZDF Psychology, ILD, doctrine, physical performance</a:t>
            </a:r>
            <a:endParaRPr lang="en-US" sz="800" dirty="0"/>
          </a:p>
        </p:txBody>
      </p:sp>
      <p:sp>
        <p:nvSpPr>
          <p:cNvPr id="53" name="Text 50"/>
          <p:cNvSpPr/>
          <p:nvPr/>
        </p:nvSpPr>
        <p:spPr>
          <a:xfrm>
            <a:off x="7699248" y="255574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Delivery</a:t>
            </a:r>
            <a:pPr algn="l" indent="0" marL="0">
              <a:buNone/>
            </a:pPr>
            <a:r>
              <a:rPr lang="en-US" sz="800" dirty="0">
                <a:solidFill>
                  <a:srgbClr val="000000"/>
                </a:solidFill>
                <a:latin typeface="Arial" pitchFamily="34" charset="0"/>
                <a:ea typeface="Arial" pitchFamily="34" charset="-122"/>
                <a:cs typeface="Arial" pitchFamily="34" charset="-120"/>
              </a:rPr>
              <a:t>  —  Training establishments, units, existing instructors</a:t>
            </a:r>
            <a:endParaRPr lang="en-US" sz="800" dirty="0"/>
          </a:p>
        </p:txBody>
      </p:sp>
      <p:sp>
        <p:nvSpPr>
          <p:cNvPr id="54" name="Text 51"/>
          <p:cNvSpPr/>
          <p:nvPr/>
        </p:nvSpPr>
        <p:spPr>
          <a:xfrm>
            <a:off x="7699248" y="282549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Assurance</a:t>
            </a:r>
            <a:pPr algn="l" indent="0" marL="0">
              <a:buNone/>
            </a:pPr>
            <a:r>
              <a:rPr lang="en-US" sz="800" dirty="0">
                <a:solidFill>
                  <a:srgbClr val="000000"/>
                </a:solidFill>
                <a:latin typeface="Arial" pitchFamily="34" charset="0"/>
                <a:ea typeface="Arial" pitchFamily="34" charset="-122"/>
                <a:cs typeface="Arial" pitchFamily="34" charset="-120"/>
              </a:rPr>
              <a:t>  —  Layered: doctrine, evidence, professional, learning, delivery, operational</a:t>
            </a:r>
            <a:endParaRPr lang="en-US" sz="800" dirty="0"/>
          </a:p>
        </p:txBody>
      </p:sp>
      <p:sp>
        <p:nvSpPr>
          <p:cNvPr id="55" name="Shape 52"/>
          <p:cNvSpPr/>
          <p:nvPr/>
        </p:nvSpPr>
        <p:spPr>
          <a:xfrm>
            <a:off x="7589520" y="3255264"/>
            <a:ext cx="4197096" cy="219456"/>
          </a:xfrm>
          <a:prstGeom prst="rect">
            <a:avLst/>
          </a:prstGeom>
          <a:solidFill>
            <a:srgbClr val="002516"/>
          </a:solidFill>
          <a:ln/>
        </p:spPr>
      </p:sp>
      <p:sp>
        <p:nvSpPr>
          <p:cNvPr id="56" name="Text 53"/>
          <p:cNvSpPr/>
          <p:nvPr/>
        </p:nvSpPr>
        <p:spPr>
          <a:xfrm>
            <a:off x="7699248" y="3255264"/>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PROGRAMME OF WORK — 2026</a:t>
            </a:r>
            <a:endParaRPr lang="en-US" sz="900" dirty="0"/>
          </a:p>
        </p:txBody>
      </p:sp>
      <p:sp>
        <p:nvSpPr>
          <p:cNvPr id="57" name="Shape 54"/>
          <p:cNvSpPr/>
          <p:nvPr/>
        </p:nvSpPr>
        <p:spPr>
          <a:xfrm>
            <a:off x="7589520" y="3474720"/>
            <a:ext cx="4197096" cy="658368"/>
          </a:xfrm>
          <a:prstGeom prst="rect">
            <a:avLst/>
          </a:prstGeom>
          <a:solidFill>
            <a:srgbClr val="FFFFFF"/>
          </a:solidFill>
          <a:ln w="9525">
            <a:solidFill>
              <a:srgbClr val="A89662"/>
            </a:solidFill>
            <a:prstDash val="solid"/>
          </a:ln>
        </p:spPr>
      </p:sp>
      <p:sp>
        <p:nvSpPr>
          <p:cNvPr id="58" name="Shape 55"/>
          <p:cNvSpPr/>
          <p:nvPr/>
        </p:nvSpPr>
        <p:spPr>
          <a:xfrm>
            <a:off x="7699248" y="3566160"/>
            <a:ext cx="758952" cy="219456"/>
          </a:xfrm>
          <a:prstGeom prst="chevron">
            <a:avLst/>
          </a:prstGeom>
          <a:solidFill>
            <a:srgbClr val="3A4B00"/>
          </a:solidFill>
          <a:ln/>
        </p:spPr>
      </p:sp>
      <p:sp>
        <p:nvSpPr>
          <p:cNvPr id="59" name="Text 56"/>
          <p:cNvSpPr/>
          <p:nvPr/>
        </p:nvSpPr>
        <p:spPr>
          <a:xfrm>
            <a:off x="7699248"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DEFINE</a:t>
            </a:r>
            <a:endParaRPr lang="en-US" sz="680" dirty="0"/>
          </a:p>
        </p:txBody>
      </p:sp>
      <p:sp>
        <p:nvSpPr>
          <p:cNvPr id="60" name="Shape 57"/>
          <p:cNvSpPr/>
          <p:nvPr/>
        </p:nvSpPr>
        <p:spPr>
          <a:xfrm>
            <a:off x="8503920" y="3566160"/>
            <a:ext cx="758952" cy="219456"/>
          </a:xfrm>
          <a:prstGeom prst="chevron">
            <a:avLst/>
          </a:prstGeom>
          <a:solidFill>
            <a:srgbClr val="3A4B00"/>
          </a:solidFill>
          <a:ln/>
        </p:spPr>
      </p:sp>
      <p:sp>
        <p:nvSpPr>
          <p:cNvPr id="61" name="Text 58"/>
          <p:cNvSpPr/>
          <p:nvPr/>
        </p:nvSpPr>
        <p:spPr>
          <a:xfrm>
            <a:off x="8503920"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MAP</a:t>
            </a:r>
            <a:endParaRPr lang="en-US" sz="680" dirty="0"/>
          </a:p>
        </p:txBody>
      </p:sp>
      <p:sp>
        <p:nvSpPr>
          <p:cNvPr id="62" name="Shape 59"/>
          <p:cNvSpPr/>
          <p:nvPr/>
        </p:nvSpPr>
        <p:spPr>
          <a:xfrm>
            <a:off x="9308592" y="3566160"/>
            <a:ext cx="758952" cy="219456"/>
          </a:xfrm>
          <a:prstGeom prst="chevron">
            <a:avLst/>
          </a:prstGeom>
          <a:solidFill>
            <a:srgbClr val="3A4B00"/>
          </a:solidFill>
          <a:ln/>
        </p:spPr>
      </p:sp>
      <p:sp>
        <p:nvSpPr>
          <p:cNvPr id="63" name="Text 60"/>
          <p:cNvSpPr/>
          <p:nvPr/>
        </p:nvSpPr>
        <p:spPr>
          <a:xfrm>
            <a:off x="9308592"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DEVELOP</a:t>
            </a:r>
            <a:endParaRPr lang="en-US" sz="680" dirty="0"/>
          </a:p>
        </p:txBody>
      </p:sp>
      <p:sp>
        <p:nvSpPr>
          <p:cNvPr id="64" name="Shape 61"/>
          <p:cNvSpPr/>
          <p:nvPr/>
        </p:nvSpPr>
        <p:spPr>
          <a:xfrm>
            <a:off x="10113264" y="3566160"/>
            <a:ext cx="758952" cy="219456"/>
          </a:xfrm>
          <a:prstGeom prst="chevron">
            <a:avLst/>
          </a:prstGeom>
          <a:solidFill>
            <a:srgbClr val="3A4B00"/>
          </a:solidFill>
          <a:ln/>
        </p:spPr>
      </p:sp>
      <p:sp>
        <p:nvSpPr>
          <p:cNvPr id="65" name="Text 62"/>
          <p:cNvSpPr/>
          <p:nvPr/>
        </p:nvSpPr>
        <p:spPr>
          <a:xfrm>
            <a:off x="10113264"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VALIDATE</a:t>
            </a:r>
            <a:endParaRPr lang="en-US" sz="680" dirty="0"/>
          </a:p>
        </p:txBody>
      </p:sp>
      <p:sp>
        <p:nvSpPr>
          <p:cNvPr id="66" name="Shape 63"/>
          <p:cNvSpPr/>
          <p:nvPr/>
        </p:nvSpPr>
        <p:spPr>
          <a:xfrm>
            <a:off x="10917936" y="3566160"/>
            <a:ext cx="758952" cy="219456"/>
          </a:xfrm>
          <a:prstGeom prst="chevron">
            <a:avLst/>
          </a:prstGeom>
          <a:solidFill>
            <a:srgbClr val="3A4B00"/>
          </a:solidFill>
          <a:ln/>
        </p:spPr>
      </p:sp>
      <p:sp>
        <p:nvSpPr>
          <p:cNvPr id="67" name="Text 64"/>
          <p:cNvSpPr/>
          <p:nvPr/>
        </p:nvSpPr>
        <p:spPr>
          <a:xfrm>
            <a:off x="10917936"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REPORT</a:t>
            </a:r>
            <a:endParaRPr lang="en-US" sz="680" dirty="0"/>
          </a:p>
        </p:txBody>
      </p:sp>
      <p:sp>
        <p:nvSpPr>
          <p:cNvPr id="68" name="Text 65"/>
          <p:cNvSpPr/>
          <p:nvPr/>
        </p:nvSpPr>
        <p:spPr>
          <a:xfrm>
            <a:off x="7699248" y="3813048"/>
            <a:ext cx="3977640" cy="292608"/>
          </a:xfrm>
          <a:prstGeom prst="rect">
            <a:avLst/>
          </a:prstGeom>
          <a:noFill/>
          <a:ln/>
        </p:spPr>
        <p:txBody>
          <a:bodyPr wrap="square" lIns="0" tIns="0" rIns="0" bIns="0" rtlCol="0" anchor="t"/>
          <a:lstStyle/>
          <a:p>
            <a:pPr algn="l" indent="0" marL="0">
              <a:buNone/>
            </a:pPr>
            <a:r>
              <a:rPr lang="en-US" sz="730" i="1" dirty="0">
                <a:solidFill>
                  <a:srgbClr val="000000"/>
                </a:solidFill>
                <a:latin typeface="Arial" pitchFamily="34" charset="0"/>
                <a:ea typeface="Arial" pitchFamily="34" charset="-122"/>
                <a:cs typeface="Arial" pitchFamily="34" charset="-120"/>
              </a:rPr>
              <a:t>COGCON’s completed feasibility trials enter Phase 1 as mapped evidence. Report back November 2026: Framework v1.0, capability and product map, implementation plan.</a:t>
            </a:r>
            <a:endParaRPr lang="en-US" sz="730" dirty="0"/>
          </a:p>
        </p:txBody>
      </p:sp>
      <p:sp>
        <p:nvSpPr>
          <p:cNvPr id="69" name="Shape 66"/>
          <p:cNvSpPr/>
          <p:nvPr/>
        </p:nvSpPr>
        <p:spPr>
          <a:xfrm>
            <a:off x="7589520" y="4233672"/>
            <a:ext cx="4197096" cy="841248"/>
          </a:xfrm>
          <a:prstGeom prst="rect">
            <a:avLst/>
          </a:prstGeom>
          <a:solidFill>
            <a:srgbClr val="002516"/>
          </a:solidFill>
          <a:ln/>
        </p:spPr>
      </p:sp>
      <p:sp>
        <p:nvSpPr>
          <p:cNvPr id="70" name="Text 67"/>
          <p:cNvSpPr/>
          <p:nvPr/>
        </p:nvSpPr>
        <p:spPr>
          <a:xfrm>
            <a:off x="7699248" y="4279392"/>
            <a:ext cx="3977640" cy="164592"/>
          </a:xfrm>
          <a:prstGeom prst="rect">
            <a:avLst/>
          </a:prstGeom>
          <a:noFill/>
          <a:ln/>
        </p:spPr>
        <p:txBody>
          <a:bodyPr wrap="square" lIns="0" tIns="0" rIns="0" bIns="0" rtlCol="0" anchor="ctr"/>
          <a:lstStyle/>
          <a:p>
            <a:pPr algn="l" indent="0" marL="0">
              <a:buNone/>
            </a:pPr>
            <a:r>
              <a:rPr lang="en-US" sz="900" b="1" spc="200" kern="0" dirty="0">
                <a:solidFill>
                  <a:srgbClr val="CDD2B7"/>
                </a:solidFill>
                <a:latin typeface="Arial" pitchFamily="34" charset="0"/>
                <a:ea typeface="Arial" pitchFamily="34" charset="-122"/>
                <a:cs typeface="Arial" pitchFamily="34" charset="-120"/>
              </a:rPr>
              <a:t>THE OUTCOME</a:t>
            </a:r>
            <a:endParaRPr lang="en-US" sz="900" dirty="0"/>
          </a:p>
        </p:txBody>
      </p:sp>
      <p:sp>
        <p:nvSpPr>
          <p:cNvPr id="71" name="Text 68"/>
          <p:cNvSpPr/>
          <p:nvPr/>
        </p:nvSpPr>
        <p:spPr>
          <a:xfrm>
            <a:off x="7699248" y="4453128"/>
            <a:ext cx="3977640" cy="585216"/>
          </a:xfrm>
          <a:prstGeom prst="rect">
            <a:avLst/>
          </a:prstGeom>
          <a:noFill/>
          <a:ln/>
        </p:spPr>
        <p:txBody>
          <a:bodyPr wrap="square" lIns="0" tIns="0" rIns="0" bIns="0" rtlCol="0" anchor="t"/>
          <a:lstStyle/>
          <a:p>
            <a:pPr algn="l" indent="0" marL="0">
              <a:buNone/>
            </a:pPr>
            <a:r>
              <a:rPr lang="en-US" sz="820" dirty="0">
                <a:solidFill>
                  <a:srgbClr val="FFFFFF"/>
                </a:solidFill>
                <a:latin typeface="Arial" pitchFamily="34" charset="0"/>
                <a:ea typeface="Arial" pitchFamily="34" charset="-122"/>
                <a:cs typeface="Arial" pitchFamily="34" charset="-120"/>
              </a:rPr>
              <a:t>A coherent, joined-up and assured Army approach that deliberately develops individuals, teams and leaders who remain effective under pressure and are prepared to act decisively, persistently, adaptively and ethically in combat.</a:t>
            </a:r>
            <a:endParaRPr lang="en-US" sz="820" dirty="0"/>
          </a:p>
        </p:txBody>
      </p:sp>
      <p:sp>
        <p:nvSpPr>
          <p:cNvPr id="72" name="Shape 69"/>
          <p:cNvSpPr/>
          <p:nvPr/>
        </p:nvSpPr>
        <p:spPr>
          <a:xfrm>
            <a:off x="411480" y="5138928"/>
            <a:ext cx="11375136" cy="182880"/>
          </a:xfrm>
          <a:prstGeom prst="rect">
            <a:avLst/>
          </a:prstGeom>
          <a:solidFill>
            <a:srgbClr val="002516"/>
          </a:solidFill>
          <a:ln/>
        </p:spPr>
      </p:sp>
      <p:sp>
        <p:nvSpPr>
          <p:cNvPr id="73" name="Text 70"/>
          <p:cNvSpPr/>
          <p:nvPr/>
        </p:nvSpPr>
        <p:spPr>
          <a:xfrm>
            <a:off x="521208" y="5138928"/>
            <a:ext cx="1115568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CAPABILITY PILLARS — WHAT WE BUILD</a:t>
            </a:r>
            <a:endParaRPr lang="en-US" sz="850" dirty="0"/>
          </a:p>
        </p:txBody>
      </p:sp>
      <p:sp>
        <p:nvSpPr>
          <p:cNvPr id="74" name="Shape 71"/>
          <p:cNvSpPr/>
          <p:nvPr/>
        </p:nvSpPr>
        <p:spPr>
          <a:xfrm>
            <a:off x="411480" y="5358384"/>
            <a:ext cx="1577993" cy="402336"/>
          </a:xfrm>
          <a:prstGeom prst="rect">
            <a:avLst/>
          </a:prstGeom>
          <a:solidFill>
            <a:srgbClr val="CDD2B7"/>
          </a:solidFill>
          <a:ln/>
        </p:spPr>
      </p:sp>
      <p:sp>
        <p:nvSpPr>
          <p:cNvPr id="75" name="Text 72"/>
          <p:cNvSpPr/>
          <p:nvPr/>
        </p:nvSpPr>
        <p:spPr>
          <a:xfrm>
            <a:off x="438912"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Leadership</a:t>
            </a:r>
            <a:endParaRPr lang="en-US" sz="760" dirty="0"/>
          </a:p>
        </p:txBody>
      </p:sp>
      <p:sp>
        <p:nvSpPr>
          <p:cNvPr id="76" name="Shape 73"/>
          <p:cNvSpPr/>
          <p:nvPr/>
        </p:nvSpPr>
        <p:spPr>
          <a:xfrm>
            <a:off x="2044337" y="5358384"/>
            <a:ext cx="1577993" cy="402336"/>
          </a:xfrm>
          <a:prstGeom prst="rect">
            <a:avLst/>
          </a:prstGeom>
          <a:solidFill>
            <a:srgbClr val="CDD2B7"/>
          </a:solidFill>
          <a:ln/>
        </p:spPr>
      </p:sp>
      <p:sp>
        <p:nvSpPr>
          <p:cNvPr id="77" name="Text 74"/>
          <p:cNvSpPr/>
          <p:nvPr/>
        </p:nvSpPr>
        <p:spPr>
          <a:xfrm>
            <a:off x="2071769"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Mental skills</a:t>
            </a:r>
            <a:endParaRPr lang="en-US" sz="760" dirty="0"/>
          </a:p>
        </p:txBody>
      </p:sp>
      <p:sp>
        <p:nvSpPr>
          <p:cNvPr id="78" name="Shape 75"/>
          <p:cNvSpPr/>
          <p:nvPr/>
        </p:nvSpPr>
        <p:spPr>
          <a:xfrm>
            <a:off x="3677194" y="5358384"/>
            <a:ext cx="1577993" cy="402336"/>
          </a:xfrm>
          <a:prstGeom prst="rect">
            <a:avLst/>
          </a:prstGeom>
          <a:solidFill>
            <a:srgbClr val="CDD2B7"/>
          </a:solidFill>
          <a:ln/>
        </p:spPr>
      </p:sp>
      <p:sp>
        <p:nvSpPr>
          <p:cNvPr id="79" name="Text 76"/>
          <p:cNvSpPr/>
          <p:nvPr/>
        </p:nvSpPr>
        <p:spPr>
          <a:xfrm>
            <a:off x="3704626"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Performance cognition</a:t>
            </a:r>
            <a:endParaRPr lang="en-US" sz="760" dirty="0"/>
          </a:p>
        </p:txBody>
      </p:sp>
      <p:sp>
        <p:nvSpPr>
          <p:cNvPr id="80" name="Shape 77"/>
          <p:cNvSpPr/>
          <p:nvPr/>
        </p:nvSpPr>
        <p:spPr>
          <a:xfrm>
            <a:off x="5310051" y="5358384"/>
            <a:ext cx="1577993" cy="402336"/>
          </a:xfrm>
          <a:prstGeom prst="rect">
            <a:avLst/>
          </a:prstGeom>
          <a:solidFill>
            <a:srgbClr val="CDD2B7"/>
          </a:solidFill>
          <a:ln/>
        </p:spPr>
      </p:sp>
      <p:sp>
        <p:nvSpPr>
          <p:cNvPr id="81" name="Text 78"/>
          <p:cNvSpPr/>
          <p:nvPr/>
        </p:nvSpPr>
        <p:spPr>
          <a:xfrm>
            <a:off x="5337483"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Resilience &amp; recovery</a:t>
            </a:r>
            <a:endParaRPr lang="en-US" sz="760" dirty="0"/>
          </a:p>
        </p:txBody>
      </p:sp>
      <p:sp>
        <p:nvSpPr>
          <p:cNvPr id="82" name="Shape 79"/>
          <p:cNvSpPr/>
          <p:nvPr/>
        </p:nvSpPr>
        <p:spPr>
          <a:xfrm>
            <a:off x="6942909" y="5358384"/>
            <a:ext cx="1577993" cy="402336"/>
          </a:xfrm>
          <a:prstGeom prst="rect">
            <a:avLst/>
          </a:prstGeom>
          <a:solidFill>
            <a:srgbClr val="CDD2B7"/>
          </a:solidFill>
          <a:ln/>
        </p:spPr>
      </p:sp>
      <p:sp>
        <p:nvSpPr>
          <p:cNvPr id="83" name="Text 80"/>
          <p:cNvSpPr/>
          <p:nvPr/>
        </p:nvSpPr>
        <p:spPr>
          <a:xfrm>
            <a:off x="6970341"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Physical performance</a:t>
            </a:r>
            <a:endParaRPr lang="en-US" sz="760" dirty="0"/>
          </a:p>
        </p:txBody>
      </p:sp>
      <p:sp>
        <p:nvSpPr>
          <p:cNvPr id="84" name="Shape 81"/>
          <p:cNvSpPr/>
          <p:nvPr/>
        </p:nvSpPr>
        <p:spPr>
          <a:xfrm>
            <a:off x="8575766" y="5358384"/>
            <a:ext cx="1577993" cy="402336"/>
          </a:xfrm>
          <a:prstGeom prst="rect">
            <a:avLst/>
          </a:prstGeom>
          <a:solidFill>
            <a:srgbClr val="CDD2B7"/>
          </a:solidFill>
          <a:ln/>
        </p:spPr>
      </p:sp>
      <p:sp>
        <p:nvSpPr>
          <p:cNvPr id="85" name="Text 82"/>
          <p:cNvSpPr/>
          <p:nvPr/>
        </p:nvSpPr>
        <p:spPr>
          <a:xfrm>
            <a:off x="8603198"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Professional identity &amp; values</a:t>
            </a:r>
            <a:endParaRPr lang="en-US" sz="760" dirty="0"/>
          </a:p>
        </p:txBody>
      </p:sp>
      <p:sp>
        <p:nvSpPr>
          <p:cNvPr id="86" name="Shape 83"/>
          <p:cNvSpPr/>
          <p:nvPr/>
        </p:nvSpPr>
        <p:spPr>
          <a:xfrm>
            <a:off x="10208623" y="5358384"/>
            <a:ext cx="1577993" cy="402336"/>
          </a:xfrm>
          <a:prstGeom prst="rect">
            <a:avLst/>
          </a:prstGeom>
          <a:solidFill>
            <a:srgbClr val="CDD2B7"/>
          </a:solidFill>
          <a:ln/>
        </p:spPr>
      </p:sp>
      <p:sp>
        <p:nvSpPr>
          <p:cNvPr id="87" name="Text 84"/>
          <p:cNvSpPr/>
          <p:nvPr/>
        </p:nvSpPr>
        <p:spPr>
          <a:xfrm>
            <a:off x="10236055"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Individual &amp; collective exposure to pressure</a:t>
            </a:r>
            <a:endParaRPr lang="en-US" sz="760" dirty="0"/>
          </a:p>
        </p:txBody>
      </p:sp>
      <p:sp>
        <p:nvSpPr>
          <p:cNvPr id="88" name="Shape 85"/>
          <p:cNvSpPr/>
          <p:nvPr/>
        </p:nvSpPr>
        <p:spPr>
          <a:xfrm>
            <a:off x="411480" y="5852160"/>
            <a:ext cx="11375136" cy="182880"/>
          </a:xfrm>
          <a:prstGeom prst="rect">
            <a:avLst/>
          </a:prstGeom>
          <a:solidFill>
            <a:srgbClr val="002516"/>
          </a:solidFill>
          <a:ln/>
        </p:spPr>
      </p:sp>
      <p:sp>
        <p:nvSpPr>
          <p:cNvPr id="89" name="Text 86"/>
          <p:cNvSpPr/>
          <p:nvPr/>
        </p:nvSpPr>
        <p:spPr>
          <a:xfrm>
            <a:off x="521208" y="5852160"/>
            <a:ext cx="548640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TRAINING PRODUCTS AND METHODS — HOW WE BUILD IT</a:t>
            </a:r>
            <a:endParaRPr lang="en-US" sz="850" dirty="0"/>
          </a:p>
        </p:txBody>
      </p:sp>
      <p:sp>
        <p:nvSpPr>
          <p:cNvPr id="90" name="Text 87"/>
          <p:cNvSpPr/>
          <p:nvPr/>
        </p:nvSpPr>
        <p:spPr>
          <a:xfrm>
            <a:off x="5989320" y="5852160"/>
            <a:ext cx="5687568" cy="182880"/>
          </a:xfrm>
          <a:prstGeom prst="rect">
            <a:avLst/>
          </a:prstGeom>
          <a:noFill/>
          <a:ln/>
        </p:spPr>
        <p:txBody>
          <a:bodyPr wrap="square" lIns="0" tIns="0" rIns="0" bIns="0" rtlCol="0" anchor="ctr"/>
          <a:lstStyle/>
          <a:p>
            <a:pPr algn="r" indent="0" marL="0">
              <a:buNone/>
            </a:pPr>
            <a:r>
              <a:rPr lang="en-US" sz="720" i="1" dirty="0">
                <a:solidFill>
                  <a:srgbClr val="CDD2B7"/>
                </a:solidFill>
                <a:latin typeface="Arial" pitchFamily="34" charset="0"/>
                <a:ea typeface="Arial" pitchFamily="34" charset="-122"/>
                <a:cs typeface="Arial" pitchFamily="34" charset="-120"/>
              </a:rPr>
              <a:t>each product contributes across multiple pillars — columns do not pair one-to-one</a:t>
            </a:r>
            <a:endParaRPr lang="en-US" sz="720" dirty="0"/>
          </a:p>
        </p:txBody>
      </p:sp>
      <p:sp>
        <p:nvSpPr>
          <p:cNvPr id="91" name="Shape 88"/>
          <p:cNvSpPr/>
          <p:nvPr/>
        </p:nvSpPr>
        <p:spPr>
          <a:xfrm>
            <a:off x="411480" y="6071616"/>
            <a:ext cx="1577993" cy="420624"/>
          </a:xfrm>
          <a:prstGeom prst="rect">
            <a:avLst/>
          </a:prstGeom>
          <a:solidFill>
            <a:srgbClr val="FFFFFF"/>
          </a:solidFill>
          <a:ln w="9525">
            <a:solidFill>
              <a:srgbClr val="A89662"/>
            </a:solidFill>
            <a:prstDash val="solid"/>
          </a:ln>
        </p:spPr>
      </p:sp>
      <p:sp>
        <p:nvSpPr>
          <p:cNvPr id="92" name="Text 89"/>
          <p:cNvSpPr/>
          <p:nvPr/>
        </p:nvSpPr>
        <p:spPr>
          <a:xfrm>
            <a:off x="448056"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NZALC Performance Under Pressure package</a:t>
            </a:r>
            <a:endParaRPr lang="en-US" sz="740" dirty="0"/>
          </a:p>
        </p:txBody>
      </p:sp>
      <p:sp>
        <p:nvSpPr>
          <p:cNvPr id="93" name="Shape 90"/>
          <p:cNvSpPr/>
          <p:nvPr/>
        </p:nvSpPr>
        <p:spPr>
          <a:xfrm>
            <a:off x="2044337" y="6071616"/>
            <a:ext cx="1577993" cy="420624"/>
          </a:xfrm>
          <a:prstGeom prst="rect">
            <a:avLst/>
          </a:prstGeom>
          <a:solidFill>
            <a:srgbClr val="FFFFFF"/>
          </a:solidFill>
          <a:ln w="9525">
            <a:solidFill>
              <a:srgbClr val="A89662"/>
            </a:solidFill>
            <a:prstDash val="solid"/>
          </a:ln>
        </p:spPr>
      </p:sp>
      <p:sp>
        <p:nvSpPr>
          <p:cNvPr id="94" name="Text 91"/>
          <p:cNvSpPr/>
          <p:nvPr/>
        </p:nvSpPr>
        <p:spPr>
          <a:xfrm>
            <a:off x="2080913"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NZDF Psychology products</a:t>
            </a:r>
            <a:endParaRPr lang="en-US" sz="740" dirty="0"/>
          </a:p>
        </p:txBody>
      </p:sp>
      <p:sp>
        <p:nvSpPr>
          <p:cNvPr id="95" name="Shape 92"/>
          <p:cNvSpPr/>
          <p:nvPr/>
        </p:nvSpPr>
        <p:spPr>
          <a:xfrm>
            <a:off x="3677194" y="6071616"/>
            <a:ext cx="1577993" cy="420624"/>
          </a:xfrm>
          <a:prstGeom prst="rect">
            <a:avLst/>
          </a:prstGeom>
          <a:solidFill>
            <a:srgbClr val="FFFFFF"/>
          </a:solidFill>
          <a:ln w="9525">
            <a:solidFill>
              <a:srgbClr val="A89662"/>
            </a:solidFill>
            <a:prstDash val="solid"/>
          </a:ln>
        </p:spPr>
      </p:sp>
      <p:sp>
        <p:nvSpPr>
          <p:cNvPr id="96" name="Text 93"/>
          <p:cNvSpPr/>
          <p:nvPr/>
        </p:nvSpPr>
        <p:spPr>
          <a:xfrm>
            <a:off x="3713770"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COGCON MVP</a:t>
            </a:r>
            <a:endParaRPr lang="en-US" sz="740" dirty="0"/>
          </a:p>
          <a:p>
            <a:pPr algn="ctr" indent="0" marL="0">
              <a:buNone/>
            </a:pPr>
            <a:r>
              <a:rPr lang="en-US" sz="600" i="1" dirty="0">
                <a:solidFill>
                  <a:srgbClr val="000000"/>
                </a:solidFill>
                <a:latin typeface="Arial" pitchFamily="34" charset="0"/>
                <a:ea typeface="Arial" pitchFamily="34" charset="-122"/>
                <a:cs typeface="Arial" pitchFamily="34" charset="-120"/>
              </a:rPr>
              <a:t>Developmental product — performance-cognition pillar</a:t>
            </a:r>
            <a:endParaRPr lang="en-US" sz="740" dirty="0"/>
          </a:p>
        </p:txBody>
      </p:sp>
      <p:sp>
        <p:nvSpPr>
          <p:cNvPr id="97" name="Shape 94"/>
          <p:cNvSpPr/>
          <p:nvPr/>
        </p:nvSpPr>
        <p:spPr>
          <a:xfrm>
            <a:off x="5310051" y="6071616"/>
            <a:ext cx="1577993" cy="420624"/>
          </a:xfrm>
          <a:prstGeom prst="rect">
            <a:avLst/>
          </a:prstGeom>
          <a:solidFill>
            <a:srgbClr val="FFFFFF"/>
          </a:solidFill>
          <a:ln w="9525">
            <a:solidFill>
              <a:srgbClr val="A89662"/>
            </a:solidFill>
            <a:prstDash val="solid"/>
          </a:ln>
        </p:spPr>
      </p:sp>
      <p:sp>
        <p:nvSpPr>
          <p:cNvPr id="98" name="Text 95"/>
          <p:cNvSpPr/>
          <p:nvPr/>
        </p:nvSpPr>
        <p:spPr>
          <a:xfrm>
            <a:off x="5346627"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Scenario &amp; experiential training</a:t>
            </a:r>
            <a:endParaRPr lang="en-US" sz="740" dirty="0"/>
          </a:p>
        </p:txBody>
      </p:sp>
      <p:sp>
        <p:nvSpPr>
          <p:cNvPr id="99" name="Shape 96"/>
          <p:cNvSpPr/>
          <p:nvPr/>
        </p:nvSpPr>
        <p:spPr>
          <a:xfrm>
            <a:off x="6942909" y="6071616"/>
            <a:ext cx="1577993" cy="420624"/>
          </a:xfrm>
          <a:prstGeom prst="rect">
            <a:avLst/>
          </a:prstGeom>
          <a:solidFill>
            <a:srgbClr val="FFFFFF"/>
          </a:solidFill>
          <a:ln w="9525">
            <a:solidFill>
              <a:srgbClr val="A89662"/>
            </a:solidFill>
            <a:prstDash val="solid"/>
          </a:ln>
        </p:spPr>
      </p:sp>
      <p:sp>
        <p:nvSpPr>
          <p:cNvPr id="100" name="Text 97"/>
          <p:cNvSpPr/>
          <p:nvPr/>
        </p:nvSpPr>
        <p:spPr>
          <a:xfrm>
            <a:off x="6979485"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Physical conditioning</a:t>
            </a:r>
            <a:endParaRPr lang="en-US" sz="740" dirty="0"/>
          </a:p>
        </p:txBody>
      </p:sp>
      <p:sp>
        <p:nvSpPr>
          <p:cNvPr id="101" name="Shape 98"/>
          <p:cNvSpPr/>
          <p:nvPr/>
        </p:nvSpPr>
        <p:spPr>
          <a:xfrm>
            <a:off x="8575766" y="6071616"/>
            <a:ext cx="1577993" cy="420624"/>
          </a:xfrm>
          <a:prstGeom prst="rect">
            <a:avLst/>
          </a:prstGeom>
          <a:solidFill>
            <a:srgbClr val="FFFFFF"/>
          </a:solidFill>
          <a:ln w="9525">
            <a:solidFill>
              <a:srgbClr val="A89662"/>
            </a:solidFill>
            <a:prstDash val="solid"/>
          </a:ln>
        </p:spPr>
      </p:sp>
      <p:sp>
        <p:nvSpPr>
          <p:cNvPr id="102" name="Text 99"/>
          <p:cNvSpPr/>
          <p:nvPr/>
        </p:nvSpPr>
        <p:spPr>
          <a:xfrm>
            <a:off x="8612342"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Structured reflection &amp; recovery</a:t>
            </a:r>
            <a:endParaRPr lang="en-US" sz="740" dirty="0"/>
          </a:p>
        </p:txBody>
      </p:sp>
      <p:sp>
        <p:nvSpPr>
          <p:cNvPr id="103" name="Shape 100"/>
          <p:cNvSpPr/>
          <p:nvPr/>
        </p:nvSpPr>
        <p:spPr>
          <a:xfrm>
            <a:off x="10208623" y="6071616"/>
            <a:ext cx="1577993" cy="420624"/>
          </a:xfrm>
          <a:prstGeom prst="rect">
            <a:avLst/>
          </a:prstGeom>
          <a:solidFill>
            <a:srgbClr val="FFFFFF"/>
          </a:solidFill>
          <a:ln w="9525">
            <a:solidFill>
              <a:srgbClr val="A89662"/>
            </a:solidFill>
            <a:prstDash val="solid"/>
          </a:ln>
        </p:spPr>
      </p:sp>
      <p:sp>
        <p:nvSpPr>
          <p:cNvPr id="104" name="Text 101"/>
          <p:cNvSpPr/>
          <p:nvPr/>
        </p:nvSpPr>
        <p:spPr>
          <a:xfrm>
            <a:off x="10245199"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Other products identified in Phase 1 mapping</a:t>
            </a:r>
            <a:endParaRPr lang="en-US" sz="740" dirty="0"/>
          </a:p>
        </p:txBody>
      </p:sp>
      <p:sp>
        <p:nvSpPr>
          <p:cNvPr id="105" name="Shape 102"/>
          <p:cNvSpPr/>
          <p:nvPr/>
        </p:nvSpPr>
        <p:spPr>
          <a:xfrm>
            <a:off x="4466191" y="5769864"/>
            <a:ext cx="0" cy="292608"/>
          </a:xfrm>
          <a:prstGeom prst="line">
            <a:avLst/>
          </a:prstGeom>
          <a:noFill/>
          <a:ln w="15875">
            <a:solidFill>
              <a:srgbClr val="C62026"/>
            </a:solidFill>
            <a:prstDash val="dash"/>
            <a:headEnd type="triangle"/>
          </a:ln>
        </p:spPr>
      </p:sp>
      <p:sp>
        <p:nvSpPr>
          <p:cNvPr id="106" name="Text 103"/>
          <p:cNvSpPr/>
          <p:nvPr/>
        </p:nvSpPr>
        <p:spPr>
          <a:xfrm>
            <a:off x="411480" y="6519672"/>
            <a:ext cx="7040880" cy="137160"/>
          </a:xfrm>
          <a:prstGeom prst="rect">
            <a:avLst/>
          </a:prstGeom>
          <a:noFill/>
          <a:ln/>
        </p:spPr>
        <p:txBody>
          <a:bodyPr wrap="square" lIns="0" tIns="0" rIns="0" bIns="0" rtlCol="0" anchor="ctr"/>
          <a:lstStyle/>
          <a:p>
            <a:pPr algn="l" indent="0" marL="0">
              <a:buNone/>
            </a:pPr>
            <a:r>
              <a:rPr lang="en-US" sz="680" i="1" dirty="0">
                <a:solidFill>
                  <a:srgbClr val="000000"/>
                </a:solidFill>
                <a:latin typeface="Arial" pitchFamily="34" charset="0"/>
                <a:ea typeface="Arial" pitchFamily="34" charset="-122"/>
                <a:cs typeface="Arial" pitchFamily="34" charset="-120"/>
              </a:rPr>
              <a:t>COGCON MVP is nested within the performance-cognition pillar (dashed link). It develops selected elements of Performance Under Pressure — not a complete Combat Mindset programme or a validated operational-readiness measure.</a:t>
            </a:r>
            <a:endParaRPr lang="en-US" sz="680" dirty="0"/>
          </a:p>
        </p:txBody>
      </p:sp>
      <p:sp>
        <p:nvSpPr>
          <p:cNvPr id="107" name="Text 104"/>
          <p:cNvSpPr/>
          <p:nvPr/>
        </p:nvSpPr>
        <p:spPr>
          <a:xfrm>
            <a:off x="7498080" y="6519672"/>
            <a:ext cx="4288536" cy="137160"/>
          </a:xfrm>
          <a:prstGeom prst="rect">
            <a:avLst/>
          </a:prstGeom>
          <a:noFill/>
          <a:ln/>
        </p:spPr>
        <p:txBody>
          <a:bodyPr wrap="square" lIns="0" tIns="0" rIns="0" bIns="0" rtlCol="0" anchor="ctr"/>
          <a:lstStyle/>
          <a:p>
            <a:pPr algn="r" indent="0" marL="0">
              <a:buNone/>
            </a:pPr>
            <a:r>
              <a:rPr lang="en-US" sz="680" b="1" dirty="0">
                <a:solidFill>
                  <a:srgbClr val="002516"/>
                </a:solidFill>
                <a:latin typeface="Arial" pitchFamily="34" charset="0"/>
                <a:ea typeface="Arial" pitchFamily="34" charset="-122"/>
                <a:cs typeface="Arial" pitchFamily="34" charset="-120"/>
              </a:rPr>
              <a:t>Prepare ► Perform ► Recover   ·   Lead Self ► Lead Teams ► Lead Leaders ► Lead Systems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2026-07-23T02:48:04Z</dcterms:created>
  <dcterms:modified xsi:type="dcterms:W3CDTF">2026-07-23T02:48:04Z</dcterms:modified>
</cp:coreProperties>
</file>