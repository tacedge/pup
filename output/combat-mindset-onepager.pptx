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6693408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 ·   ACS 2026   ·   Draft v0.8   ·   July 2026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9418320" y="6693408"/>
            <a:ext cx="236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650" dirty="0"/>
          </a:p>
        </p:txBody>
      </p:sp>
      <p:pic>
        <p:nvPicPr>
          <p:cNvPr id="8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01752"/>
            <a:ext cx="1207008" cy="29169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47088" y="237744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— THE WAY FORWARD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847088" y="60350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Defining, developing and assuring the human-performance capability Army requires to remain effective in combat.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961120" y="256032"/>
            <a:ext cx="2825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spc="300" kern="0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0" y="521208"/>
            <a:ext cx="3557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Warfighter Focus tagline — subject to sponsor endorsement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411480" y="932688"/>
            <a:ext cx="694944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576072" y="978408"/>
            <a:ext cx="6620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WARFIGHTING IMPERATIVE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76072" y="117043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requires individuals, teams and leaders who remain effective and act decisively, persistently, adaptively and ethically under the threat, adversity and uncertainty of combat.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 rot="10800000">
            <a:off x="3822192" y="1545336"/>
            <a:ext cx="128016" cy="91440"/>
          </a:xfrm>
          <a:prstGeom prst="triangle">
            <a:avLst/>
          </a:prstGeom>
          <a:solidFill>
            <a:srgbClr val="C62026"/>
          </a:solidFill>
          <a:ln/>
        </p:spPr>
      </p:sp>
      <p:sp>
        <p:nvSpPr>
          <p:cNvPr id="17" name="Shape 14"/>
          <p:cNvSpPr/>
          <p:nvPr/>
        </p:nvSpPr>
        <p:spPr>
          <a:xfrm>
            <a:off x="411480" y="1682496"/>
            <a:ext cx="6949440" cy="713232"/>
          </a:xfrm>
          <a:prstGeom prst="rect">
            <a:avLst/>
          </a:prstGeom>
          <a:solidFill>
            <a:srgbClr val="C62026"/>
          </a:solidFill>
          <a:ln/>
        </p:spPr>
      </p:sp>
      <p:sp>
        <p:nvSpPr>
          <p:cNvPr id="18" name="Text 15"/>
          <p:cNvSpPr/>
          <p:nvPr/>
        </p:nvSpPr>
        <p:spPr>
          <a:xfrm>
            <a:off x="576072" y="17282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840480" y="174650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COMBAT-SPECIFIC EXPRESSION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576072" y="1956816"/>
            <a:ext cx="6620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individual and collective readiness and disposition to remain effective and act decisively and ethically under the threat, adversity and uncertainty of combat in order to achieve the mission.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 rot="10800000">
            <a:off x="3822192" y="2459736"/>
            <a:ext cx="128016" cy="91440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2" name="Text 19"/>
          <p:cNvSpPr/>
          <p:nvPr/>
        </p:nvSpPr>
        <p:spPr>
          <a:xfrm>
            <a:off x="4014216" y="2432304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615184"/>
            <a:ext cx="6949440" cy="1078992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24" name="Text 21"/>
          <p:cNvSpPr/>
          <p:nvPr/>
        </p:nvSpPr>
        <p:spPr>
          <a:xfrm>
            <a:off x="576072" y="266090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3840480" y="267919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ENABLING HUMAN-PERFORMANCE CAPABILITY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576072" y="2889504"/>
            <a:ext cx="66202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trainable individual and collective human-performance capability to prepare for, maintain effective performance through, adapt within and recover from pressure.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76072" y="3246120"/>
            <a:ext cx="1078992" cy="192024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28" name="Text 25"/>
          <p:cNvSpPr/>
          <p:nvPr/>
        </p:nvSpPr>
        <p:spPr>
          <a:xfrm>
            <a:off x="576072" y="3246120"/>
            <a:ext cx="10789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1764792" y="3246120"/>
            <a:ext cx="1078992" cy="192024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30" name="Text 27"/>
          <p:cNvSpPr/>
          <p:nvPr/>
        </p:nvSpPr>
        <p:spPr>
          <a:xfrm>
            <a:off x="1764792" y="3246120"/>
            <a:ext cx="10789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2953512" y="3246120"/>
            <a:ext cx="1078992" cy="192024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32" name="Text 29"/>
          <p:cNvSpPr/>
          <p:nvPr/>
        </p:nvSpPr>
        <p:spPr>
          <a:xfrm>
            <a:off x="2953512" y="3246120"/>
            <a:ext cx="10789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142232" y="3246120"/>
            <a:ext cx="1078992" cy="192024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34" name="Text 31"/>
          <p:cNvSpPr/>
          <p:nvPr/>
        </p:nvSpPr>
        <p:spPr>
          <a:xfrm>
            <a:off x="4142232" y="3246120"/>
            <a:ext cx="10789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576072" y="3474720"/>
            <a:ext cx="6620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Applicable across combat, command, crisis response, training, garrison leadership and high-risk technical activity.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 rot="10800000">
            <a:off x="3822192" y="3758184"/>
            <a:ext cx="128016" cy="91440"/>
          </a:xfrm>
          <a:prstGeom prst="triangle">
            <a:avLst/>
          </a:prstGeom>
          <a:solidFill>
            <a:srgbClr val="3A4B00"/>
          </a:solidFill>
          <a:ln/>
        </p:spPr>
      </p:sp>
      <p:sp>
        <p:nvSpPr>
          <p:cNvPr id="37" name="Text 34"/>
          <p:cNvSpPr/>
          <p:nvPr/>
        </p:nvSpPr>
        <p:spPr>
          <a:xfrm>
            <a:off x="4014216" y="3730752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and organised through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411480" y="3913632"/>
            <a:ext cx="6949440" cy="978408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39" name="Text 36"/>
          <p:cNvSpPr/>
          <p:nvPr/>
        </p:nvSpPr>
        <p:spPr>
          <a:xfrm>
            <a:off x="576072" y="395935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COMBAT MINDSET FRAMEWORK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3840480" y="397764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ORGANISING MODEL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576072" y="4187952"/>
            <a:ext cx="6620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organising model through which Army defines, develops, integrates and assures the capabilities, products and governance arrangements that enable Combat Mindset.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76072" y="4626864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Organises:  definitions  ·  desired outcomes  ·  provisional pillars  ·  developmental progression  ·  products and methods  ·  delivery  ·  governance  ·  evidence  ·  assurance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 rot="10800000">
            <a:off x="3822192" y="4956048"/>
            <a:ext cx="128016" cy="91440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44" name="Text 41"/>
          <p:cNvSpPr/>
          <p:nvPr/>
        </p:nvSpPr>
        <p:spPr>
          <a:xfrm>
            <a:off x="4014216" y="4928616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through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7589520" y="932688"/>
            <a:ext cx="4197096" cy="219456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46" name="Text 43"/>
          <p:cNvSpPr/>
          <p:nvPr/>
        </p:nvSpPr>
        <p:spPr>
          <a:xfrm>
            <a:off x="7699248" y="932688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AND ASSURANCE — INTERIM MODEL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7589520" y="1152144"/>
            <a:ext cx="4197096" cy="1947672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699248" y="1207008"/>
            <a:ext cx="3977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Sponsor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Strategic sponsorship and policy direction (to be confirmed)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7699248" y="1476756"/>
            <a:ext cx="3977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COMDT ACS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Interim capability integrator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7699248" y="1746504"/>
            <a:ext cx="3977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ACS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Framework development and capability-integration lead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7699248" y="2016252"/>
            <a:ext cx="3977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Performance Cell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COGCON product steward; performance-cognition adviser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7699248" y="2286000"/>
            <a:ext cx="3977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advisers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NZDF Psychology, ILD, doctrine, physical performance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7699248" y="2555748"/>
            <a:ext cx="3977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Training establishments, units, existing instructors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7699248" y="2825496"/>
            <a:ext cx="3977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Layered: doctrine, evidence, professional, learning, delivery, operational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7589520" y="3255264"/>
            <a:ext cx="4197096" cy="219456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56" name="Text 53"/>
          <p:cNvSpPr/>
          <p:nvPr/>
        </p:nvSpPr>
        <p:spPr>
          <a:xfrm>
            <a:off x="7699248" y="325526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 OF WORK — 2026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7589520" y="3474720"/>
            <a:ext cx="419709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699248" y="3566160"/>
            <a:ext cx="758952" cy="219456"/>
          </a:xfrm>
          <a:prstGeom prst="chevron">
            <a:avLst/>
          </a:prstGeom>
          <a:solidFill>
            <a:srgbClr val="3A4B00"/>
          </a:solidFill>
          <a:ln/>
        </p:spPr>
      </p:sp>
      <p:sp>
        <p:nvSpPr>
          <p:cNvPr id="59" name="Text 56"/>
          <p:cNvSpPr/>
          <p:nvPr/>
        </p:nvSpPr>
        <p:spPr>
          <a:xfrm>
            <a:off x="7699248" y="3566160"/>
            <a:ext cx="758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680" dirty="0"/>
          </a:p>
        </p:txBody>
      </p:sp>
      <p:sp>
        <p:nvSpPr>
          <p:cNvPr id="60" name="Shape 57"/>
          <p:cNvSpPr/>
          <p:nvPr/>
        </p:nvSpPr>
        <p:spPr>
          <a:xfrm>
            <a:off x="8503920" y="3566160"/>
            <a:ext cx="758952" cy="219456"/>
          </a:xfrm>
          <a:prstGeom prst="chevron">
            <a:avLst/>
          </a:prstGeom>
          <a:solidFill>
            <a:srgbClr val="3A4B00"/>
          </a:solidFill>
          <a:ln/>
        </p:spPr>
      </p:sp>
      <p:sp>
        <p:nvSpPr>
          <p:cNvPr id="61" name="Text 58"/>
          <p:cNvSpPr/>
          <p:nvPr/>
        </p:nvSpPr>
        <p:spPr>
          <a:xfrm>
            <a:off x="8503920" y="3566160"/>
            <a:ext cx="758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STOCKTAKE</a:t>
            </a:r>
            <a:endParaRPr lang="en-US" sz="680" dirty="0"/>
          </a:p>
        </p:txBody>
      </p:sp>
      <p:sp>
        <p:nvSpPr>
          <p:cNvPr id="62" name="Shape 59"/>
          <p:cNvSpPr/>
          <p:nvPr/>
        </p:nvSpPr>
        <p:spPr>
          <a:xfrm>
            <a:off x="9308592" y="3566160"/>
            <a:ext cx="758952" cy="219456"/>
          </a:xfrm>
          <a:prstGeom prst="chevron">
            <a:avLst/>
          </a:prstGeom>
          <a:solidFill>
            <a:srgbClr val="3A4B00"/>
          </a:solidFill>
          <a:ln/>
        </p:spPr>
      </p:sp>
      <p:sp>
        <p:nvSpPr>
          <p:cNvPr id="63" name="Text 60"/>
          <p:cNvSpPr/>
          <p:nvPr/>
        </p:nvSpPr>
        <p:spPr>
          <a:xfrm>
            <a:off x="9308592" y="3566160"/>
            <a:ext cx="758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</a:t>
            </a:r>
            <a:endParaRPr lang="en-US" sz="680" dirty="0"/>
          </a:p>
        </p:txBody>
      </p:sp>
      <p:sp>
        <p:nvSpPr>
          <p:cNvPr id="64" name="Shape 61"/>
          <p:cNvSpPr/>
          <p:nvPr/>
        </p:nvSpPr>
        <p:spPr>
          <a:xfrm>
            <a:off x="10113264" y="3566160"/>
            <a:ext cx="758952" cy="219456"/>
          </a:xfrm>
          <a:prstGeom prst="chevron">
            <a:avLst/>
          </a:prstGeom>
          <a:solidFill>
            <a:srgbClr val="3A4B00"/>
          </a:solidFill>
          <a:ln/>
        </p:spPr>
      </p:sp>
      <p:sp>
        <p:nvSpPr>
          <p:cNvPr id="65" name="Text 62"/>
          <p:cNvSpPr/>
          <p:nvPr/>
        </p:nvSpPr>
        <p:spPr>
          <a:xfrm>
            <a:off x="10113264" y="3566160"/>
            <a:ext cx="758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680" dirty="0"/>
          </a:p>
        </p:txBody>
      </p:sp>
      <p:sp>
        <p:nvSpPr>
          <p:cNvPr id="66" name="Shape 63"/>
          <p:cNvSpPr/>
          <p:nvPr/>
        </p:nvSpPr>
        <p:spPr>
          <a:xfrm>
            <a:off x="10917936" y="3566160"/>
            <a:ext cx="758952" cy="219456"/>
          </a:xfrm>
          <a:prstGeom prst="chevron">
            <a:avLst/>
          </a:prstGeom>
          <a:solidFill>
            <a:srgbClr val="3A4B00"/>
          </a:solidFill>
          <a:ln/>
        </p:spPr>
      </p:sp>
      <p:sp>
        <p:nvSpPr>
          <p:cNvPr id="67" name="Text 64"/>
          <p:cNvSpPr/>
          <p:nvPr/>
        </p:nvSpPr>
        <p:spPr>
          <a:xfrm>
            <a:off x="10917936" y="3566160"/>
            <a:ext cx="758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680" dirty="0"/>
          </a:p>
        </p:txBody>
      </p:sp>
      <p:sp>
        <p:nvSpPr>
          <p:cNvPr id="68" name="Text 65"/>
          <p:cNvSpPr/>
          <p:nvPr/>
        </p:nvSpPr>
        <p:spPr>
          <a:xfrm>
            <a:off x="7699248" y="381304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COGCON’s completed feasibility trials enter the Phase 1 stocktake as evidence. Report back November 2026: Framework v1.0, capability and product architecture, implementation plan.</a:t>
            </a:r>
            <a:endParaRPr lang="en-US" sz="730" dirty="0"/>
          </a:p>
        </p:txBody>
      </p:sp>
      <p:sp>
        <p:nvSpPr>
          <p:cNvPr id="69" name="Shape 66"/>
          <p:cNvSpPr/>
          <p:nvPr/>
        </p:nvSpPr>
        <p:spPr>
          <a:xfrm>
            <a:off x="7589520" y="4233672"/>
            <a:ext cx="4197096" cy="841248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70" name="Text 67"/>
          <p:cNvSpPr/>
          <p:nvPr/>
        </p:nvSpPr>
        <p:spPr>
          <a:xfrm>
            <a:off x="7699248" y="4279392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OUTCOME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699248" y="4453128"/>
            <a:ext cx="3977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coherent, joined-up and assured Army approach that deliberately develops individuals, teams and leaders who remain effective under pressure and are prepared to act decisively, persistently, adaptively and ethically in combat.</a:t>
            </a:r>
            <a:endParaRPr lang="en-US" sz="820" dirty="0"/>
          </a:p>
        </p:txBody>
      </p:sp>
      <p:sp>
        <p:nvSpPr>
          <p:cNvPr id="72" name="Shape 69"/>
          <p:cNvSpPr/>
          <p:nvPr/>
        </p:nvSpPr>
        <p:spPr>
          <a:xfrm>
            <a:off x="411480" y="5138928"/>
            <a:ext cx="11375136" cy="18288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73" name="Text 70"/>
          <p:cNvSpPr/>
          <p:nvPr/>
        </p:nvSpPr>
        <p:spPr>
          <a:xfrm>
            <a:off x="521208" y="513892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PROVISIONAL CAPABILITY PILLARS — WHAT WE BUILD</a:t>
            </a:r>
            <a:endParaRPr lang="en-US" sz="850" dirty="0"/>
          </a:p>
        </p:txBody>
      </p:sp>
      <p:sp>
        <p:nvSpPr>
          <p:cNvPr id="74" name="Text 71"/>
          <p:cNvSpPr/>
          <p:nvPr/>
        </p:nvSpPr>
        <p:spPr>
          <a:xfrm>
            <a:off x="6446520" y="5138928"/>
            <a:ext cx="5230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i="1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provisional working pillars — subject to Phase 1 validation</a:t>
            </a:r>
            <a:endParaRPr lang="en-US" sz="720" dirty="0"/>
          </a:p>
        </p:txBody>
      </p:sp>
      <p:sp>
        <p:nvSpPr>
          <p:cNvPr id="75" name="Shape 72"/>
          <p:cNvSpPr/>
          <p:nvPr/>
        </p:nvSpPr>
        <p:spPr>
          <a:xfrm>
            <a:off x="411480" y="5358384"/>
            <a:ext cx="1577993" cy="402336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76" name="Text 73"/>
          <p:cNvSpPr/>
          <p:nvPr/>
        </p:nvSpPr>
        <p:spPr>
          <a:xfrm>
            <a:off x="438912" y="5358384"/>
            <a:ext cx="152312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</a:t>
            </a:r>
            <a:endParaRPr lang="en-US" sz="760" dirty="0"/>
          </a:p>
        </p:txBody>
      </p:sp>
      <p:sp>
        <p:nvSpPr>
          <p:cNvPr id="77" name="Shape 74"/>
          <p:cNvSpPr/>
          <p:nvPr/>
        </p:nvSpPr>
        <p:spPr>
          <a:xfrm>
            <a:off x="2044337" y="5358384"/>
            <a:ext cx="1577993" cy="402336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78" name="Text 75"/>
          <p:cNvSpPr/>
          <p:nvPr/>
        </p:nvSpPr>
        <p:spPr>
          <a:xfrm>
            <a:off x="2071769" y="5358384"/>
            <a:ext cx="152312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Self-regulation</a:t>
            </a:r>
            <a:endParaRPr lang="en-US" sz="760" dirty="0"/>
          </a:p>
        </p:txBody>
      </p:sp>
      <p:sp>
        <p:nvSpPr>
          <p:cNvPr id="79" name="Shape 76"/>
          <p:cNvSpPr/>
          <p:nvPr/>
        </p:nvSpPr>
        <p:spPr>
          <a:xfrm>
            <a:off x="3677194" y="5358384"/>
            <a:ext cx="1577993" cy="402336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80" name="Text 77"/>
          <p:cNvSpPr/>
          <p:nvPr/>
        </p:nvSpPr>
        <p:spPr>
          <a:xfrm>
            <a:off x="3704626" y="5358384"/>
            <a:ext cx="152312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cognition</a:t>
            </a:r>
            <a:endParaRPr lang="en-US" sz="760" dirty="0"/>
          </a:p>
        </p:txBody>
      </p:sp>
      <p:sp>
        <p:nvSpPr>
          <p:cNvPr id="81" name="Shape 78"/>
          <p:cNvSpPr/>
          <p:nvPr/>
        </p:nvSpPr>
        <p:spPr>
          <a:xfrm>
            <a:off x="5310051" y="5358384"/>
            <a:ext cx="1577993" cy="402336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82" name="Text 79"/>
          <p:cNvSpPr/>
          <p:nvPr/>
        </p:nvSpPr>
        <p:spPr>
          <a:xfrm>
            <a:off x="5337483" y="5358384"/>
            <a:ext cx="152312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Resilience &amp; recovery</a:t>
            </a:r>
            <a:endParaRPr lang="en-US" sz="760" dirty="0"/>
          </a:p>
        </p:txBody>
      </p:sp>
      <p:sp>
        <p:nvSpPr>
          <p:cNvPr id="83" name="Shape 80"/>
          <p:cNvSpPr/>
          <p:nvPr/>
        </p:nvSpPr>
        <p:spPr>
          <a:xfrm>
            <a:off x="6942909" y="5358384"/>
            <a:ext cx="1577993" cy="402336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84" name="Text 81"/>
          <p:cNvSpPr/>
          <p:nvPr/>
        </p:nvSpPr>
        <p:spPr>
          <a:xfrm>
            <a:off x="6970341" y="5358384"/>
            <a:ext cx="152312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performance</a:t>
            </a:r>
            <a:endParaRPr lang="en-US" sz="760" dirty="0"/>
          </a:p>
        </p:txBody>
      </p:sp>
      <p:sp>
        <p:nvSpPr>
          <p:cNvPr id="85" name="Shape 82"/>
          <p:cNvSpPr/>
          <p:nvPr/>
        </p:nvSpPr>
        <p:spPr>
          <a:xfrm>
            <a:off x="8575766" y="5358384"/>
            <a:ext cx="1577993" cy="402336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86" name="Text 83"/>
          <p:cNvSpPr/>
          <p:nvPr/>
        </p:nvSpPr>
        <p:spPr>
          <a:xfrm>
            <a:off x="8603198" y="5358384"/>
            <a:ext cx="152312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Identity, values &amp; will</a:t>
            </a:r>
            <a:endParaRPr lang="en-US" sz="760" dirty="0"/>
          </a:p>
        </p:txBody>
      </p:sp>
      <p:sp>
        <p:nvSpPr>
          <p:cNvPr id="87" name="Shape 84"/>
          <p:cNvSpPr/>
          <p:nvPr/>
        </p:nvSpPr>
        <p:spPr>
          <a:xfrm>
            <a:off x="10208623" y="5358384"/>
            <a:ext cx="1577993" cy="402336"/>
          </a:xfrm>
          <a:prstGeom prst="rect">
            <a:avLst/>
          </a:prstGeom>
          <a:solidFill>
            <a:srgbClr val="CDD2B7"/>
          </a:solidFill>
          <a:ln/>
        </p:spPr>
      </p:sp>
      <p:sp>
        <p:nvSpPr>
          <p:cNvPr id="88" name="Text 85"/>
          <p:cNvSpPr/>
          <p:nvPr/>
        </p:nvSpPr>
        <p:spPr>
          <a:xfrm>
            <a:off x="10236055" y="5358384"/>
            <a:ext cx="152312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Collective performance</a:t>
            </a:r>
            <a:endParaRPr lang="en-US" sz="760" dirty="0"/>
          </a:p>
        </p:txBody>
      </p:sp>
      <p:sp>
        <p:nvSpPr>
          <p:cNvPr id="89" name="Shape 86"/>
          <p:cNvSpPr/>
          <p:nvPr/>
        </p:nvSpPr>
        <p:spPr>
          <a:xfrm>
            <a:off x="411480" y="5852160"/>
            <a:ext cx="11375136" cy="18288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90" name="Text 87"/>
          <p:cNvSpPr/>
          <p:nvPr/>
        </p:nvSpPr>
        <p:spPr>
          <a:xfrm>
            <a:off x="521208" y="58521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PRODUCTS AND METHODS — HOW WE BUILD IT</a:t>
            </a:r>
            <a:endParaRPr lang="en-US" sz="850" dirty="0"/>
          </a:p>
        </p:txBody>
      </p:sp>
      <p:sp>
        <p:nvSpPr>
          <p:cNvPr id="91" name="Text 88"/>
          <p:cNvSpPr/>
          <p:nvPr/>
        </p:nvSpPr>
        <p:spPr>
          <a:xfrm>
            <a:off x="5989320" y="5852160"/>
            <a:ext cx="5687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i="1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product contributes across multiple pillars — columns do not pair one-to-one</a:t>
            </a:r>
            <a:endParaRPr lang="en-US" sz="720" dirty="0"/>
          </a:p>
        </p:txBody>
      </p:sp>
      <p:sp>
        <p:nvSpPr>
          <p:cNvPr id="92" name="Shape 89"/>
          <p:cNvSpPr/>
          <p:nvPr/>
        </p:nvSpPr>
        <p:spPr>
          <a:xfrm>
            <a:off x="411480" y="6071616"/>
            <a:ext cx="1577993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448056" y="6071616"/>
            <a:ext cx="15048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Performance Under Pressure package</a:t>
            </a:r>
            <a:endParaRPr lang="en-US" sz="740" dirty="0"/>
          </a:p>
        </p:txBody>
      </p:sp>
      <p:sp>
        <p:nvSpPr>
          <p:cNvPr id="94" name="Shape 91"/>
          <p:cNvSpPr/>
          <p:nvPr/>
        </p:nvSpPr>
        <p:spPr>
          <a:xfrm>
            <a:off x="2044337" y="6071616"/>
            <a:ext cx="1577993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2080913" y="6071616"/>
            <a:ext cx="15048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NZDF Psychology products</a:t>
            </a:r>
            <a:endParaRPr lang="en-US" sz="740" dirty="0"/>
          </a:p>
        </p:txBody>
      </p:sp>
      <p:sp>
        <p:nvSpPr>
          <p:cNvPr id="96" name="Shape 93"/>
          <p:cNvSpPr/>
          <p:nvPr/>
        </p:nvSpPr>
        <p:spPr>
          <a:xfrm>
            <a:off x="3677194" y="6071616"/>
            <a:ext cx="1577993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713770" y="6071616"/>
            <a:ext cx="15048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COGCON</a:t>
            </a:r>
            <a:endParaRPr lang="en-US" sz="740" dirty="0"/>
          </a:p>
          <a:p>
            <a:pPr algn="ctr" indent="0" marL="0">
              <a:buNone/>
            </a:pPr>
            <a:r>
              <a:rPr lang="en-US" sz="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Developmental performance-cognition product</a:t>
            </a:r>
            <a:endParaRPr lang="en-US" sz="740" dirty="0"/>
          </a:p>
        </p:txBody>
      </p:sp>
      <p:sp>
        <p:nvSpPr>
          <p:cNvPr id="98" name="Shape 95"/>
          <p:cNvSpPr/>
          <p:nvPr/>
        </p:nvSpPr>
        <p:spPr>
          <a:xfrm>
            <a:off x="5310051" y="6071616"/>
            <a:ext cx="1577993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5346627" y="6071616"/>
            <a:ext cx="15048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Scenario, experiential &amp; progressive pressure training</a:t>
            </a:r>
            <a:endParaRPr lang="en-US" sz="740" dirty="0"/>
          </a:p>
        </p:txBody>
      </p:sp>
      <p:sp>
        <p:nvSpPr>
          <p:cNvPr id="100" name="Shape 97"/>
          <p:cNvSpPr/>
          <p:nvPr/>
        </p:nvSpPr>
        <p:spPr>
          <a:xfrm>
            <a:off x="6942909" y="6071616"/>
            <a:ext cx="1577993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6979485" y="6071616"/>
            <a:ext cx="15048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&amp; cognitive conditioning</a:t>
            </a:r>
            <a:endParaRPr lang="en-US" sz="740" dirty="0"/>
          </a:p>
        </p:txBody>
      </p:sp>
      <p:sp>
        <p:nvSpPr>
          <p:cNvPr id="102" name="Shape 99"/>
          <p:cNvSpPr/>
          <p:nvPr/>
        </p:nvSpPr>
        <p:spPr>
          <a:xfrm>
            <a:off x="8575766" y="6071616"/>
            <a:ext cx="1577993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8612342" y="6071616"/>
            <a:ext cx="15048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reflection &amp; recovery</a:t>
            </a:r>
            <a:endParaRPr lang="en-US" sz="740" dirty="0"/>
          </a:p>
        </p:txBody>
      </p:sp>
      <p:sp>
        <p:nvSpPr>
          <p:cNvPr id="104" name="Shape 101"/>
          <p:cNvSpPr/>
          <p:nvPr/>
        </p:nvSpPr>
        <p:spPr>
          <a:xfrm>
            <a:off x="10208623" y="6071616"/>
            <a:ext cx="1577993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0245199" y="6071616"/>
            <a:ext cx="15048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products identified in Phase 1 stocktake</a:t>
            </a:r>
            <a:endParaRPr lang="en-US" sz="740" dirty="0"/>
          </a:p>
        </p:txBody>
      </p:sp>
      <p:sp>
        <p:nvSpPr>
          <p:cNvPr id="106" name="Shape 103"/>
          <p:cNvSpPr/>
          <p:nvPr/>
        </p:nvSpPr>
        <p:spPr>
          <a:xfrm>
            <a:off x="4466191" y="5769864"/>
            <a:ext cx="0" cy="292608"/>
          </a:xfrm>
          <a:prstGeom prst="line">
            <a:avLst/>
          </a:prstGeom>
          <a:noFill/>
          <a:ln w="15875">
            <a:solidFill>
              <a:srgbClr val="C62026"/>
            </a:solidFill>
            <a:prstDash val="dash"/>
            <a:headEnd type="triangle"/>
          </a:ln>
        </p:spPr>
      </p:sp>
      <p:sp>
        <p:nvSpPr>
          <p:cNvPr id="107" name="Text 104"/>
          <p:cNvSpPr/>
          <p:nvPr/>
        </p:nvSpPr>
        <p:spPr>
          <a:xfrm>
            <a:off x="411480" y="6519672"/>
            <a:ext cx="7040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COGCON is nested within the performance-cognition pillar (dashed link) as one developmental product. Its status and appropriate future role will be confirmed through the Phase 1 stocktake.</a:t>
            </a:r>
            <a:endParaRPr lang="en-US" sz="680" dirty="0"/>
          </a:p>
        </p:txBody>
      </p:sp>
      <p:sp>
        <p:nvSpPr>
          <p:cNvPr id="108" name="Text 105"/>
          <p:cNvSpPr/>
          <p:nvPr/>
        </p:nvSpPr>
        <p:spPr>
          <a:xfrm>
            <a:off x="7498080" y="6519672"/>
            <a:ext cx="4288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► Perform ► Recover   ·   Lead Self ► Lead Teams ► Lead Leaders ► Lead Systems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2026-07-23T08:59:39Z</dcterms:created>
  <dcterms:modified xsi:type="dcterms:W3CDTF">2026-07-23T08:59:39Z</dcterms:modified>
</cp:coreProperties>
</file>