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46988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  ·  ACS 2026</a:t>
            </a:r>
            <a:endParaRPr lang="en-US" sz="600" dirty="0"/>
          </a:p>
        </p:txBody>
      </p:sp>
      <p:sp>
        <p:nvSpPr>
          <p:cNvPr id="3" name="Text 1"/>
          <p:cNvSpPr/>
          <p:nvPr/>
        </p:nvSpPr>
        <p:spPr>
          <a:xfrm>
            <a:off x="5212080" y="10469880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v0.8  ·  July 2026</a:t>
            </a:r>
            <a:endParaRPr lang="en-US" sz="600" dirty="0"/>
          </a:p>
        </p:txBody>
      </p:sp>
      <p:pic>
        <p:nvPicPr>
          <p:cNvPr id="4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1005840" cy="24323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91640" y="429768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THE WAY FORWARD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457200" y="1024128"/>
            <a:ext cx="6647688" cy="11887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9144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9144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713232" y="1335024"/>
            <a:ext cx="603504" cy="60350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316736"/>
            <a:ext cx="6647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457200" y="1847088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 Harder to kill.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 rot="10800000">
            <a:off x="3717036" y="2286000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13" name="Text 9"/>
          <p:cNvSpPr/>
          <p:nvPr/>
        </p:nvSpPr>
        <p:spPr>
          <a:xfrm>
            <a:off x="2043684" y="2404872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457200" y="2834640"/>
            <a:ext cx="6647688" cy="969264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15" name="Shape 11"/>
          <p:cNvSpPr/>
          <p:nvPr/>
        </p:nvSpPr>
        <p:spPr>
          <a:xfrm>
            <a:off x="1952244" y="272491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952244" y="27249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127248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57200" y="3035808"/>
            <a:ext cx="6647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300" dirty="0"/>
          </a:p>
        </p:txBody>
      </p:sp>
      <p:sp>
        <p:nvSpPr>
          <p:cNvPr id="19" name="Text 14"/>
          <p:cNvSpPr/>
          <p:nvPr/>
        </p:nvSpPr>
        <p:spPr>
          <a:xfrm>
            <a:off x="457200" y="3465576"/>
            <a:ext cx="6647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 rot="10800000">
            <a:off x="3717036" y="3877056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21" name="Text 16"/>
          <p:cNvSpPr/>
          <p:nvPr/>
        </p:nvSpPr>
        <p:spPr>
          <a:xfrm>
            <a:off x="2043684" y="39959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developed, organised and assured through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57200" y="4425696"/>
            <a:ext cx="6647688" cy="841248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23" name="Shape 18"/>
          <p:cNvSpPr/>
          <p:nvPr/>
        </p:nvSpPr>
        <p:spPr>
          <a:xfrm>
            <a:off x="2820924" y="4315968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820924" y="431596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626864"/>
            <a:ext cx="420624" cy="42062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57200" y="4553712"/>
            <a:ext cx="6647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COMBAT MINDSET FRAMEWORK</a:t>
            </a:r>
            <a:endParaRPr lang="en-US" sz="1900" dirty="0"/>
          </a:p>
        </p:txBody>
      </p:sp>
      <p:sp>
        <p:nvSpPr>
          <p:cNvPr id="27" name="Text 21"/>
          <p:cNvSpPr/>
          <p:nvPr/>
        </p:nvSpPr>
        <p:spPr>
          <a:xfrm>
            <a:off x="457200" y="4910328"/>
            <a:ext cx="6647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system through which Combat Mindset is governed, developed, delivered and assured.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57200" y="5413248"/>
            <a:ext cx="2142744" cy="329184"/>
          </a:xfrm>
          <a:prstGeom prst="rect">
            <a:avLst/>
          </a:prstGeom>
          <a:solidFill>
            <a:srgbClr val="002516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5486400"/>
            <a:ext cx="182880" cy="18288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68096" y="5413248"/>
            <a:ext cx="1776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GOVERNANCE &amp; ASSURANCE</a:t>
            </a:r>
            <a:endParaRPr lang="en-US" sz="760" dirty="0"/>
          </a:p>
        </p:txBody>
      </p:sp>
      <p:sp>
        <p:nvSpPr>
          <p:cNvPr id="31" name="Shape 24"/>
          <p:cNvSpPr/>
          <p:nvPr/>
        </p:nvSpPr>
        <p:spPr>
          <a:xfrm>
            <a:off x="457200" y="5742432"/>
            <a:ext cx="2142744" cy="4407408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2709672" y="5413248"/>
            <a:ext cx="2142744" cy="329184"/>
          </a:xfrm>
          <a:prstGeom prst="rect">
            <a:avLst/>
          </a:prstGeom>
          <a:solidFill>
            <a:srgbClr val="002516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82824" y="5486400"/>
            <a:ext cx="182880" cy="18288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3020568" y="5413248"/>
            <a:ext cx="1776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CURRENT DELIVERY SYSTEM</a:t>
            </a:r>
            <a:endParaRPr lang="en-US" sz="760" dirty="0"/>
          </a:p>
        </p:txBody>
      </p:sp>
      <p:sp>
        <p:nvSpPr>
          <p:cNvPr id="35" name="Shape 27"/>
          <p:cNvSpPr/>
          <p:nvPr/>
        </p:nvSpPr>
        <p:spPr>
          <a:xfrm>
            <a:off x="2709672" y="5742432"/>
            <a:ext cx="2142744" cy="4407408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4962144" y="5413248"/>
            <a:ext cx="2142744" cy="329184"/>
          </a:xfrm>
          <a:prstGeom prst="rect">
            <a:avLst/>
          </a:prstGeom>
          <a:solidFill>
            <a:srgbClr val="002516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5296" y="5486400"/>
            <a:ext cx="182880" cy="18288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5273040" y="5413248"/>
            <a:ext cx="1776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FRAMEWORK DEVELOPMENT PROGRAMME</a:t>
            </a:r>
            <a:endParaRPr lang="en-US" sz="760" dirty="0"/>
          </a:p>
        </p:txBody>
      </p:sp>
      <p:sp>
        <p:nvSpPr>
          <p:cNvPr id="39" name="Shape 30"/>
          <p:cNvSpPr/>
          <p:nvPr/>
        </p:nvSpPr>
        <p:spPr>
          <a:xfrm>
            <a:off x="4962144" y="5742432"/>
            <a:ext cx="2142744" cy="4407408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585216" y="5907024"/>
            <a:ext cx="1905000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2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sponsorship and policy direction</a:t>
            </a:r>
            <a:endParaRPr lang="en-US" sz="820" dirty="0"/>
          </a:p>
          <a:p>
            <a:pPr algn="l" marL="127000" indent="-127000">
              <a:spcAft>
                <a:spcPts val="12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integration</a:t>
            </a:r>
            <a:endParaRPr lang="en-US" sz="820" dirty="0"/>
          </a:p>
          <a:p>
            <a:pPr algn="l" marL="127000" indent="-127000">
              <a:spcAft>
                <a:spcPts val="12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and professional authorities</a:t>
            </a:r>
            <a:endParaRPr lang="en-US" sz="820" dirty="0"/>
          </a:p>
          <a:p>
            <a:pPr algn="l" marL="127000" indent="-127000">
              <a:spcAft>
                <a:spcPts val="12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recognition and evidence requirements</a:t>
            </a:r>
            <a:endParaRPr lang="en-US" sz="820" dirty="0"/>
          </a:p>
          <a:p>
            <a:pPr algn="l" marL="127000" indent="-127000">
              <a:spcAft>
                <a:spcPts val="12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standards</a:t>
            </a:r>
            <a:endParaRPr lang="en-US" sz="820" dirty="0"/>
          </a:p>
          <a:p>
            <a:pPr algn="l" marL="127000" indent="-127000">
              <a:spcAft>
                <a:spcPts val="12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and assurance</a:t>
            </a:r>
            <a:endParaRPr lang="en-US" sz="820" dirty="0"/>
          </a:p>
        </p:txBody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9400" y="5879592"/>
            <a:ext cx="219456" cy="21945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3112008" y="5870448"/>
            <a:ext cx="163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</a:t>
            </a:r>
            <a:endParaRPr lang="en-US" sz="830" dirty="0"/>
          </a:p>
        </p:txBody>
      </p:sp>
      <p:sp>
        <p:nvSpPr>
          <p:cNvPr id="43" name="Text 33"/>
          <p:cNvSpPr/>
          <p:nvPr/>
        </p:nvSpPr>
        <p:spPr>
          <a:xfrm>
            <a:off x="3112008" y="6117336"/>
            <a:ext cx="1630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Leaders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Systems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Resilience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 (Lead Self)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 (Lead Teams)</a:t>
            </a:r>
            <a:endParaRPr lang="en-US" sz="730" dirty="0"/>
          </a:p>
        </p:txBody>
      </p:sp>
      <p:sp>
        <p:nvSpPr>
          <p:cNvPr id="44" name="Shape 34"/>
          <p:cNvSpPr/>
          <p:nvPr/>
        </p:nvSpPr>
        <p:spPr>
          <a:xfrm>
            <a:off x="2819400" y="7315200"/>
            <a:ext cx="1923288" cy="0"/>
          </a:xfrm>
          <a:prstGeom prst="line">
            <a:avLst/>
          </a:prstGeom>
          <a:noFill/>
          <a:ln w="6350">
            <a:solidFill>
              <a:srgbClr val="A89662"/>
            </a:solidFill>
            <a:prstDash val="solid"/>
          </a:ln>
        </p:spPr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19400" y="7434072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3112008" y="7424928"/>
            <a:ext cx="163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PERFORMANCE CELL</a:t>
            </a:r>
            <a:endParaRPr lang="en-US" sz="830" dirty="0"/>
          </a:p>
        </p:txBody>
      </p:sp>
      <p:sp>
        <p:nvSpPr>
          <p:cNvPr id="47" name="Text 36"/>
          <p:cNvSpPr/>
          <p:nvPr/>
        </p:nvSpPr>
        <p:spPr>
          <a:xfrm>
            <a:off x="3112008" y="7671816"/>
            <a:ext cx="1630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COGCON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conditioning</a:t>
            </a:r>
            <a:endParaRPr lang="en-US" sz="730" dirty="0"/>
          </a:p>
        </p:txBody>
      </p:sp>
      <p:sp>
        <p:nvSpPr>
          <p:cNvPr id="48" name="Shape 37"/>
          <p:cNvSpPr/>
          <p:nvPr/>
        </p:nvSpPr>
        <p:spPr>
          <a:xfrm>
            <a:off x="2819400" y="8138160"/>
            <a:ext cx="1923288" cy="0"/>
          </a:xfrm>
          <a:prstGeom prst="line">
            <a:avLst/>
          </a:prstGeom>
          <a:noFill/>
          <a:ln w="6350">
            <a:solidFill>
              <a:srgbClr val="A89662"/>
            </a:solidFill>
            <a:prstDash val="solid"/>
          </a:ln>
        </p:spPr>
      </p:sp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8257032"/>
            <a:ext cx="219456" cy="219456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3112008" y="8229600"/>
            <a:ext cx="163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AND TRAINING ESTABLISHMENTS</a:t>
            </a:r>
            <a:endParaRPr lang="en-US" sz="830" dirty="0"/>
          </a:p>
        </p:txBody>
      </p:sp>
      <p:sp>
        <p:nvSpPr>
          <p:cNvPr id="51" name="Text 39"/>
          <p:cNvSpPr/>
          <p:nvPr/>
        </p:nvSpPr>
        <p:spPr>
          <a:xfrm>
            <a:off x="3112008" y="8558784"/>
            <a:ext cx="163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Exercises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rehearsal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activity</a:t>
            </a:r>
            <a:endParaRPr lang="en-US" sz="730" dirty="0"/>
          </a:p>
        </p:txBody>
      </p:sp>
      <p:sp>
        <p:nvSpPr>
          <p:cNvPr id="52" name="Shape 40"/>
          <p:cNvSpPr/>
          <p:nvPr/>
        </p:nvSpPr>
        <p:spPr>
          <a:xfrm>
            <a:off x="2819400" y="9381744"/>
            <a:ext cx="192328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02516"/>
            </a:solidFill>
            <a:prstDash val="dash"/>
          </a:ln>
        </p:spPr>
      </p:sp>
      <p:pic>
        <p:nvPicPr>
          <p:cNvPr id="5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92552" y="9601200"/>
            <a:ext cx="219456" cy="219456"/>
          </a:xfrm>
          <a:prstGeom prst="rect">
            <a:avLst/>
          </a:prstGeom>
        </p:spPr>
      </p:pic>
      <p:sp>
        <p:nvSpPr>
          <p:cNvPr id="54" name="Text 41"/>
          <p:cNvSpPr/>
          <p:nvPr/>
        </p:nvSpPr>
        <p:spPr>
          <a:xfrm>
            <a:off x="3166872" y="9418320"/>
            <a:ext cx="14843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contextualise and express Combat Mindset under realistic warfighting conditions.</a:t>
            </a:r>
            <a:endParaRPr lang="en-US" sz="720" dirty="0"/>
          </a:p>
        </p:txBody>
      </p:sp>
      <p:sp>
        <p:nvSpPr>
          <p:cNvPr id="55" name="Shape 42"/>
          <p:cNvSpPr/>
          <p:nvPr/>
        </p:nvSpPr>
        <p:spPr>
          <a:xfrm>
            <a:off x="5227320" y="6044184"/>
            <a:ext cx="0" cy="3364992"/>
          </a:xfrm>
          <a:prstGeom prst="line">
            <a:avLst/>
          </a:prstGeom>
          <a:noFill/>
          <a:ln w="15875">
            <a:solidFill>
              <a:srgbClr val="002516"/>
            </a:solidFill>
            <a:prstDash val="solid"/>
          </a:ln>
        </p:spPr>
      </p:sp>
      <p:sp>
        <p:nvSpPr>
          <p:cNvPr id="56" name="Shape 43"/>
          <p:cNvSpPr/>
          <p:nvPr/>
        </p:nvSpPr>
        <p:spPr>
          <a:xfrm>
            <a:off x="5090160" y="5907024"/>
            <a:ext cx="274320" cy="274320"/>
          </a:xfrm>
          <a:prstGeom prst="ellipse">
            <a:avLst/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44"/>
          <p:cNvSpPr/>
          <p:nvPr/>
        </p:nvSpPr>
        <p:spPr>
          <a:xfrm>
            <a:off x="5090160" y="5907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58" name="Text 45"/>
          <p:cNvSpPr/>
          <p:nvPr/>
        </p:nvSpPr>
        <p:spPr>
          <a:xfrm>
            <a:off x="5455920" y="5888736"/>
            <a:ext cx="153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0: Define and govern</a:t>
            </a:r>
            <a:endParaRPr lang="en-US" sz="820" dirty="0"/>
          </a:p>
        </p:txBody>
      </p:sp>
      <p:sp>
        <p:nvSpPr>
          <p:cNvPr id="59" name="Text 46"/>
          <p:cNvSpPr/>
          <p:nvPr/>
        </p:nvSpPr>
        <p:spPr>
          <a:xfrm>
            <a:off x="5455920" y="6181344"/>
            <a:ext cx="1539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sponsorship, ownership and interim governance.</a:t>
            </a:r>
            <a:endParaRPr lang="en-US" sz="720" dirty="0"/>
          </a:p>
        </p:txBody>
      </p:sp>
      <p:sp>
        <p:nvSpPr>
          <p:cNvPr id="60" name="Shape 47"/>
          <p:cNvSpPr/>
          <p:nvPr/>
        </p:nvSpPr>
        <p:spPr>
          <a:xfrm>
            <a:off x="5090160" y="6748272"/>
            <a:ext cx="274320" cy="274320"/>
          </a:xfrm>
          <a:prstGeom prst="ellipse">
            <a:avLst/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48"/>
          <p:cNvSpPr/>
          <p:nvPr/>
        </p:nvSpPr>
        <p:spPr>
          <a:xfrm>
            <a:off x="5090160" y="6748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2" name="Text 49"/>
          <p:cNvSpPr/>
          <p:nvPr/>
        </p:nvSpPr>
        <p:spPr>
          <a:xfrm>
            <a:off x="5455920" y="6729984"/>
            <a:ext cx="153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Understand</a:t>
            </a:r>
            <a:endParaRPr lang="en-US" sz="820" dirty="0"/>
          </a:p>
        </p:txBody>
      </p:sp>
      <p:sp>
        <p:nvSpPr>
          <p:cNvPr id="63" name="Text 50"/>
          <p:cNvSpPr/>
          <p:nvPr/>
        </p:nvSpPr>
        <p:spPr>
          <a:xfrm>
            <a:off x="5455920" y="7022592"/>
            <a:ext cx="1539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Stocktake existing doctrine, products, delivery, evidence, ownership and assurance.</a:t>
            </a:r>
            <a:endParaRPr lang="en-US" sz="720" dirty="0"/>
          </a:p>
        </p:txBody>
      </p:sp>
      <p:sp>
        <p:nvSpPr>
          <p:cNvPr id="64" name="Shape 51"/>
          <p:cNvSpPr/>
          <p:nvPr/>
        </p:nvSpPr>
        <p:spPr>
          <a:xfrm>
            <a:off x="5090160" y="7589520"/>
            <a:ext cx="274320" cy="274320"/>
          </a:xfrm>
          <a:prstGeom prst="ellipse">
            <a:avLst/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52"/>
          <p:cNvSpPr/>
          <p:nvPr/>
        </p:nvSpPr>
        <p:spPr>
          <a:xfrm>
            <a:off x="5090160" y="7589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6" name="Text 53"/>
          <p:cNvSpPr/>
          <p:nvPr/>
        </p:nvSpPr>
        <p:spPr>
          <a:xfrm>
            <a:off x="5455920" y="7571232"/>
            <a:ext cx="153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Design</a:t>
            </a:r>
            <a:endParaRPr lang="en-US" sz="820" dirty="0"/>
          </a:p>
        </p:txBody>
      </p:sp>
      <p:sp>
        <p:nvSpPr>
          <p:cNvPr id="67" name="Text 54"/>
          <p:cNvSpPr/>
          <p:nvPr/>
        </p:nvSpPr>
        <p:spPr>
          <a:xfrm>
            <a:off x="5455920" y="7863840"/>
            <a:ext cx="1539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framework, delivery architecture, outcomes and product-recognition criteria.</a:t>
            </a:r>
            <a:endParaRPr lang="en-US" sz="720" dirty="0"/>
          </a:p>
        </p:txBody>
      </p:sp>
      <p:sp>
        <p:nvSpPr>
          <p:cNvPr id="68" name="Shape 55"/>
          <p:cNvSpPr/>
          <p:nvPr/>
        </p:nvSpPr>
        <p:spPr>
          <a:xfrm>
            <a:off x="5090160" y="8430768"/>
            <a:ext cx="274320" cy="274320"/>
          </a:xfrm>
          <a:prstGeom prst="ellipse">
            <a:avLst/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56"/>
          <p:cNvSpPr/>
          <p:nvPr/>
        </p:nvSpPr>
        <p:spPr>
          <a:xfrm>
            <a:off x="5090160" y="8430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70" name="Text 57"/>
          <p:cNvSpPr/>
          <p:nvPr/>
        </p:nvSpPr>
        <p:spPr>
          <a:xfrm>
            <a:off x="5455920" y="8412480"/>
            <a:ext cx="153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Validate</a:t>
            </a:r>
            <a:endParaRPr lang="en-US" sz="820" dirty="0"/>
          </a:p>
        </p:txBody>
      </p:sp>
      <p:sp>
        <p:nvSpPr>
          <p:cNvPr id="71" name="Text 58"/>
          <p:cNvSpPr/>
          <p:nvPr/>
        </p:nvSpPr>
        <p:spPr>
          <a:xfrm>
            <a:off x="5455920" y="8705088"/>
            <a:ext cx="1539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stakeholders, training establishments and units.</a:t>
            </a:r>
            <a:endParaRPr lang="en-US" sz="720" dirty="0"/>
          </a:p>
        </p:txBody>
      </p:sp>
      <p:sp>
        <p:nvSpPr>
          <p:cNvPr id="72" name="Shape 59"/>
          <p:cNvSpPr/>
          <p:nvPr/>
        </p:nvSpPr>
        <p:spPr>
          <a:xfrm>
            <a:off x="5090160" y="9272016"/>
            <a:ext cx="274320" cy="274320"/>
          </a:xfrm>
          <a:prstGeom prst="ellipse">
            <a:avLst/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60"/>
          <p:cNvSpPr/>
          <p:nvPr/>
        </p:nvSpPr>
        <p:spPr>
          <a:xfrm>
            <a:off x="5090160" y="9272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74" name="Text 61"/>
          <p:cNvSpPr/>
          <p:nvPr/>
        </p:nvSpPr>
        <p:spPr>
          <a:xfrm>
            <a:off x="5455920" y="9253728"/>
            <a:ext cx="153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4: Endorse and implement</a:t>
            </a:r>
            <a:endParaRPr lang="en-US" sz="820" dirty="0"/>
          </a:p>
        </p:txBody>
      </p:sp>
      <p:sp>
        <p:nvSpPr>
          <p:cNvPr id="75" name="Text 62"/>
          <p:cNvSpPr/>
          <p:nvPr/>
        </p:nvSpPr>
        <p:spPr>
          <a:xfrm>
            <a:off x="5455920" y="9546336"/>
            <a:ext cx="1539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Framework v1.0 and a prioritised implementation plan.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2026-08-03T02:43:25Z</dcterms:created>
  <dcterms:modified xsi:type="dcterms:W3CDTF">2026-08-03T02:43:25Z</dcterms:modified>
</cp:coreProperties>
</file>