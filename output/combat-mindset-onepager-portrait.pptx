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UP/2d4cec0e-a52e-5368-bb54-803c6f37698d/scratchpad/logo-trim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1572768" cy="38039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822960"/>
            <a:ext cx="6647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 FRAMEWORK PROPOSAL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457200" y="1133856"/>
            <a:ext cx="6647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Army Command School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361688" y="10442448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August 2026</a:t>
            </a:r>
            <a:endParaRPr lang="en-US" sz="650" dirty="0"/>
          </a:p>
        </p:txBody>
      </p:sp>
      <p:sp>
        <p:nvSpPr>
          <p:cNvPr id="6" name="Shape 3"/>
          <p:cNvSpPr/>
          <p:nvPr/>
        </p:nvSpPr>
        <p:spPr>
          <a:xfrm>
            <a:off x="457200" y="1481328"/>
            <a:ext cx="6647688" cy="1371600"/>
          </a:xfrm>
          <a:prstGeom prst="roundRect">
            <a:avLst>
              <a:gd name="adj" fmla="val 5333"/>
            </a:avLst>
          </a:prstGeom>
          <a:solidFill>
            <a:srgbClr val="000000"/>
          </a:solidFill>
          <a:ln/>
        </p:spPr>
      </p:sp>
      <p:sp>
        <p:nvSpPr>
          <p:cNvPr id="7" name="Shape 4"/>
          <p:cNvSpPr/>
          <p:nvPr/>
        </p:nvSpPr>
        <p:spPr>
          <a:xfrm>
            <a:off x="2683764" y="1371600"/>
            <a:ext cx="2194560" cy="219456"/>
          </a:xfrm>
          <a:prstGeom prst="roundRect">
            <a:avLst>
              <a:gd name="adj" fmla="val 50000"/>
            </a:avLst>
          </a:prstGeom>
          <a:solidFill>
            <a:srgbClr val="C6202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683764" y="137160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1)  WARFIGHTING IMPERATIVE</a:t>
            </a:r>
            <a:endParaRPr lang="en-US" sz="78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773936"/>
            <a:ext cx="749808" cy="74980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57200" y="1755648"/>
            <a:ext cx="6647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</a:t>
            </a:r>
            <a:endParaRPr lang="en-US" sz="3600" dirty="0"/>
          </a:p>
        </p:txBody>
      </p:sp>
      <p:sp>
        <p:nvSpPr>
          <p:cNvPr id="11" name="Text 7"/>
          <p:cNvSpPr/>
          <p:nvPr/>
        </p:nvSpPr>
        <p:spPr>
          <a:xfrm>
            <a:off x="457200" y="2304288"/>
            <a:ext cx="6647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 effective. Act decisively.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457200" y="2523744"/>
            <a:ext cx="6647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620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Harder to kill.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 rot="10800000">
            <a:off x="3717036" y="2962656"/>
            <a:ext cx="128016" cy="100584"/>
          </a:xfrm>
          <a:prstGeom prst="triangle">
            <a:avLst/>
          </a:prstGeom>
          <a:solidFill>
            <a:srgbClr val="002516">
              <a:alpha val="55000"/>
            </a:srgbClr>
          </a:solidFill>
          <a:ln/>
        </p:spPr>
      </p:sp>
      <p:sp>
        <p:nvSpPr>
          <p:cNvPr id="14" name="Text 10"/>
          <p:cNvSpPr/>
          <p:nvPr/>
        </p:nvSpPr>
        <p:spPr>
          <a:xfrm>
            <a:off x="2043684" y="3081528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enabled by</a:t>
            </a:r>
            <a:endParaRPr lang="en-US" sz="800" dirty="0"/>
          </a:p>
        </p:txBody>
      </p:sp>
      <p:sp>
        <p:nvSpPr>
          <p:cNvPr id="15" name="Shape 11"/>
          <p:cNvSpPr/>
          <p:nvPr/>
        </p:nvSpPr>
        <p:spPr>
          <a:xfrm>
            <a:off x="457200" y="3474720"/>
            <a:ext cx="6647688" cy="1097280"/>
          </a:xfrm>
          <a:prstGeom prst="roundRect">
            <a:avLst>
              <a:gd name="adj" fmla="val 6667"/>
            </a:avLst>
          </a:prstGeom>
          <a:solidFill>
            <a:srgbClr val="002516"/>
          </a:solidFill>
          <a:ln/>
        </p:spPr>
      </p:sp>
      <p:sp>
        <p:nvSpPr>
          <p:cNvPr id="16" name="Shape 12"/>
          <p:cNvSpPr/>
          <p:nvPr/>
        </p:nvSpPr>
        <p:spPr>
          <a:xfrm>
            <a:off x="2706624" y="3364992"/>
            <a:ext cx="2148840" cy="219456"/>
          </a:xfrm>
          <a:prstGeom prst="roundRect">
            <a:avLst>
              <a:gd name="adj" fmla="val 50000"/>
            </a:avLst>
          </a:prstGeom>
          <a:solidFill>
            <a:srgbClr val="00251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2706624" y="3364992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2)  ENABLING CAPABILITY</a:t>
            </a:r>
            <a:endParaRPr lang="en-US" sz="78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3749040"/>
            <a:ext cx="548640" cy="5486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57200" y="3712464"/>
            <a:ext cx="6647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UNDER PRESSURE</a:t>
            </a:r>
            <a:endParaRPr lang="en-US" sz="2250" dirty="0"/>
          </a:p>
        </p:txBody>
      </p:sp>
      <p:sp>
        <p:nvSpPr>
          <p:cNvPr id="20" name="Text 15"/>
          <p:cNvSpPr/>
          <p:nvPr/>
        </p:nvSpPr>
        <p:spPr>
          <a:xfrm>
            <a:off x="457200" y="4169664"/>
            <a:ext cx="6647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   •   Perform   •   Recover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 rot="10800000">
            <a:off x="3717036" y="4681728"/>
            <a:ext cx="128016" cy="100584"/>
          </a:xfrm>
          <a:prstGeom prst="triangle">
            <a:avLst/>
          </a:prstGeom>
          <a:solidFill>
            <a:srgbClr val="002516">
              <a:alpha val="55000"/>
            </a:srgbClr>
          </a:solidFill>
          <a:ln/>
        </p:spPr>
      </p:sp>
      <p:sp>
        <p:nvSpPr>
          <p:cNvPr id="22" name="Text 17"/>
          <p:cNvSpPr/>
          <p:nvPr/>
        </p:nvSpPr>
        <p:spPr>
          <a:xfrm>
            <a:off x="2043684" y="4800600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organised through</a:t>
            </a:r>
            <a:endParaRPr lang="en-US" sz="800" dirty="0"/>
          </a:p>
        </p:txBody>
      </p:sp>
      <p:sp>
        <p:nvSpPr>
          <p:cNvPr id="23" name="Shape 18"/>
          <p:cNvSpPr/>
          <p:nvPr/>
        </p:nvSpPr>
        <p:spPr>
          <a:xfrm>
            <a:off x="457200" y="5193792"/>
            <a:ext cx="6647688" cy="1024128"/>
          </a:xfrm>
          <a:prstGeom prst="roundRect">
            <a:avLst>
              <a:gd name="adj" fmla="val 7143"/>
            </a:avLst>
          </a:prstGeom>
          <a:solidFill>
            <a:srgbClr val="3A4B00"/>
          </a:solidFill>
          <a:ln/>
        </p:spPr>
      </p:sp>
      <p:sp>
        <p:nvSpPr>
          <p:cNvPr id="24" name="Shape 19"/>
          <p:cNvSpPr/>
          <p:nvPr/>
        </p:nvSpPr>
        <p:spPr>
          <a:xfrm>
            <a:off x="2820924" y="5084064"/>
            <a:ext cx="1920240" cy="219456"/>
          </a:xfrm>
          <a:prstGeom prst="roundRect">
            <a:avLst>
              <a:gd name="adj" fmla="val 50000"/>
            </a:avLst>
          </a:prstGeom>
          <a:solidFill>
            <a:srgbClr val="3A4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2820924" y="508406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3)  ORGANISING SYSTEM</a:t>
            </a:r>
            <a:endParaRPr lang="en-US" sz="780" dirty="0"/>
          </a:p>
        </p:txBody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5431536"/>
            <a:ext cx="530352" cy="530352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457200" y="5358384"/>
            <a:ext cx="66476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 FRAMEWORK</a:t>
            </a:r>
            <a:endParaRPr lang="en-US" sz="2250" dirty="0"/>
          </a:p>
        </p:txBody>
      </p:sp>
      <p:sp>
        <p:nvSpPr>
          <p:cNvPr id="28" name="Text 22"/>
          <p:cNvSpPr/>
          <p:nvPr/>
        </p:nvSpPr>
        <p:spPr>
          <a:xfrm>
            <a:off x="457200" y="5788152"/>
            <a:ext cx="6647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framework through which Combat Mindset is governed, developed, delivered and assured.</a:t>
            </a:r>
            <a:endParaRPr lang="en-US" sz="950" dirty="0"/>
          </a:p>
        </p:txBody>
      </p:sp>
      <p:sp>
        <p:nvSpPr>
          <p:cNvPr id="29" name="Shape 23"/>
          <p:cNvSpPr/>
          <p:nvPr/>
        </p:nvSpPr>
        <p:spPr>
          <a:xfrm rot="10800000">
            <a:off x="3717036" y="6327648"/>
            <a:ext cx="128016" cy="100584"/>
          </a:xfrm>
          <a:prstGeom prst="triangle">
            <a:avLst/>
          </a:prstGeom>
          <a:solidFill>
            <a:srgbClr val="002516">
              <a:alpha val="55000"/>
            </a:srgbClr>
          </a:solidFill>
          <a:ln/>
        </p:spPr>
      </p:sp>
      <p:sp>
        <p:nvSpPr>
          <p:cNvPr id="30" name="Text 24"/>
          <p:cNvSpPr/>
          <p:nvPr/>
        </p:nvSpPr>
        <p:spPr>
          <a:xfrm>
            <a:off x="2043684" y="6446520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achieved through</a:t>
            </a:r>
            <a:endParaRPr lang="en-US" sz="800" dirty="0"/>
          </a:p>
        </p:txBody>
      </p:sp>
      <p:sp>
        <p:nvSpPr>
          <p:cNvPr id="31" name="Shape 25"/>
          <p:cNvSpPr/>
          <p:nvPr/>
        </p:nvSpPr>
        <p:spPr>
          <a:xfrm>
            <a:off x="457200" y="6839712"/>
            <a:ext cx="6647688" cy="3438144"/>
          </a:xfrm>
          <a:prstGeom prst="roundRect">
            <a:avLst>
              <a:gd name="adj" fmla="val 2128"/>
            </a:avLst>
          </a:prstGeom>
          <a:solidFill>
            <a:srgbClr val="CDD2B7">
              <a:alpha val="28000"/>
            </a:srgbClr>
          </a:solidFill>
          <a:ln/>
        </p:spPr>
      </p:sp>
      <p:sp>
        <p:nvSpPr>
          <p:cNvPr id="32" name="Shape 26"/>
          <p:cNvSpPr/>
          <p:nvPr/>
        </p:nvSpPr>
        <p:spPr>
          <a:xfrm>
            <a:off x="2089404" y="6729984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00251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2089404" y="6729984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4)  FRAMEWORK DEVELOPMENT PROGRAMME</a:t>
            </a:r>
            <a:endParaRPr lang="en-US" sz="780" dirty="0"/>
          </a:p>
        </p:txBody>
      </p:sp>
      <p:sp>
        <p:nvSpPr>
          <p:cNvPr id="34" name="Shape 28"/>
          <p:cNvSpPr/>
          <p:nvPr/>
        </p:nvSpPr>
        <p:spPr>
          <a:xfrm>
            <a:off x="987552" y="7406640"/>
            <a:ext cx="0" cy="2596896"/>
          </a:xfrm>
          <a:prstGeom prst="line">
            <a:avLst/>
          </a:prstGeom>
          <a:noFill/>
          <a:ln w="19050">
            <a:solidFill>
              <a:srgbClr val="002516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795528" y="7214616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795528" y="7214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37" name="Text 31"/>
          <p:cNvSpPr/>
          <p:nvPr/>
        </p:nvSpPr>
        <p:spPr>
          <a:xfrm>
            <a:off x="1353312" y="72237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</a:t>
            </a:r>
            <a:endParaRPr lang="en-US" sz="1150" dirty="0"/>
          </a:p>
        </p:txBody>
      </p:sp>
      <p:sp>
        <p:nvSpPr>
          <p:cNvPr id="38" name="Text 32"/>
          <p:cNvSpPr/>
          <p:nvPr/>
        </p:nvSpPr>
        <p:spPr>
          <a:xfrm>
            <a:off x="3182112" y="7187184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terminology, governance, roles and responsibilities.</a:t>
            </a:r>
            <a:endParaRPr lang="en-US" sz="860" dirty="0"/>
          </a:p>
        </p:txBody>
      </p:sp>
      <p:sp>
        <p:nvSpPr>
          <p:cNvPr id="39" name="Shape 33"/>
          <p:cNvSpPr/>
          <p:nvPr/>
        </p:nvSpPr>
        <p:spPr>
          <a:xfrm>
            <a:off x="795528" y="7863840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0" name="Text 34"/>
          <p:cNvSpPr/>
          <p:nvPr/>
        </p:nvSpPr>
        <p:spPr>
          <a:xfrm>
            <a:off x="795528" y="7863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41" name="Text 35"/>
          <p:cNvSpPr/>
          <p:nvPr/>
        </p:nvSpPr>
        <p:spPr>
          <a:xfrm>
            <a:off x="1353312" y="787298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</a:t>
            </a:r>
            <a:endParaRPr lang="en-US" sz="1150" dirty="0"/>
          </a:p>
        </p:txBody>
      </p:sp>
      <p:sp>
        <p:nvSpPr>
          <p:cNvPr id="42" name="Text 36"/>
          <p:cNvSpPr/>
          <p:nvPr/>
        </p:nvSpPr>
        <p:spPr>
          <a:xfrm>
            <a:off x="3182112" y="7836408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 existing doctrine, products, delivery and governance.</a:t>
            </a:r>
            <a:endParaRPr lang="en-US" sz="860" dirty="0"/>
          </a:p>
        </p:txBody>
      </p:sp>
      <p:sp>
        <p:nvSpPr>
          <p:cNvPr id="43" name="Shape 37"/>
          <p:cNvSpPr/>
          <p:nvPr/>
        </p:nvSpPr>
        <p:spPr>
          <a:xfrm>
            <a:off x="795528" y="8513064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4" name="Text 38"/>
          <p:cNvSpPr/>
          <p:nvPr/>
        </p:nvSpPr>
        <p:spPr>
          <a:xfrm>
            <a:off x="795528" y="8513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45" name="Text 39"/>
          <p:cNvSpPr/>
          <p:nvPr/>
        </p:nvSpPr>
        <p:spPr>
          <a:xfrm>
            <a:off x="1353312" y="852220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150" dirty="0"/>
          </a:p>
        </p:txBody>
      </p:sp>
      <p:sp>
        <p:nvSpPr>
          <p:cNvPr id="46" name="Text 40"/>
          <p:cNvSpPr/>
          <p:nvPr/>
        </p:nvSpPr>
        <p:spPr>
          <a:xfrm>
            <a:off x="3182112" y="8485632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 the Combat Mindset Framework, delivery system and outcomes.</a:t>
            </a:r>
            <a:endParaRPr lang="en-US" sz="860" dirty="0"/>
          </a:p>
        </p:txBody>
      </p:sp>
      <p:sp>
        <p:nvSpPr>
          <p:cNvPr id="47" name="Shape 41"/>
          <p:cNvSpPr/>
          <p:nvPr/>
        </p:nvSpPr>
        <p:spPr>
          <a:xfrm>
            <a:off x="795528" y="9162288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Text 42"/>
          <p:cNvSpPr/>
          <p:nvPr/>
        </p:nvSpPr>
        <p:spPr>
          <a:xfrm>
            <a:off x="795528" y="9162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49" name="Text 43"/>
          <p:cNvSpPr/>
          <p:nvPr/>
        </p:nvSpPr>
        <p:spPr>
          <a:xfrm>
            <a:off x="1353312" y="917143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</a:t>
            </a:r>
            <a:endParaRPr lang="en-US" sz="1150" dirty="0"/>
          </a:p>
        </p:txBody>
      </p:sp>
      <p:sp>
        <p:nvSpPr>
          <p:cNvPr id="50" name="Text 44"/>
          <p:cNvSpPr/>
          <p:nvPr/>
        </p:nvSpPr>
        <p:spPr>
          <a:xfrm>
            <a:off x="3182112" y="9134856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Refine the framework with key stakeholders and conduct bounded pilots.</a:t>
            </a:r>
            <a:endParaRPr lang="en-US" sz="860" dirty="0"/>
          </a:p>
        </p:txBody>
      </p:sp>
      <p:sp>
        <p:nvSpPr>
          <p:cNvPr id="51" name="Shape 45"/>
          <p:cNvSpPr/>
          <p:nvPr/>
        </p:nvSpPr>
        <p:spPr>
          <a:xfrm>
            <a:off x="795528" y="9811512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46"/>
          <p:cNvSpPr/>
          <p:nvPr/>
        </p:nvSpPr>
        <p:spPr>
          <a:xfrm>
            <a:off x="795528" y="9811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53" name="Text 47"/>
          <p:cNvSpPr/>
          <p:nvPr/>
        </p:nvSpPr>
        <p:spPr>
          <a:xfrm>
            <a:off x="1353312" y="982065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</a:t>
            </a:r>
            <a:endParaRPr lang="en-US" sz="1150" dirty="0"/>
          </a:p>
        </p:txBody>
      </p:sp>
      <p:sp>
        <p:nvSpPr>
          <p:cNvPr id="54" name="Text 48"/>
          <p:cNvSpPr/>
          <p:nvPr/>
        </p:nvSpPr>
        <p:spPr>
          <a:xfrm>
            <a:off x="3182112" y="9784080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 the framework for approval and implementation.</a:t>
            </a:r>
            <a:endParaRPr lang="en-US" sz="8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Army Command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Combat Mindset Framework Proposal</dc:title>
  <dc:subject>Combat Mindset Framework Proposal</dc:subject>
  <dc:creator>PptxGenJS</dc:creator>
  <cp:lastModifiedBy>PptxGenJS</cp:lastModifiedBy>
  <cp:revision>9</cp:revision>
  <dcterms:created xsi:type="dcterms:W3CDTF">2026-08-03T04:04:31Z</dcterms:created>
  <dcterms:modified xsi:type="dcterms:W3CDTF">2026-08-03T04:04:31Z</dcterms:modified>
</cp:coreProperties>
</file>