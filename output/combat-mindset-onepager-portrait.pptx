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4592"/>
          </a:xfrm>
          <a:prstGeom prst="rect">
            <a:avLst/>
          </a:prstGeom>
          <a:solidFill>
            <a:srgbClr val="000000"/>
          </a:solidFill>
          <a:ln/>
        </p:spPr>
      </p:sp>
      <p:sp>
        <p:nvSpPr>
          <p:cNvPr id="3" name="Text 1"/>
          <p:cNvSpPr/>
          <p:nvPr/>
        </p:nvSpPr>
        <p:spPr>
          <a:xfrm>
            <a:off x="0" y="0"/>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4" name="Shape 2"/>
          <p:cNvSpPr/>
          <p:nvPr/>
        </p:nvSpPr>
        <p:spPr>
          <a:xfrm>
            <a:off x="0" y="10524744"/>
            <a:ext cx="7562088" cy="164592"/>
          </a:xfrm>
          <a:prstGeom prst="rect">
            <a:avLst/>
          </a:prstGeom>
          <a:solidFill>
            <a:srgbClr val="000000"/>
          </a:solidFill>
          <a:ln/>
        </p:spPr>
      </p:sp>
      <p:sp>
        <p:nvSpPr>
          <p:cNvPr id="5" name="Text 3"/>
          <p:cNvSpPr/>
          <p:nvPr/>
        </p:nvSpPr>
        <p:spPr>
          <a:xfrm>
            <a:off x="0" y="10524744"/>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6" name="Text 4"/>
          <p:cNvSpPr/>
          <p:nvPr/>
        </p:nvSpPr>
        <p:spPr>
          <a:xfrm>
            <a:off x="457200" y="10524744"/>
            <a:ext cx="2377440" cy="164592"/>
          </a:xfrm>
          <a:prstGeom prst="rect">
            <a:avLst/>
          </a:prstGeom>
          <a:noFill/>
          <a:ln/>
        </p:spPr>
        <p:txBody>
          <a:bodyPr wrap="square" lIns="0" tIns="0" rIns="0" bIns="0" rtlCol="0" anchor="ctr"/>
          <a:lstStyle/>
          <a:p>
            <a:pPr algn="l" indent="0" marL="0">
              <a:buNone/>
            </a:pPr>
            <a:r>
              <a:rPr lang="en-US" sz="600" dirty="0">
                <a:solidFill>
                  <a:srgbClr val="CDD2B7"/>
                </a:solidFill>
                <a:latin typeface="Arial" pitchFamily="34" charset="0"/>
                <a:ea typeface="Arial" pitchFamily="34" charset="-122"/>
                <a:cs typeface="Arial" pitchFamily="34" charset="-120"/>
              </a:rPr>
              <a:t>NZALC / HPC  ·  Draft v0.3  ·  July 2026</a:t>
            </a:r>
            <a:endParaRPr lang="en-US" sz="600" dirty="0"/>
          </a:p>
        </p:txBody>
      </p:sp>
      <p:sp>
        <p:nvSpPr>
          <p:cNvPr id="7" name="Text 5"/>
          <p:cNvSpPr/>
          <p:nvPr/>
        </p:nvSpPr>
        <p:spPr>
          <a:xfrm>
            <a:off x="5212080" y="10524744"/>
            <a:ext cx="1892808" cy="164592"/>
          </a:xfrm>
          <a:prstGeom prst="rect">
            <a:avLst/>
          </a:prstGeom>
          <a:noFill/>
          <a:ln/>
        </p:spPr>
        <p:txBody>
          <a:bodyPr wrap="square" lIns="0" tIns="0" rIns="0" bIns="0" rtlCol="0" anchor="ctr"/>
          <a:lstStyle/>
          <a:p>
            <a:pPr algn="r" indent="0" marL="0">
              <a:buNone/>
            </a:pPr>
            <a:r>
              <a:rPr lang="en-US" sz="600" dirty="0">
                <a:solidFill>
                  <a:srgbClr val="CDD2B7"/>
                </a:solidFill>
                <a:latin typeface="Arial" pitchFamily="34" charset="0"/>
                <a:ea typeface="Arial" pitchFamily="34" charset="-122"/>
                <a:cs typeface="Arial" pitchFamily="34" charset="-120"/>
              </a:rPr>
              <a:t>Distribution: COMDT ACS</a:t>
            </a:r>
            <a:endParaRPr lang="en-US" sz="60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57200" y="310896"/>
            <a:ext cx="1005840" cy="243230"/>
          </a:xfrm>
          <a:prstGeom prst="rect">
            <a:avLst/>
          </a:prstGeom>
        </p:spPr>
      </p:pic>
      <p:sp>
        <p:nvSpPr>
          <p:cNvPr id="9" name="Text 6"/>
          <p:cNvSpPr/>
          <p:nvPr/>
        </p:nvSpPr>
        <p:spPr>
          <a:xfrm>
            <a:off x="1691640" y="274320"/>
            <a:ext cx="5413248" cy="256032"/>
          </a:xfrm>
          <a:prstGeom prst="rect">
            <a:avLst/>
          </a:prstGeom>
          <a:noFill/>
          <a:ln/>
        </p:spPr>
        <p:txBody>
          <a:bodyPr wrap="square" lIns="0" tIns="0" rIns="0" bIns="0" rtlCol="0" anchor="ctr"/>
          <a:lstStyle/>
          <a:p>
            <a:pPr algn="l" indent="0" marL="0">
              <a:buNone/>
            </a:pPr>
            <a:r>
              <a:rPr lang="en-US" sz="1550" b="1" dirty="0">
                <a:solidFill>
                  <a:srgbClr val="000000"/>
                </a:solidFill>
                <a:latin typeface="Arial" pitchFamily="34" charset="0"/>
                <a:ea typeface="Arial" pitchFamily="34" charset="-122"/>
                <a:cs typeface="Arial" pitchFamily="34" charset="-120"/>
              </a:rPr>
              <a:t>COMBAT MINDSET — THE WAY FORWARD</a:t>
            </a:r>
            <a:endParaRPr lang="en-US" sz="1550" dirty="0"/>
          </a:p>
        </p:txBody>
      </p:sp>
      <p:sp>
        <p:nvSpPr>
          <p:cNvPr id="10" name="Text 7"/>
          <p:cNvSpPr/>
          <p:nvPr/>
        </p:nvSpPr>
        <p:spPr>
          <a:xfrm>
            <a:off x="1691640" y="530352"/>
            <a:ext cx="5413248" cy="164592"/>
          </a:xfrm>
          <a:prstGeom prst="rect">
            <a:avLst/>
          </a:prstGeom>
          <a:noFill/>
          <a:ln/>
        </p:spPr>
        <p:txBody>
          <a:bodyPr wrap="square" lIns="0" tIns="0" rIns="0" bIns="0" rtlCol="0" anchor="ctr"/>
          <a:lstStyle/>
          <a:p>
            <a:pPr algn="l" indent="0" marL="0">
              <a:buNone/>
            </a:pPr>
            <a:r>
              <a:rPr lang="en-US" sz="800" i="1" dirty="0">
                <a:solidFill>
                  <a:srgbClr val="000000"/>
                </a:solidFill>
                <a:latin typeface="Arial" pitchFamily="34" charset="0"/>
                <a:ea typeface="Arial" pitchFamily="34" charset="-122"/>
                <a:cs typeface="Arial" pitchFamily="34" charset="-120"/>
              </a:rPr>
              <a:t>Joint NZALC and Human Performance Cell response to COMDT ACS</a:t>
            </a:r>
            <a:endParaRPr lang="en-US" sz="800" dirty="0"/>
          </a:p>
        </p:txBody>
      </p:sp>
      <p:sp>
        <p:nvSpPr>
          <p:cNvPr id="11" name="Shape 8"/>
          <p:cNvSpPr/>
          <p:nvPr/>
        </p:nvSpPr>
        <p:spPr>
          <a:xfrm>
            <a:off x="457200" y="868680"/>
            <a:ext cx="6647688" cy="1234440"/>
          </a:xfrm>
          <a:prstGeom prst="rect">
            <a:avLst/>
          </a:prstGeom>
          <a:solidFill>
            <a:srgbClr val="000000"/>
          </a:solidFill>
          <a:ln/>
        </p:spPr>
      </p:sp>
      <p:pic>
        <p:nvPicPr>
          <p:cNvPr id="12" name="Image 1" descr="preencoded.png">    </p:cNvPr>
          <p:cNvPicPr>
            <a:picLocks noChangeAspect="1"/>
          </p:cNvPicPr>
          <p:nvPr/>
        </p:nvPicPr>
        <p:blipFill>
          <a:blip r:embed="rId2">
            <a:alphaModFix amt="55000"/>
          </a:blip>
          <a:stretch>
            <a:fillRect/>
          </a:stretch>
        </p:blipFill>
        <p:spPr>
          <a:xfrm>
            <a:off x="6053328" y="1078992"/>
            <a:ext cx="804672" cy="804672"/>
          </a:xfrm>
          <a:prstGeom prst="rect">
            <a:avLst/>
          </a:prstGeom>
        </p:spPr>
      </p:pic>
      <p:sp>
        <p:nvSpPr>
          <p:cNvPr id="13" name="Text 9"/>
          <p:cNvSpPr/>
          <p:nvPr/>
        </p:nvSpPr>
        <p:spPr>
          <a:xfrm>
            <a:off x="713232" y="987552"/>
            <a:ext cx="4114800" cy="164592"/>
          </a:xfrm>
          <a:prstGeom prst="rect">
            <a:avLst/>
          </a:prstGeom>
          <a:noFill/>
          <a:ln/>
        </p:spPr>
        <p:txBody>
          <a:bodyPr wrap="square" lIns="0" tIns="0" rIns="0" bIns="0" rtlCol="0" anchor="ctr"/>
          <a:lstStyle/>
          <a:p>
            <a:pPr indent="0" marL="0">
              <a:buNone/>
            </a:pPr>
            <a:r>
              <a:rPr lang="en-US" sz="850" b="1" spc="300" kern="0" dirty="0">
                <a:solidFill>
                  <a:srgbClr val="CDD2B7"/>
                </a:solidFill>
                <a:latin typeface="Arial" pitchFamily="34" charset="0"/>
                <a:ea typeface="Arial" pitchFamily="34" charset="-122"/>
                <a:cs typeface="Arial" pitchFamily="34" charset="-120"/>
              </a:rPr>
              <a:t>WARFIGHTING IMPERATIVE</a:t>
            </a:r>
            <a:endParaRPr lang="en-US" sz="850" dirty="0"/>
          </a:p>
        </p:txBody>
      </p:sp>
      <p:sp>
        <p:nvSpPr>
          <p:cNvPr id="14" name="Text 10"/>
          <p:cNvSpPr/>
          <p:nvPr/>
        </p:nvSpPr>
        <p:spPr>
          <a:xfrm>
            <a:off x="713232" y="1161288"/>
            <a:ext cx="5120640" cy="384048"/>
          </a:xfrm>
          <a:prstGeom prst="rect">
            <a:avLst/>
          </a:prstGeom>
          <a:noFill/>
          <a:ln/>
        </p:spPr>
        <p:txBody>
          <a:bodyPr wrap="square" lIns="0" tIns="0" rIns="0" bIns="0" rtlCol="0" anchor="ctr"/>
          <a:lstStyle/>
          <a:p>
            <a:pPr algn="l" indent="0" marL="0">
              <a:buNone/>
            </a:pPr>
            <a:r>
              <a:rPr lang="en-US" sz="2100" b="1" dirty="0">
                <a:solidFill>
                  <a:srgbClr val="FFFFFF"/>
                </a:solidFill>
                <a:latin typeface="Arial" pitchFamily="34" charset="0"/>
                <a:ea typeface="Arial" pitchFamily="34" charset="-122"/>
                <a:cs typeface="Arial" pitchFamily="34" charset="-120"/>
              </a:rPr>
              <a:t>REMAIN EFFECTIVE. </a:t>
            </a:r>
            <a:pPr algn="l" indent="0" marL="0">
              <a:buNone/>
            </a:pPr>
            <a:r>
              <a:rPr lang="en-US" sz="2100" b="1" dirty="0">
                <a:solidFill>
                  <a:srgbClr val="C62026"/>
                </a:solidFill>
                <a:latin typeface="Arial" pitchFamily="34" charset="0"/>
                <a:ea typeface="Arial" pitchFamily="34" charset="-122"/>
                <a:cs typeface="Arial" pitchFamily="34" charset="-120"/>
              </a:rPr>
              <a:t>ACT DECISIVELY.</a:t>
            </a:r>
            <a:endParaRPr lang="en-US" sz="2100" dirty="0"/>
          </a:p>
        </p:txBody>
      </p:sp>
      <p:sp>
        <p:nvSpPr>
          <p:cNvPr id="15" name="Text 11"/>
          <p:cNvSpPr/>
          <p:nvPr/>
        </p:nvSpPr>
        <p:spPr>
          <a:xfrm>
            <a:off x="713232" y="1591056"/>
            <a:ext cx="5212080" cy="402336"/>
          </a:xfrm>
          <a:prstGeom prst="rect">
            <a:avLst/>
          </a:prstGeom>
          <a:noFill/>
          <a:ln/>
        </p:spPr>
        <p:txBody>
          <a:bodyPr wrap="square" lIns="0" tIns="0" rIns="0" bIns="0" rtlCol="0" anchor="t"/>
          <a:lstStyle/>
          <a:p>
            <a:pPr algn="l" indent="0" marL="0">
              <a:buNone/>
            </a:pPr>
            <a:r>
              <a:rPr lang="en-US" sz="850" dirty="0">
                <a:solidFill>
                  <a:srgbClr val="FFFFFF"/>
                </a:solidFill>
                <a:latin typeface="Arial" pitchFamily="34" charset="0"/>
                <a:ea typeface="Arial" pitchFamily="34" charset="-122"/>
                <a:cs typeface="Arial" pitchFamily="34" charset="-120"/>
              </a:rPr>
              <a:t>Army requires individuals, teams and leaders who remain effective and act decisively, persistently, adaptively and ethically under the threat, adversity and uncertainty of combat.</a:t>
            </a:r>
            <a:endParaRPr lang="en-US" sz="850" dirty="0"/>
          </a:p>
        </p:txBody>
      </p:sp>
      <p:sp>
        <p:nvSpPr>
          <p:cNvPr id="16" name="Shape 12"/>
          <p:cNvSpPr/>
          <p:nvPr/>
        </p:nvSpPr>
        <p:spPr>
          <a:xfrm>
            <a:off x="457200" y="2267712"/>
            <a:ext cx="1874520" cy="804672"/>
          </a:xfrm>
          <a:prstGeom prst="rect">
            <a:avLst/>
          </a:prstGeom>
          <a:solidFill>
            <a:srgbClr val="C62026"/>
          </a:solidFill>
          <a:ln/>
        </p:spPr>
      </p:sp>
      <p:pic>
        <p:nvPicPr>
          <p:cNvPr id="17" name="Image 2" descr="preencoded.png">    </p:cNvPr>
          <p:cNvPicPr>
            <a:picLocks noChangeAspect="1"/>
          </p:cNvPicPr>
          <p:nvPr/>
        </p:nvPicPr>
        <p:blipFill>
          <a:blip r:embed="rId3"/>
          <a:stretch>
            <a:fillRect/>
          </a:stretch>
        </p:blipFill>
        <p:spPr>
          <a:xfrm>
            <a:off x="603504" y="2395728"/>
            <a:ext cx="310896" cy="310896"/>
          </a:xfrm>
          <a:prstGeom prst="rect">
            <a:avLst/>
          </a:prstGeom>
        </p:spPr>
      </p:pic>
      <p:sp>
        <p:nvSpPr>
          <p:cNvPr id="18" name="Text 13"/>
          <p:cNvSpPr/>
          <p:nvPr/>
        </p:nvSpPr>
        <p:spPr>
          <a:xfrm>
            <a:off x="1005840" y="2359152"/>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COMBAT MINDSET</a:t>
            </a:r>
            <a:endParaRPr lang="en-US" sz="1050" dirty="0"/>
          </a:p>
        </p:txBody>
      </p:sp>
      <p:sp>
        <p:nvSpPr>
          <p:cNvPr id="19" name="Text 14"/>
          <p:cNvSpPr/>
          <p:nvPr/>
        </p:nvSpPr>
        <p:spPr>
          <a:xfrm>
            <a:off x="603504" y="2798064"/>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Combat-specific expression</a:t>
            </a:r>
            <a:endParaRPr lang="en-US" sz="750" dirty="0"/>
          </a:p>
        </p:txBody>
      </p:sp>
      <p:sp>
        <p:nvSpPr>
          <p:cNvPr id="20" name="Shape 15"/>
          <p:cNvSpPr/>
          <p:nvPr/>
        </p:nvSpPr>
        <p:spPr>
          <a:xfrm>
            <a:off x="2487168" y="2267712"/>
            <a:ext cx="4617720" cy="804672"/>
          </a:xfrm>
          <a:prstGeom prst="rect">
            <a:avLst/>
          </a:prstGeom>
          <a:solidFill>
            <a:srgbClr val="CDD2B7">
              <a:alpha val="28000"/>
            </a:srgbClr>
          </a:solidFill>
          <a:ln/>
        </p:spPr>
      </p:sp>
      <p:sp>
        <p:nvSpPr>
          <p:cNvPr id="21" name="Text 16"/>
          <p:cNvSpPr/>
          <p:nvPr/>
        </p:nvSpPr>
        <p:spPr>
          <a:xfrm>
            <a:off x="2633472" y="2331720"/>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Combat Mindset is the combat-specific expression of Performance Under Pressure.</a:t>
            </a:r>
            <a:endParaRPr lang="en-US" sz="870" dirty="0"/>
          </a:p>
        </p:txBody>
      </p:sp>
      <p:sp>
        <p:nvSpPr>
          <p:cNvPr id="22" name="Text 17"/>
          <p:cNvSpPr/>
          <p:nvPr/>
        </p:nvSpPr>
        <p:spPr>
          <a:xfrm>
            <a:off x="2633472" y="2670048"/>
            <a:ext cx="4325112" cy="384048"/>
          </a:xfrm>
          <a:prstGeom prst="rect">
            <a:avLst/>
          </a:prstGeom>
          <a:noFill/>
          <a:ln/>
        </p:spPr>
        <p:txBody>
          <a:bodyPr wrap="square" lIns="0" tIns="0" rIns="0" bIns="0" rtlCol="0" anchor="t"/>
          <a:lstStyle/>
          <a:p>
            <a:pPr algn="l" indent="0" marL="0">
              <a:buNone/>
            </a:pPr>
            <a:r>
              <a:rPr lang="en-US" sz="820" dirty="0">
                <a:solidFill>
                  <a:srgbClr val="000000"/>
                </a:solidFill>
                <a:latin typeface="Arial" pitchFamily="34" charset="0"/>
                <a:ea typeface="Arial" pitchFamily="34" charset="-122"/>
                <a:cs typeface="Arial" pitchFamily="34" charset="-120"/>
              </a:rPr>
              <a:t>The individual and collective readiness and disposition to remain effective and act decisively, persistently, adaptively and ethically under the threat, adversity and uncertainty of combat in order to achieve the mission.</a:t>
            </a:r>
            <a:endParaRPr lang="en-US" sz="820" dirty="0"/>
          </a:p>
        </p:txBody>
      </p:sp>
      <p:sp>
        <p:nvSpPr>
          <p:cNvPr id="23" name="Shape 18"/>
          <p:cNvSpPr/>
          <p:nvPr/>
        </p:nvSpPr>
        <p:spPr>
          <a:xfrm rot="10800000">
            <a:off x="1321308" y="3145536"/>
            <a:ext cx="146304" cy="109728"/>
          </a:xfrm>
          <a:prstGeom prst="triangle">
            <a:avLst/>
          </a:prstGeom>
          <a:solidFill>
            <a:srgbClr val="002516"/>
          </a:solidFill>
          <a:ln/>
        </p:spPr>
      </p:sp>
      <p:sp>
        <p:nvSpPr>
          <p:cNvPr id="24" name="Text 19"/>
          <p:cNvSpPr/>
          <p:nvPr/>
        </p:nvSpPr>
        <p:spPr>
          <a:xfrm>
            <a:off x="1540764" y="3127248"/>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enabled by</a:t>
            </a:r>
            <a:endParaRPr lang="en-US" sz="750" dirty="0"/>
          </a:p>
        </p:txBody>
      </p:sp>
      <p:sp>
        <p:nvSpPr>
          <p:cNvPr id="25" name="Shape 20"/>
          <p:cNvSpPr/>
          <p:nvPr/>
        </p:nvSpPr>
        <p:spPr>
          <a:xfrm>
            <a:off x="457200" y="3346704"/>
            <a:ext cx="1874520" cy="1152144"/>
          </a:xfrm>
          <a:prstGeom prst="rect">
            <a:avLst/>
          </a:prstGeom>
          <a:solidFill>
            <a:srgbClr val="002516"/>
          </a:solidFill>
          <a:ln/>
        </p:spPr>
      </p:sp>
      <p:pic>
        <p:nvPicPr>
          <p:cNvPr id="26" name="Image 3" descr="preencoded.png">    </p:cNvPr>
          <p:cNvPicPr>
            <a:picLocks noChangeAspect="1"/>
          </p:cNvPicPr>
          <p:nvPr/>
        </p:nvPicPr>
        <p:blipFill>
          <a:blip r:embed="rId4"/>
          <a:stretch>
            <a:fillRect/>
          </a:stretch>
        </p:blipFill>
        <p:spPr>
          <a:xfrm>
            <a:off x="603504" y="3474720"/>
            <a:ext cx="310896" cy="310896"/>
          </a:xfrm>
          <a:prstGeom prst="rect">
            <a:avLst/>
          </a:prstGeom>
        </p:spPr>
      </p:pic>
      <p:sp>
        <p:nvSpPr>
          <p:cNvPr id="27" name="Text 21"/>
          <p:cNvSpPr/>
          <p:nvPr/>
        </p:nvSpPr>
        <p:spPr>
          <a:xfrm>
            <a:off x="1005840" y="3438144"/>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PERFORMANCE UNDER PRESSURE</a:t>
            </a:r>
            <a:endParaRPr lang="en-US" sz="1050" dirty="0"/>
          </a:p>
        </p:txBody>
      </p:sp>
      <p:sp>
        <p:nvSpPr>
          <p:cNvPr id="28" name="Text 22"/>
          <p:cNvSpPr/>
          <p:nvPr/>
        </p:nvSpPr>
        <p:spPr>
          <a:xfrm>
            <a:off x="603504" y="4224528"/>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Enabling human-performance capability</a:t>
            </a:r>
            <a:endParaRPr lang="en-US" sz="750" dirty="0"/>
          </a:p>
        </p:txBody>
      </p:sp>
      <p:sp>
        <p:nvSpPr>
          <p:cNvPr id="29" name="Shape 23"/>
          <p:cNvSpPr/>
          <p:nvPr/>
        </p:nvSpPr>
        <p:spPr>
          <a:xfrm>
            <a:off x="2487168" y="3346704"/>
            <a:ext cx="4617720" cy="1152144"/>
          </a:xfrm>
          <a:prstGeom prst="rect">
            <a:avLst/>
          </a:prstGeom>
          <a:solidFill>
            <a:srgbClr val="CDD2B7">
              <a:alpha val="28000"/>
            </a:srgbClr>
          </a:solidFill>
          <a:ln/>
        </p:spPr>
      </p:sp>
      <p:sp>
        <p:nvSpPr>
          <p:cNvPr id="30" name="Text 24"/>
          <p:cNvSpPr/>
          <p:nvPr/>
        </p:nvSpPr>
        <p:spPr>
          <a:xfrm>
            <a:off x="2633472" y="3419856"/>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Performance Under Pressure is the trainable individual and collective human-performance capability to:</a:t>
            </a:r>
            <a:endParaRPr lang="en-US" sz="870" dirty="0"/>
          </a:p>
        </p:txBody>
      </p:sp>
      <p:sp>
        <p:nvSpPr>
          <p:cNvPr id="31" name="Text 25"/>
          <p:cNvSpPr/>
          <p:nvPr/>
        </p:nvSpPr>
        <p:spPr>
          <a:xfrm>
            <a:off x="263347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Prepare for pressure</a:t>
            </a:r>
            <a:endParaRPr lang="en-US" sz="820" dirty="0"/>
          </a:p>
        </p:txBody>
      </p:sp>
      <p:sp>
        <p:nvSpPr>
          <p:cNvPr id="32" name="Text 26"/>
          <p:cNvSpPr/>
          <p:nvPr/>
        </p:nvSpPr>
        <p:spPr>
          <a:xfrm>
            <a:off x="496519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Adapt within pressure</a:t>
            </a:r>
            <a:endParaRPr lang="en-US" sz="820" dirty="0"/>
          </a:p>
        </p:txBody>
      </p:sp>
      <p:sp>
        <p:nvSpPr>
          <p:cNvPr id="33" name="Text 27"/>
          <p:cNvSpPr/>
          <p:nvPr/>
        </p:nvSpPr>
        <p:spPr>
          <a:xfrm>
            <a:off x="263347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Maintain performance through pressure</a:t>
            </a:r>
            <a:endParaRPr lang="en-US" sz="820" dirty="0"/>
          </a:p>
        </p:txBody>
      </p:sp>
      <p:sp>
        <p:nvSpPr>
          <p:cNvPr id="34" name="Text 28"/>
          <p:cNvSpPr/>
          <p:nvPr/>
        </p:nvSpPr>
        <p:spPr>
          <a:xfrm>
            <a:off x="496519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Recover from pressure</a:t>
            </a:r>
            <a:endParaRPr lang="en-US" sz="820" dirty="0"/>
          </a:p>
        </p:txBody>
      </p:sp>
      <p:sp>
        <p:nvSpPr>
          <p:cNvPr id="35" name="Text 29"/>
          <p:cNvSpPr/>
          <p:nvPr/>
        </p:nvSpPr>
        <p:spPr>
          <a:xfrm>
            <a:off x="2633472" y="4187952"/>
            <a:ext cx="4325112" cy="274320"/>
          </a:xfrm>
          <a:prstGeom prst="rect">
            <a:avLst/>
          </a:prstGeom>
          <a:noFill/>
          <a:ln/>
        </p:spPr>
        <p:txBody>
          <a:bodyPr wrap="square" lIns="0" tIns="0" rIns="0" bIns="0" rtlCol="0" anchor="t"/>
          <a:lstStyle/>
          <a:p>
            <a:pPr algn="l" indent="0" marL="0">
              <a:buNone/>
            </a:pPr>
            <a:r>
              <a:rPr lang="en-US" sz="750" i="1" dirty="0">
                <a:solidFill>
                  <a:srgbClr val="000000"/>
                </a:solidFill>
                <a:latin typeface="Arial" pitchFamily="34" charset="0"/>
                <a:ea typeface="Arial" pitchFamily="34" charset="-122"/>
                <a:cs typeface="Arial" pitchFamily="34" charset="-120"/>
              </a:rPr>
              <a:t>Applicable across combat, command, crisis response, training, garrison leadership and high-risk technical activity.</a:t>
            </a:r>
            <a:endParaRPr lang="en-US" sz="750" dirty="0"/>
          </a:p>
        </p:txBody>
      </p:sp>
      <p:sp>
        <p:nvSpPr>
          <p:cNvPr id="36" name="Shape 30"/>
          <p:cNvSpPr/>
          <p:nvPr/>
        </p:nvSpPr>
        <p:spPr>
          <a:xfrm rot="10800000">
            <a:off x="1321308" y="4572000"/>
            <a:ext cx="146304" cy="109728"/>
          </a:xfrm>
          <a:prstGeom prst="triangle">
            <a:avLst/>
          </a:prstGeom>
          <a:solidFill>
            <a:srgbClr val="3A4B00"/>
          </a:solidFill>
          <a:ln/>
        </p:spPr>
      </p:sp>
      <p:sp>
        <p:nvSpPr>
          <p:cNvPr id="37" name="Text 31"/>
          <p:cNvSpPr/>
          <p:nvPr/>
        </p:nvSpPr>
        <p:spPr>
          <a:xfrm>
            <a:off x="1540764" y="4553712"/>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developed and organised through</a:t>
            </a:r>
            <a:endParaRPr lang="en-US" sz="750" dirty="0"/>
          </a:p>
        </p:txBody>
      </p:sp>
      <p:sp>
        <p:nvSpPr>
          <p:cNvPr id="38" name="Shape 32"/>
          <p:cNvSpPr/>
          <p:nvPr/>
        </p:nvSpPr>
        <p:spPr>
          <a:xfrm>
            <a:off x="457200" y="4773168"/>
            <a:ext cx="1874520" cy="1078992"/>
          </a:xfrm>
          <a:prstGeom prst="rect">
            <a:avLst/>
          </a:prstGeom>
          <a:solidFill>
            <a:srgbClr val="3A4B00"/>
          </a:solidFill>
          <a:ln/>
        </p:spPr>
      </p:sp>
      <p:pic>
        <p:nvPicPr>
          <p:cNvPr id="39" name="Image 4" descr="preencoded.png">    </p:cNvPr>
          <p:cNvPicPr>
            <a:picLocks noChangeAspect="1"/>
          </p:cNvPicPr>
          <p:nvPr/>
        </p:nvPicPr>
        <p:blipFill>
          <a:blip r:embed="rId5"/>
          <a:stretch>
            <a:fillRect/>
          </a:stretch>
        </p:blipFill>
        <p:spPr>
          <a:xfrm>
            <a:off x="603504" y="4901184"/>
            <a:ext cx="310896" cy="310896"/>
          </a:xfrm>
          <a:prstGeom prst="rect">
            <a:avLst/>
          </a:prstGeom>
        </p:spPr>
      </p:pic>
      <p:sp>
        <p:nvSpPr>
          <p:cNvPr id="40" name="Text 33"/>
          <p:cNvSpPr/>
          <p:nvPr/>
        </p:nvSpPr>
        <p:spPr>
          <a:xfrm>
            <a:off x="1005840" y="4864608"/>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ARMY COMBAT MINDSET FRAMEWORK</a:t>
            </a:r>
            <a:endParaRPr lang="en-US" sz="1050" dirty="0"/>
          </a:p>
        </p:txBody>
      </p:sp>
      <p:sp>
        <p:nvSpPr>
          <p:cNvPr id="41" name="Text 34"/>
          <p:cNvSpPr/>
          <p:nvPr/>
        </p:nvSpPr>
        <p:spPr>
          <a:xfrm>
            <a:off x="603504" y="5577840"/>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Organising model</a:t>
            </a:r>
            <a:endParaRPr lang="en-US" sz="750" dirty="0"/>
          </a:p>
        </p:txBody>
      </p:sp>
      <p:sp>
        <p:nvSpPr>
          <p:cNvPr id="42" name="Shape 35"/>
          <p:cNvSpPr/>
          <p:nvPr/>
        </p:nvSpPr>
        <p:spPr>
          <a:xfrm>
            <a:off x="2487168" y="4773168"/>
            <a:ext cx="4617720" cy="1078992"/>
          </a:xfrm>
          <a:prstGeom prst="rect">
            <a:avLst/>
          </a:prstGeom>
          <a:solidFill>
            <a:srgbClr val="CDD2B7">
              <a:alpha val="28000"/>
            </a:srgbClr>
          </a:solidFill>
          <a:ln/>
        </p:spPr>
      </p:sp>
      <p:sp>
        <p:nvSpPr>
          <p:cNvPr id="43" name="Text 36"/>
          <p:cNvSpPr/>
          <p:nvPr/>
        </p:nvSpPr>
        <p:spPr>
          <a:xfrm>
            <a:off x="2633472" y="4846320"/>
            <a:ext cx="4325112" cy="475488"/>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The Army Combat Mindset Framework is the organising model through which Army defines, develops, integrates and assures the capabilities, products and governance arrangements that enable Combat Mindset.</a:t>
            </a:r>
            <a:endParaRPr lang="en-US" sz="870" dirty="0"/>
          </a:p>
        </p:txBody>
      </p:sp>
      <p:sp>
        <p:nvSpPr>
          <p:cNvPr id="44" name="Text 37"/>
          <p:cNvSpPr/>
          <p:nvPr/>
        </p:nvSpPr>
        <p:spPr>
          <a:xfrm>
            <a:off x="2633472" y="5340096"/>
            <a:ext cx="1097280" cy="146304"/>
          </a:xfrm>
          <a:prstGeom prst="rect">
            <a:avLst/>
          </a:prstGeom>
          <a:noFill/>
          <a:ln/>
        </p:spPr>
        <p:txBody>
          <a:bodyPr wrap="square" lIns="0" tIns="0" rIns="0" bIns="0" rtlCol="0" anchor="ctr"/>
          <a:lstStyle/>
          <a:p>
            <a:pPr algn="l" indent="0" marL="0">
              <a:buNone/>
            </a:pPr>
            <a:r>
              <a:rPr lang="en-US" sz="760" i="1" dirty="0">
                <a:solidFill>
                  <a:srgbClr val="000000"/>
                </a:solidFill>
                <a:latin typeface="Arial" pitchFamily="34" charset="0"/>
                <a:ea typeface="Arial" pitchFamily="34" charset="-122"/>
                <a:cs typeface="Arial" pitchFamily="34" charset="-120"/>
              </a:rPr>
              <a:t>It organises:</a:t>
            </a:r>
            <a:endParaRPr lang="en-US" sz="760" dirty="0"/>
          </a:p>
        </p:txBody>
      </p:sp>
      <p:sp>
        <p:nvSpPr>
          <p:cNvPr id="45" name="Text 38"/>
          <p:cNvSpPr/>
          <p:nvPr/>
        </p:nvSpPr>
        <p:spPr>
          <a:xfrm>
            <a:off x="2633472"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Doctrinal definitions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Desired outcomes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Capability pillars</a:t>
            </a:r>
            <a:endParaRPr lang="en-US" sz="720" dirty="0"/>
          </a:p>
        </p:txBody>
      </p:sp>
      <p:sp>
        <p:nvSpPr>
          <p:cNvPr id="46" name="Text 39"/>
          <p:cNvSpPr/>
          <p:nvPr/>
        </p:nvSpPr>
        <p:spPr>
          <a:xfrm>
            <a:off x="4206240"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Developmental progression</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Products and methods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Delivery responsibilities</a:t>
            </a:r>
            <a:endParaRPr lang="en-US" sz="720" dirty="0"/>
          </a:p>
        </p:txBody>
      </p:sp>
      <p:sp>
        <p:nvSpPr>
          <p:cNvPr id="47" name="Text 40"/>
          <p:cNvSpPr/>
          <p:nvPr/>
        </p:nvSpPr>
        <p:spPr>
          <a:xfrm>
            <a:off x="5779008"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Governance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Evidence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Assurance</a:t>
            </a:r>
            <a:endParaRPr lang="en-US" sz="720" dirty="0"/>
          </a:p>
        </p:txBody>
      </p:sp>
      <p:sp>
        <p:nvSpPr>
          <p:cNvPr id="48" name="Shape 41"/>
          <p:cNvSpPr/>
          <p:nvPr/>
        </p:nvSpPr>
        <p:spPr>
          <a:xfrm rot="10800000">
            <a:off x="1321308" y="5961888"/>
            <a:ext cx="146304" cy="109728"/>
          </a:xfrm>
          <a:prstGeom prst="triangle">
            <a:avLst/>
          </a:prstGeom>
          <a:solidFill>
            <a:srgbClr val="002516"/>
          </a:solidFill>
          <a:ln/>
        </p:spPr>
      </p:sp>
      <p:sp>
        <p:nvSpPr>
          <p:cNvPr id="49" name="Text 42"/>
          <p:cNvSpPr/>
          <p:nvPr/>
        </p:nvSpPr>
        <p:spPr>
          <a:xfrm>
            <a:off x="1540764" y="5943600"/>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delivered through</a:t>
            </a:r>
            <a:endParaRPr lang="en-US" sz="750" dirty="0"/>
          </a:p>
        </p:txBody>
      </p:sp>
      <p:sp>
        <p:nvSpPr>
          <p:cNvPr id="50" name="Shape 43"/>
          <p:cNvSpPr/>
          <p:nvPr/>
        </p:nvSpPr>
        <p:spPr>
          <a:xfrm>
            <a:off x="457200" y="6163056"/>
            <a:ext cx="6647688" cy="1133856"/>
          </a:xfrm>
          <a:prstGeom prst="rect">
            <a:avLst/>
          </a:prstGeom>
          <a:solidFill>
            <a:srgbClr val="CDD2B7">
              <a:alpha val="28000"/>
            </a:srgbClr>
          </a:solidFill>
          <a:ln/>
        </p:spPr>
      </p:sp>
      <p:sp>
        <p:nvSpPr>
          <p:cNvPr id="51" name="Text 44"/>
          <p:cNvSpPr/>
          <p:nvPr/>
        </p:nvSpPr>
        <p:spPr>
          <a:xfrm>
            <a:off x="457200" y="6236208"/>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CAPABILITY PILLARS</a:t>
            </a:r>
            <a:endParaRPr lang="en-US" sz="1050" dirty="0"/>
          </a:p>
        </p:txBody>
      </p:sp>
      <p:sp>
        <p:nvSpPr>
          <p:cNvPr id="52" name="Shape 45"/>
          <p:cNvSpPr/>
          <p:nvPr/>
        </p:nvSpPr>
        <p:spPr>
          <a:xfrm>
            <a:off x="758299" y="6473952"/>
            <a:ext cx="347472" cy="347472"/>
          </a:xfrm>
          <a:prstGeom prst="ellipse">
            <a:avLst/>
          </a:prstGeom>
          <a:solidFill>
            <a:srgbClr val="FFFFFF"/>
          </a:solidFill>
          <a:ln w="15875">
            <a:solidFill>
              <a:srgbClr val="002516"/>
            </a:solidFill>
            <a:prstDash val="solid"/>
          </a:ln>
        </p:spPr>
      </p:sp>
      <p:pic>
        <p:nvPicPr>
          <p:cNvPr id="53" name="Image 5" descr="preencoded.png">    </p:cNvPr>
          <p:cNvPicPr>
            <a:picLocks noChangeAspect="1"/>
          </p:cNvPicPr>
          <p:nvPr/>
        </p:nvPicPr>
        <p:blipFill>
          <a:blip r:embed="rId6"/>
          <a:stretch>
            <a:fillRect/>
          </a:stretch>
        </p:blipFill>
        <p:spPr>
          <a:xfrm>
            <a:off x="831451" y="6547104"/>
            <a:ext cx="201168" cy="201168"/>
          </a:xfrm>
          <a:prstGeom prst="rect">
            <a:avLst/>
          </a:prstGeom>
        </p:spPr>
      </p:pic>
      <p:sp>
        <p:nvSpPr>
          <p:cNvPr id="54" name="Text 46"/>
          <p:cNvSpPr/>
          <p:nvPr/>
        </p:nvSpPr>
        <p:spPr>
          <a:xfrm>
            <a:off x="484632"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Leadership</a:t>
            </a:r>
            <a:endParaRPr lang="en-US" sz="680" dirty="0"/>
          </a:p>
        </p:txBody>
      </p:sp>
      <p:sp>
        <p:nvSpPr>
          <p:cNvPr id="55" name="Shape 47"/>
          <p:cNvSpPr/>
          <p:nvPr/>
        </p:nvSpPr>
        <p:spPr>
          <a:xfrm>
            <a:off x="1707969" y="6473952"/>
            <a:ext cx="347472" cy="347472"/>
          </a:xfrm>
          <a:prstGeom prst="ellipse">
            <a:avLst/>
          </a:prstGeom>
          <a:solidFill>
            <a:srgbClr val="FFFFFF"/>
          </a:solidFill>
          <a:ln w="15875">
            <a:solidFill>
              <a:srgbClr val="002516"/>
            </a:solidFill>
            <a:prstDash val="solid"/>
          </a:ln>
        </p:spPr>
      </p:sp>
      <p:pic>
        <p:nvPicPr>
          <p:cNvPr id="56" name="Image 6" descr="preencoded.png">    </p:cNvPr>
          <p:cNvPicPr>
            <a:picLocks noChangeAspect="1"/>
          </p:cNvPicPr>
          <p:nvPr/>
        </p:nvPicPr>
        <p:blipFill>
          <a:blip r:embed="rId7"/>
          <a:stretch>
            <a:fillRect/>
          </a:stretch>
        </p:blipFill>
        <p:spPr>
          <a:xfrm>
            <a:off x="1781121" y="6547104"/>
            <a:ext cx="201168" cy="201168"/>
          </a:xfrm>
          <a:prstGeom prst="rect">
            <a:avLst/>
          </a:prstGeom>
        </p:spPr>
      </p:pic>
      <p:sp>
        <p:nvSpPr>
          <p:cNvPr id="57" name="Text 48"/>
          <p:cNvSpPr/>
          <p:nvPr/>
        </p:nvSpPr>
        <p:spPr>
          <a:xfrm>
            <a:off x="1434302"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Mental skills</a:t>
            </a:r>
            <a:endParaRPr lang="en-US" sz="680" dirty="0"/>
          </a:p>
        </p:txBody>
      </p:sp>
      <p:sp>
        <p:nvSpPr>
          <p:cNvPr id="58" name="Shape 49"/>
          <p:cNvSpPr/>
          <p:nvPr/>
        </p:nvSpPr>
        <p:spPr>
          <a:xfrm>
            <a:off x="2657638" y="6473952"/>
            <a:ext cx="347472" cy="347472"/>
          </a:xfrm>
          <a:prstGeom prst="ellipse">
            <a:avLst/>
          </a:prstGeom>
          <a:solidFill>
            <a:srgbClr val="002516"/>
          </a:solidFill>
          <a:ln w="15875">
            <a:solidFill>
              <a:srgbClr val="002516"/>
            </a:solidFill>
            <a:prstDash val="solid"/>
          </a:ln>
        </p:spPr>
      </p:sp>
      <p:pic>
        <p:nvPicPr>
          <p:cNvPr id="59" name="Image 7" descr="preencoded.png">    </p:cNvPr>
          <p:cNvPicPr>
            <a:picLocks noChangeAspect="1"/>
          </p:cNvPicPr>
          <p:nvPr/>
        </p:nvPicPr>
        <p:blipFill>
          <a:blip r:embed="rId8"/>
          <a:stretch>
            <a:fillRect/>
          </a:stretch>
        </p:blipFill>
        <p:spPr>
          <a:xfrm>
            <a:off x="2730790" y="6547104"/>
            <a:ext cx="201168" cy="201168"/>
          </a:xfrm>
          <a:prstGeom prst="rect">
            <a:avLst/>
          </a:prstGeom>
        </p:spPr>
      </p:pic>
      <p:sp>
        <p:nvSpPr>
          <p:cNvPr id="60" name="Text 50"/>
          <p:cNvSpPr/>
          <p:nvPr/>
        </p:nvSpPr>
        <p:spPr>
          <a:xfrm>
            <a:off x="238397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Performance cognition</a:t>
            </a:r>
            <a:endParaRPr lang="en-US" sz="680" dirty="0"/>
          </a:p>
        </p:txBody>
      </p:sp>
      <p:sp>
        <p:nvSpPr>
          <p:cNvPr id="61" name="Shape 51"/>
          <p:cNvSpPr/>
          <p:nvPr/>
        </p:nvSpPr>
        <p:spPr>
          <a:xfrm>
            <a:off x="3607308" y="6473952"/>
            <a:ext cx="347472" cy="347472"/>
          </a:xfrm>
          <a:prstGeom prst="ellipse">
            <a:avLst/>
          </a:prstGeom>
          <a:solidFill>
            <a:srgbClr val="FFFFFF"/>
          </a:solidFill>
          <a:ln w="15875">
            <a:solidFill>
              <a:srgbClr val="002516"/>
            </a:solidFill>
            <a:prstDash val="solid"/>
          </a:ln>
        </p:spPr>
      </p:sp>
      <p:pic>
        <p:nvPicPr>
          <p:cNvPr id="62" name="Image 8" descr="preencoded.png">    </p:cNvPr>
          <p:cNvPicPr>
            <a:picLocks noChangeAspect="1"/>
          </p:cNvPicPr>
          <p:nvPr/>
        </p:nvPicPr>
        <p:blipFill>
          <a:blip r:embed="rId9"/>
          <a:stretch>
            <a:fillRect/>
          </a:stretch>
        </p:blipFill>
        <p:spPr>
          <a:xfrm>
            <a:off x="3680460" y="6547104"/>
            <a:ext cx="201168" cy="201168"/>
          </a:xfrm>
          <a:prstGeom prst="rect">
            <a:avLst/>
          </a:prstGeom>
        </p:spPr>
      </p:pic>
      <p:sp>
        <p:nvSpPr>
          <p:cNvPr id="63" name="Text 52"/>
          <p:cNvSpPr/>
          <p:nvPr/>
        </p:nvSpPr>
        <p:spPr>
          <a:xfrm>
            <a:off x="333364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Resilience &amp; recovery</a:t>
            </a:r>
            <a:endParaRPr lang="en-US" sz="680" dirty="0"/>
          </a:p>
        </p:txBody>
      </p:sp>
      <p:sp>
        <p:nvSpPr>
          <p:cNvPr id="64" name="Shape 53"/>
          <p:cNvSpPr/>
          <p:nvPr/>
        </p:nvSpPr>
        <p:spPr>
          <a:xfrm>
            <a:off x="4556978" y="6473952"/>
            <a:ext cx="347472" cy="347472"/>
          </a:xfrm>
          <a:prstGeom prst="ellipse">
            <a:avLst/>
          </a:prstGeom>
          <a:solidFill>
            <a:srgbClr val="FFFFFF"/>
          </a:solidFill>
          <a:ln w="15875">
            <a:solidFill>
              <a:srgbClr val="002516"/>
            </a:solidFill>
            <a:prstDash val="solid"/>
          </a:ln>
        </p:spPr>
      </p:sp>
      <p:pic>
        <p:nvPicPr>
          <p:cNvPr id="65" name="Image 9" descr="preencoded.png">    </p:cNvPr>
          <p:cNvPicPr>
            <a:picLocks noChangeAspect="1"/>
          </p:cNvPicPr>
          <p:nvPr/>
        </p:nvPicPr>
        <p:blipFill>
          <a:blip r:embed="rId10"/>
          <a:stretch>
            <a:fillRect/>
          </a:stretch>
        </p:blipFill>
        <p:spPr>
          <a:xfrm>
            <a:off x="4630130" y="6547104"/>
            <a:ext cx="201168" cy="201168"/>
          </a:xfrm>
          <a:prstGeom prst="rect">
            <a:avLst/>
          </a:prstGeom>
        </p:spPr>
      </p:pic>
      <p:sp>
        <p:nvSpPr>
          <p:cNvPr id="66" name="Text 54"/>
          <p:cNvSpPr/>
          <p:nvPr/>
        </p:nvSpPr>
        <p:spPr>
          <a:xfrm>
            <a:off x="428331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Physical performance</a:t>
            </a:r>
            <a:endParaRPr lang="en-US" sz="680" dirty="0"/>
          </a:p>
        </p:txBody>
      </p:sp>
      <p:sp>
        <p:nvSpPr>
          <p:cNvPr id="67" name="Shape 55"/>
          <p:cNvSpPr/>
          <p:nvPr/>
        </p:nvSpPr>
        <p:spPr>
          <a:xfrm>
            <a:off x="5506647" y="6473952"/>
            <a:ext cx="347472" cy="347472"/>
          </a:xfrm>
          <a:prstGeom prst="ellipse">
            <a:avLst/>
          </a:prstGeom>
          <a:solidFill>
            <a:srgbClr val="FFFFFF"/>
          </a:solidFill>
          <a:ln w="15875">
            <a:solidFill>
              <a:srgbClr val="002516"/>
            </a:solidFill>
            <a:prstDash val="solid"/>
          </a:ln>
        </p:spPr>
      </p:sp>
      <p:pic>
        <p:nvPicPr>
          <p:cNvPr id="68" name="Image 10" descr="preencoded.png">    </p:cNvPr>
          <p:cNvPicPr>
            <a:picLocks noChangeAspect="1"/>
          </p:cNvPicPr>
          <p:nvPr/>
        </p:nvPicPr>
        <p:blipFill>
          <a:blip r:embed="rId11"/>
          <a:stretch>
            <a:fillRect/>
          </a:stretch>
        </p:blipFill>
        <p:spPr>
          <a:xfrm>
            <a:off x="5579799" y="6547104"/>
            <a:ext cx="201168" cy="201168"/>
          </a:xfrm>
          <a:prstGeom prst="rect">
            <a:avLst/>
          </a:prstGeom>
        </p:spPr>
      </p:pic>
      <p:sp>
        <p:nvSpPr>
          <p:cNvPr id="69" name="Text 56"/>
          <p:cNvSpPr/>
          <p:nvPr/>
        </p:nvSpPr>
        <p:spPr>
          <a:xfrm>
            <a:off x="523298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Professional identity &amp; values</a:t>
            </a:r>
            <a:endParaRPr lang="en-US" sz="680" dirty="0"/>
          </a:p>
        </p:txBody>
      </p:sp>
      <p:sp>
        <p:nvSpPr>
          <p:cNvPr id="70" name="Shape 57"/>
          <p:cNvSpPr/>
          <p:nvPr/>
        </p:nvSpPr>
        <p:spPr>
          <a:xfrm>
            <a:off x="6456317" y="6473952"/>
            <a:ext cx="347472" cy="347472"/>
          </a:xfrm>
          <a:prstGeom prst="ellipse">
            <a:avLst/>
          </a:prstGeom>
          <a:solidFill>
            <a:srgbClr val="FFFFFF"/>
          </a:solidFill>
          <a:ln w="15875">
            <a:solidFill>
              <a:srgbClr val="002516"/>
            </a:solidFill>
            <a:prstDash val="solid"/>
          </a:ln>
        </p:spPr>
      </p:sp>
      <p:pic>
        <p:nvPicPr>
          <p:cNvPr id="71" name="Image 11" descr="preencoded.png">    </p:cNvPr>
          <p:cNvPicPr>
            <a:picLocks noChangeAspect="1"/>
          </p:cNvPicPr>
          <p:nvPr/>
        </p:nvPicPr>
        <p:blipFill>
          <a:blip r:embed="rId12"/>
          <a:stretch>
            <a:fillRect/>
          </a:stretch>
        </p:blipFill>
        <p:spPr>
          <a:xfrm>
            <a:off x="6529469" y="6547104"/>
            <a:ext cx="201168" cy="201168"/>
          </a:xfrm>
          <a:prstGeom prst="rect">
            <a:avLst/>
          </a:prstGeom>
        </p:spPr>
      </p:pic>
      <p:sp>
        <p:nvSpPr>
          <p:cNvPr id="72" name="Text 58"/>
          <p:cNvSpPr/>
          <p:nvPr/>
        </p:nvSpPr>
        <p:spPr>
          <a:xfrm>
            <a:off x="6182650"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Individual &amp; collective exposure to pressure</a:t>
            </a:r>
            <a:endParaRPr lang="en-US" sz="680" dirty="0"/>
          </a:p>
        </p:txBody>
      </p:sp>
      <p:sp>
        <p:nvSpPr>
          <p:cNvPr id="73" name="Shape 59"/>
          <p:cNvSpPr/>
          <p:nvPr/>
        </p:nvSpPr>
        <p:spPr>
          <a:xfrm rot="10800000">
            <a:off x="3707892" y="7370064"/>
            <a:ext cx="146304" cy="109728"/>
          </a:xfrm>
          <a:prstGeom prst="triangle">
            <a:avLst/>
          </a:prstGeom>
          <a:solidFill>
            <a:srgbClr val="002516"/>
          </a:solidFill>
          <a:ln/>
        </p:spPr>
      </p:sp>
      <p:sp>
        <p:nvSpPr>
          <p:cNvPr id="74" name="Text 60"/>
          <p:cNvSpPr/>
          <p:nvPr/>
        </p:nvSpPr>
        <p:spPr>
          <a:xfrm>
            <a:off x="3927348" y="7351776"/>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each product contributes across multiple pillars</a:t>
            </a:r>
            <a:endParaRPr lang="en-US" sz="750" dirty="0"/>
          </a:p>
        </p:txBody>
      </p:sp>
      <p:sp>
        <p:nvSpPr>
          <p:cNvPr id="75" name="Text 61"/>
          <p:cNvSpPr/>
          <p:nvPr/>
        </p:nvSpPr>
        <p:spPr>
          <a:xfrm>
            <a:off x="457200" y="7552944"/>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TRAINING PRODUCTS AND METHODS</a:t>
            </a:r>
            <a:endParaRPr lang="en-US" sz="1050" dirty="0"/>
          </a:p>
        </p:txBody>
      </p:sp>
      <p:sp>
        <p:nvSpPr>
          <p:cNvPr id="76" name="Shape 62"/>
          <p:cNvSpPr/>
          <p:nvPr/>
        </p:nvSpPr>
        <p:spPr>
          <a:xfrm>
            <a:off x="457200" y="7790688"/>
            <a:ext cx="902643" cy="713232"/>
          </a:xfrm>
          <a:prstGeom prst="rect">
            <a:avLst/>
          </a:prstGeom>
          <a:solidFill>
            <a:srgbClr val="FFFFFF"/>
          </a:solidFill>
          <a:ln w="9525">
            <a:solidFill>
              <a:srgbClr val="A89662"/>
            </a:solidFill>
            <a:prstDash val="solid"/>
          </a:ln>
        </p:spPr>
      </p:sp>
      <p:sp>
        <p:nvSpPr>
          <p:cNvPr id="77" name="Text 63"/>
          <p:cNvSpPr/>
          <p:nvPr/>
        </p:nvSpPr>
        <p:spPr>
          <a:xfrm>
            <a:off x="49377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NZALC Performance Under Pressure package</a:t>
            </a:r>
            <a:endParaRPr lang="en-US" sz="720" dirty="0"/>
          </a:p>
        </p:txBody>
      </p:sp>
      <p:sp>
        <p:nvSpPr>
          <p:cNvPr id="78" name="Shape 64"/>
          <p:cNvSpPr/>
          <p:nvPr/>
        </p:nvSpPr>
        <p:spPr>
          <a:xfrm>
            <a:off x="1414707" y="7790688"/>
            <a:ext cx="902643" cy="713232"/>
          </a:xfrm>
          <a:prstGeom prst="rect">
            <a:avLst/>
          </a:prstGeom>
          <a:solidFill>
            <a:srgbClr val="FFFFFF"/>
          </a:solidFill>
          <a:ln w="9525">
            <a:solidFill>
              <a:srgbClr val="A89662"/>
            </a:solidFill>
            <a:prstDash val="solid"/>
          </a:ln>
        </p:spPr>
      </p:sp>
      <p:sp>
        <p:nvSpPr>
          <p:cNvPr id="79" name="Text 65"/>
          <p:cNvSpPr/>
          <p:nvPr/>
        </p:nvSpPr>
        <p:spPr>
          <a:xfrm>
            <a:off x="145128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NZDF Psychology products</a:t>
            </a:r>
            <a:endParaRPr lang="en-US" sz="720" dirty="0"/>
          </a:p>
        </p:txBody>
      </p:sp>
      <p:sp>
        <p:nvSpPr>
          <p:cNvPr id="80" name="Shape 66"/>
          <p:cNvSpPr/>
          <p:nvPr/>
        </p:nvSpPr>
        <p:spPr>
          <a:xfrm>
            <a:off x="2372215" y="7790688"/>
            <a:ext cx="902643" cy="713232"/>
          </a:xfrm>
          <a:prstGeom prst="rect">
            <a:avLst/>
          </a:prstGeom>
          <a:solidFill>
            <a:srgbClr val="FFFFFF"/>
          </a:solidFill>
          <a:ln w="19050">
            <a:solidFill>
              <a:srgbClr val="002516"/>
            </a:solidFill>
            <a:prstDash val="dash"/>
          </a:ln>
        </p:spPr>
      </p:sp>
      <p:sp>
        <p:nvSpPr>
          <p:cNvPr id="81" name="Text 67"/>
          <p:cNvSpPr/>
          <p:nvPr/>
        </p:nvSpPr>
        <p:spPr>
          <a:xfrm>
            <a:off x="2399647" y="7790688"/>
            <a:ext cx="847779"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COGCON MVP</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(Performance cognition)</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Developmental MVP</a:t>
            </a:r>
            <a:endParaRPr lang="en-US" sz="720" dirty="0"/>
          </a:p>
        </p:txBody>
      </p:sp>
      <p:sp>
        <p:nvSpPr>
          <p:cNvPr id="82" name="Shape 68"/>
          <p:cNvSpPr/>
          <p:nvPr/>
        </p:nvSpPr>
        <p:spPr>
          <a:xfrm>
            <a:off x="3329722" y="7790688"/>
            <a:ext cx="902643" cy="713232"/>
          </a:xfrm>
          <a:prstGeom prst="rect">
            <a:avLst/>
          </a:prstGeom>
          <a:solidFill>
            <a:srgbClr val="FFFFFF"/>
          </a:solidFill>
          <a:ln w="9525">
            <a:solidFill>
              <a:srgbClr val="A89662"/>
            </a:solidFill>
            <a:prstDash val="solid"/>
          </a:ln>
        </p:spPr>
      </p:sp>
      <p:sp>
        <p:nvSpPr>
          <p:cNvPr id="83" name="Text 69"/>
          <p:cNvSpPr/>
          <p:nvPr/>
        </p:nvSpPr>
        <p:spPr>
          <a:xfrm>
            <a:off x="3366298"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Scenario &amp; experiential training</a:t>
            </a:r>
            <a:endParaRPr lang="en-US" sz="720" dirty="0"/>
          </a:p>
        </p:txBody>
      </p:sp>
      <p:sp>
        <p:nvSpPr>
          <p:cNvPr id="84" name="Shape 70"/>
          <p:cNvSpPr/>
          <p:nvPr/>
        </p:nvSpPr>
        <p:spPr>
          <a:xfrm>
            <a:off x="4287230" y="7790688"/>
            <a:ext cx="902643" cy="713232"/>
          </a:xfrm>
          <a:prstGeom prst="rect">
            <a:avLst/>
          </a:prstGeom>
          <a:solidFill>
            <a:srgbClr val="FFFFFF"/>
          </a:solidFill>
          <a:ln w="9525">
            <a:solidFill>
              <a:srgbClr val="A89662"/>
            </a:solidFill>
            <a:prstDash val="solid"/>
          </a:ln>
        </p:spPr>
      </p:sp>
      <p:sp>
        <p:nvSpPr>
          <p:cNvPr id="85" name="Text 71"/>
          <p:cNvSpPr/>
          <p:nvPr/>
        </p:nvSpPr>
        <p:spPr>
          <a:xfrm>
            <a:off x="432380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Physical conditioning</a:t>
            </a:r>
            <a:endParaRPr lang="en-US" sz="720" dirty="0"/>
          </a:p>
        </p:txBody>
      </p:sp>
      <p:sp>
        <p:nvSpPr>
          <p:cNvPr id="86" name="Shape 72"/>
          <p:cNvSpPr/>
          <p:nvPr/>
        </p:nvSpPr>
        <p:spPr>
          <a:xfrm>
            <a:off x="5244737" y="7790688"/>
            <a:ext cx="902643" cy="713232"/>
          </a:xfrm>
          <a:prstGeom prst="rect">
            <a:avLst/>
          </a:prstGeom>
          <a:solidFill>
            <a:srgbClr val="FFFFFF"/>
          </a:solidFill>
          <a:ln w="9525">
            <a:solidFill>
              <a:srgbClr val="A89662"/>
            </a:solidFill>
            <a:prstDash val="solid"/>
          </a:ln>
        </p:spPr>
      </p:sp>
      <p:sp>
        <p:nvSpPr>
          <p:cNvPr id="87" name="Text 73"/>
          <p:cNvSpPr/>
          <p:nvPr/>
        </p:nvSpPr>
        <p:spPr>
          <a:xfrm>
            <a:off x="528131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Structured reflection &amp; recovery</a:t>
            </a:r>
            <a:endParaRPr lang="en-US" sz="720" dirty="0"/>
          </a:p>
        </p:txBody>
      </p:sp>
      <p:sp>
        <p:nvSpPr>
          <p:cNvPr id="88" name="Shape 74"/>
          <p:cNvSpPr/>
          <p:nvPr/>
        </p:nvSpPr>
        <p:spPr>
          <a:xfrm>
            <a:off x="6202245" y="7790688"/>
            <a:ext cx="902643" cy="713232"/>
          </a:xfrm>
          <a:prstGeom prst="rect">
            <a:avLst/>
          </a:prstGeom>
          <a:solidFill>
            <a:srgbClr val="FFFFFF"/>
          </a:solidFill>
          <a:ln w="9525">
            <a:solidFill>
              <a:srgbClr val="A89662"/>
            </a:solidFill>
            <a:prstDash val="solid"/>
          </a:ln>
        </p:spPr>
      </p:sp>
      <p:sp>
        <p:nvSpPr>
          <p:cNvPr id="89" name="Text 75"/>
          <p:cNvSpPr/>
          <p:nvPr/>
        </p:nvSpPr>
        <p:spPr>
          <a:xfrm>
            <a:off x="6238821"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Other products identified in Phase 1 mapping</a:t>
            </a:r>
            <a:endParaRPr lang="en-US" sz="720" dirty="0"/>
          </a:p>
        </p:txBody>
      </p:sp>
      <p:sp>
        <p:nvSpPr>
          <p:cNvPr id="90" name="Text 76"/>
          <p:cNvSpPr/>
          <p:nvPr/>
        </p:nvSpPr>
        <p:spPr>
          <a:xfrm>
            <a:off x="457200" y="8595360"/>
            <a:ext cx="6647688" cy="164592"/>
          </a:xfrm>
          <a:prstGeom prst="rect">
            <a:avLst/>
          </a:prstGeom>
          <a:noFill/>
          <a:ln/>
        </p:spPr>
        <p:txBody>
          <a:bodyPr wrap="square" lIns="0" tIns="0" rIns="0" bIns="0" rtlCol="0" anchor="ctr"/>
          <a:lstStyle/>
          <a:p>
            <a:pPr algn="ctr" indent="0" marL="0">
              <a:buNone/>
            </a:pPr>
            <a:r>
              <a:rPr lang="en-US" sz="800" b="1" dirty="0">
                <a:solidFill>
                  <a:srgbClr val="002516"/>
                </a:solidFill>
                <a:latin typeface="Arial" pitchFamily="34" charset="0"/>
                <a:ea typeface="Arial" pitchFamily="34" charset="-122"/>
                <a:cs typeface="Arial" pitchFamily="34" charset="-120"/>
              </a:rPr>
              <a:t>Developed across the Prepare – Perform – Recover cycle   ·   Lead Self</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Teams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Leaders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Systems</a:t>
            </a:r>
            <a:endParaRPr lang="en-US" sz="800" dirty="0"/>
          </a:p>
        </p:txBody>
      </p:sp>
      <p:sp>
        <p:nvSpPr>
          <p:cNvPr id="91" name="Text 77"/>
          <p:cNvSpPr/>
          <p:nvPr/>
        </p:nvSpPr>
        <p:spPr>
          <a:xfrm>
            <a:off x="457200" y="8769096"/>
            <a:ext cx="6647688" cy="137160"/>
          </a:xfrm>
          <a:prstGeom prst="rect">
            <a:avLst/>
          </a:prstGeom>
          <a:noFill/>
          <a:ln/>
        </p:spPr>
        <p:txBody>
          <a:bodyPr wrap="square" lIns="0" tIns="0" rIns="0" bIns="0" rtlCol="0" anchor="ctr"/>
          <a:lstStyle/>
          <a:p>
            <a:pPr algn="ctr" indent="0" marL="0">
              <a:buNone/>
            </a:pPr>
            <a:r>
              <a:rPr lang="en-US" sz="700" i="1" dirty="0">
                <a:solidFill>
                  <a:srgbClr val="000000"/>
                </a:solidFill>
                <a:latin typeface="Arial" pitchFamily="34" charset="0"/>
                <a:ea typeface="Arial" pitchFamily="34" charset="-122"/>
                <a:cs typeface="Arial" pitchFamily="34" charset="-120"/>
              </a:rPr>
              <a:t>Delivered by approved training establishments, units and existing instructor workforces across Army</a:t>
            </a:r>
            <a:endParaRPr lang="en-US" sz="700" dirty="0"/>
          </a:p>
        </p:txBody>
      </p:sp>
      <p:sp>
        <p:nvSpPr>
          <p:cNvPr id="92" name="Shape 78"/>
          <p:cNvSpPr/>
          <p:nvPr/>
        </p:nvSpPr>
        <p:spPr>
          <a:xfrm>
            <a:off x="457200" y="8997696"/>
            <a:ext cx="3246120" cy="1078992"/>
          </a:xfrm>
          <a:prstGeom prst="rect">
            <a:avLst/>
          </a:prstGeom>
          <a:solidFill>
            <a:srgbClr val="CDD2B7">
              <a:alpha val="28000"/>
            </a:srgbClr>
          </a:solidFill>
          <a:ln/>
        </p:spPr>
      </p:sp>
      <p:pic>
        <p:nvPicPr>
          <p:cNvPr id="93" name="Image 12" descr="preencoded.png">    </p:cNvPr>
          <p:cNvPicPr>
            <a:picLocks noChangeAspect="1"/>
          </p:cNvPicPr>
          <p:nvPr/>
        </p:nvPicPr>
        <p:blipFill>
          <a:blip r:embed="rId13"/>
          <a:stretch>
            <a:fillRect/>
          </a:stretch>
        </p:blipFill>
        <p:spPr>
          <a:xfrm>
            <a:off x="585216" y="9089136"/>
            <a:ext cx="201168" cy="201168"/>
          </a:xfrm>
          <a:prstGeom prst="rect">
            <a:avLst/>
          </a:prstGeom>
        </p:spPr>
      </p:pic>
      <p:sp>
        <p:nvSpPr>
          <p:cNvPr id="94" name="Text 79"/>
          <p:cNvSpPr/>
          <p:nvPr/>
        </p:nvSpPr>
        <p:spPr>
          <a:xfrm>
            <a:off x="859536"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GOVERNANCE AND ASSURANCE</a:t>
            </a:r>
            <a:endParaRPr lang="en-US" sz="880" dirty="0"/>
          </a:p>
        </p:txBody>
      </p:sp>
      <p:sp>
        <p:nvSpPr>
          <p:cNvPr id="95" name="Text 80"/>
          <p:cNvSpPr/>
          <p:nvPr/>
        </p:nvSpPr>
        <p:spPr>
          <a:xfrm>
            <a:off x="621792" y="9326880"/>
            <a:ext cx="2971800" cy="713232"/>
          </a:xfrm>
          <a:prstGeom prst="rect">
            <a:avLst/>
          </a:prstGeom>
          <a:noFill/>
          <a:ln/>
        </p:spPr>
        <p:txBody>
          <a:bodyPr wrap="square" lIns="0" tIns="0" rIns="0" bIns="0" rtlCol="0" anchor="t"/>
          <a:lstStyle/>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Army Sponsor — strategic sponsorship and policy direction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COMDT ACS — interim capability integrator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ACS — framework development and delivery coordination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HPC — COGCON product steward; performance-cognition adviser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Layered doctrine, evidence, professional and delivery assurance</a:t>
            </a:r>
            <a:endParaRPr lang="en-US" sz="700" dirty="0"/>
          </a:p>
        </p:txBody>
      </p:sp>
      <p:sp>
        <p:nvSpPr>
          <p:cNvPr id="96" name="Shape 81"/>
          <p:cNvSpPr/>
          <p:nvPr/>
        </p:nvSpPr>
        <p:spPr>
          <a:xfrm>
            <a:off x="3858768" y="8997696"/>
            <a:ext cx="3246120" cy="1078992"/>
          </a:xfrm>
          <a:prstGeom prst="rect">
            <a:avLst/>
          </a:prstGeom>
          <a:solidFill>
            <a:srgbClr val="CDD2B7">
              <a:alpha val="28000"/>
            </a:srgbClr>
          </a:solidFill>
          <a:ln/>
        </p:spPr>
      </p:sp>
      <p:pic>
        <p:nvPicPr>
          <p:cNvPr id="97" name="Image 13" descr="preencoded.png">    </p:cNvPr>
          <p:cNvPicPr>
            <a:picLocks noChangeAspect="1"/>
          </p:cNvPicPr>
          <p:nvPr/>
        </p:nvPicPr>
        <p:blipFill>
          <a:blip r:embed="rId14"/>
          <a:stretch>
            <a:fillRect/>
          </a:stretch>
        </p:blipFill>
        <p:spPr>
          <a:xfrm>
            <a:off x="3986784" y="9089136"/>
            <a:ext cx="201168" cy="201168"/>
          </a:xfrm>
          <a:prstGeom prst="rect">
            <a:avLst/>
          </a:prstGeom>
        </p:spPr>
      </p:pic>
      <p:sp>
        <p:nvSpPr>
          <p:cNvPr id="98" name="Text 82"/>
          <p:cNvSpPr/>
          <p:nvPr/>
        </p:nvSpPr>
        <p:spPr>
          <a:xfrm>
            <a:off x="4261104"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PROGRAMME OF WORK — PHASES 0–4</a:t>
            </a:r>
            <a:endParaRPr lang="en-US" sz="880" dirty="0"/>
          </a:p>
        </p:txBody>
      </p:sp>
      <p:sp>
        <p:nvSpPr>
          <p:cNvPr id="99" name="Text 83"/>
          <p:cNvSpPr/>
          <p:nvPr/>
        </p:nvSpPr>
        <p:spPr>
          <a:xfrm>
            <a:off x="4023360" y="9326880"/>
            <a:ext cx="2971800" cy="713232"/>
          </a:xfrm>
          <a:prstGeom prst="rect">
            <a:avLst/>
          </a:prstGeom>
          <a:noFill/>
          <a:ln/>
        </p:spPr>
        <p:txBody>
          <a:bodyPr wrap="square" lIns="0" tIns="0" rIns="0" bIns="0" rtlCol="0" anchor="t"/>
          <a:lstStyle/>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0.  Define terms, sponsorship and relationship</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1.  Map current capabilities, products and evidence</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2.  Draft the Army Combat Mindset Framework</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3.  Validate with stakeholders and force employers</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4.  Report back — Framework v1.0, November 2026</a:t>
            </a:r>
            <a:endParaRPr lang="en-US" sz="700" dirty="0"/>
          </a:p>
        </p:txBody>
      </p:sp>
      <p:sp>
        <p:nvSpPr>
          <p:cNvPr id="100" name="Shape 84"/>
          <p:cNvSpPr/>
          <p:nvPr/>
        </p:nvSpPr>
        <p:spPr>
          <a:xfrm>
            <a:off x="457200" y="10204704"/>
            <a:ext cx="6647688" cy="274320"/>
          </a:xfrm>
          <a:prstGeom prst="rect">
            <a:avLst/>
          </a:prstGeom>
          <a:solidFill>
            <a:srgbClr val="000000"/>
          </a:solidFill>
          <a:ln/>
        </p:spPr>
      </p:sp>
      <p:pic>
        <p:nvPicPr>
          <p:cNvPr id="101" name="Image 14" descr="preencoded.png">    </p:cNvPr>
          <p:cNvPicPr>
            <a:picLocks noChangeAspect="1"/>
          </p:cNvPicPr>
          <p:nvPr/>
        </p:nvPicPr>
        <p:blipFill>
          <a:blip r:embed="rId15"/>
          <a:stretch>
            <a:fillRect/>
          </a:stretch>
        </p:blipFill>
        <p:spPr>
          <a:xfrm>
            <a:off x="585216" y="10250424"/>
            <a:ext cx="182880" cy="182880"/>
          </a:xfrm>
          <a:prstGeom prst="rect">
            <a:avLst/>
          </a:prstGeom>
        </p:spPr>
      </p:pic>
      <p:sp>
        <p:nvSpPr>
          <p:cNvPr id="102" name="Text 85"/>
          <p:cNvSpPr/>
          <p:nvPr/>
        </p:nvSpPr>
        <p:spPr>
          <a:xfrm>
            <a:off x="877824" y="10204704"/>
            <a:ext cx="6135624" cy="274320"/>
          </a:xfrm>
          <a:prstGeom prst="rect">
            <a:avLst/>
          </a:prstGeom>
          <a:noFill/>
          <a:ln/>
        </p:spPr>
        <p:txBody>
          <a:bodyPr wrap="square" lIns="0" tIns="0" rIns="0" bIns="0" rtlCol="0" anchor="ctr"/>
          <a:lstStyle/>
          <a:p>
            <a:pPr algn="l" indent="0" marL="0">
              <a:buNone/>
            </a:pPr>
            <a:r>
              <a:rPr lang="en-US" sz="1000" b="1" spc="250" kern="0" dirty="0">
                <a:solidFill>
                  <a:srgbClr val="C62026"/>
                </a:solidFill>
                <a:latin typeface="Arial" pitchFamily="34" charset="0"/>
                <a:ea typeface="Arial" pitchFamily="34" charset="-122"/>
                <a:cs typeface="Arial" pitchFamily="34" charset="-120"/>
              </a:rPr>
              <a:t>HARDER TO KILL</a:t>
            </a:r>
            <a:pPr algn="l" indent="0" marL="0">
              <a:buNone/>
            </a:pPr>
            <a:r>
              <a:rPr lang="en-US" sz="700" dirty="0">
                <a:solidFill>
                  <a:srgbClr val="FFFFFF"/>
                </a:solidFill>
                <a:latin typeface="Arial" pitchFamily="34" charset="0"/>
                <a:ea typeface="Arial" pitchFamily="34" charset="-122"/>
                <a:cs typeface="Arial" pitchFamily="34" charset="-120"/>
              </a:rPr>
              <a:t>      Proposed Warfighter Focus line — subject to sponsor endorsement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2026-07-22T23:08:54Z</dcterms:created>
  <dcterms:modified xsi:type="dcterms:W3CDTF">2026-07-22T23:08:54Z</dcterms:modified>
</cp:coreProperties>
</file>