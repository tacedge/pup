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1005840" cy="24323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91640" y="429768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THE WAY FORWARD</a:t>
            </a:r>
            <a:endParaRPr lang="en-US" sz="1550" dirty="0"/>
          </a:p>
        </p:txBody>
      </p:sp>
      <p:sp>
        <p:nvSpPr>
          <p:cNvPr id="4" name="Text 1"/>
          <p:cNvSpPr/>
          <p:nvPr/>
        </p:nvSpPr>
        <p:spPr>
          <a:xfrm>
            <a:off x="457200" y="1046988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·  ACS 2026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5212080" y="10469880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v0.8  ·  July 2026</a:t>
            </a:r>
            <a:endParaRPr lang="en-US" sz="6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6647688" cy="142646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932688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93268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731520" y="1389888"/>
            <a:ext cx="731520" cy="7315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389888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700" dirty="0"/>
          </a:p>
        </p:txBody>
      </p:sp>
      <p:sp>
        <p:nvSpPr>
          <p:cNvPr id="11" name="Text 7"/>
          <p:cNvSpPr/>
          <p:nvPr/>
        </p:nvSpPr>
        <p:spPr>
          <a:xfrm>
            <a:off x="457200" y="2011680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 Harder to kill.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 rot="10800000">
            <a:off x="3717036" y="2596896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13" name="Text 9"/>
          <p:cNvSpPr/>
          <p:nvPr/>
        </p:nvSpPr>
        <p:spPr>
          <a:xfrm>
            <a:off x="2043684" y="271576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457200" y="3127248"/>
            <a:ext cx="6647688" cy="1133856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15" name="Shape 11"/>
          <p:cNvSpPr/>
          <p:nvPr/>
        </p:nvSpPr>
        <p:spPr>
          <a:xfrm>
            <a:off x="1952244" y="3017520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952244" y="30175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474720"/>
            <a:ext cx="438912" cy="4389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57200" y="3383280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19" name="Text 14"/>
          <p:cNvSpPr/>
          <p:nvPr/>
        </p:nvSpPr>
        <p:spPr>
          <a:xfrm>
            <a:off x="457200" y="3840480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 rot="10800000">
            <a:off x="3717036" y="4389120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21" name="Text 16"/>
          <p:cNvSpPr/>
          <p:nvPr/>
        </p:nvSpPr>
        <p:spPr>
          <a:xfrm>
            <a:off x="2043684" y="4507992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developed, organised and assured through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57200" y="4919472"/>
            <a:ext cx="6647688" cy="1042416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23" name="Shape 18"/>
          <p:cNvSpPr/>
          <p:nvPr/>
        </p:nvSpPr>
        <p:spPr>
          <a:xfrm>
            <a:off x="2820924" y="480974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820924" y="480974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230368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57200" y="512064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COMBAT MINDSET FRAMEWORK</a:t>
            </a:r>
            <a:endParaRPr lang="en-US" sz="1750" dirty="0"/>
          </a:p>
        </p:txBody>
      </p:sp>
      <p:sp>
        <p:nvSpPr>
          <p:cNvPr id="27" name="Text 21"/>
          <p:cNvSpPr/>
          <p:nvPr/>
        </p:nvSpPr>
        <p:spPr>
          <a:xfrm>
            <a:off x="457200" y="5522976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 rot="10800000">
            <a:off x="3717036" y="6089904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29" name="Text 23"/>
          <p:cNvSpPr/>
          <p:nvPr/>
        </p:nvSpPr>
        <p:spPr>
          <a:xfrm>
            <a:off x="2043684" y="620877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457200" y="6729984"/>
            <a:ext cx="6647688" cy="2606040"/>
          </a:xfrm>
          <a:prstGeom prst="rect">
            <a:avLst/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2089404" y="6620256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089404" y="662025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3" name="Shape 27"/>
          <p:cNvSpPr/>
          <p:nvPr/>
        </p:nvSpPr>
        <p:spPr>
          <a:xfrm>
            <a:off x="1121969" y="7699248"/>
            <a:ext cx="5318150" cy="0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1567282" y="7552944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884225" y="7461504"/>
            <a:ext cx="475488" cy="47548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84225" y="7461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500" dirty="0"/>
          </a:p>
        </p:txBody>
      </p:sp>
      <p:sp>
        <p:nvSpPr>
          <p:cNvPr id="37" name="Text 31"/>
          <p:cNvSpPr/>
          <p:nvPr/>
        </p:nvSpPr>
        <p:spPr>
          <a:xfrm>
            <a:off x="512064" y="8065008"/>
            <a:ext cx="12198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and govern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548640" y="8485632"/>
            <a:ext cx="11466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sponsorship, ownership and interim governance.</a:t>
            </a:r>
            <a:endParaRPr lang="en-US" sz="760" dirty="0"/>
          </a:p>
        </p:txBody>
      </p:sp>
      <p:sp>
        <p:nvSpPr>
          <p:cNvPr id="39" name="Text 33"/>
          <p:cNvSpPr/>
          <p:nvPr/>
        </p:nvSpPr>
        <p:spPr>
          <a:xfrm>
            <a:off x="2896819" y="7552944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2213762" y="7461504"/>
            <a:ext cx="475488" cy="47548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13762" y="7461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42" name="Text 36"/>
          <p:cNvSpPr/>
          <p:nvPr/>
        </p:nvSpPr>
        <p:spPr>
          <a:xfrm>
            <a:off x="1841602" y="8065008"/>
            <a:ext cx="12198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950" dirty="0"/>
          </a:p>
        </p:txBody>
      </p:sp>
      <p:sp>
        <p:nvSpPr>
          <p:cNvPr id="43" name="Text 37"/>
          <p:cNvSpPr/>
          <p:nvPr/>
        </p:nvSpPr>
        <p:spPr>
          <a:xfrm>
            <a:off x="1878178" y="8485632"/>
            <a:ext cx="11466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Stocktake existing doctrine, products, delivery, evidence, ownership and assurance.</a:t>
            </a:r>
            <a:endParaRPr lang="en-US" sz="760" dirty="0"/>
          </a:p>
        </p:txBody>
      </p:sp>
      <p:sp>
        <p:nvSpPr>
          <p:cNvPr id="44" name="Text 38"/>
          <p:cNvSpPr/>
          <p:nvPr/>
        </p:nvSpPr>
        <p:spPr>
          <a:xfrm>
            <a:off x="4226357" y="7552944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3543300" y="7461504"/>
            <a:ext cx="475488" cy="47548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3543300" y="7461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47" name="Text 41"/>
          <p:cNvSpPr/>
          <p:nvPr/>
        </p:nvSpPr>
        <p:spPr>
          <a:xfrm>
            <a:off x="3171139" y="8065008"/>
            <a:ext cx="12198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950" dirty="0"/>
          </a:p>
        </p:txBody>
      </p:sp>
      <p:sp>
        <p:nvSpPr>
          <p:cNvPr id="48" name="Text 42"/>
          <p:cNvSpPr/>
          <p:nvPr/>
        </p:nvSpPr>
        <p:spPr>
          <a:xfrm>
            <a:off x="3207715" y="8485632"/>
            <a:ext cx="11466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framework, delivery architecture, outcomes and product-recognition criteria.</a:t>
            </a:r>
            <a:endParaRPr lang="en-US" sz="760" dirty="0"/>
          </a:p>
        </p:txBody>
      </p:sp>
      <p:sp>
        <p:nvSpPr>
          <p:cNvPr id="49" name="Text 43"/>
          <p:cNvSpPr/>
          <p:nvPr/>
        </p:nvSpPr>
        <p:spPr>
          <a:xfrm>
            <a:off x="5555894" y="7552944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1100" dirty="0"/>
          </a:p>
        </p:txBody>
      </p:sp>
      <p:sp>
        <p:nvSpPr>
          <p:cNvPr id="50" name="Shape 44"/>
          <p:cNvSpPr/>
          <p:nvPr/>
        </p:nvSpPr>
        <p:spPr>
          <a:xfrm>
            <a:off x="4872838" y="7461504"/>
            <a:ext cx="475488" cy="47548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4872838" y="7461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52" name="Text 46"/>
          <p:cNvSpPr/>
          <p:nvPr/>
        </p:nvSpPr>
        <p:spPr>
          <a:xfrm>
            <a:off x="4500677" y="8065008"/>
            <a:ext cx="12198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950" dirty="0"/>
          </a:p>
        </p:txBody>
      </p:sp>
      <p:sp>
        <p:nvSpPr>
          <p:cNvPr id="53" name="Text 47"/>
          <p:cNvSpPr/>
          <p:nvPr/>
        </p:nvSpPr>
        <p:spPr>
          <a:xfrm>
            <a:off x="4537253" y="8485632"/>
            <a:ext cx="11466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stakeholders, training establishments and units.</a:t>
            </a:r>
            <a:endParaRPr lang="en-US" sz="760" dirty="0"/>
          </a:p>
        </p:txBody>
      </p:sp>
      <p:sp>
        <p:nvSpPr>
          <p:cNvPr id="54" name="Shape 48"/>
          <p:cNvSpPr/>
          <p:nvPr/>
        </p:nvSpPr>
        <p:spPr>
          <a:xfrm>
            <a:off x="6202375" y="7461504"/>
            <a:ext cx="475488" cy="47548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Text 49"/>
          <p:cNvSpPr/>
          <p:nvPr/>
        </p:nvSpPr>
        <p:spPr>
          <a:xfrm>
            <a:off x="6202375" y="7461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56" name="Text 50"/>
          <p:cNvSpPr/>
          <p:nvPr/>
        </p:nvSpPr>
        <p:spPr>
          <a:xfrm>
            <a:off x="5830214" y="8065008"/>
            <a:ext cx="12198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Endorse and implement</a:t>
            </a:r>
            <a:endParaRPr lang="en-US" sz="950" dirty="0"/>
          </a:p>
        </p:txBody>
      </p:sp>
      <p:sp>
        <p:nvSpPr>
          <p:cNvPr id="57" name="Text 51"/>
          <p:cNvSpPr/>
          <p:nvPr/>
        </p:nvSpPr>
        <p:spPr>
          <a:xfrm>
            <a:off x="5866790" y="8485632"/>
            <a:ext cx="11466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Framework v1.0 and a prioritised implementation plan.</a:t>
            </a:r>
            <a:endParaRPr lang="en-US" sz="7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1005840" cy="24323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91640" y="429768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SYSTEM, GOVERNANCE AND DELIVERY</a:t>
            </a:r>
            <a:endParaRPr lang="en-US" sz="1550" dirty="0"/>
          </a:p>
        </p:txBody>
      </p:sp>
      <p:sp>
        <p:nvSpPr>
          <p:cNvPr id="4" name="Text 1"/>
          <p:cNvSpPr/>
          <p:nvPr/>
        </p:nvSpPr>
        <p:spPr>
          <a:xfrm>
            <a:off x="457200" y="1046988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·  ACS 2026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5212080" y="10469880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v0.8  ·  July 2026</a:t>
            </a:r>
            <a:endParaRPr lang="en-US" sz="6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3232404" cy="365760"/>
          </a:xfrm>
          <a:prstGeom prst="rect">
            <a:avLst/>
          </a:prstGeom>
          <a:solidFill>
            <a:srgbClr val="00251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712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1248" y="1042416"/>
            <a:ext cx="2775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ASSURANCE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57200" y="1408176"/>
            <a:ext cx="3232404" cy="6675120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1682496"/>
            <a:ext cx="2866644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2400"/>
              </a:spcAft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sponsorship and policy direction</a:t>
            </a:r>
            <a:endParaRPr lang="en-US" sz="950" dirty="0"/>
          </a:p>
          <a:p>
            <a:pPr algn="l" marL="152400" indent="-152400">
              <a:spcAft>
                <a:spcPts val="2400"/>
              </a:spcAft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integration</a:t>
            </a:r>
            <a:endParaRPr lang="en-US" sz="950" dirty="0"/>
          </a:p>
          <a:p>
            <a:pPr algn="l" marL="152400" indent="-152400">
              <a:spcAft>
                <a:spcPts val="2400"/>
              </a:spcAft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and professional authorities</a:t>
            </a:r>
            <a:endParaRPr lang="en-US" sz="950" dirty="0"/>
          </a:p>
          <a:p>
            <a:pPr algn="l" marL="152400" indent="-152400">
              <a:spcAft>
                <a:spcPts val="2400"/>
              </a:spcAft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recognition and evidence requirements</a:t>
            </a:r>
            <a:endParaRPr lang="en-US" sz="950" dirty="0"/>
          </a:p>
          <a:p>
            <a:pPr algn="l" marL="152400" indent="-152400">
              <a:spcAft>
                <a:spcPts val="2400"/>
              </a:spcAft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standards</a:t>
            </a:r>
            <a:endParaRPr lang="en-US" sz="950" dirty="0"/>
          </a:p>
          <a:p>
            <a:pPr algn="l" marL="152400" indent="-152400">
              <a:spcAft>
                <a:spcPts val="2400"/>
              </a:spcAft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and assurance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872484" y="1042416"/>
            <a:ext cx="3232404" cy="365760"/>
          </a:xfrm>
          <a:prstGeom prst="rect">
            <a:avLst/>
          </a:prstGeom>
          <a:solidFill>
            <a:srgbClr val="00251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212" y="1124712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256532" y="1042416"/>
            <a:ext cx="2775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DELIVERY SYSTEM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3872484" y="1408176"/>
            <a:ext cx="3232404" cy="6675120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8788" y="1691640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366260" y="1682496"/>
            <a:ext cx="25923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4366260" y="1993392"/>
            <a:ext cx="25923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Leaders</a:t>
            </a:r>
            <a:endParaRPr lang="en-US" sz="850" dirty="0"/>
          </a:p>
          <a:p>
            <a:pPr algn="l" marL="127000" indent="-127000"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Systems</a:t>
            </a:r>
            <a:endParaRPr lang="en-US" sz="850" dirty="0"/>
          </a:p>
          <a:p>
            <a:pPr algn="l" marL="127000" indent="-127000"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Resilience</a:t>
            </a:r>
            <a:endParaRPr lang="en-US" sz="850" dirty="0"/>
          </a:p>
          <a:p>
            <a:pPr algn="l" marL="127000" indent="-127000"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 (Lead Self)</a:t>
            </a:r>
            <a:endParaRPr lang="en-US" sz="850" dirty="0"/>
          </a:p>
          <a:p>
            <a:pPr algn="l" marL="127000" indent="-127000"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 (Lead Teams)</a:t>
            </a:r>
            <a:endParaRPr lang="en-US" sz="850" dirty="0"/>
          </a:p>
        </p:txBody>
      </p:sp>
      <p:sp>
        <p:nvSpPr>
          <p:cNvPr id="18" name="Shape 12"/>
          <p:cNvSpPr/>
          <p:nvPr/>
        </p:nvSpPr>
        <p:spPr>
          <a:xfrm>
            <a:off x="4018788" y="3694176"/>
            <a:ext cx="2939796" cy="0"/>
          </a:xfrm>
          <a:prstGeom prst="line">
            <a:avLst/>
          </a:prstGeom>
          <a:noFill/>
          <a:ln w="6350">
            <a:solidFill>
              <a:srgbClr val="A89662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8788" y="3886200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66260" y="3877056"/>
            <a:ext cx="25923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PERFORMANCE CELL</a:t>
            </a:r>
            <a:endParaRPr lang="en-US" sz="950" dirty="0"/>
          </a:p>
        </p:txBody>
      </p:sp>
      <p:sp>
        <p:nvSpPr>
          <p:cNvPr id="21" name="Text 14"/>
          <p:cNvSpPr/>
          <p:nvPr/>
        </p:nvSpPr>
        <p:spPr>
          <a:xfrm>
            <a:off x="4366260" y="4187952"/>
            <a:ext cx="25923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COGCON</a:t>
            </a:r>
            <a:endParaRPr lang="en-US" sz="850" dirty="0"/>
          </a:p>
          <a:p>
            <a:pPr algn="l" marL="127000" indent="-127000"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conditioning</a:t>
            </a:r>
            <a:endParaRPr lang="en-US" sz="850" dirty="0"/>
          </a:p>
        </p:txBody>
      </p:sp>
      <p:sp>
        <p:nvSpPr>
          <p:cNvPr id="22" name="Shape 15"/>
          <p:cNvSpPr/>
          <p:nvPr/>
        </p:nvSpPr>
        <p:spPr>
          <a:xfrm>
            <a:off x="4018788" y="4974336"/>
            <a:ext cx="2939796" cy="0"/>
          </a:xfrm>
          <a:prstGeom prst="line">
            <a:avLst/>
          </a:prstGeom>
          <a:noFill/>
          <a:ln w="6350">
            <a:solidFill>
              <a:srgbClr val="A89662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8788" y="5166360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366260" y="5157216"/>
            <a:ext cx="25923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AND TRAINING ESTABLISHMENTS</a:t>
            </a:r>
            <a:endParaRPr lang="en-US" sz="950" dirty="0"/>
          </a:p>
        </p:txBody>
      </p:sp>
      <p:sp>
        <p:nvSpPr>
          <p:cNvPr id="25" name="Text 17"/>
          <p:cNvSpPr/>
          <p:nvPr/>
        </p:nvSpPr>
        <p:spPr>
          <a:xfrm>
            <a:off x="4366260" y="5468112"/>
            <a:ext cx="25923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850" dirty="0"/>
          </a:p>
          <a:p>
            <a:pPr algn="l" marL="127000" indent="-127000"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Exercises</a:t>
            </a:r>
            <a:endParaRPr lang="en-US" sz="850" dirty="0"/>
          </a:p>
          <a:p>
            <a:pPr algn="l" marL="127000" indent="-127000"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rehearsal</a:t>
            </a:r>
            <a:endParaRPr lang="en-US" sz="850" dirty="0"/>
          </a:p>
          <a:p>
            <a:pPr algn="l" marL="127000" indent="-127000"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activity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4018788" y="6803136"/>
            <a:ext cx="293979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516"/>
            </a:solidFill>
            <a:prstDash val="dash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8516" y="7077456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4494276" y="6858000"/>
            <a:ext cx="23728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contextualise and express Combat Mindset under realistic warfighting conditions.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2026-08-03T02:50:45Z</dcterms:created>
  <dcterms:modified xsi:type="dcterms:W3CDTF">2026-08-03T02:50:45Z</dcterms:modified>
</cp:coreProperties>
</file>