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4592"/>
          </a:xfrm>
          <a:prstGeom prst="rect">
            <a:avLst/>
          </a:prstGeom>
          <a:solidFill>
            <a:srgbClr val="000000"/>
          </a:solidFill>
          <a:ln/>
        </p:spPr>
      </p:sp>
      <p:sp>
        <p:nvSpPr>
          <p:cNvPr id="3" name="Text 1"/>
          <p:cNvSpPr/>
          <p:nvPr/>
        </p:nvSpPr>
        <p:spPr>
          <a:xfrm>
            <a:off x="0" y="0"/>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4" name="Shape 2"/>
          <p:cNvSpPr/>
          <p:nvPr/>
        </p:nvSpPr>
        <p:spPr>
          <a:xfrm>
            <a:off x="0" y="10524744"/>
            <a:ext cx="7562088" cy="164592"/>
          </a:xfrm>
          <a:prstGeom prst="rect">
            <a:avLst/>
          </a:prstGeom>
          <a:solidFill>
            <a:srgbClr val="000000"/>
          </a:solidFill>
          <a:ln/>
        </p:spPr>
      </p:sp>
      <p:sp>
        <p:nvSpPr>
          <p:cNvPr id="5" name="Text 3"/>
          <p:cNvSpPr/>
          <p:nvPr/>
        </p:nvSpPr>
        <p:spPr>
          <a:xfrm>
            <a:off x="0" y="10524744"/>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6" name="Text 4"/>
          <p:cNvSpPr/>
          <p:nvPr/>
        </p:nvSpPr>
        <p:spPr>
          <a:xfrm>
            <a:off x="457200" y="10524744"/>
            <a:ext cx="2377440" cy="164592"/>
          </a:xfrm>
          <a:prstGeom prst="rect">
            <a:avLst/>
          </a:prstGeom>
          <a:noFill/>
          <a:ln/>
        </p:spPr>
        <p:txBody>
          <a:bodyPr wrap="square" lIns="0" tIns="0" rIns="0" bIns="0" rtlCol="0" anchor="ctr"/>
          <a:lstStyle/>
          <a:p>
            <a:pPr algn="l" indent="0" marL="0">
              <a:buNone/>
            </a:pPr>
            <a:r>
              <a:rPr lang="en-US" sz="600" dirty="0">
                <a:solidFill>
                  <a:srgbClr val="CDD2B7"/>
                </a:solidFill>
                <a:latin typeface="Arial" pitchFamily="34" charset="0"/>
                <a:ea typeface="Arial" pitchFamily="34" charset="-122"/>
                <a:cs typeface="Arial" pitchFamily="34" charset="-120"/>
              </a:rPr>
              <a:t>NZALC / HPC  ·  Draft v0.3  ·  July 2026</a:t>
            </a:r>
            <a:endParaRPr lang="en-US" sz="600" dirty="0"/>
          </a:p>
        </p:txBody>
      </p:sp>
      <p:sp>
        <p:nvSpPr>
          <p:cNvPr id="7" name="Text 5"/>
          <p:cNvSpPr/>
          <p:nvPr/>
        </p:nvSpPr>
        <p:spPr>
          <a:xfrm>
            <a:off x="5212080" y="10524744"/>
            <a:ext cx="1892808" cy="164592"/>
          </a:xfrm>
          <a:prstGeom prst="rect">
            <a:avLst/>
          </a:prstGeom>
          <a:noFill/>
          <a:ln/>
        </p:spPr>
        <p:txBody>
          <a:bodyPr wrap="square" lIns="0" tIns="0" rIns="0" bIns="0" rtlCol="0" anchor="ctr"/>
          <a:lstStyle/>
          <a:p>
            <a:pPr algn="r" indent="0" marL="0">
              <a:buNone/>
            </a:pPr>
            <a:r>
              <a:rPr lang="en-US" sz="600" dirty="0">
                <a:solidFill>
                  <a:srgbClr val="CDD2B7"/>
                </a:solidFill>
                <a:latin typeface="Arial" pitchFamily="34" charset="0"/>
                <a:ea typeface="Arial" pitchFamily="34" charset="-122"/>
                <a:cs typeface="Arial" pitchFamily="34" charset="-120"/>
              </a:rPr>
              <a:t>Distribution: COMDT ACS</a:t>
            </a:r>
            <a:endParaRPr lang="en-US" sz="60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57200" y="310896"/>
            <a:ext cx="1005840" cy="243230"/>
          </a:xfrm>
          <a:prstGeom prst="rect">
            <a:avLst/>
          </a:prstGeom>
        </p:spPr>
      </p:pic>
      <p:sp>
        <p:nvSpPr>
          <p:cNvPr id="9" name="Text 6"/>
          <p:cNvSpPr/>
          <p:nvPr/>
        </p:nvSpPr>
        <p:spPr>
          <a:xfrm>
            <a:off x="1691640" y="274320"/>
            <a:ext cx="5413248" cy="256032"/>
          </a:xfrm>
          <a:prstGeom prst="rect">
            <a:avLst/>
          </a:prstGeom>
          <a:noFill/>
          <a:ln/>
        </p:spPr>
        <p:txBody>
          <a:bodyPr wrap="square" lIns="0" tIns="0" rIns="0" bIns="0" rtlCol="0" anchor="ctr"/>
          <a:lstStyle/>
          <a:p>
            <a:pPr algn="l" indent="0" marL="0">
              <a:buNone/>
            </a:pPr>
            <a:r>
              <a:rPr lang="en-US" sz="1550" b="1" dirty="0">
                <a:solidFill>
                  <a:srgbClr val="000000"/>
                </a:solidFill>
                <a:latin typeface="Arial" pitchFamily="34" charset="0"/>
                <a:ea typeface="Arial" pitchFamily="34" charset="-122"/>
                <a:cs typeface="Arial" pitchFamily="34" charset="-120"/>
              </a:rPr>
              <a:t>COMBAT MINDSET — THE WAY FORWARD</a:t>
            </a:r>
            <a:endParaRPr lang="en-US" sz="1550" dirty="0"/>
          </a:p>
        </p:txBody>
      </p:sp>
      <p:sp>
        <p:nvSpPr>
          <p:cNvPr id="10" name="Text 7"/>
          <p:cNvSpPr/>
          <p:nvPr/>
        </p:nvSpPr>
        <p:spPr>
          <a:xfrm>
            <a:off x="1691640" y="530352"/>
            <a:ext cx="5413248" cy="164592"/>
          </a:xfrm>
          <a:prstGeom prst="rect">
            <a:avLst/>
          </a:prstGeom>
          <a:noFill/>
          <a:ln/>
        </p:spPr>
        <p:txBody>
          <a:bodyPr wrap="square" lIns="0" tIns="0" rIns="0" bIns="0" rtlCol="0" anchor="ctr"/>
          <a:lstStyle/>
          <a:p>
            <a:pPr algn="l" indent="0" marL="0">
              <a:buNone/>
            </a:pPr>
            <a:r>
              <a:rPr lang="en-US" sz="800" i="1" dirty="0">
                <a:solidFill>
                  <a:srgbClr val="000000"/>
                </a:solidFill>
                <a:latin typeface="Arial" pitchFamily="34" charset="0"/>
                <a:ea typeface="Arial" pitchFamily="34" charset="-122"/>
                <a:cs typeface="Arial" pitchFamily="34" charset="-120"/>
              </a:rPr>
              <a:t>Joint NZALC and Human Performance Cell response to COMDT ACS</a:t>
            </a:r>
            <a:endParaRPr lang="en-US" sz="800" dirty="0"/>
          </a:p>
        </p:txBody>
      </p:sp>
      <p:sp>
        <p:nvSpPr>
          <p:cNvPr id="11" name="Shape 8"/>
          <p:cNvSpPr/>
          <p:nvPr/>
        </p:nvSpPr>
        <p:spPr>
          <a:xfrm>
            <a:off x="457200" y="868680"/>
            <a:ext cx="6647688" cy="1234440"/>
          </a:xfrm>
          <a:prstGeom prst="rect">
            <a:avLst/>
          </a:prstGeom>
          <a:solidFill>
            <a:srgbClr val="000000"/>
          </a:solidFill>
          <a:ln/>
        </p:spPr>
      </p:sp>
      <p:pic>
        <p:nvPicPr>
          <p:cNvPr id="12" name="Image 1" descr="preencoded.png">    </p:cNvPr>
          <p:cNvPicPr>
            <a:picLocks noChangeAspect="1"/>
          </p:cNvPicPr>
          <p:nvPr/>
        </p:nvPicPr>
        <p:blipFill>
          <a:blip r:embed="rId2">
            <a:alphaModFix amt="55000"/>
          </a:blip>
          <a:stretch>
            <a:fillRect/>
          </a:stretch>
        </p:blipFill>
        <p:spPr>
          <a:xfrm>
            <a:off x="6053328" y="1078992"/>
            <a:ext cx="804672" cy="804672"/>
          </a:xfrm>
          <a:prstGeom prst="rect">
            <a:avLst/>
          </a:prstGeom>
        </p:spPr>
      </p:pic>
      <p:sp>
        <p:nvSpPr>
          <p:cNvPr id="13" name="Text 9"/>
          <p:cNvSpPr/>
          <p:nvPr/>
        </p:nvSpPr>
        <p:spPr>
          <a:xfrm>
            <a:off x="713232" y="987552"/>
            <a:ext cx="4114800" cy="164592"/>
          </a:xfrm>
          <a:prstGeom prst="rect">
            <a:avLst/>
          </a:prstGeom>
          <a:noFill/>
          <a:ln/>
        </p:spPr>
        <p:txBody>
          <a:bodyPr wrap="square" lIns="0" tIns="0" rIns="0" bIns="0" rtlCol="0" anchor="ctr"/>
          <a:lstStyle/>
          <a:p>
            <a:pPr indent="0" marL="0">
              <a:buNone/>
            </a:pPr>
            <a:r>
              <a:rPr lang="en-US" sz="850" b="1" spc="300" kern="0" dirty="0">
                <a:solidFill>
                  <a:srgbClr val="CDD2B7"/>
                </a:solidFill>
                <a:latin typeface="Arial" pitchFamily="34" charset="0"/>
                <a:ea typeface="Arial" pitchFamily="34" charset="-122"/>
                <a:cs typeface="Arial" pitchFamily="34" charset="-120"/>
              </a:rPr>
              <a:t>WARFIGHTING IMPERATIVE</a:t>
            </a:r>
            <a:endParaRPr lang="en-US" sz="850" dirty="0"/>
          </a:p>
        </p:txBody>
      </p:sp>
      <p:sp>
        <p:nvSpPr>
          <p:cNvPr id="14" name="Text 10"/>
          <p:cNvSpPr/>
          <p:nvPr/>
        </p:nvSpPr>
        <p:spPr>
          <a:xfrm>
            <a:off x="713232" y="1161288"/>
            <a:ext cx="5120640" cy="384048"/>
          </a:xfrm>
          <a:prstGeom prst="rect">
            <a:avLst/>
          </a:prstGeom>
          <a:noFill/>
          <a:ln/>
        </p:spPr>
        <p:txBody>
          <a:bodyPr wrap="square" lIns="0" tIns="0" rIns="0" bIns="0" rtlCol="0" anchor="ctr"/>
          <a:lstStyle/>
          <a:p>
            <a:pPr algn="l" indent="0" marL="0">
              <a:buNone/>
            </a:pPr>
            <a:r>
              <a:rPr lang="en-US" sz="2100" b="1" dirty="0">
                <a:solidFill>
                  <a:srgbClr val="FFFFFF"/>
                </a:solidFill>
                <a:latin typeface="Arial" pitchFamily="34" charset="0"/>
                <a:ea typeface="Arial" pitchFamily="34" charset="-122"/>
                <a:cs typeface="Arial" pitchFamily="34" charset="-120"/>
              </a:rPr>
              <a:t>REMAIN EFFECTIVE. </a:t>
            </a:r>
            <a:pPr algn="l" indent="0" marL="0">
              <a:buNone/>
            </a:pPr>
            <a:r>
              <a:rPr lang="en-US" sz="2100" b="1" dirty="0">
                <a:solidFill>
                  <a:srgbClr val="C62026"/>
                </a:solidFill>
                <a:latin typeface="Arial" pitchFamily="34" charset="0"/>
                <a:ea typeface="Arial" pitchFamily="34" charset="-122"/>
                <a:cs typeface="Arial" pitchFamily="34" charset="-120"/>
              </a:rPr>
              <a:t>ACT DECISIVELY.</a:t>
            </a:r>
            <a:endParaRPr lang="en-US" sz="2100" dirty="0"/>
          </a:p>
        </p:txBody>
      </p:sp>
      <p:sp>
        <p:nvSpPr>
          <p:cNvPr id="15" name="Text 11"/>
          <p:cNvSpPr/>
          <p:nvPr/>
        </p:nvSpPr>
        <p:spPr>
          <a:xfrm>
            <a:off x="713232" y="1591056"/>
            <a:ext cx="5212080" cy="402336"/>
          </a:xfrm>
          <a:prstGeom prst="rect">
            <a:avLst/>
          </a:prstGeom>
          <a:noFill/>
          <a:ln/>
        </p:spPr>
        <p:txBody>
          <a:bodyPr wrap="square" lIns="0" tIns="0" rIns="0" bIns="0" rtlCol="0" anchor="t"/>
          <a:lstStyle/>
          <a:p>
            <a:pPr algn="l" indent="0" marL="0">
              <a:buNone/>
            </a:pPr>
            <a:r>
              <a:rPr lang="en-US" sz="85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850" dirty="0"/>
          </a:p>
        </p:txBody>
      </p:sp>
      <p:sp>
        <p:nvSpPr>
          <p:cNvPr id="16" name="Shape 12"/>
          <p:cNvSpPr/>
          <p:nvPr/>
        </p:nvSpPr>
        <p:spPr>
          <a:xfrm>
            <a:off x="457200" y="2267712"/>
            <a:ext cx="1874520" cy="804672"/>
          </a:xfrm>
          <a:prstGeom prst="rect">
            <a:avLst/>
          </a:prstGeom>
          <a:solidFill>
            <a:srgbClr val="C62026"/>
          </a:solidFill>
          <a:ln/>
        </p:spPr>
      </p:sp>
      <p:pic>
        <p:nvPicPr>
          <p:cNvPr id="17" name="Image 2" descr="preencoded.png">    </p:cNvPr>
          <p:cNvPicPr>
            <a:picLocks noChangeAspect="1"/>
          </p:cNvPicPr>
          <p:nvPr/>
        </p:nvPicPr>
        <p:blipFill>
          <a:blip r:embed="rId3"/>
          <a:stretch>
            <a:fillRect/>
          </a:stretch>
        </p:blipFill>
        <p:spPr>
          <a:xfrm>
            <a:off x="603504" y="2395728"/>
            <a:ext cx="310896" cy="310896"/>
          </a:xfrm>
          <a:prstGeom prst="rect">
            <a:avLst/>
          </a:prstGeom>
        </p:spPr>
      </p:pic>
      <p:sp>
        <p:nvSpPr>
          <p:cNvPr id="18" name="Text 13"/>
          <p:cNvSpPr/>
          <p:nvPr/>
        </p:nvSpPr>
        <p:spPr>
          <a:xfrm>
            <a:off x="1005840" y="2359152"/>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COMBAT MINDSET</a:t>
            </a:r>
            <a:endParaRPr lang="en-US" sz="1050" dirty="0"/>
          </a:p>
        </p:txBody>
      </p:sp>
      <p:sp>
        <p:nvSpPr>
          <p:cNvPr id="19" name="Text 14"/>
          <p:cNvSpPr/>
          <p:nvPr/>
        </p:nvSpPr>
        <p:spPr>
          <a:xfrm>
            <a:off x="603504" y="2798064"/>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Shape 15"/>
          <p:cNvSpPr/>
          <p:nvPr/>
        </p:nvSpPr>
        <p:spPr>
          <a:xfrm>
            <a:off x="2487168" y="2267712"/>
            <a:ext cx="4617720" cy="804672"/>
          </a:xfrm>
          <a:prstGeom prst="rect">
            <a:avLst/>
          </a:prstGeom>
          <a:solidFill>
            <a:srgbClr val="CDD2B7">
              <a:alpha val="28000"/>
            </a:srgbClr>
          </a:solidFill>
          <a:ln/>
        </p:spPr>
      </p:sp>
      <p:sp>
        <p:nvSpPr>
          <p:cNvPr id="21" name="Text 16"/>
          <p:cNvSpPr/>
          <p:nvPr/>
        </p:nvSpPr>
        <p:spPr>
          <a:xfrm>
            <a:off x="2633472" y="2331720"/>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Combat Mindset is the combat-specific expression of Performance Under Pressure.</a:t>
            </a:r>
            <a:endParaRPr lang="en-US" sz="870" dirty="0"/>
          </a:p>
        </p:txBody>
      </p:sp>
      <p:sp>
        <p:nvSpPr>
          <p:cNvPr id="22" name="Text 17"/>
          <p:cNvSpPr/>
          <p:nvPr/>
        </p:nvSpPr>
        <p:spPr>
          <a:xfrm>
            <a:off x="2633472" y="2670048"/>
            <a:ext cx="4325112" cy="384048"/>
          </a:xfrm>
          <a:prstGeom prst="rect">
            <a:avLst/>
          </a:prstGeom>
          <a:noFill/>
          <a:ln/>
        </p:spPr>
        <p:txBody>
          <a:bodyPr wrap="square" lIns="0" tIns="0" rIns="0" bIns="0" rtlCol="0" anchor="t"/>
          <a:lstStyle/>
          <a:p>
            <a:pPr algn="l" indent="0" marL="0">
              <a:buNone/>
            </a:pPr>
            <a:r>
              <a:rPr lang="en-US" sz="820" dirty="0">
                <a:solidFill>
                  <a:srgbClr val="000000"/>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820" dirty="0"/>
          </a:p>
        </p:txBody>
      </p:sp>
      <p:sp>
        <p:nvSpPr>
          <p:cNvPr id="23" name="Shape 18"/>
          <p:cNvSpPr/>
          <p:nvPr/>
        </p:nvSpPr>
        <p:spPr>
          <a:xfrm rot="10800000">
            <a:off x="1321308" y="3145536"/>
            <a:ext cx="146304" cy="109728"/>
          </a:xfrm>
          <a:prstGeom prst="triangle">
            <a:avLst/>
          </a:prstGeom>
          <a:solidFill>
            <a:srgbClr val="002516"/>
          </a:solidFill>
          <a:ln/>
        </p:spPr>
      </p:sp>
      <p:sp>
        <p:nvSpPr>
          <p:cNvPr id="24" name="Text 19"/>
          <p:cNvSpPr/>
          <p:nvPr/>
        </p:nvSpPr>
        <p:spPr>
          <a:xfrm>
            <a:off x="1540764" y="3127248"/>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enabled by</a:t>
            </a:r>
            <a:endParaRPr lang="en-US" sz="750" dirty="0"/>
          </a:p>
        </p:txBody>
      </p:sp>
      <p:sp>
        <p:nvSpPr>
          <p:cNvPr id="25" name="Shape 20"/>
          <p:cNvSpPr/>
          <p:nvPr/>
        </p:nvSpPr>
        <p:spPr>
          <a:xfrm>
            <a:off x="457200" y="3346704"/>
            <a:ext cx="1874520" cy="1152144"/>
          </a:xfrm>
          <a:prstGeom prst="rect">
            <a:avLst/>
          </a:prstGeom>
          <a:solidFill>
            <a:srgbClr val="002516"/>
          </a:solidFill>
          <a:ln/>
        </p:spPr>
      </p:sp>
      <p:pic>
        <p:nvPicPr>
          <p:cNvPr id="26" name="Image 3" descr="preencoded.png">    </p:cNvPr>
          <p:cNvPicPr>
            <a:picLocks noChangeAspect="1"/>
          </p:cNvPicPr>
          <p:nvPr/>
        </p:nvPicPr>
        <p:blipFill>
          <a:blip r:embed="rId4"/>
          <a:stretch>
            <a:fillRect/>
          </a:stretch>
        </p:blipFill>
        <p:spPr>
          <a:xfrm>
            <a:off x="603504" y="3474720"/>
            <a:ext cx="310896" cy="310896"/>
          </a:xfrm>
          <a:prstGeom prst="rect">
            <a:avLst/>
          </a:prstGeom>
        </p:spPr>
      </p:pic>
      <p:sp>
        <p:nvSpPr>
          <p:cNvPr id="27" name="Text 21"/>
          <p:cNvSpPr/>
          <p:nvPr/>
        </p:nvSpPr>
        <p:spPr>
          <a:xfrm>
            <a:off x="1005840" y="3438144"/>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PERFORMANCE UNDER PRESSURE</a:t>
            </a:r>
            <a:endParaRPr lang="en-US" sz="1050" dirty="0"/>
          </a:p>
        </p:txBody>
      </p:sp>
      <p:sp>
        <p:nvSpPr>
          <p:cNvPr id="28" name="Text 22"/>
          <p:cNvSpPr/>
          <p:nvPr/>
        </p:nvSpPr>
        <p:spPr>
          <a:xfrm>
            <a:off x="603504" y="4224528"/>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9" name="Shape 23"/>
          <p:cNvSpPr/>
          <p:nvPr/>
        </p:nvSpPr>
        <p:spPr>
          <a:xfrm>
            <a:off x="2487168" y="3346704"/>
            <a:ext cx="4617720" cy="1152144"/>
          </a:xfrm>
          <a:prstGeom prst="rect">
            <a:avLst/>
          </a:prstGeom>
          <a:solidFill>
            <a:srgbClr val="CDD2B7">
              <a:alpha val="28000"/>
            </a:srgbClr>
          </a:solidFill>
          <a:ln/>
        </p:spPr>
      </p:sp>
      <p:sp>
        <p:nvSpPr>
          <p:cNvPr id="30" name="Text 24"/>
          <p:cNvSpPr/>
          <p:nvPr/>
        </p:nvSpPr>
        <p:spPr>
          <a:xfrm>
            <a:off x="2633472" y="3419856"/>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Performance Under Pressure is the trainable individual and collective human-performance capability to:</a:t>
            </a:r>
            <a:endParaRPr lang="en-US" sz="870" dirty="0"/>
          </a:p>
        </p:txBody>
      </p:sp>
      <p:sp>
        <p:nvSpPr>
          <p:cNvPr id="31" name="Text 25"/>
          <p:cNvSpPr/>
          <p:nvPr/>
        </p:nvSpPr>
        <p:spPr>
          <a:xfrm>
            <a:off x="263347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Prepare for pressure</a:t>
            </a:r>
            <a:endParaRPr lang="en-US" sz="820" dirty="0"/>
          </a:p>
        </p:txBody>
      </p:sp>
      <p:sp>
        <p:nvSpPr>
          <p:cNvPr id="32" name="Text 26"/>
          <p:cNvSpPr/>
          <p:nvPr/>
        </p:nvSpPr>
        <p:spPr>
          <a:xfrm>
            <a:off x="496519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Adapt within pressure</a:t>
            </a:r>
            <a:endParaRPr lang="en-US" sz="820" dirty="0"/>
          </a:p>
        </p:txBody>
      </p:sp>
      <p:sp>
        <p:nvSpPr>
          <p:cNvPr id="33" name="Text 27"/>
          <p:cNvSpPr/>
          <p:nvPr/>
        </p:nvSpPr>
        <p:spPr>
          <a:xfrm>
            <a:off x="263347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Maintain performance through pressure</a:t>
            </a:r>
            <a:endParaRPr lang="en-US" sz="820" dirty="0"/>
          </a:p>
        </p:txBody>
      </p:sp>
      <p:sp>
        <p:nvSpPr>
          <p:cNvPr id="34" name="Text 28"/>
          <p:cNvSpPr/>
          <p:nvPr/>
        </p:nvSpPr>
        <p:spPr>
          <a:xfrm>
            <a:off x="496519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Recover from pressure</a:t>
            </a:r>
            <a:endParaRPr lang="en-US" sz="820" dirty="0"/>
          </a:p>
        </p:txBody>
      </p:sp>
      <p:sp>
        <p:nvSpPr>
          <p:cNvPr id="35" name="Text 29"/>
          <p:cNvSpPr/>
          <p:nvPr/>
        </p:nvSpPr>
        <p:spPr>
          <a:xfrm>
            <a:off x="2633472" y="4187952"/>
            <a:ext cx="4325112" cy="274320"/>
          </a:xfrm>
          <a:prstGeom prst="rect">
            <a:avLst/>
          </a:prstGeom>
          <a:noFill/>
          <a:ln/>
        </p:spPr>
        <p:txBody>
          <a:bodyPr wrap="square" lIns="0" tIns="0" rIns="0" bIns="0" rtlCol="0" anchor="t"/>
          <a:lstStyle/>
          <a:p>
            <a:pPr algn="l" indent="0" marL="0">
              <a:buNone/>
            </a:pPr>
            <a:r>
              <a:rPr lang="en-US" sz="750" i="1" dirty="0">
                <a:solidFill>
                  <a:srgbClr val="000000"/>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0"/>
          <p:cNvSpPr/>
          <p:nvPr/>
        </p:nvSpPr>
        <p:spPr>
          <a:xfrm rot="10800000">
            <a:off x="1321308" y="4572000"/>
            <a:ext cx="146304" cy="109728"/>
          </a:xfrm>
          <a:prstGeom prst="triangle">
            <a:avLst/>
          </a:prstGeom>
          <a:solidFill>
            <a:srgbClr val="3A4B00"/>
          </a:solidFill>
          <a:ln/>
        </p:spPr>
      </p:sp>
      <p:sp>
        <p:nvSpPr>
          <p:cNvPr id="37" name="Text 31"/>
          <p:cNvSpPr/>
          <p:nvPr/>
        </p:nvSpPr>
        <p:spPr>
          <a:xfrm>
            <a:off x="1540764" y="4553712"/>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developed and organised through</a:t>
            </a:r>
            <a:endParaRPr lang="en-US" sz="750" dirty="0"/>
          </a:p>
        </p:txBody>
      </p:sp>
      <p:sp>
        <p:nvSpPr>
          <p:cNvPr id="38" name="Shape 32"/>
          <p:cNvSpPr/>
          <p:nvPr/>
        </p:nvSpPr>
        <p:spPr>
          <a:xfrm>
            <a:off x="457200" y="4773168"/>
            <a:ext cx="1874520" cy="1078992"/>
          </a:xfrm>
          <a:prstGeom prst="rect">
            <a:avLst/>
          </a:prstGeom>
          <a:solidFill>
            <a:srgbClr val="3A4B00"/>
          </a:solidFill>
          <a:ln/>
        </p:spPr>
      </p:sp>
      <p:pic>
        <p:nvPicPr>
          <p:cNvPr id="39" name="Image 4" descr="preencoded.png">    </p:cNvPr>
          <p:cNvPicPr>
            <a:picLocks noChangeAspect="1"/>
          </p:cNvPicPr>
          <p:nvPr/>
        </p:nvPicPr>
        <p:blipFill>
          <a:blip r:embed="rId5"/>
          <a:stretch>
            <a:fillRect/>
          </a:stretch>
        </p:blipFill>
        <p:spPr>
          <a:xfrm>
            <a:off x="603504" y="4901184"/>
            <a:ext cx="310896" cy="310896"/>
          </a:xfrm>
          <a:prstGeom prst="rect">
            <a:avLst/>
          </a:prstGeom>
        </p:spPr>
      </p:pic>
      <p:sp>
        <p:nvSpPr>
          <p:cNvPr id="40" name="Text 33"/>
          <p:cNvSpPr/>
          <p:nvPr/>
        </p:nvSpPr>
        <p:spPr>
          <a:xfrm>
            <a:off x="1005840" y="4864608"/>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ARMY COMBAT MINDSET FRAMEWORK</a:t>
            </a:r>
            <a:endParaRPr lang="en-US" sz="1050" dirty="0"/>
          </a:p>
        </p:txBody>
      </p:sp>
      <p:sp>
        <p:nvSpPr>
          <p:cNvPr id="41" name="Text 34"/>
          <p:cNvSpPr/>
          <p:nvPr/>
        </p:nvSpPr>
        <p:spPr>
          <a:xfrm>
            <a:off x="603504" y="5577840"/>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Organising model</a:t>
            </a:r>
            <a:endParaRPr lang="en-US" sz="750" dirty="0"/>
          </a:p>
        </p:txBody>
      </p:sp>
      <p:sp>
        <p:nvSpPr>
          <p:cNvPr id="42" name="Shape 35"/>
          <p:cNvSpPr/>
          <p:nvPr/>
        </p:nvSpPr>
        <p:spPr>
          <a:xfrm>
            <a:off x="2487168" y="4773168"/>
            <a:ext cx="4617720" cy="1078992"/>
          </a:xfrm>
          <a:prstGeom prst="rect">
            <a:avLst/>
          </a:prstGeom>
          <a:solidFill>
            <a:srgbClr val="CDD2B7">
              <a:alpha val="28000"/>
            </a:srgbClr>
          </a:solidFill>
          <a:ln/>
        </p:spPr>
      </p:sp>
      <p:sp>
        <p:nvSpPr>
          <p:cNvPr id="43" name="Text 36"/>
          <p:cNvSpPr/>
          <p:nvPr/>
        </p:nvSpPr>
        <p:spPr>
          <a:xfrm>
            <a:off x="2633472" y="4846320"/>
            <a:ext cx="4325112" cy="475488"/>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The Army Combat Mindset Framework is the organising model through which Army defines, develops, integrates and assures the capabilities, products and governance arrangements that enable Combat Mindset.</a:t>
            </a:r>
            <a:endParaRPr lang="en-US" sz="870" dirty="0"/>
          </a:p>
        </p:txBody>
      </p:sp>
      <p:sp>
        <p:nvSpPr>
          <p:cNvPr id="44" name="Text 37"/>
          <p:cNvSpPr/>
          <p:nvPr/>
        </p:nvSpPr>
        <p:spPr>
          <a:xfrm>
            <a:off x="2633472" y="5340096"/>
            <a:ext cx="1097280" cy="146304"/>
          </a:xfrm>
          <a:prstGeom prst="rect">
            <a:avLst/>
          </a:prstGeom>
          <a:noFill/>
          <a:ln/>
        </p:spPr>
        <p:txBody>
          <a:bodyPr wrap="square" lIns="0" tIns="0" rIns="0" bIns="0" rtlCol="0" anchor="ctr"/>
          <a:lstStyle/>
          <a:p>
            <a:pPr algn="l" indent="0" marL="0">
              <a:buNone/>
            </a:pPr>
            <a:r>
              <a:rPr lang="en-US" sz="760" i="1" dirty="0">
                <a:solidFill>
                  <a:srgbClr val="000000"/>
                </a:solidFill>
                <a:latin typeface="Arial" pitchFamily="34" charset="0"/>
                <a:ea typeface="Arial" pitchFamily="34" charset="-122"/>
                <a:cs typeface="Arial" pitchFamily="34" charset="-120"/>
              </a:rPr>
              <a:t>It organises:</a:t>
            </a:r>
            <a:endParaRPr lang="en-US" sz="760" dirty="0"/>
          </a:p>
        </p:txBody>
      </p:sp>
      <p:sp>
        <p:nvSpPr>
          <p:cNvPr id="45" name="Text 38"/>
          <p:cNvSpPr/>
          <p:nvPr/>
        </p:nvSpPr>
        <p:spPr>
          <a:xfrm>
            <a:off x="2633472"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Doctrinal definitions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Desired outcomes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Capability pillars</a:t>
            </a:r>
            <a:endParaRPr lang="en-US" sz="720" dirty="0"/>
          </a:p>
        </p:txBody>
      </p:sp>
      <p:sp>
        <p:nvSpPr>
          <p:cNvPr id="46" name="Text 39"/>
          <p:cNvSpPr/>
          <p:nvPr/>
        </p:nvSpPr>
        <p:spPr>
          <a:xfrm>
            <a:off x="4206240"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Developmental progression</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Products and methods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Delivery responsibilities</a:t>
            </a:r>
            <a:endParaRPr lang="en-US" sz="720" dirty="0"/>
          </a:p>
        </p:txBody>
      </p:sp>
      <p:sp>
        <p:nvSpPr>
          <p:cNvPr id="47" name="Text 40"/>
          <p:cNvSpPr/>
          <p:nvPr/>
        </p:nvSpPr>
        <p:spPr>
          <a:xfrm>
            <a:off x="5779008"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Governance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Evidence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Assurance</a:t>
            </a:r>
            <a:endParaRPr lang="en-US" sz="720" dirty="0"/>
          </a:p>
        </p:txBody>
      </p:sp>
      <p:sp>
        <p:nvSpPr>
          <p:cNvPr id="48" name="Shape 41"/>
          <p:cNvSpPr/>
          <p:nvPr/>
        </p:nvSpPr>
        <p:spPr>
          <a:xfrm rot="10800000">
            <a:off x="1321308" y="5961888"/>
            <a:ext cx="146304" cy="109728"/>
          </a:xfrm>
          <a:prstGeom prst="triangle">
            <a:avLst/>
          </a:prstGeom>
          <a:solidFill>
            <a:srgbClr val="002516"/>
          </a:solidFill>
          <a:ln/>
        </p:spPr>
      </p:sp>
      <p:sp>
        <p:nvSpPr>
          <p:cNvPr id="49" name="Text 42"/>
          <p:cNvSpPr/>
          <p:nvPr/>
        </p:nvSpPr>
        <p:spPr>
          <a:xfrm>
            <a:off x="1540764" y="5943600"/>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delivered through</a:t>
            </a:r>
            <a:endParaRPr lang="en-US" sz="750" dirty="0"/>
          </a:p>
        </p:txBody>
      </p:sp>
      <p:sp>
        <p:nvSpPr>
          <p:cNvPr id="50" name="Shape 43"/>
          <p:cNvSpPr/>
          <p:nvPr/>
        </p:nvSpPr>
        <p:spPr>
          <a:xfrm>
            <a:off x="457200" y="6163056"/>
            <a:ext cx="6647688" cy="1133856"/>
          </a:xfrm>
          <a:prstGeom prst="rect">
            <a:avLst/>
          </a:prstGeom>
          <a:solidFill>
            <a:srgbClr val="CDD2B7">
              <a:alpha val="28000"/>
            </a:srgbClr>
          </a:solidFill>
          <a:ln/>
        </p:spPr>
      </p:sp>
      <p:sp>
        <p:nvSpPr>
          <p:cNvPr id="51" name="Text 44"/>
          <p:cNvSpPr/>
          <p:nvPr/>
        </p:nvSpPr>
        <p:spPr>
          <a:xfrm>
            <a:off x="457200" y="6236208"/>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CAPABILITY PILLARS</a:t>
            </a:r>
            <a:endParaRPr lang="en-US" sz="1050" dirty="0"/>
          </a:p>
        </p:txBody>
      </p:sp>
      <p:sp>
        <p:nvSpPr>
          <p:cNvPr id="52" name="Shape 45"/>
          <p:cNvSpPr/>
          <p:nvPr/>
        </p:nvSpPr>
        <p:spPr>
          <a:xfrm>
            <a:off x="758299" y="6473952"/>
            <a:ext cx="347472" cy="347472"/>
          </a:xfrm>
          <a:prstGeom prst="ellipse">
            <a:avLst/>
          </a:prstGeom>
          <a:solidFill>
            <a:srgbClr val="FFFFFF"/>
          </a:solidFill>
          <a:ln w="15875">
            <a:solidFill>
              <a:srgbClr val="002516"/>
            </a:solidFill>
            <a:prstDash val="solid"/>
          </a:ln>
        </p:spPr>
      </p:sp>
      <p:pic>
        <p:nvPicPr>
          <p:cNvPr id="53" name="Image 5" descr="preencoded.png">    </p:cNvPr>
          <p:cNvPicPr>
            <a:picLocks noChangeAspect="1"/>
          </p:cNvPicPr>
          <p:nvPr/>
        </p:nvPicPr>
        <p:blipFill>
          <a:blip r:embed="rId6"/>
          <a:stretch>
            <a:fillRect/>
          </a:stretch>
        </p:blipFill>
        <p:spPr>
          <a:xfrm>
            <a:off x="831451" y="6547104"/>
            <a:ext cx="201168" cy="201168"/>
          </a:xfrm>
          <a:prstGeom prst="rect">
            <a:avLst/>
          </a:prstGeom>
        </p:spPr>
      </p:pic>
      <p:sp>
        <p:nvSpPr>
          <p:cNvPr id="54" name="Text 46"/>
          <p:cNvSpPr/>
          <p:nvPr/>
        </p:nvSpPr>
        <p:spPr>
          <a:xfrm>
            <a:off x="48463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Leadership</a:t>
            </a:r>
            <a:endParaRPr lang="en-US" sz="680" dirty="0"/>
          </a:p>
        </p:txBody>
      </p:sp>
      <p:sp>
        <p:nvSpPr>
          <p:cNvPr id="55" name="Shape 47"/>
          <p:cNvSpPr/>
          <p:nvPr/>
        </p:nvSpPr>
        <p:spPr>
          <a:xfrm>
            <a:off x="1707969" y="6473952"/>
            <a:ext cx="347472" cy="347472"/>
          </a:xfrm>
          <a:prstGeom prst="ellipse">
            <a:avLst/>
          </a:prstGeom>
          <a:solidFill>
            <a:srgbClr val="FFFFFF"/>
          </a:solidFill>
          <a:ln w="15875">
            <a:solidFill>
              <a:srgbClr val="002516"/>
            </a:solidFill>
            <a:prstDash val="solid"/>
          </a:ln>
        </p:spPr>
      </p:sp>
      <p:pic>
        <p:nvPicPr>
          <p:cNvPr id="56" name="Image 6" descr="preencoded.png">    </p:cNvPr>
          <p:cNvPicPr>
            <a:picLocks noChangeAspect="1"/>
          </p:cNvPicPr>
          <p:nvPr/>
        </p:nvPicPr>
        <p:blipFill>
          <a:blip r:embed="rId7"/>
          <a:stretch>
            <a:fillRect/>
          </a:stretch>
        </p:blipFill>
        <p:spPr>
          <a:xfrm>
            <a:off x="1781121" y="6547104"/>
            <a:ext cx="201168" cy="201168"/>
          </a:xfrm>
          <a:prstGeom prst="rect">
            <a:avLst/>
          </a:prstGeom>
        </p:spPr>
      </p:pic>
      <p:sp>
        <p:nvSpPr>
          <p:cNvPr id="57" name="Text 48"/>
          <p:cNvSpPr/>
          <p:nvPr/>
        </p:nvSpPr>
        <p:spPr>
          <a:xfrm>
            <a:off x="143430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Mental skills</a:t>
            </a:r>
            <a:endParaRPr lang="en-US" sz="680" dirty="0"/>
          </a:p>
        </p:txBody>
      </p:sp>
      <p:sp>
        <p:nvSpPr>
          <p:cNvPr id="58" name="Shape 49"/>
          <p:cNvSpPr/>
          <p:nvPr/>
        </p:nvSpPr>
        <p:spPr>
          <a:xfrm>
            <a:off x="2657638" y="6473952"/>
            <a:ext cx="347472" cy="347472"/>
          </a:xfrm>
          <a:prstGeom prst="ellipse">
            <a:avLst/>
          </a:prstGeom>
          <a:solidFill>
            <a:srgbClr val="002516"/>
          </a:solidFill>
          <a:ln w="15875">
            <a:solidFill>
              <a:srgbClr val="002516"/>
            </a:solidFill>
            <a:prstDash val="solid"/>
          </a:ln>
        </p:spPr>
      </p:sp>
      <p:pic>
        <p:nvPicPr>
          <p:cNvPr id="59" name="Image 7" descr="preencoded.png">    </p:cNvPr>
          <p:cNvPicPr>
            <a:picLocks noChangeAspect="1"/>
          </p:cNvPicPr>
          <p:nvPr/>
        </p:nvPicPr>
        <p:blipFill>
          <a:blip r:embed="rId8"/>
          <a:stretch>
            <a:fillRect/>
          </a:stretch>
        </p:blipFill>
        <p:spPr>
          <a:xfrm>
            <a:off x="2730790" y="6547104"/>
            <a:ext cx="201168" cy="201168"/>
          </a:xfrm>
          <a:prstGeom prst="rect">
            <a:avLst/>
          </a:prstGeom>
        </p:spPr>
      </p:pic>
      <p:sp>
        <p:nvSpPr>
          <p:cNvPr id="60" name="Text 50"/>
          <p:cNvSpPr/>
          <p:nvPr/>
        </p:nvSpPr>
        <p:spPr>
          <a:xfrm>
            <a:off x="238397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Performance cognition</a:t>
            </a:r>
            <a:endParaRPr lang="en-US" sz="680" dirty="0"/>
          </a:p>
        </p:txBody>
      </p:sp>
      <p:sp>
        <p:nvSpPr>
          <p:cNvPr id="61" name="Shape 51"/>
          <p:cNvSpPr/>
          <p:nvPr/>
        </p:nvSpPr>
        <p:spPr>
          <a:xfrm>
            <a:off x="3607308" y="6473952"/>
            <a:ext cx="347472" cy="347472"/>
          </a:xfrm>
          <a:prstGeom prst="ellipse">
            <a:avLst/>
          </a:prstGeom>
          <a:solidFill>
            <a:srgbClr val="FFFFFF"/>
          </a:solidFill>
          <a:ln w="15875">
            <a:solidFill>
              <a:srgbClr val="002516"/>
            </a:solidFill>
            <a:prstDash val="solid"/>
          </a:ln>
        </p:spPr>
      </p:sp>
      <p:pic>
        <p:nvPicPr>
          <p:cNvPr id="62" name="Image 8" descr="preencoded.png">    </p:cNvPr>
          <p:cNvPicPr>
            <a:picLocks noChangeAspect="1"/>
          </p:cNvPicPr>
          <p:nvPr/>
        </p:nvPicPr>
        <p:blipFill>
          <a:blip r:embed="rId9"/>
          <a:stretch>
            <a:fillRect/>
          </a:stretch>
        </p:blipFill>
        <p:spPr>
          <a:xfrm>
            <a:off x="3680460" y="6547104"/>
            <a:ext cx="201168" cy="201168"/>
          </a:xfrm>
          <a:prstGeom prst="rect">
            <a:avLst/>
          </a:prstGeom>
        </p:spPr>
      </p:pic>
      <p:sp>
        <p:nvSpPr>
          <p:cNvPr id="63" name="Text 52"/>
          <p:cNvSpPr/>
          <p:nvPr/>
        </p:nvSpPr>
        <p:spPr>
          <a:xfrm>
            <a:off x="333364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Resilience &amp; recovery</a:t>
            </a:r>
            <a:endParaRPr lang="en-US" sz="680" dirty="0"/>
          </a:p>
        </p:txBody>
      </p:sp>
      <p:sp>
        <p:nvSpPr>
          <p:cNvPr id="64" name="Shape 53"/>
          <p:cNvSpPr/>
          <p:nvPr/>
        </p:nvSpPr>
        <p:spPr>
          <a:xfrm>
            <a:off x="4556978" y="6473952"/>
            <a:ext cx="347472" cy="347472"/>
          </a:xfrm>
          <a:prstGeom prst="ellipse">
            <a:avLst/>
          </a:prstGeom>
          <a:solidFill>
            <a:srgbClr val="FFFFFF"/>
          </a:solidFill>
          <a:ln w="15875">
            <a:solidFill>
              <a:srgbClr val="002516"/>
            </a:solidFill>
            <a:prstDash val="solid"/>
          </a:ln>
        </p:spPr>
      </p:sp>
      <p:pic>
        <p:nvPicPr>
          <p:cNvPr id="65" name="Image 9" descr="preencoded.png">    </p:cNvPr>
          <p:cNvPicPr>
            <a:picLocks noChangeAspect="1"/>
          </p:cNvPicPr>
          <p:nvPr/>
        </p:nvPicPr>
        <p:blipFill>
          <a:blip r:embed="rId10"/>
          <a:stretch>
            <a:fillRect/>
          </a:stretch>
        </p:blipFill>
        <p:spPr>
          <a:xfrm>
            <a:off x="4630130" y="6547104"/>
            <a:ext cx="201168" cy="201168"/>
          </a:xfrm>
          <a:prstGeom prst="rect">
            <a:avLst/>
          </a:prstGeom>
        </p:spPr>
      </p:pic>
      <p:sp>
        <p:nvSpPr>
          <p:cNvPr id="66" name="Text 54"/>
          <p:cNvSpPr/>
          <p:nvPr/>
        </p:nvSpPr>
        <p:spPr>
          <a:xfrm>
            <a:off x="428331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Physical performance</a:t>
            </a:r>
            <a:endParaRPr lang="en-US" sz="680" dirty="0"/>
          </a:p>
        </p:txBody>
      </p:sp>
      <p:sp>
        <p:nvSpPr>
          <p:cNvPr id="67" name="Shape 55"/>
          <p:cNvSpPr/>
          <p:nvPr/>
        </p:nvSpPr>
        <p:spPr>
          <a:xfrm>
            <a:off x="5506647" y="6473952"/>
            <a:ext cx="347472" cy="347472"/>
          </a:xfrm>
          <a:prstGeom prst="ellipse">
            <a:avLst/>
          </a:prstGeom>
          <a:solidFill>
            <a:srgbClr val="FFFFFF"/>
          </a:solidFill>
          <a:ln w="15875">
            <a:solidFill>
              <a:srgbClr val="002516"/>
            </a:solidFill>
            <a:prstDash val="solid"/>
          </a:ln>
        </p:spPr>
      </p:sp>
      <p:pic>
        <p:nvPicPr>
          <p:cNvPr id="68" name="Image 10" descr="preencoded.png">    </p:cNvPr>
          <p:cNvPicPr>
            <a:picLocks noChangeAspect="1"/>
          </p:cNvPicPr>
          <p:nvPr/>
        </p:nvPicPr>
        <p:blipFill>
          <a:blip r:embed="rId11"/>
          <a:stretch>
            <a:fillRect/>
          </a:stretch>
        </p:blipFill>
        <p:spPr>
          <a:xfrm>
            <a:off x="5579799" y="6547104"/>
            <a:ext cx="201168" cy="201168"/>
          </a:xfrm>
          <a:prstGeom prst="rect">
            <a:avLst/>
          </a:prstGeom>
        </p:spPr>
      </p:pic>
      <p:sp>
        <p:nvSpPr>
          <p:cNvPr id="69" name="Text 56"/>
          <p:cNvSpPr/>
          <p:nvPr/>
        </p:nvSpPr>
        <p:spPr>
          <a:xfrm>
            <a:off x="523298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Professional identity &amp; values</a:t>
            </a:r>
            <a:endParaRPr lang="en-US" sz="680" dirty="0"/>
          </a:p>
        </p:txBody>
      </p:sp>
      <p:sp>
        <p:nvSpPr>
          <p:cNvPr id="70" name="Shape 57"/>
          <p:cNvSpPr/>
          <p:nvPr/>
        </p:nvSpPr>
        <p:spPr>
          <a:xfrm>
            <a:off x="6456317" y="6473952"/>
            <a:ext cx="347472" cy="347472"/>
          </a:xfrm>
          <a:prstGeom prst="ellipse">
            <a:avLst/>
          </a:prstGeom>
          <a:solidFill>
            <a:srgbClr val="FFFFFF"/>
          </a:solidFill>
          <a:ln w="15875">
            <a:solidFill>
              <a:srgbClr val="002516"/>
            </a:solidFill>
            <a:prstDash val="solid"/>
          </a:ln>
        </p:spPr>
      </p:sp>
      <p:pic>
        <p:nvPicPr>
          <p:cNvPr id="71" name="Image 11" descr="preencoded.png">    </p:cNvPr>
          <p:cNvPicPr>
            <a:picLocks noChangeAspect="1"/>
          </p:cNvPicPr>
          <p:nvPr/>
        </p:nvPicPr>
        <p:blipFill>
          <a:blip r:embed="rId12"/>
          <a:stretch>
            <a:fillRect/>
          </a:stretch>
        </p:blipFill>
        <p:spPr>
          <a:xfrm>
            <a:off x="6529469" y="6547104"/>
            <a:ext cx="201168" cy="201168"/>
          </a:xfrm>
          <a:prstGeom prst="rect">
            <a:avLst/>
          </a:prstGeom>
        </p:spPr>
      </p:pic>
      <p:sp>
        <p:nvSpPr>
          <p:cNvPr id="72" name="Text 58"/>
          <p:cNvSpPr/>
          <p:nvPr/>
        </p:nvSpPr>
        <p:spPr>
          <a:xfrm>
            <a:off x="6182650"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Individual &amp; collective exposure to pressure</a:t>
            </a:r>
            <a:endParaRPr lang="en-US" sz="680" dirty="0"/>
          </a:p>
        </p:txBody>
      </p:sp>
      <p:sp>
        <p:nvSpPr>
          <p:cNvPr id="73" name="Shape 59"/>
          <p:cNvSpPr/>
          <p:nvPr/>
        </p:nvSpPr>
        <p:spPr>
          <a:xfrm rot="10800000">
            <a:off x="3707892" y="7370064"/>
            <a:ext cx="146304" cy="109728"/>
          </a:xfrm>
          <a:prstGeom prst="triangle">
            <a:avLst/>
          </a:prstGeom>
          <a:solidFill>
            <a:srgbClr val="002516"/>
          </a:solidFill>
          <a:ln/>
        </p:spPr>
      </p:sp>
      <p:sp>
        <p:nvSpPr>
          <p:cNvPr id="74" name="Text 60"/>
          <p:cNvSpPr/>
          <p:nvPr/>
        </p:nvSpPr>
        <p:spPr>
          <a:xfrm>
            <a:off x="3927348" y="7351776"/>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each product contributes across multiple pillars</a:t>
            </a:r>
            <a:endParaRPr lang="en-US" sz="750" dirty="0"/>
          </a:p>
        </p:txBody>
      </p:sp>
      <p:sp>
        <p:nvSpPr>
          <p:cNvPr id="75" name="Text 61"/>
          <p:cNvSpPr/>
          <p:nvPr/>
        </p:nvSpPr>
        <p:spPr>
          <a:xfrm>
            <a:off x="457200" y="7552944"/>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TRAINING PRODUCTS AND METHODS</a:t>
            </a:r>
            <a:endParaRPr lang="en-US" sz="1050" dirty="0"/>
          </a:p>
        </p:txBody>
      </p:sp>
      <p:sp>
        <p:nvSpPr>
          <p:cNvPr id="76" name="Shape 62"/>
          <p:cNvSpPr/>
          <p:nvPr/>
        </p:nvSpPr>
        <p:spPr>
          <a:xfrm>
            <a:off x="457200" y="7790688"/>
            <a:ext cx="902643" cy="713232"/>
          </a:xfrm>
          <a:prstGeom prst="rect">
            <a:avLst/>
          </a:prstGeom>
          <a:solidFill>
            <a:srgbClr val="FFFFFF"/>
          </a:solidFill>
          <a:ln w="9525">
            <a:solidFill>
              <a:srgbClr val="A89662"/>
            </a:solidFill>
            <a:prstDash val="solid"/>
          </a:ln>
        </p:spPr>
      </p:sp>
      <p:sp>
        <p:nvSpPr>
          <p:cNvPr id="77" name="Text 63"/>
          <p:cNvSpPr/>
          <p:nvPr/>
        </p:nvSpPr>
        <p:spPr>
          <a:xfrm>
            <a:off x="49377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NZALC Performance Under Pressure package</a:t>
            </a:r>
            <a:endParaRPr lang="en-US" sz="720" dirty="0"/>
          </a:p>
        </p:txBody>
      </p:sp>
      <p:sp>
        <p:nvSpPr>
          <p:cNvPr id="78" name="Shape 64"/>
          <p:cNvSpPr/>
          <p:nvPr/>
        </p:nvSpPr>
        <p:spPr>
          <a:xfrm>
            <a:off x="1414707" y="7790688"/>
            <a:ext cx="902643" cy="713232"/>
          </a:xfrm>
          <a:prstGeom prst="rect">
            <a:avLst/>
          </a:prstGeom>
          <a:solidFill>
            <a:srgbClr val="FFFFFF"/>
          </a:solidFill>
          <a:ln w="9525">
            <a:solidFill>
              <a:srgbClr val="A89662"/>
            </a:solidFill>
            <a:prstDash val="solid"/>
          </a:ln>
        </p:spPr>
      </p:sp>
      <p:sp>
        <p:nvSpPr>
          <p:cNvPr id="79" name="Text 65"/>
          <p:cNvSpPr/>
          <p:nvPr/>
        </p:nvSpPr>
        <p:spPr>
          <a:xfrm>
            <a:off x="145128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NZDF Psychology products</a:t>
            </a:r>
            <a:endParaRPr lang="en-US" sz="720" dirty="0"/>
          </a:p>
        </p:txBody>
      </p:sp>
      <p:sp>
        <p:nvSpPr>
          <p:cNvPr id="80" name="Shape 66"/>
          <p:cNvSpPr/>
          <p:nvPr/>
        </p:nvSpPr>
        <p:spPr>
          <a:xfrm>
            <a:off x="2372215" y="7790688"/>
            <a:ext cx="902643" cy="713232"/>
          </a:xfrm>
          <a:prstGeom prst="rect">
            <a:avLst/>
          </a:prstGeom>
          <a:solidFill>
            <a:srgbClr val="FFFFFF"/>
          </a:solidFill>
          <a:ln w="19050">
            <a:solidFill>
              <a:srgbClr val="002516"/>
            </a:solidFill>
            <a:prstDash val="dash"/>
          </a:ln>
        </p:spPr>
      </p:sp>
      <p:sp>
        <p:nvSpPr>
          <p:cNvPr id="81" name="Text 67"/>
          <p:cNvSpPr/>
          <p:nvPr/>
        </p:nvSpPr>
        <p:spPr>
          <a:xfrm>
            <a:off x="2399647" y="7790688"/>
            <a:ext cx="847779"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COGCON MVP</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(Performance cognition)</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Developmental MVP</a:t>
            </a:r>
            <a:endParaRPr lang="en-US" sz="720" dirty="0"/>
          </a:p>
        </p:txBody>
      </p:sp>
      <p:sp>
        <p:nvSpPr>
          <p:cNvPr id="82" name="Shape 68"/>
          <p:cNvSpPr/>
          <p:nvPr/>
        </p:nvSpPr>
        <p:spPr>
          <a:xfrm>
            <a:off x="3329722" y="7790688"/>
            <a:ext cx="902643" cy="713232"/>
          </a:xfrm>
          <a:prstGeom prst="rect">
            <a:avLst/>
          </a:prstGeom>
          <a:solidFill>
            <a:srgbClr val="FFFFFF"/>
          </a:solidFill>
          <a:ln w="9525">
            <a:solidFill>
              <a:srgbClr val="A89662"/>
            </a:solidFill>
            <a:prstDash val="solid"/>
          </a:ln>
        </p:spPr>
      </p:sp>
      <p:sp>
        <p:nvSpPr>
          <p:cNvPr id="83" name="Text 69"/>
          <p:cNvSpPr/>
          <p:nvPr/>
        </p:nvSpPr>
        <p:spPr>
          <a:xfrm>
            <a:off x="3366298"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Scenario &amp; experiential training</a:t>
            </a:r>
            <a:endParaRPr lang="en-US" sz="720" dirty="0"/>
          </a:p>
        </p:txBody>
      </p:sp>
      <p:sp>
        <p:nvSpPr>
          <p:cNvPr id="84" name="Shape 70"/>
          <p:cNvSpPr/>
          <p:nvPr/>
        </p:nvSpPr>
        <p:spPr>
          <a:xfrm>
            <a:off x="4287230" y="7790688"/>
            <a:ext cx="902643" cy="713232"/>
          </a:xfrm>
          <a:prstGeom prst="rect">
            <a:avLst/>
          </a:prstGeom>
          <a:solidFill>
            <a:srgbClr val="FFFFFF"/>
          </a:solidFill>
          <a:ln w="9525">
            <a:solidFill>
              <a:srgbClr val="A89662"/>
            </a:solidFill>
            <a:prstDash val="solid"/>
          </a:ln>
        </p:spPr>
      </p:sp>
      <p:sp>
        <p:nvSpPr>
          <p:cNvPr id="85" name="Text 71"/>
          <p:cNvSpPr/>
          <p:nvPr/>
        </p:nvSpPr>
        <p:spPr>
          <a:xfrm>
            <a:off x="432380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Physical conditioning</a:t>
            </a:r>
            <a:endParaRPr lang="en-US" sz="720" dirty="0"/>
          </a:p>
        </p:txBody>
      </p:sp>
      <p:sp>
        <p:nvSpPr>
          <p:cNvPr id="86" name="Shape 72"/>
          <p:cNvSpPr/>
          <p:nvPr/>
        </p:nvSpPr>
        <p:spPr>
          <a:xfrm>
            <a:off x="5244737" y="7790688"/>
            <a:ext cx="902643" cy="713232"/>
          </a:xfrm>
          <a:prstGeom prst="rect">
            <a:avLst/>
          </a:prstGeom>
          <a:solidFill>
            <a:srgbClr val="FFFFFF"/>
          </a:solidFill>
          <a:ln w="9525">
            <a:solidFill>
              <a:srgbClr val="A89662"/>
            </a:solidFill>
            <a:prstDash val="solid"/>
          </a:ln>
        </p:spPr>
      </p:sp>
      <p:sp>
        <p:nvSpPr>
          <p:cNvPr id="87" name="Text 73"/>
          <p:cNvSpPr/>
          <p:nvPr/>
        </p:nvSpPr>
        <p:spPr>
          <a:xfrm>
            <a:off x="528131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Structured reflection &amp; recovery</a:t>
            </a:r>
            <a:endParaRPr lang="en-US" sz="720" dirty="0"/>
          </a:p>
        </p:txBody>
      </p:sp>
      <p:sp>
        <p:nvSpPr>
          <p:cNvPr id="88" name="Shape 74"/>
          <p:cNvSpPr/>
          <p:nvPr/>
        </p:nvSpPr>
        <p:spPr>
          <a:xfrm>
            <a:off x="6202245" y="7790688"/>
            <a:ext cx="902643" cy="713232"/>
          </a:xfrm>
          <a:prstGeom prst="rect">
            <a:avLst/>
          </a:prstGeom>
          <a:solidFill>
            <a:srgbClr val="FFFFFF"/>
          </a:solidFill>
          <a:ln w="9525">
            <a:solidFill>
              <a:srgbClr val="A89662"/>
            </a:solidFill>
            <a:prstDash val="solid"/>
          </a:ln>
        </p:spPr>
      </p:sp>
      <p:sp>
        <p:nvSpPr>
          <p:cNvPr id="89" name="Text 75"/>
          <p:cNvSpPr/>
          <p:nvPr/>
        </p:nvSpPr>
        <p:spPr>
          <a:xfrm>
            <a:off x="6238821"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Other products identified in Phase 1 mapping</a:t>
            </a:r>
            <a:endParaRPr lang="en-US" sz="720" dirty="0"/>
          </a:p>
        </p:txBody>
      </p:sp>
      <p:sp>
        <p:nvSpPr>
          <p:cNvPr id="90" name="Text 76"/>
          <p:cNvSpPr/>
          <p:nvPr/>
        </p:nvSpPr>
        <p:spPr>
          <a:xfrm>
            <a:off x="457200" y="8631936"/>
            <a:ext cx="6647688" cy="182880"/>
          </a:xfrm>
          <a:prstGeom prst="rect">
            <a:avLst/>
          </a:prstGeom>
          <a:noFill/>
          <a:ln/>
        </p:spPr>
        <p:txBody>
          <a:bodyPr wrap="square" lIns="0" tIns="0" rIns="0" bIns="0" rtlCol="0" anchor="ctr"/>
          <a:lstStyle/>
          <a:p>
            <a:pPr algn="ctr" indent="0" marL="0">
              <a:buNone/>
            </a:pPr>
            <a:r>
              <a:rPr lang="en-US" sz="800" b="1" dirty="0">
                <a:solidFill>
                  <a:srgbClr val="002516"/>
                </a:solidFill>
                <a:latin typeface="Arial" pitchFamily="34" charset="0"/>
                <a:ea typeface="Arial" pitchFamily="34" charset="-122"/>
                <a:cs typeface="Arial" pitchFamily="34" charset="-120"/>
              </a:rPr>
              <a:t>Delivered across the Prepare – Perform – Recover cycle   ·   Lead Self</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Teams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Leaders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Systems</a:t>
            </a:r>
            <a:endParaRPr lang="en-US" sz="800" dirty="0"/>
          </a:p>
        </p:txBody>
      </p:sp>
      <p:sp>
        <p:nvSpPr>
          <p:cNvPr id="91" name="Shape 77"/>
          <p:cNvSpPr/>
          <p:nvPr/>
        </p:nvSpPr>
        <p:spPr>
          <a:xfrm>
            <a:off x="457200" y="8997696"/>
            <a:ext cx="3246120" cy="1078992"/>
          </a:xfrm>
          <a:prstGeom prst="rect">
            <a:avLst/>
          </a:prstGeom>
          <a:solidFill>
            <a:srgbClr val="CDD2B7">
              <a:alpha val="28000"/>
            </a:srgbClr>
          </a:solidFill>
          <a:ln/>
        </p:spPr>
      </p:sp>
      <p:pic>
        <p:nvPicPr>
          <p:cNvPr id="92" name="Image 12" descr="preencoded.png">    </p:cNvPr>
          <p:cNvPicPr>
            <a:picLocks noChangeAspect="1"/>
          </p:cNvPicPr>
          <p:nvPr/>
        </p:nvPicPr>
        <p:blipFill>
          <a:blip r:embed="rId13"/>
          <a:stretch>
            <a:fillRect/>
          </a:stretch>
        </p:blipFill>
        <p:spPr>
          <a:xfrm>
            <a:off x="585216" y="9089136"/>
            <a:ext cx="201168" cy="201168"/>
          </a:xfrm>
          <a:prstGeom prst="rect">
            <a:avLst/>
          </a:prstGeom>
        </p:spPr>
      </p:pic>
      <p:sp>
        <p:nvSpPr>
          <p:cNvPr id="93" name="Text 78"/>
          <p:cNvSpPr/>
          <p:nvPr/>
        </p:nvSpPr>
        <p:spPr>
          <a:xfrm>
            <a:off x="859536"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GOVERNANCE AND ASSURANCE</a:t>
            </a:r>
            <a:endParaRPr lang="en-US" sz="880" dirty="0"/>
          </a:p>
        </p:txBody>
      </p:sp>
      <p:sp>
        <p:nvSpPr>
          <p:cNvPr id="94" name="Text 79"/>
          <p:cNvSpPr/>
          <p:nvPr/>
        </p:nvSpPr>
        <p:spPr>
          <a:xfrm>
            <a:off x="621792" y="9326880"/>
            <a:ext cx="2971800" cy="713232"/>
          </a:xfrm>
          <a:prstGeom prst="rect">
            <a:avLst/>
          </a:prstGeom>
          <a:noFill/>
          <a:ln/>
        </p:spPr>
        <p:txBody>
          <a:bodyPr wrap="square" lIns="0" tIns="0" rIns="0" bIns="0" rtlCol="0" anchor="t"/>
          <a:lstStyle/>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Army Sponsor — strategic sponsorship and policy direction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COMDT ACS — interim capability integrator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ACS — framework development and delivery coordination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HPC — COGCON product steward; performance-cognition adviser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Layered doctrine, evidence, professional and delivery assurance</a:t>
            </a:r>
            <a:endParaRPr lang="en-US" sz="700" dirty="0"/>
          </a:p>
        </p:txBody>
      </p:sp>
      <p:sp>
        <p:nvSpPr>
          <p:cNvPr id="95" name="Shape 80"/>
          <p:cNvSpPr/>
          <p:nvPr/>
        </p:nvSpPr>
        <p:spPr>
          <a:xfrm>
            <a:off x="3858768" y="8997696"/>
            <a:ext cx="3246120" cy="1078992"/>
          </a:xfrm>
          <a:prstGeom prst="rect">
            <a:avLst/>
          </a:prstGeom>
          <a:solidFill>
            <a:srgbClr val="CDD2B7">
              <a:alpha val="28000"/>
            </a:srgbClr>
          </a:solidFill>
          <a:ln/>
        </p:spPr>
      </p:sp>
      <p:pic>
        <p:nvPicPr>
          <p:cNvPr id="96" name="Image 13" descr="preencoded.png">    </p:cNvPr>
          <p:cNvPicPr>
            <a:picLocks noChangeAspect="1"/>
          </p:cNvPicPr>
          <p:nvPr/>
        </p:nvPicPr>
        <p:blipFill>
          <a:blip r:embed="rId14"/>
          <a:stretch>
            <a:fillRect/>
          </a:stretch>
        </p:blipFill>
        <p:spPr>
          <a:xfrm>
            <a:off x="3986784" y="9089136"/>
            <a:ext cx="201168" cy="201168"/>
          </a:xfrm>
          <a:prstGeom prst="rect">
            <a:avLst/>
          </a:prstGeom>
        </p:spPr>
      </p:pic>
      <p:sp>
        <p:nvSpPr>
          <p:cNvPr id="97" name="Text 81"/>
          <p:cNvSpPr/>
          <p:nvPr/>
        </p:nvSpPr>
        <p:spPr>
          <a:xfrm>
            <a:off x="4261104"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PROGRAMME OF WORK — PHASES 0–5</a:t>
            </a:r>
            <a:endParaRPr lang="en-US" sz="880" dirty="0"/>
          </a:p>
        </p:txBody>
      </p:sp>
      <p:sp>
        <p:nvSpPr>
          <p:cNvPr id="98" name="Text 82"/>
          <p:cNvSpPr/>
          <p:nvPr/>
        </p:nvSpPr>
        <p:spPr>
          <a:xfrm>
            <a:off x="4023360" y="9326880"/>
            <a:ext cx="2971800" cy="713232"/>
          </a:xfrm>
          <a:prstGeom prst="rect">
            <a:avLst/>
          </a:prstGeom>
          <a:noFill/>
          <a:ln/>
        </p:spPr>
        <p:txBody>
          <a:bodyPr wrap="square" lIns="0" tIns="0" rIns="0" bIns="0" rtlCol="0" anchor="t"/>
          <a:lstStyle/>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0.  Define terms, sponsorship and relationship</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1.  Map current capabilities and products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2.  Draft the Army Combat Mindset Framework</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3.  Validate with stakeholders and force employers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4.  Limited COGCON MVP integration trial (subject to capacity)</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5.  Report back — Framework v1.0, November 2026</a:t>
            </a:r>
            <a:endParaRPr lang="en-US" sz="700" dirty="0"/>
          </a:p>
        </p:txBody>
      </p:sp>
      <p:sp>
        <p:nvSpPr>
          <p:cNvPr id="99" name="Shape 83"/>
          <p:cNvSpPr/>
          <p:nvPr/>
        </p:nvSpPr>
        <p:spPr>
          <a:xfrm>
            <a:off x="457200" y="10204704"/>
            <a:ext cx="6647688" cy="274320"/>
          </a:xfrm>
          <a:prstGeom prst="rect">
            <a:avLst/>
          </a:prstGeom>
          <a:solidFill>
            <a:srgbClr val="000000"/>
          </a:solidFill>
          <a:ln/>
        </p:spPr>
      </p:sp>
      <p:pic>
        <p:nvPicPr>
          <p:cNvPr id="100" name="Image 14" descr="preencoded.png">    </p:cNvPr>
          <p:cNvPicPr>
            <a:picLocks noChangeAspect="1"/>
          </p:cNvPicPr>
          <p:nvPr/>
        </p:nvPicPr>
        <p:blipFill>
          <a:blip r:embed="rId15"/>
          <a:stretch>
            <a:fillRect/>
          </a:stretch>
        </p:blipFill>
        <p:spPr>
          <a:xfrm>
            <a:off x="585216" y="10250424"/>
            <a:ext cx="182880" cy="182880"/>
          </a:xfrm>
          <a:prstGeom prst="rect">
            <a:avLst/>
          </a:prstGeom>
        </p:spPr>
      </p:pic>
      <p:sp>
        <p:nvSpPr>
          <p:cNvPr id="101" name="Text 84"/>
          <p:cNvSpPr/>
          <p:nvPr/>
        </p:nvSpPr>
        <p:spPr>
          <a:xfrm>
            <a:off x="877824" y="10204704"/>
            <a:ext cx="6135624" cy="274320"/>
          </a:xfrm>
          <a:prstGeom prst="rect">
            <a:avLst/>
          </a:prstGeom>
          <a:noFill/>
          <a:ln/>
        </p:spPr>
        <p:txBody>
          <a:bodyPr wrap="square" lIns="0" tIns="0" rIns="0" bIns="0" rtlCol="0" anchor="ctr"/>
          <a:lstStyle/>
          <a:p>
            <a:pPr algn="l" indent="0" marL="0">
              <a:buNone/>
            </a:pPr>
            <a:r>
              <a:rPr lang="en-US" sz="1000" b="1" spc="250" kern="0" dirty="0">
                <a:solidFill>
                  <a:srgbClr val="C62026"/>
                </a:solidFill>
                <a:latin typeface="Arial" pitchFamily="34" charset="0"/>
                <a:ea typeface="Arial" pitchFamily="34" charset="-122"/>
                <a:cs typeface="Arial" pitchFamily="34" charset="-120"/>
              </a:rPr>
              <a:t>HARDER TO KILL</a:t>
            </a:r>
            <a:pPr algn="l" indent="0" marL="0">
              <a:buNone/>
            </a:pPr>
            <a:r>
              <a:rPr lang="en-US" sz="700" dirty="0">
                <a:solidFill>
                  <a:srgbClr val="FFFFFF"/>
                </a:solidFill>
                <a:latin typeface="Arial" pitchFamily="34" charset="0"/>
                <a:ea typeface="Arial" pitchFamily="34" charset="-122"/>
                <a:cs typeface="Arial" pitchFamily="34" charset="-120"/>
              </a:rPr>
              <a:t>      Proposed Warfighter Focus line — subject to sponsor endorsement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2026-07-22T23:03:22Z</dcterms:created>
  <dcterms:modified xsi:type="dcterms:W3CDTF">2026-07-22T23:03:22Z</dcterms:modified>
</cp:coreProperties>
</file>