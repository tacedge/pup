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10524744"/>
            <a:ext cx="7562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57200" y="1052474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7" name="Text 5"/>
          <p:cNvSpPr/>
          <p:nvPr/>
        </p:nvSpPr>
        <p:spPr>
          <a:xfrm>
            <a:off x="5212080" y="10524744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pic>
        <p:nvPicPr>
          <p:cNvPr id="8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10896"/>
            <a:ext cx="1005840" cy="243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74320"/>
            <a:ext cx="5413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— THE WAY FORWARD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691640" y="530352"/>
            <a:ext cx="5413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Defining, developing and assuring the human-performance capability Army requires to remain effective in combat.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822960"/>
            <a:ext cx="664768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024128"/>
            <a:ext cx="6647688" cy="11887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2683764" y="9144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83764" y="9144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5943600" y="1298448"/>
            <a:ext cx="713232" cy="7132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1520" y="1298448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300" dirty="0"/>
          </a:p>
        </p:txBody>
      </p:sp>
      <p:sp>
        <p:nvSpPr>
          <p:cNvPr id="17" name="Text 13"/>
          <p:cNvSpPr/>
          <p:nvPr/>
        </p:nvSpPr>
        <p:spPr>
          <a:xfrm>
            <a:off x="749808" y="18288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023360" y="2048256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Tagline subject to sponsor endorsement</a:t>
            </a:r>
            <a:endParaRPr lang="en-US" sz="580" dirty="0"/>
          </a:p>
        </p:txBody>
      </p:sp>
      <p:sp>
        <p:nvSpPr>
          <p:cNvPr id="19" name="Shape 15"/>
          <p:cNvSpPr/>
          <p:nvPr/>
        </p:nvSpPr>
        <p:spPr>
          <a:xfrm rot="10800000">
            <a:off x="3717036" y="228600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0" name="Text 16"/>
          <p:cNvSpPr/>
          <p:nvPr/>
        </p:nvSpPr>
        <p:spPr>
          <a:xfrm>
            <a:off x="2043684" y="240487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60120" y="2478024"/>
            <a:ext cx="1037844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564124" y="2478024"/>
            <a:ext cx="1037844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57200" y="2834640"/>
            <a:ext cx="6647688" cy="969264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24" name="Shape 20"/>
          <p:cNvSpPr/>
          <p:nvPr/>
        </p:nvSpPr>
        <p:spPr>
          <a:xfrm>
            <a:off x="1952244" y="272491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952244" y="27249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27248"/>
            <a:ext cx="457200" cy="4572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3035808"/>
            <a:ext cx="5596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300" dirty="0"/>
          </a:p>
        </p:txBody>
      </p:sp>
      <p:sp>
        <p:nvSpPr>
          <p:cNvPr id="28" name="Text 23"/>
          <p:cNvSpPr/>
          <p:nvPr/>
        </p:nvSpPr>
        <p:spPr>
          <a:xfrm>
            <a:off x="594360" y="3465576"/>
            <a:ext cx="6373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for pressure   ·   Perform through pressure   ·   Adapt within pressure   ·   Recover from pressure</a:t>
            </a:r>
            <a:endParaRPr lang="en-US" sz="860" dirty="0"/>
          </a:p>
        </p:txBody>
      </p:sp>
      <p:sp>
        <p:nvSpPr>
          <p:cNvPr id="29" name="Shape 24"/>
          <p:cNvSpPr/>
          <p:nvPr/>
        </p:nvSpPr>
        <p:spPr>
          <a:xfrm rot="10800000">
            <a:off x="3717036" y="387705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30" name="Text 25"/>
          <p:cNvSpPr/>
          <p:nvPr/>
        </p:nvSpPr>
        <p:spPr>
          <a:xfrm>
            <a:off x="2043684" y="39959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960120" y="4069080"/>
            <a:ext cx="1037844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564124" y="4069080"/>
            <a:ext cx="1037844" cy="0"/>
          </a:xfrm>
          <a:prstGeom prst="line">
            <a:avLst/>
          </a:prstGeom>
          <a:noFill/>
          <a:ln w="9525">
            <a:solidFill>
              <a:srgbClr val="A8966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457200" y="4425696"/>
            <a:ext cx="6647688" cy="84124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34" name="Shape 29"/>
          <p:cNvSpPr/>
          <p:nvPr/>
        </p:nvSpPr>
        <p:spPr>
          <a:xfrm>
            <a:off x="2820924" y="4315968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820924" y="431596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626864"/>
            <a:ext cx="420624" cy="42062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234440" y="455371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900" dirty="0"/>
          </a:p>
        </p:txBody>
      </p:sp>
      <p:sp>
        <p:nvSpPr>
          <p:cNvPr id="38" name="Text 32"/>
          <p:cNvSpPr/>
          <p:nvPr/>
        </p:nvSpPr>
        <p:spPr>
          <a:xfrm>
            <a:off x="1234440" y="4910328"/>
            <a:ext cx="5687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457200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486400"/>
            <a:ext cx="182880" cy="18288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68096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GOVERNANCE &amp; ASSURANCE</a:t>
            </a:r>
            <a:endParaRPr lang="en-US" sz="760" dirty="0"/>
          </a:p>
        </p:txBody>
      </p:sp>
      <p:sp>
        <p:nvSpPr>
          <p:cNvPr id="42" name="Shape 35"/>
          <p:cNvSpPr/>
          <p:nvPr/>
        </p:nvSpPr>
        <p:spPr>
          <a:xfrm>
            <a:off x="457200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2709672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2824" y="5486400"/>
            <a:ext cx="182880" cy="18288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3020568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CURRENT DELIVERY SYSTEM</a:t>
            </a:r>
            <a:endParaRPr lang="en-US" sz="760" dirty="0"/>
          </a:p>
        </p:txBody>
      </p:sp>
      <p:sp>
        <p:nvSpPr>
          <p:cNvPr id="46" name="Shape 38"/>
          <p:cNvSpPr/>
          <p:nvPr/>
        </p:nvSpPr>
        <p:spPr>
          <a:xfrm>
            <a:off x="2709672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4962144" y="5413248"/>
            <a:ext cx="2142744" cy="329184"/>
          </a:xfrm>
          <a:prstGeom prst="rect">
            <a:avLst/>
          </a:prstGeom>
          <a:solidFill>
            <a:srgbClr val="002516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5296" y="5486400"/>
            <a:ext cx="182880" cy="182880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5273040" y="5413248"/>
            <a:ext cx="1776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FRAMEWORK DEVELOPMENT PROGRAMME</a:t>
            </a:r>
            <a:endParaRPr lang="en-US" sz="760" dirty="0"/>
          </a:p>
        </p:txBody>
      </p:sp>
      <p:sp>
        <p:nvSpPr>
          <p:cNvPr id="50" name="Shape 41"/>
          <p:cNvSpPr/>
          <p:nvPr/>
        </p:nvSpPr>
        <p:spPr>
          <a:xfrm>
            <a:off x="4962144" y="5742432"/>
            <a:ext cx="2142744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585216" y="5907024"/>
            <a:ext cx="1905000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sponsorship and policy direction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integration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and professional authorities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recognition and evidence requirements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standards</a:t>
            </a:r>
            <a:endParaRPr lang="en-US" sz="820" dirty="0"/>
          </a:p>
          <a:p>
            <a:pPr algn="l" marL="127000" indent="-127000">
              <a:spcAft>
                <a:spcPts val="1200"/>
              </a:spcAft>
              <a:buSzPct val="100000"/>
              <a:buChar char="•"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assurance</a:t>
            </a:r>
            <a:endParaRPr lang="en-US" sz="820" dirty="0"/>
          </a:p>
        </p:txBody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5879592"/>
            <a:ext cx="219456" cy="219456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3112008" y="5870448"/>
            <a:ext cx="163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830" dirty="0"/>
          </a:p>
        </p:txBody>
      </p:sp>
      <p:sp>
        <p:nvSpPr>
          <p:cNvPr id="54" name="Text 44"/>
          <p:cNvSpPr/>
          <p:nvPr/>
        </p:nvSpPr>
        <p:spPr>
          <a:xfrm>
            <a:off x="3112008" y="6117336"/>
            <a:ext cx="163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Leaders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Resilience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— Lead Self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 — Lead Teams</a:t>
            </a:r>
            <a:endParaRPr lang="en-US" sz="730" dirty="0"/>
          </a:p>
        </p:txBody>
      </p:sp>
      <p:sp>
        <p:nvSpPr>
          <p:cNvPr id="55" name="Shape 45"/>
          <p:cNvSpPr/>
          <p:nvPr/>
        </p:nvSpPr>
        <p:spPr>
          <a:xfrm>
            <a:off x="2819400" y="7315200"/>
            <a:ext cx="1923288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9400" y="7434072"/>
            <a:ext cx="219456" cy="219456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3112008" y="7424928"/>
            <a:ext cx="163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 CELL</a:t>
            </a:r>
            <a:endParaRPr lang="en-US" sz="830" dirty="0"/>
          </a:p>
        </p:txBody>
      </p:sp>
      <p:sp>
        <p:nvSpPr>
          <p:cNvPr id="58" name="Text 47"/>
          <p:cNvSpPr/>
          <p:nvPr/>
        </p:nvSpPr>
        <p:spPr>
          <a:xfrm>
            <a:off x="3112008" y="7671816"/>
            <a:ext cx="163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COGCON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conditioning</a:t>
            </a:r>
            <a:endParaRPr lang="en-US" sz="730" dirty="0"/>
          </a:p>
        </p:txBody>
      </p:sp>
      <p:sp>
        <p:nvSpPr>
          <p:cNvPr id="59" name="Shape 48"/>
          <p:cNvSpPr/>
          <p:nvPr/>
        </p:nvSpPr>
        <p:spPr>
          <a:xfrm>
            <a:off x="2819400" y="8138160"/>
            <a:ext cx="1923288" cy="0"/>
          </a:xfrm>
          <a:prstGeom prst="line">
            <a:avLst/>
          </a:prstGeom>
          <a:noFill/>
          <a:ln w="6350">
            <a:solidFill>
              <a:srgbClr val="A89662"/>
            </a:solidFill>
            <a:prstDash val="solid"/>
          </a:ln>
        </p:spPr>
      </p:sp>
      <p:pic>
        <p:nvPicPr>
          <p:cNvPr id="6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8257032"/>
            <a:ext cx="219456" cy="219456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3112008" y="8229600"/>
            <a:ext cx="163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AND TRAINING ESTABLISHMENTS</a:t>
            </a:r>
            <a:endParaRPr lang="en-US" sz="830" dirty="0"/>
          </a:p>
        </p:txBody>
      </p:sp>
      <p:sp>
        <p:nvSpPr>
          <p:cNvPr id="62" name="Text 50"/>
          <p:cNvSpPr/>
          <p:nvPr/>
        </p:nvSpPr>
        <p:spPr>
          <a:xfrm>
            <a:off x="3112008" y="8558784"/>
            <a:ext cx="163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rehearsal</a:t>
            </a:r>
            <a:endParaRPr lang="en-US" sz="73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7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activity</a:t>
            </a:r>
            <a:endParaRPr lang="en-US" sz="730" dirty="0"/>
          </a:p>
        </p:txBody>
      </p:sp>
      <p:sp>
        <p:nvSpPr>
          <p:cNvPr id="63" name="Shape 51"/>
          <p:cNvSpPr/>
          <p:nvPr/>
        </p:nvSpPr>
        <p:spPr>
          <a:xfrm>
            <a:off x="2819400" y="9381744"/>
            <a:ext cx="19232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2516"/>
            </a:solidFill>
            <a:prstDash val="dash"/>
          </a:ln>
        </p:spPr>
      </p:sp>
      <p:pic>
        <p:nvPicPr>
          <p:cNvPr id="6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92552" y="9601200"/>
            <a:ext cx="219456" cy="219456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3166872" y="9418320"/>
            <a:ext cx="14843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contextualise and express Combat Mindset under realistic warfighting conditions.</a:t>
            </a:r>
            <a:endParaRPr lang="en-US" sz="720" dirty="0"/>
          </a:p>
        </p:txBody>
      </p:sp>
      <p:sp>
        <p:nvSpPr>
          <p:cNvPr id="66" name="Shape 53"/>
          <p:cNvSpPr/>
          <p:nvPr/>
        </p:nvSpPr>
        <p:spPr>
          <a:xfrm>
            <a:off x="5227320" y="6044184"/>
            <a:ext cx="0" cy="3364992"/>
          </a:xfrm>
          <a:prstGeom prst="line">
            <a:avLst/>
          </a:prstGeom>
          <a:noFill/>
          <a:ln w="15875">
            <a:solidFill>
              <a:srgbClr val="002516"/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5090160" y="5907024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55"/>
          <p:cNvSpPr/>
          <p:nvPr/>
        </p:nvSpPr>
        <p:spPr>
          <a:xfrm>
            <a:off x="5090160" y="5907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5455920" y="5888736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— Define and govern</a:t>
            </a:r>
            <a:endParaRPr lang="en-US" sz="820" dirty="0"/>
          </a:p>
        </p:txBody>
      </p:sp>
      <p:sp>
        <p:nvSpPr>
          <p:cNvPr id="70" name="Text 57"/>
          <p:cNvSpPr/>
          <p:nvPr/>
        </p:nvSpPr>
        <p:spPr>
          <a:xfrm>
            <a:off x="5455920" y="6181344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sponsorship, ownership and interim governance.</a:t>
            </a:r>
            <a:endParaRPr lang="en-US" sz="720" dirty="0"/>
          </a:p>
        </p:txBody>
      </p:sp>
      <p:sp>
        <p:nvSpPr>
          <p:cNvPr id="71" name="Shape 58"/>
          <p:cNvSpPr/>
          <p:nvPr/>
        </p:nvSpPr>
        <p:spPr>
          <a:xfrm>
            <a:off x="5090160" y="6748272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59"/>
          <p:cNvSpPr/>
          <p:nvPr/>
        </p:nvSpPr>
        <p:spPr>
          <a:xfrm>
            <a:off x="5090160" y="6748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3" name="Text 60"/>
          <p:cNvSpPr/>
          <p:nvPr/>
        </p:nvSpPr>
        <p:spPr>
          <a:xfrm>
            <a:off x="5455920" y="6729984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Understand</a:t>
            </a:r>
            <a:endParaRPr lang="en-US" sz="820" dirty="0"/>
          </a:p>
        </p:txBody>
      </p:sp>
      <p:sp>
        <p:nvSpPr>
          <p:cNvPr id="74" name="Text 61"/>
          <p:cNvSpPr/>
          <p:nvPr/>
        </p:nvSpPr>
        <p:spPr>
          <a:xfrm>
            <a:off x="5455920" y="7022592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Stocktake existing doctrine, products, delivery, evidence, ownership and assurance.</a:t>
            </a:r>
            <a:endParaRPr lang="en-US" sz="720" dirty="0"/>
          </a:p>
        </p:txBody>
      </p:sp>
      <p:sp>
        <p:nvSpPr>
          <p:cNvPr id="75" name="Shape 62"/>
          <p:cNvSpPr/>
          <p:nvPr/>
        </p:nvSpPr>
        <p:spPr>
          <a:xfrm>
            <a:off x="5090160" y="7589520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63"/>
          <p:cNvSpPr/>
          <p:nvPr/>
        </p:nvSpPr>
        <p:spPr>
          <a:xfrm>
            <a:off x="5090160" y="7589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7" name="Text 64"/>
          <p:cNvSpPr/>
          <p:nvPr/>
        </p:nvSpPr>
        <p:spPr>
          <a:xfrm>
            <a:off x="5455920" y="7571232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Design</a:t>
            </a:r>
            <a:endParaRPr lang="en-US" sz="820" dirty="0"/>
          </a:p>
        </p:txBody>
      </p:sp>
      <p:sp>
        <p:nvSpPr>
          <p:cNvPr id="78" name="Text 65"/>
          <p:cNvSpPr/>
          <p:nvPr/>
        </p:nvSpPr>
        <p:spPr>
          <a:xfrm>
            <a:off x="5455920" y="7863840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framework, delivery architecture, outcomes and product-recognition criteria.</a:t>
            </a:r>
            <a:endParaRPr lang="en-US" sz="720" dirty="0"/>
          </a:p>
        </p:txBody>
      </p:sp>
      <p:sp>
        <p:nvSpPr>
          <p:cNvPr id="79" name="Shape 66"/>
          <p:cNvSpPr/>
          <p:nvPr/>
        </p:nvSpPr>
        <p:spPr>
          <a:xfrm>
            <a:off x="5090160" y="8430768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>
            <a:off x="5090160" y="8430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1" name="Text 68"/>
          <p:cNvSpPr/>
          <p:nvPr/>
        </p:nvSpPr>
        <p:spPr>
          <a:xfrm>
            <a:off x="5455920" y="8412480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Validate</a:t>
            </a:r>
            <a:endParaRPr lang="en-US" sz="820" dirty="0"/>
          </a:p>
        </p:txBody>
      </p:sp>
      <p:sp>
        <p:nvSpPr>
          <p:cNvPr id="82" name="Text 69"/>
          <p:cNvSpPr/>
          <p:nvPr/>
        </p:nvSpPr>
        <p:spPr>
          <a:xfrm>
            <a:off x="5455920" y="8705088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stakeholders, training establishments and units.</a:t>
            </a:r>
            <a:endParaRPr lang="en-US" sz="720" dirty="0"/>
          </a:p>
        </p:txBody>
      </p:sp>
      <p:sp>
        <p:nvSpPr>
          <p:cNvPr id="83" name="Shape 70"/>
          <p:cNvSpPr/>
          <p:nvPr/>
        </p:nvSpPr>
        <p:spPr>
          <a:xfrm>
            <a:off x="5090160" y="9272016"/>
            <a:ext cx="274320" cy="274320"/>
          </a:xfrm>
          <a:prstGeom prst="ellipse">
            <a:avLst/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71"/>
          <p:cNvSpPr/>
          <p:nvPr/>
        </p:nvSpPr>
        <p:spPr>
          <a:xfrm>
            <a:off x="5090160" y="9272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5" name="Text 72"/>
          <p:cNvSpPr/>
          <p:nvPr/>
        </p:nvSpPr>
        <p:spPr>
          <a:xfrm>
            <a:off x="5455920" y="9253728"/>
            <a:ext cx="153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Endorse and implement</a:t>
            </a:r>
            <a:endParaRPr lang="en-US" sz="820" dirty="0"/>
          </a:p>
        </p:txBody>
      </p:sp>
      <p:sp>
        <p:nvSpPr>
          <p:cNvPr id="86" name="Text 73"/>
          <p:cNvSpPr/>
          <p:nvPr/>
        </p:nvSpPr>
        <p:spPr>
          <a:xfrm>
            <a:off x="5455920" y="9546336"/>
            <a:ext cx="1539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Framework v1.0 and a prioritised implementation plan.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2026-07-27T03:30:40Z</dcterms:created>
  <dcterms:modified xsi:type="dcterms:W3CDTF">2026-07-27T03:30:40Z</dcterms:modified>
</cp:coreProperties>
</file>