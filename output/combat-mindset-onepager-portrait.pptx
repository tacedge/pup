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Army Command School  ·  ACS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Draft v0.7  ·  July 2026</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457200"/>
          </a:xfrm>
          <a:prstGeom prst="rect">
            <a:avLst/>
          </a:prstGeom>
          <a:noFill/>
          <a:ln/>
        </p:spPr>
        <p:txBody>
          <a:bodyPr wrap="square" lIns="0" tIns="0" rIns="0" bIns="0" rtlCol="0" anchor="t"/>
          <a:lstStyle/>
          <a:p>
            <a:pPr algn="l" indent="0" marL="0">
              <a:buNone/>
            </a:pPr>
            <a:r>
              <a:rPr lang="en-US" sz="840" b="1" dirty="0">
                <a:solidFill>
                  <a:srgbClr val="002516"/>
                </a:solidFill>
                <a:latin typeface="Arial" pitchFamily="34" charset="0"/>
                <a:ea typeface="Arial" pitchFamily="34" charset="-122"/>
                <a:cs typeface="Arial" pitchFamily="34" charset="-120"/>
              </a:rPr>
              <a:t>Combat Mindset is the individual and collective readiness and disposition to remain effective and act decisively, persistently, adaptively and ethically under the threat, adversity and uncertainty of combat in order to achieve the mission.</a:t>
            </a:r>
            <a:endParaRPr lang="en-US" sz="840" dirty="0"/>
          </a:p>
        </p:txBody>
      </p:sp>
      <p:sp>
        <p:nvSpPr>
          <p:cNvPr id="22" name="Text 17"/>
          <p:cNvSpPr/>
          <p:nvPr/>
        </p:nvSpPr>
        <p:spPr>
          <a:xfrm>
            <a:off x="2633472" y="2816352"/>
            <a:ext cx="4325112" cy="182880"/>
          </a:xfrm>
          <a:prstGeom prst="rect">
            <a:avLst/>
          </a:prstGeom>
          <a:noFill/>
          <a:ln/>
        </p:spPr>
        <p:txBody>
          <a:bodyPr wrap="square" lIns="0" tIns="0" rIns="0" bIns="0" rtlCol="0" anchor="t"/>
          <a:lstStyle/>
          <a:p>
            <a:pPr algn="l" indent="0" marL="0">
              <a:buNone/>
            </a:pPr>
            <a:r>
              <a:rPr lang="en-US" sz="820" i="1" dirty="0">
                <a:solidFill>
                  <a:srgbClr val="000000"/>
                </a:solidFill>
                <a:latin typeface="Arial" pitchFamily="34" charset="0"/>
                <a:ea typeface="Arial" pitchFamily="34" charset="-122"/>
                <a:cs typeface="Arial" pitchFamily="34" charset="-120"/>
              </a:rPr>
              <a:t>It is the combat-specific expression of Performance Under Pressure.</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Provisional pillars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08776"/>
            <a:ext cx="6647688" cy="164592"/>
          </a:xfrm>
          <a:prstGeom prst="rect">
            <a:avLst/>
          </a:prstGeom>
          <a:noFill/>
          <a:ln/>
        </p:spPr>
        <p:txBody>
          <a:bodyPr wrap="square" lIns="0" tIns="0" rIns="0" bIns="0" rtlCol="0" anchor="ctr"/>
          <a:lstStyle/>
          <a:p>
            <a:pPr algn="ctr" indent="0" marL="0">
              <a:buNone/>
            </a:pPr>
            <a:r>
              <a:rPr lang="en-US" sz="1000" b="1" spc="200" kern="0" dirty="0">
                <a:solidFill>
                  <a:srgbClr val="002516"/>
                </a:solidFill>
                <a:latin typeface="Arial" pitchFamily="34" charset="0"/>
                <a:ea typeface="Arial" pitchFamily="34" charset="-122"/>
                <a:cs typeface="Arial" pitchFamily="34" charset="-120"/>
              </a:rPr>
              <a:t>PROVISIONAL CAPABILITY PILLARS</a:t>
            </a:r>
            <a:endParaRPr lang="en-US" sz="1000" dirty="0"/>
          </a:p>
        </p:txBody>
      </p:sp>
      <p:sp>
        <p:nvSpPr>
          <p:cNvPr id="52" name="Text 45"/>
          <p:cNvSpPr/>
          <p:nvPr/>
        </p:nvSpPr>
        <p:spPr>
          <a:xfrm>
            <a:off x="457200" y="6364224"/>
            <a:ext cx="6647688" cy="118872"/>
          </a:xfrm>
          <a:prstGeom prst="rect">
            <a:avLst/>
          </a:prstGeom>
          <a:noFill/>
          <a:ln/>
        </p:spPr>
        <p:txBody>
          <a:bodyPr wrap="square" lIns="0" tIns="0" rIns="0" bIns="0" rtlCol="0" anchor="ctr"/>
          <a:lstStyle/>
          <a:p>
            <a:pPr algn="ctr" indent="0" marL="0">
              <a:buNone/>
            </a:pPr>
            <a:r>
              <a:rPr lang="en-US" sz="650" i="1" dirty="0">
                <a:solidFill>
                  <a:srgbClr val="000000"/>
                </a:solidFill>
                <a:latin typeface="Arial" pitchFamily="34" charset="0"/>
                <a:ea typeface="Arial" pitchFamily="34" charset="-122"/>
                <a:cs typeface="Arial" pitchFamily="34" charset="-120"/>
              </a:rPr>
              <a:t>Provisional working pillars — subject to Phase 1 validation</a:t>
            </a:r>
            <a:endParaRPr lang="en-US" sz="650" dirty="0"/>
          </a:p>
        </p:txBody>
      </p:sp>
      <p:sp>
        <p:nvSpPr>
          <p:cNvPr id="53" name="Shape 46"/>
          <p:cNvSpPr/>
          <p:nvPr/>
        </p:nvSpPr>
        <p:spPr>
          <a:xfrm>
            <a:off x="758299" y="6510528"/>
            <a:ext cx="347472" cy="347472"/>
          </a:xfrm>
          <a:prstGeom prst="ellipse">
            <a:avLst/>
          </a:prstGeom>
          <a:solidFill>
            <a:srgbClr val="FFFFFF"/>
          </a:solidFill>
          <a:ln w="15875">
            <a:solidFill>
              <a:srgbClr val="002516"/>
            </a:solidFill>
            <a:prstDash val="solid"/>
          </a:ln>
        </p:spPr>
      </p:sp>
      <p:pic>
        <p:nvPicPr>
          <p:cNvPr id="54" name="Image 5" descr="preencoded.png">    </p:cNvPr>
          <p:cNvPicPr>
            <a:picLocks noChangeAspect="1"/>
          </p:cNvPicPr>
          <p:nvPr/>
        </p:nvPicPr>
        <p:blipFill>
          <a:blip r:embed="rId6"/>
          <a:stretch>
            <a:fillRect/>
          </a:stretch>
        </p:blipFill>
        <p:spPr>
          <a:xfrm>
            <a:off x="831451" y="6583680"/>
            <a:ext cx="201168" cy="201168"/>
          </a:xfrm>
          <a:prstGeom prst="rect">
            <a:avLst/>
          </a:prstGeom>
        </p:spPr>
      </p:pic>
      <p:sp>
        <p:nvSpPr>
          <p:cNvPr id="55" name="Text 47"/>
          <p:cNvSpPr/>
          <p:nvPr/>
        </p:nvSpPr>
        <p:spPr>
          <a:xfrm>
            <a:off x="484632"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6" name="Shape 48"/>
          <p:cNvSpPr/>
          <p:nvPr/>
        </p:nvSpPr>
        <p:spPr>
          <a:xfrm>
            <a:off x="1707969" y="6510528"/>
            <a:ext cx="347472" cy="347472"/>
          </a:xfrm>
          <a:prstGeom prst="ellipse">
            <a:avLst/>
          </a:prstGeom>
          <a:solidFill>
            <a:srgbClr val="FFFFFF"/>
          </a:solidFill>
          <a:ln w="15875">
            <a:solidFill>
              <a:srgbClr val="002516"/>
            </a:solidFill>
            <a:prstDash val="solid"/>
          </a:ln>
        </p:spPr>
      </p:sp>
      <p:pic>
        <p:nvPicPr>
          <p:cNvPr id="57" name="Image 6" descr="preencoded.png">    </p:cNvPr>
          <p:cNvPicPr>
            <a:picLocks noChangeAspect="1"/>
          </p:cNvPicPr>
          <p:nvPr/>
        </p:nvPicPr>
        <p:blipFill>
          <a:blip r:embed="rId7"/>
          <a:stretch>
            <a:fillRect/>
          </a:stretch>
        </p:blipFill>
        <p:spPr>
          <a:xfrm>
            <a:off x="1781121" y="6583680"/>
            <a:ext cx="201168" cy="201168"/>
          </a:xfrm>
          <a:prstGeom prst="rect">
            <a:avLst/>
          </a:prstGeom>
        </p:spPr>
      </p:pic>
      <p:sp>
        <p:nvSpPr>
          <p:cNvPr id="58" name="Text 49"/>
          <p:cNvSpPr/>
          <p:nvPr/>
        </p:nvSpPr>
        <p:spPr>
          <a:xfrm>
            <a:off x="1434302"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Self-regulation</a:t>
            </a:r>
            <a:endParaRPr lang="en-US" sz="680" dirty="0"/>
          </a:p>
        </p:txBody>
      </p:sp>
      <p:sp>
        <p:nvSpPr>
          <p:cNvPr id="59" name="Shape 50"/>
          <p:cNvSpPr/>
          <p:nvPr/>
        </p:nvSpPr>
        <p:spPr>
          <a:xfrm>
            <a:off x="2657638" y="6510528"/>
            <a:ext cx="347472" cy="347472"/>
          </a:xfrm>
          <a:prstGeom prst="ellipse">
            <a:avLst/>
          </a:prstGeom>
          <a:solidFill>
            <a:srgbClr val="002516"/>
          </a:solidFill>
          <a:ln w="15875">
            <a:solidFill>
              <a:srgbClr val="002516"/>
            </a:solidFill>
            <a:prstDash val="solid"/>
          </a:ln>
        </p:spPr>
      </p:sp>
      <p:pic>
        <p:nvPicPr>
          <p:cNvPr id="60" name="Image 7" descr="preencoded.png">    </p:cNvPr>
          <p:cNvPicPr>
            <a:picLocks noChangeAspect="1"/>
          </p:cNvPicPr>
          <p:nvPr/>
        </p:nvPicPr>
        <p:blipFill>
          <a:blip r:embed="rId8"/>
          <a:stretch>
            <a:fillRect/>
          </a:stretch>
        </p:blipFill>
        <p:spPr>
          <a:xfrm>
            <a:off x="2730790" y="6583680"/>
            <a:ext cx="201168" cy="201168"/>
          </a:xfrm>
          <a:prstGeom prst="rect">
            <a:avLst/>
          </a:prstGeom>
        </p:spPr>
      </p:pic>
      <p:sp>
        <p:nvSpPr>
          <p:cNvPr id="61" name="Text 51"/>
          <p:cNvSpPr/>
          <p:nvPr/>
        </p:nvSpPr>
        <p:spPr>
          <a:xfrm>
            <a:off x="238397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2" name="Shape 52"/>
          <p:cNvSpPr/>
          <p:nvPr/>
        </p:nvSpPr>
        <p:spPr>
          <a:xfrm>
            <a:off x="3607308" y="6510528"/>
            <a:ext cx="347472" cy="347472"/>
          </a:xfrm>
          <a:prstGeom prst="ellipse">
            <a:avLst/>
          </a:prstGeom>
          <a:solidFill>
            <a:srgbClr val="FFFFFF"/>
          </a:solidFill>
          <a:ln w="15875">
            <a:solidFill>
              <a:srgbClr val="002516"/>
            </a:solidFill>
            <a:prstDash val="solid"/>
          </a:ln>
        </p:spPr>
      </p:sp>
      <p:pic>
        <p:nvPicPr>
          <p:cNvPr id="63" name="Image 8" descr="preencoded.png">    </p:cNvPr>
          <p:cNvPicPr>
            <a:picLocks noChangeAspect="1"/>
          </p:cNvPicPr>
          <p:nvPr/>
        </p:nvPicPr>
        <p:blipFill>
          <a:blip r:embed="rId9"/>
          <a:stretch>
            <a:fillRect/>
          </a:stretch>
        </p:blipFill>
        <p:spPr>
          <a:xfrm>
            <a:off x="3680460" y="6583680"/>
            <a:ext cx="201168" cy="201168"/>
          </a:xfrm>
          <a:prstGeom prst="rect">
            <a:avLst/>
          </a:prstGeom>
        </p:spPr>
      </p:pic>
      <p:sp>
        <p:nvSpPr>
          <p:cNvPr id="64" name="Text 53"/>
          <p:cNvSpPr/>
          <p:nvPr/>
        </p:nvSpPr>
        <p:spPr>
          <a:xfrm>
            <a:off x="333364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5" name="Shape 54"/>
          <p:cNvSpPr/>
          <p:nvPr/>
        </p:nvSpPr>
        <p:spPr>
          <a:xfrm>
            <a:off x="4556978" y="6510528"/>
            <a:ext cx="347472" cy="347472"/>
          </a:xfrm>
          <a:prstGeom prst="ellipse">
            <a:avLst/>
          </a:prstGeom>
          <a:solidFill>
            <a:srgbClr val="FFFFFF"/>
          </a:solidFill>
          <a:ln w="15875">
            <a:solidFill>
              <a:srgbClr val="002516"/>
            </a:solidFill>
            <a:prstDash val="solid"/>
          </a:ln>
        </p:spPr>
      </p:sp>
      <p:pic>
        <p:nvPicPr>
          <p:cNvPr id="66" name="Image 9" descr="preencoded.png">    </p:cNvPr>
          <p:cNvPicPr>
            <a:picLocks noChangeAspect="1"/>
          </p:cNvPicPr>
          <p:nvPr/>
        </p:nvPicPr>
        <p:blipFill>
          <a:blip r:embed="rId10"/>
          <a:stretch>
            <a:fillRect/>
          </a:stretch>
        </p:blipFill>
        <p:spPr>
          <a:xfrm>
            <a:off x="4630130" y="6583680"/>
            <a:ext cx="201168" cy="201168"/>
          </a:xfrm>
          <a:prstGeom prst="rect">
            <a:avLst/>
          </a:prstGeom>
        </p:spPr>
      </p:pic>
      <p:sp>
        <p:nvSpPr>
          <p:cNvPr id="67" name="Text 55"/>
          <p:cNvSpPr/>
          <p:nvPr/>
        </p:nvSpPr>
        <p:spPr>
          <a:xfrm>
            <a:off x="428331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8" name="Shape 56"/>
          <p:cNvSpPr/>
          <p:nvPr/>
        </p:nvSpPr>
        <p:spPr>
          <a:xfrm>
            <a:off x="5506647" y="6510528"/>
            <a:ext cx="347472" cy="347472"/>
          </a:xfrm>
          <a:prstGeom prst="ellipse">
            <a:avLst/>
          </a:prstGeom>
          <a:solidFill>
            <a:srgbClr val="FFFFFF"/>
          </a:solidFill>
          <a:ln w="15875">
            <a:solidFill>
              <a:srgbClr val="002516"/>
            </a:solidFill>
            <a:prstDash val="solid"/>
          </a:ln>
        </p:spPr>
      </p:sp>
      <p:pic>
        <p:nvPicPr>
          <p:cNvPr id="69" name="Image 10" descr="preencoded.png">    </p:cNvPr>
          <p:cNvPicPr>
            <a:picLocks noChangeAspect="1"/>
          </p:cNvPicPr>
          <p:nvPr/>
        </p:nvPicPr>
        <p:blipFill>
          <a:blip r:embed="rId11"/>
          <a:stretch>
            <a:fillRect/>
          </a:stretch>
        </p:blipFill>
        <p:spPr>
          <a:xfrm>
            <a:off x="5579799" y="6583680"/>
            <a:ext cx="201168" cy="201168"/>
          </a:xfrm>
          <a:prstGeom prst="rect">
            <a:avLst/>
          </a:prstGeom>
        </p:spPr>
      </p:pic>
      <p:sp>
        <p:nvSpPr>
          <p:cNvPr id="70" name="Text 57"/>
          <p:cNvSpPr/>
          <p:nvPr/>
        </p:nvSpPr>
        <p:spPr>
          <a:xfrm>
            <a:off x="523298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Identity, values &amp; will</a:t>
            </a:r>
            <a:endParaRPr lang="en-US" sz="680" dirty="0"/>
          </a:p>
        </p:txBody>
      </p:sp>
      <p:sp>
        <p:nvSpPr>
          <p:cNvPr id="71" name="Shape 58"/>
          <p:cNvSpPr/>
          <p:nvPr/>
        </p:nvSpPr>
        <p:spPr>
          <a:xfrm>
            <a:off x="6456317" y="6510528"/>
            <a:ext cx="347472" cy="347472"/>
          </a:xfrm>
          <a:prstGeom prst="ellipse">
            <a:avLst/>
          </a:prstGeom>
          <a:solidFill>
            <a:srgbClr val="FFFFFF"/>
          </a:solidFill>
          <a:ln w="15875">
            <a:solidFill>
              <a:srgbClr val="002516"/>
            </a:solidFill>
            <a:prstDash val="solid"/>
          </a:ln>
        </p:spPr>
      </p:sp>
      <p:pic>
        <p:nvPicPr>
          <p:cNvPr id="72" name="Image 11" descr="preencoded.png">    </p:cNvPr>
          <p:cNvPicPr>
            <a:picLocks noChangeAspect="1"/>
          </p:cNvPicPr>
          <p:nvPr/>
        </p:nvPicPr>
        <p:blipFill>
          <a:blip r:embed="rId12"/>
          <a:stretch>
            <a:fillRect/>
          </a:stretch>
        </p:blipFill>
        <p:spPr>
          <a:xfrm>
            <a:off x="6529469" y="6583680"/>
            <a:ext cx="201168" cy="201168"/>
          </a:xfrm>
          <a:prstGeom prst="rect">
            <a:avLst/>
          </a:prstGeom>
        </p:spPr>
      </p:pic>
      <p:sp>
        <p:nvSpPr>
          <p:cNvPr id="73" name="Text 59"/>
          <p:cNvSpPr/>
          <p:nvPr/>
        </p:nvSpPr>
        <p:spPr>
          <a:xfrm>
            <a:off x="6182650"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Collective performance</a:t>
            </a:r>
            <a:endParaRPr lang="en-US" sz="680" dirty="0"/>
          </a:p>
        </p:txBody>
      </p:sp>
      <p:sp>
        <p:nvSpPr>
          <p:cNvPr id="74" name="Shape 60"/>
          <p:cNvSpPr/>
          <p:nvPr/>
        </p:nvSpPr>
        <p:spPr>
          <a:xfrm rot="10800000">
            <a:off x="3707892" y="7370064"/>
            <a:ext cx="146304" cy="109728"/>
          </a:xfrm>
          <a:prstGeom prst="triangle">
            <a:avLst/>
          </a:prstGeom>
          <a:solidFill>
            <a:srgbClr val="002516"/>
          </a:solidFill>
          <a:ln/>
        </p:spPr>
      </p:sp>
      <p:sp>
        <p:nvSpPr>
          <p:cNvPr id="75" name="Text 61"/>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6" name="Text 62"/>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7" name="Shape 63"/>
          <p:cNvSpPr/>
          <p:nvPr/>
        </p:nvSpPr>
        <p:spPr>
          <a:xfrm>
            <a:off x="457200" y="7790688"/>
            <a:ext cx="902643" cy="713232"/>
          </a:xfrm>
          <a:prstGeom prst="rect">
            <a:avLst/>
          </a:prstGeom>
          <a:solidFill>
            <a:srgbClr val="FFFFFF"/>
          </a:solidFill>
          <a:ln w="9525">
            <a:solidFill>
              <a:srgbClr val="A89662"/>
            </a:solidFill>
            <a:prstDash val="solid"/>
          </a:ln>
        </p:spPr>
      </p:sp>
      <p:sp>
        <p:nvSpPr>
          <p:cNvPr id="78" name="Text 64"/>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9" name="Shape 65"/>
          <p:cNvSpPr/>
          <p:nvPr/>
        </p:nvSpPr>
        <p:spPr>
          <a:xfrm>
            <a:off x="1414707" y="7790688"/>
            <a:ext cx="902643" cy="713232"/>
          </a:xfrm>
          <a:prstGeom prst="rect">
            <a:avLst/>
          </a:prstGeom>
          <a:solidFill>
            <a:srgbClr val="FFFFFF"/>
          </a:solidFill>
          <a:ln w="9525">
            <a:solidFill>
              <a:srgbClr val="A89662"/>
            </a:solidFill>
            <a:prstDash val="solid"/>
          </a:ln>
        </p:spPr>
      </p:sp>
      <p:sp>
        <p:nvSpPr>
          <p:cNvPr id="80" name="Text 66"/>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1" name="Shape 67"/>
          <p:cNvSpPr/>
          <p:nvPr/>
        </p:nvSpPr>
        <p:spPr>
          <a:xfrm>
            <a:off x="2372215" y="7790688"/>
            <a:ext cx="902643" cy="713232"/>
          </a:xfrm>
          <a:prstGeom prst="rect">
            <a:avLst/>
          </a:prstGeom>
          <a:solidFill>
            <a:srgbClr val="FFFFFF"/>
          </a:solidFill>
          <a:ln w="19050">
            <a:solidFill>
              <a:srgbClr val="002516"/>
            </a:solidFill>
            <a:prstDash val="dash"/>
          </a:ln>
        </p:spPr>
      </p:sp>
      <p:sp>
        <p:nvSpPr>
          <p:cNvPr id="82" name="Text 68"/>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performance-cognition product</a:t>
            </a:r>
            <a:endParaRPr lang="en-US" sz="720" dirty="0"/>
          </a:p>
        </p:txBody>
      </p:sp>
      <p:sp>
        <p:nvSpPr>
          <p:cNvPr id="83" name="Shape 69"/>
          <p:cNvSpPr/>
          <p:nvPr/>
        </p:nvSpPr>
        <p:spPr>
          <a:xfrm>
            <a:off x="3329722" y="7790688"/>
            <a:ext cx="902643" cy="713232"/>
          </a:xfrm>
          <a:prstGeom prst="rect">
            <a:avLst/>
          </a:prstGeom>
          <a:solidFill>
            <a:srgbClr val="FFFFFF"/>
          </a:solidFill>
          <a:ln w="9525">
            <a:solidFill>
              <a:srgbClr val="A89662"/>
            </a:solidFill>
            <a:prstDash val="solid"/>
          </a:ln>
        </p:spPr>
      </p:sp>
      <p:sp>
        <p:nvSpPr>
          <p:cNvPr id="84" name="Text 70"/>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experiential &amp; progressive pressure training</a:t>
            </a:r>
            <a:endParaRPr lang="en-US" sz="720" dirty="0"/>
          </a:p>
        </p:txBody>
      </p:sp>
      <p:sp>
        <p:nvSpPr>
          <p:cNvPr id="85" name="Shape 71"/>
          <p:cNvSpPr/>
          <p:nvPr/>
        </p:nvSpPr>
        <p:spPr>
          <a:xfrm>
            <a:off x="4287230" y="7790688"/>
            <a:ext cx="902643" cy="713232"/>
          </a:xfrm>
          <a:prstGeom prst="rect">
            <a:avLst/>
          </a:prstGeom>
          <a:solidFill>
            <a:srgbClr val="FFFFFF"/>
          </a:solidFill>
          <a:ln w="9525">
            <a:solidFill>
              <a:srgbClr val="A89662"/>
            </a:solidFill>
            <a:prstDash val="solid"/>
          </a:ln>
        </p:spPr>
      </p:sp>
      <p:sp>
        <p:nvSpPr>
          <p:cNvPr id="86" name="Text 72"/>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&amp; cognitive conditioning</a:t>
            </a:r>
            <a:endParaRPr lang="en-US" sz="720" dirty="0"/>
          </a:p>
        </p:txBody>
      </p:sp>
      <p:sp>
        <p:nvSpPr>
          <p:cNvPr id="87" name="Shape 73"/>
          <p:cNvSpPr/>
          <p:nvPr/>
        </p:nvSpPr>
        <p:spPr>
          <a:xfrm>
            <a:off x="5244737" y="7790688"/>
            <a:ext cx="902643" cy="713232"/>
          </a:xfrm>
          <a:prstGeom prst="rect">
            <a:avLst/>
          </a:prstGeom>
          <a:solidFill>
            <a:srgbClr val="FFFFFF"/>
          </a:solidFill>
          <a:ln w="9525">
            <a:solidFill>
              <a:srgbClr val="A89662"/>
            </a:solidFill>
            <a:prstDash val="solid"/>
          </a:ln>
        </p:spPr>
      </p:sp>
      <p:sp>
        <p:nvSpPr>
          <p:cNvPr id="88" name="Text 74"/>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9" name="Shape 75"/>
          <p:cNvSpPr/>
          <p:nvPr/>
        </p:nvSpPr>
        <p:spPr>
          <a:xfrm>
            <a:off x="6202245" y="7790688"/>
            <a:ext cx="902643" cy="713232"/>
          </a:xfrm>
          <a:prstGeom prst="rect">
            <a:avLst/>
          </a:prstGeom>
          <a:solidFill>
            <a:srgbClr val="FFFFFF"/>
          </a:solidFill>
          <a:ln w="9525">
            <a:solidFill>
              <a:srgbClr val="A89662"/>
            </a:solidFill>
            <a:prstDash val="solid"/>
          </a:ln>
        </p:spPr>
      </p:sp>
      <p:sp>
        <p:nvSpPr>
          <p:cNvPr id="90" name="Text 76"/>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stocktake</a:t>
            </a:r>
            <a:endParaRPr lang="en-US" sz="720" dirty="0"/>
          </a:p>
        </p:txBody>
      </p:sp>
      <p:sp>
        <p:nvSpPr>
          <p:cNvPr id="91" name="Text 77"/>
          <p:cNvSpPr/>
          <p:nvPr/>
        </p:nvSpPr>
        <p:spPr>
          <a:xfrm>
            <a:off x="457200" y="8513064"/>
            <a:ext cx="6647688" cy="91440"/>
          </a:xfrm>
          <a:prstGeom prst="rect">
            <a:avLst/>
          </a:prstGeom>
          <a:noFill/>
          <a:ln/>
        </p:spPr>
        <p:txBody>
          <a:bodyPr wrap="square" lIns="0" tIns="0" rIns="0" bIns="0" rtlCol="0" anchor="ctr"/>
          <a:lstStyle/>
          <a:p>
            <a:pPr algn="ctr" indent="0" marL="0">
              <a:buNone/>
            </a:pPr>
            <a:r>
              <a:rPr lang="en-US" sz="600" i="1" dirty="0">
                <a:solidFill>
                  <a:srgbClr val="000000"/>
                </a:solidFill>
                <a:latin typeface="Arial" pitchFamily="34" charset="0"/>
                <a:ea typeface="Arial" pitchFamily="34" charset="-122"/>
                <a:cs typeface="Arial" pitchFamily="34" charset="-120"/>
              </a:rPr>
              <a:t>Dashed outline indicates developmental status pending the Phase 1 stocktake</a:t>
            </a:r>
            <a:endParaRPr lang="en-US" sz="600" dirty="0"/>
          </a:p>
        </p:txBody>
      </p:sp>
      <p:sp>
        <p:nvSpPr>
          <p:cNvPr id="92" name="Text 78"/>
          <p:cNvSpPr/>
          <p:nvPr/>
        </p:nvSpPr>
        <p:spPr>
          <a:xfrm>
            <a:off x="457200" y="8595360"/>
            <a:ext cx="6647688" cy="164592"/>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Developed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3" name="Text 79"/>
          <p:cNvSpPr/>
          <p:nvPr/>
        </p:nvSpPr>
        <p:spPr>
          <a:xfrm>
            <a:off x="457200" y="8769096"/>
            <a:ext cx="6647688" cy="137160"/>
          </a:xfrm>
          <a:prstGeom prst="rect">
            <a:avLst/>
          </a:prstGeom>
          <a:noFill/>
          <a:ln/>
        </p:spPr>
        <p:txBody>
          <a:bodyPr wrap="square" lIns="0" tIns="0" rIns="0" bIns="0" rtlCol="0" anchor="ctr"/>
          <a:lstStyle/>
          <a:p>
            <a:pPr algn="ctr" indent="0" marL="0">
              <a:buNone/>
            </a:pPr>
            <a:r>
              <a:rPr lang="en-US" sz="700" i="1" dirty="0">
                <a:solidFill>
                  <a:srgbClr val="000000"/>
                </a:solidFill>
                <a:latin typeface="Arial" pitchFamily="34" charset="0"/>
                <a:ea typeface="Arial" pitchFamily="34" charset="-122"/>
                <a:cs typeface="Arial" pitchFamily="34" charset="-120"/>
              </a:rPr>
              <a:t>Delivered by approved training establishments, units and existing instructor workforces across Army</a:t>
            </a:r>
            <a:endParaRPr lang="en-US" sz="700" dirty="0"/>
          </a:p>
        </p:txBody>
      </p:sp>
      <p:sp>
        <p:nvSpPr>
          <p:cNvPr id="94" name="Shape 80"/>
          <p:cNvSpPr/>
          <p:nvPr/>
        </p:nvSpPr>
        <p:spPr>
          <a:xfrm>
            <a:off x="457200" y="8997696"/>
            <a:ext cx="3246120" cy="1078992"/>
          </a:xfrm>
          <a:prstGeom prst="rect">
            <a:avLst/>
          </a:prstGeom>
          <a:solidFill>
            <a:srgbClr val="CDD2B7">
              <a:alpha val="28000"/>
            </a:srgbClr>
          </a:solidFill>
          <a:ln/>
        </p:spPr>
      </p:sp>
      <p:pic>
        <p:nvPicPr>
          <p:cNvPr id="95"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6" name="Text 81"/>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7" name="Text 82"/>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capability-integration lead</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8" name="Shape 83"/>
          <p:cNvSpPr/>
          <p:nvPr/>
        </p:nvSpPr>
        <p:spPr>
          <a:xfrm>
            <a:off x="3858768" y="8997696"/>
            <a:ext cx="3246120" cy="1078992"/>
          </a:xfrm>
          <a:prstGeom prst="rect">
            <a:avLst/>
          </a:prstGeom>
          <a:solidFill>
            <a:srgbClr val="CDD2B7">
              <a:alpha val="28000"/>
            </a:srgbClr>
          </a:solidFill>
          <a:ln/>
        </p:spPr>
      </p:sp>
      <p:pic>
        <p:nvPicPr>
          <p:cNvPr id="99"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100" name="Text 84"/>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0–4</a:t>
            </a:r>
            <a:endParaRPr lang="en-US" sz="880" dirty="0"/>
          </a:p>
        </p:txBody>
      </p:sp>
      <p:sp>
        <p:nvSpPr>
          <p:cNvPr id="101" name="Text 85"/>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Stocktake current capabilities, products and evidence</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units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Report back — Framework v1.0, November 2026</a:t>
            </a:r>
            <a:endParaRPr lang="en-US" sz="700" dirty="0"/>
          </a:p>
        </p:txBody>
      </p:sp>
      <p:sp>
        <p:nvSpPr>
          <p:cNvPr id="102" name="Shape 86"/>
          <p:cNvSpPr/>
          <p:nvPr/>
        </p:nvSpPr>
        <p:spPr>
          <a:xfrm>
            <a:off x="457200" y="10204704"/>
            <a:ext cx="6647688" cy="274320"/>
          </a:xfrm>
          <a:prstGeom prst="rect">
            <a:avLst/>
          </a:prstGeom>
          <a:solidFill>
            <a:srgbClr val="000000"/>
          </a:solidFill>
          <a:ln/>
        </p:spPr>
      </p:sp>
      <p:pic>
        <p:nvPicPr>
          <p:cNvPr id="103"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4" name="Text 87"/>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tagline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2026-07-23T08:48:33Z</dcterms:created>
  <dcterms:modified xsi:type="dcterms:W3CDTF">2026-07-23T08:48:33Z</dcterms:modified>
</cp:coreProperties>
</file>