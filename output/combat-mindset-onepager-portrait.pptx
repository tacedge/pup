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PUP/2d4cec0e-a52e-5368-bb54-803c6f37698d/scratchpad/logo-trimm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57200"/>
            <a:ext cx="1005840" cy="24323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691640" y="429768"/>
            <a:ext cx="5413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COMBAT MINDSET THE WAY FORWARD</a:t>
            </a:r>
            <a:endParaRPr lang="en-US" sz="1550" dirty="0"/>
          </a:p>
        </p:txBody>
      </p:sp>
      <p:sp>
        <p:nvSpPr>
          <p:cNvPr id="4" name="Text 1"/>
          <p:cNvSpPr/>
          <p:nvPr/>
        </p:nvSpPr>
        <p:spPr>
          <a:xfrm>
            <a:off x="457200" y="10469880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Army Command School  ·  ACS 2026</a:t>
            </a:r>
            <a:endParaRPr lang="en-US" sz="600" dirty="0"/>
          </a:p>
        </p:txBody>
      </p:sp>
      <p:sp>
        <p:nvSpPr>
          <p:cNvPr id="5" name="Text 2"/>
          <p:cNvSpPr/>
          <p:nvPr/>
        </p:nvSpPr>
        <p:spPr>
          <a:xfrm>
            <a:off x="5212080" y="10469880"/>
            <a:ext cx="18928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v0.8  ·  July 2026</a:t>
            </a:r>
            <a:endParaRPr lang="en-US" sz="600" dirty="0"/>
          </a:p>
        </p:txBody>
      </p:sp>
      <p:sp>
        <p:nvSpPr>
          <p:cNvPr id="6" name="Shape 3"/>
          <p:cNvSpPr/>
          <p:nvPr/>
        </p:nvSpPr>
        <p:spPr>
          <a:xfrm>
            <a:off x="457200" y="1042416"/>
            <a:ext cx="6647688" cy="1426464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7" name="Shape 4"/>
          <p:cNvSpPr/>
          <p:nvPr/>
        </p:nvSpPr>
        <p:spPr>
          <a:xfrm>
            <a:off x="2683764" y="932688"/>
            <a:ext cx="2194560" cy="219456"/>
          </a:xfrm>
          <a:prstGeom prst="roundRect">
            <a:avLst>
              <a:gd name="adj" fmla="val 50000"/>
            </a:avLst>
          </a:prstGeom>
          <a:solidFill>
            <a:srgbClr val="C6202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2683764" y="932688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1)  WARFIGHTING IMPERATIVE</a:t>
            </a:r>
            <a:endParaRPr lang="en-US" sz="78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>
            <a:alphaModFix amt="60000"/>
          </a:blip>
          <a:stretch>
            <a:fillRect/>
          </a:stretch>
        </p:blipFill>
        <p:spPr>
          <a:xfrm>
            <a:off x="731520" y="1389888"/>
            <a:ext cx="731520" cy="7315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57200" y="1389888"/>
            <a:ext cx="66476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COMBAT MINDSET</a:t>
            </a:r>
            <a:endParaRPr lang="en-US" sz="3700" dirty="0"/>
          </a:p>
        </p:txBody>
      </p:sp>
      <p:sp>
        <p:nvSpPr>
          <p:cNvPr id="11" name="Text 7"/>
          <p:cNvSpPr/>
          <p:nvPr/>
        </p:nvSpPr>
        <p:spPr>
          <a:xfrm>
            <a:off x="457200" y="2011680"/>
            <a:ext cx="6647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620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Remain effective. Act decisively. Harder to kill.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 rot="10800000">
            <a:off x="3717036" y="2596896"/>
            <a:ext cx="128016" cy="100584"/>
          </a:xfrm>
          <a:prstGeom prst="triangle">
            <a:avLst/>
          </a:prstGeom>
          <a:solidFill>
            <a:srgbClr val="002516"/>
          </a:solidFill>
          <a:ln/>
        </p:spPr>
      </p:sp>
      <p:sp>
        <p:nvSpPr>
          <p:cNvPr id="13" name="Text 9"/>
          <p:cNvSpPr/>
          <p:nvPr/>
        </p:nvSpPr>
        <p:spPr>
          <a:xfrm>
            <a:off x="2043684" y="2715768"/>
            <a:ext cx="3474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enabled by</a:t>
            </a:r>
            <a:endParaRPr lang="en-US" sz="850" dirty="0"/>
          </a:p>
        </p:txBody>
      </p:sp>
      <p:sp>
        <p:nvSpPr>
          <p:cNvPr id="14" name="Shape 10"/>
          <p:cNvSpPr/>
          <p:nvPr/>
        </p:nvSpPr>
        <p:spPr>
          <a:xfrm>
            <a:off x="457200" y="3127248"/>
            <a:ext cx="6647688" cy="1133856"/>
          </a:xfrm>
          <a:prstGeom prst="rect">
            <a:avLst/>
          </a:prstGeom>
          <a:solidFill>
            <a:srgbClr val="002516"/>
          </a:solidFill>
          <a:ln/>
        </p:spPr>
      </p:sp>
      <p:sp>
        <p:nvSpPr>
          <p:cNvPr id="15" name="Shape 11"/>
          <p:cNvSpPr/>
          <p:nvPr/>
        </p:nvSpPr>
        <p:spPr>
          <a:xfrm>
            <a:off x="1952244" y="3017520"/>
            <a:ext cx="3657600" cy="219456"/>
          </a:xfrm>
          <a:prstGeom prst="roundRect">
            <a:avLst>
              <a:gd name="adj" fmla="val 50000"/>
            </a:avLst>
          </a:prstGeom>
          <a:solidFill>
            <a:srgbClr val="00251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1952244" y="30175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2)  ENABLING HUMAN-PERFORMANCE CAPABILITY</a:t>
            </a:r>
            <a:endParaRPr lang="en-US" sz="780" dirty="0"/>
          </a:p>
        </p:txBody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474720"/>
            <a:ext cx="438912" cy="43891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457200" y="3383280"/>
            <a:ext cx="6647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 UNDER PRESSURE</a:t>
            </a:r>
            <a:endParaRPr lang="en-US" sz="2250" dirty="0"/>
          </a:p>
        </p:txBody>
      </p:sp>
      <p:sp>
        <p:nvSpPr>
          <p:cNvPr id="19" name="Text 14"/>
          <p:cNvSpPr/>
          <p:nvPr/>
        </p:nvSpPr>
        <p:spPr>
          <a:xfrm>
            <a:off x="457200" y="3840480"/>
            <a:ext cx="6647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   •   Perform   •   Recover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 rot="10800000">
            <a:off x="3717036" y="4389120"/>
            <a:ext cx="128016" cy="100584"/>
          </a:xfrm>
          <a:prstGeom prst="triangle">
            <a:avLst/>
          </a:prstGeom>
          <a:solidFill>
            <a:srgbClr val="002516"/>
          </a:solidFill>
          <a:ln/>
        </p:spPr>
      </p:sp>
      <p:sp>
        <p:nvSpPr>
          <p:cNvPr id="21" name="Text 16"/>
          <p:cNvSpPr/>
          <p:nvPr/>
        </p:nvSpPr>
        <p:spPr>
          <a:xfrm>
            <a:off x="2043684" y="4507992"/>
            <a:ext cx="3474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developed, organised and assured through</a:t>
            </a:r>
            <a:endParaRPr lang="en-US" sz="850" dirty="0"/>
          </a:p>
        </p:txBody>
      </p:sp>
      <p:sp>
        <p:nvSpPr>
          <p:cNvPr id="22" name="Shape 17"/>
          <p:cNvSpPr/>
          <p:nvPr/>
        </p:nvSpPr>
        <p:spPr>
          <a:xfrm>
            <a:off x="457200" y="4919472"/>
            <a:ext cx="6647688" cy="1042416"/>
          </a:xfrm>
          <a:prstGeom prst="rect">
            <a:avLst/>
          </a:prstGeom>
          <a:solidFill>
            <a:srgbClr val="3A4B00"/>
          </a:solidFill>
          <a:ln/>
        </p:spPr>
      </p:sp>
      <p:sp>
        <p:nvSpPr>
          <p:cNvPr id="23" name="Shape 18"/>
          <p:cNvSpPr/>
          <p:nvPr/>
        </p:nvSpPr>
        <p:spPr>
          <a:xfrm>
            <a:off x="2820924" y="4809744"/>
            <a:ext cx="1920240" cy="219456"/>
          </a:xfrm>
          <a:prstGeom prst="roundRect">
            <a:avLst>
              <a:gd name="adj" fmla="val 50000"/>
            </a:avLst>
          </a:prstGeom>
          <a:solidFill>
            <a:srgbClr val="3A4B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2820924" y="4809744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3)  ORGANISING SYSTEM</a:t>
            </a:r>
            <a:endParaRPr lang="en-US" sz="780" dirty="0"/>
          </a:p>
        </p:txBody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5230368"/>
            <a:ext cx="402336" cy="402336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457200" y="5120640"/>
            <a:ext cx="6647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ARMY COMBAT MINDSET FRAMEWORK</a:t>
            </a:r>
            <a:endParaRPr lang="en-US" sz="1750" dirty="0"/>
          </a:p>
        </p:txBody>
      </p:sp>
      <p:sp>
        <p:nvSpPr>
          <p:cNvPr id="27" name="Text 21"/>
          <p:cNvSpPr/>
          <p:nvPr/>
        </p:nvSpPr>
        <p:spPr>
          <a:xfrm>
            <a:off x="457200" y="5522976"/>
            <a:ext cx="66476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Army system through which Combat Mindset is governed, developed, delivered and assured.</a:t>
            </a:r>
            <a:endParaRPr lang="en-US" sz="950" dirty="0"/>
          </a:p>
        </p:txBody>
      </p:sp>
      <p:sp>
        <p:nvSpPr>
          <p:cNvPr id="28" name="Shape 22"/>
          <p:cNvSpPr/>
          <p:nvPr/>
        </p:nvSpPr>
        <p:spPr>
          <a:xfrm rot="10800000">
            <a:off x="3717036" y="6089904"/>
            <a:ext cx="128016" cy="100584"/>
          </a:xfrm>
          <a:prstGeom prst="triangle">
            <a:avLst/>
          </a:prstGeom>
          <a:solidFill>
            <a:srgbClr val="002516"/>
          </a:solidFill>
          <a:ln/>
        </p:spPr>
      </p:sp>
      <p:sp>
        <p:nvSpPr>
          <p:cNvPr id="29" name="Text 23"/>
          <p:cNvSpPr/>
          <p:nvPr/>
        </p:nvSpPr>
        <p:spPr>
          <a:xfrm>
            <a:off x="2043684" y="6208776"/>
            <a:ext cx="3474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achieved through</a:t>
            </a:r>
            <a:endParaRPr lang="en-US" sz="850" dirty="0"/>
          </a:p>
        </p:txBody>
      </p:sp>
      <p:sp>
        <p:nvSpPr>
          <p:cNvPr id="30" name="Shape 24"/>
          <p:cNvSpPr/>
          <p:nvPr/>
        </p:nvSpPr>
        <p:spPr>
          <a:xfrm>
            <a:off x="457200" y="6729984"/>
            <a:ext cx="6647688" cy="3401568"/>
          </a:xfrm>
          <a:prstGeom prst="rect">
            <a:avLst/>
          </a:prstGeom>
          <a:solidFill>
            <a:srgbClr val="CDD2B7">
              <a:alpha val="28000"/>
            </a:srgbClr>
          </a:solidFill>
          <a:ln/>
        </p:spPr>
      </p:sp>
      <p:sp>
        <p:nvSpPr>
          <p:cNvPr id="31" name="Shape 25"/>
          <p:cNvSpPr/>
          <p:nvPr/>
        </p:nvSpPr>
        <p:spPr>
          <a:xfrm>
            <a:off x="2089404" y="6620256"/>
            <a:ext cx="3383280" cy="219456"/>
          </a:xfrm>
          <a:prstGeom prst="roundRect">
            <a:avLst>
              <a:gd name="adj" fmla="val 50000"/>
            </a:avLst>
          </a:prstGeom>
          <a:solidFill>
            <a:srgbClr val="00251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Text 26"/>
          <p:cNvSpPr/>
          <p:nvPr/>
        </p:nvSpPr>
        <p:spPr>
          <a:xfrm>
            <a:off x="2089404" y="6620256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4)  FRAMEWORK DEVELOPMENT PROGRAMME</a:t>
            </a:r>
            <a:endParaRPr lang="en-US" sz="780" dirty="0"/>
          </a:p>
        </p:txBody>
      </p:sp>
      <p:sp>
        <p:nvSpPr>
          <p:cNvPr id="33" name="Shape 27"/>
          <p:cNvSpPr/>
          <p:nvPr/>
        </p:nvSpPr>
        <p:spPr>
          <a:xfrm>
            <a:off x="1024128" y="7296912"/>
            <a:ext cx="0" cy="2414016"/>
          </a:xfrm>
          <a:prstGeom prst="line">
            <a:avLst/>
          </a:prstGeom>
          <a:noFill/>
          <a:ln w="19050">
            <a:solidFill>
              <a:srgbClr val="002516"/>
            </a:solidFill>
            <a:prstDash val="solid"/>
          </a:ln>
        </p:spPr>
      </p:sp>
      <p:sp>
        <p:nvSpPr>
          <p:cNvPr id="34" name="Shape 28"/>
          <p:cNvSpPr/>
          <p:nvPr/>
        </p:nvSpPr>
        <p:spPr>
          <a:xfrm>
            <a:off x="832104" y="7104888"/>
            <a:ext cx="384048" cy="384048"/>
          </a:xfrm>
          <a:prstGeom prst="ellipse">
            <a:avLst/>
          </a:prstGeom>
          <a:solidFill>
            <a:srgbClr val="00251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832104" y="71048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36" name="Text 30"/>
          <p:cNvSpPr/>
          <p:nvPr/>
        </p:nvSpPr>
        <p:spPr>
          <a:xfrm>
            <a:off x="1408176" y="711403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50" kern="0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</a:t>
            </a:r>
            <a:endParaRPr lang="en-US" sz="1150" dirty="0"/>
          </a:p>
        </p:txBody>
      </p:sp>
      <p:sp>
        <p:nvSpPr>
          <p:cNvPr id="37" name="Text 31"/>
          <p:cNvSpPr/>
          <p:nvPr/>
        </p:nvSpPr>
        <p:spPr>
          <a:xfrm>
            <a:off x="3145536" y="7077456"/>
            <a:ext cx="37764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6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 terminology, governance, roles and responsibilities.</a:t>
            </a:r>
            <a:endParaRPr lang="en-US" sz="860" dirty="0"/>
          </a:p>
        </p:txBody>
      </p:sp>
      <p:sp>
        <p:nvSpPr>
          <p:cNvPr id="38" name="Shape 32"/>
          <p:cNvSpPr/>
          <p:nvPr/>
        </p:nvSpPr>
        <p:spPr>
          <a:xfrm>
            <a:off x="832104" y="7708392"/>
            <a:ext cx="384048" cy="384048"/>
          </a:xfrm>
          <a:prstGeom prst="ellipse">
            <a:avLst/>
          </a:prstGeom>
          <a:solidFill>
            <a:srgbClr val="00251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Text 33"/>
          <p:cNvSpPr/>
          <p:nvPr/>
        </p:nvSpPr>
        <p:spPr>
          <a:xfrm>
            <a:off x="832104" y="77083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40" name="Text 34"/>
          <p:cNvSpPr/>
          <p:nvPr/>
        </p:nvSpPr>
        <p:spPr>
          <a:xfrm>
            <a:off x="1408176" y="7717536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50" kern="0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UNDERSTAND</a:t>
            </a:r>
            <a:endParaRPr lang="en-US" sz="1150" dirty="0"/>
          </a:p>
        </p:txBody>
      </p:sp>
      <p:sp>
        <p:nvSpPr>
          <p:cNvPr id="41" name="Text 35"/>
          <p:cNvSpPr/>
          <p:nvPr/>
        </p:nvSpPr>
        <p:spPr>
          <a:xfrm>
            <a:off x="3145536" y="7680960"/>
            <a:ext cx="37764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6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 existing doctrine, products, delivery and governance.</a:t>
            </a:r>
            <a:endParaRPr lang="en-US" sz="860" dirty="0"/>
          </a:p>
        </p:txBody>
      </p:sp>
      <p:sp>
        <p:nvSpPr>
          <p:cNvPr id="42" name="Shape 36"/>
          <p:cNvSpPr/>
          <p:nvPr/>
        </p:nvSpPr>
        <p:spPr>
          <a:xfrm>
            <a:off x="832104" y="8311896"/>
            <a:ext cx="384048" cy="384048"/>
          </a:xfrm>
          <a:prstGeom prst="ellipse">
            <a:avLst/>
          </a:prstGeom>
          <a:solidFill>
            <a:srgbClr val="00251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3" name="Text 37"/>
          <p:cNvSpPr/>
          <p:nvPr/>
        </p:nvSpPr>
        <p:spPr>
          <a:xfrm>
            <a:off x="832104" y="8311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44" name="Text 38"/>
          <p:cNvSpPr/>
          <p:nvPr/>
        </p:nvSpPr>
        <p:spPr>
          <a:xfrm>
            <a:off x="1408176" y="832104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50" kern="0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</a:t>
            </a:r>
            <a:endParaRPr lang="en-US" sz="1150" dirty="0"/>
          </a:p>
        </p:txBody>
      </p:sp>
      <p:sp>
        <p:nvSpPr>
          <p:cNvPr id="45" name="Text 39"/>
          <p:cNvSpPr/>
          <p:nvPr/>
        </p:nvSpPr>
        <p:spPr>
          <a:xfrm>
            <a:off x="3145536" y="8284464"/>
            <a:ext cx="37764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6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 the Combat Mindset Framework, delivery architecture and outcomes.</a:t>
            </a:r>
            <a:endParaRPr lang="en-US" sz="860" dirty="0"/>
          </a:p>
        </p:txBody>
      </p:sp>
      <p:sp>
        <p:nvSpPr>
          <p:cNvPr id="46" name="Shape 40"/>
          <p:cNvSpPr/>
          <p:nvPr/>
        </p:nvSpPr>
        <p:spPr>
          <a:xfrm>
            <a:off x="832104" y="8915400"/>
            <a:ext cx="384048" cy="384048"/>
          </a:xfrm>
          <a:prstGeom prst="ellipse">
            <a:avLst/>
          </a:prstGeom>
          <a:solidFill>
            <a:srgbClr val="00251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7" name="Text 41"/>
          <p:cNvSpPr/>
          <p:nvPr/>
        </p:nvSpPr>
        <p:spPr>
          <a:xfrm>
            <a:off x="832104" y="8915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48" name="Text 42"/>
          <p:cNvSpPr/>
          <p:nvPr/>
        </p:nvSpPr>
        <p:spPr>
          <a:xfrm>
            <a:off x="1408176" y="8924544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50" kern="0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</a:t>
            </a:r>
            <a:endParaRPr lang="en-US" sz="1150" dirty="0"/>
          </a:p>
        </p:txBody>
      </p:sp>
      <p:sp>
        <p:nvSpPr>
          <p:cNvPr id="49" name="Text 43"/>
          <p:cNvSpPr/>
          <p:nvPr/>
        </p:nvSpPr>
        <p:spPr>
          <a:xfrm>
            <a:off x="3145536" y="8887968"/>
            <a:ext cx="37764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6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Refine the framework with key stakeholders and conduct bounded pilots.</a:t>
            </a:r>
            <a:endParaRPr lang="en-US" sz="860" dirty="0"/>
          </a:p>
        </p:txBody>
      </p:sp>
      <p:sp>
        <p:nvSpPr>
          <p:cNvPr id="50" name="Shape 44"/>
          <p:cNvSpPr/>
          <p:nvPr/>
        </p:nvSpPr>
        <p:spPr>
          <a:xfrm>
            <a:off x="832104" y="9518904"/>
            <a:ext cx="384048" cy="384048"/>
          </a:xfrm>
          <a:prstGeom prst="ellipse">
            <a:avLst/>
          </a:prstGeom>
          <a:solidFill>
            <a:srgbClr val="00251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1" name="Text 45"/>
          <p:cNvSpPr/>
          <p:nvPr/>
        </p:nvSpPr>
        <p:spPr>
          <a:xfrm>
            <a:off x="832104" y="95189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52" name="Text 46"/>
          <p:cNvSpPr/>
          <p:nvPr/>
        </p:nvSpPr>
        <p:spPr>
          <a:xfrm>
            <a:off x="1408176" y="9528048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50" kern="0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</a:t>
            </a:r>
            <a:endParaRPr lang="en-US" sz="1150" dirty="0"/>
          </a:p>
        </p:txBody>
      </p:sp>
      <p:sp>
        <p:nvSpPr>
          <p:cNvPr id="53" name="Text 47"/>
          <p:cNvSpPr/>
          <p:nvPr/>
        </p:nvSpPr>
        <p:spPr>
          <a:xfrm>
            <a:off x="3145536" y="9491472"/>
            <a:ext cx="37764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6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 the framework for approval and implementation.</a:t>
            </a:r>
            <a:endParaRPr lang="en-US" sz="86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2026-08-03T03:09:10Z</dcterms:created>
  <dcterms:modified xsi:type="dcterms:W3CDTF">2026-08-03T03:09:10Z</dcterms:modified>
</cp:coreProperties>
</file>