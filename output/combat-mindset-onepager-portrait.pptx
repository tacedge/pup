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Lst>
  <p:notesMasterIdLst>
    <p:notesMasterId r:id="rId3"/>
  </p:notesMasterIdLst>
  <p:sldSz cx="7562088" cy="10689336"/>
  <p:notesSz cx="10689336" cy="7562088"/>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notesMaster" Target="notesMasters/notesMaster1.xml"/><Relationship Id="rId4" Type="http://schemas.openxmlformats.org/officeDocument/2006/relationships/presProps" Target="presProps.xml"/><Relationship Id="rId5" Type="http://schemas.openxmlformats.org/officeDocument/2006/relationships/viewProps" Target="viewProps.xml"/><Relationship Id="rId6" Type="http://schemas.openxmlformats.org/officeDocument/2006/relationships/theme" Target="theme/theme1.xml"/><Relationship Id="rId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image" Target="../media/image-1-6.png"/><Relationship Id="rId7" Type="http://schemas.openxmlformats.org/officeDocument/2006/relationships/image" Target="../media/image-1-7.png"/><Relationship Id="rId8" Type="http://schemas.openxmlformats.org/officeDocument/2006/relationships/image" Target="../media/image-1-8.png"/><Relationship Id="rId9" Type="http://schemas.openxmlformats.org/officeDocument/2006/relationships/image" Target="../media/image-1-9.png"/><Relationship Id="rId10" Type="http://schemas.openxmlformats.org/officeDocument/2006/relationships/image" Target="../media/image-1-10.png"/><Relationship Id="rId11" Type="http://schemas.openxmlformats.org/officeDocument/2006/relationships/image" Target="../media/image-1-11.png"/><Relationship Id="rId12" Type="http://schemas.openxmlformats.org/officeDocument/2006/relationships/image" Target="../media/image-1-12.png"/><Relationship Id="rId13" Type="http://schemas.openxmlformats.org/officeDocument/2006/relationships/image" Target="../media/image-1-13.png"/><Relationship Id="rId14" Type="http://schemas.openxmlformats.org/officeDocument/2006/relationships/image" Target="../media/image-1-14.png"/><Relationship Id="rId15" Type="http://schemas.openxmlformats.org/officeDocument/2006/relationships/image" Target="../media/image-1-15.png"/><Relationship Id="rId16" Type="http://schemas.openxmlformats.org/officeDocument/2006/relationships/slideLayout" Target="../slideLayouts/slideLayout1.xml"/><Relationship Id="rId17" Type="http://schemas.openxmlformats.org/officeDocument/2006/relationships/notesSlide" Target="../notesSlides/notesSlide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7562088" cy="164592"/>
          </a:xfrm>
          <a:prstGeom prst="rect">
            <a:avLst/>
          </a:prstGeom>
          <a:solidFill>
            <a:srgbClr val="000000"/>
          </a:solidFill>
          <a:ln/>
        </p:spPr>
      </p:sp>
      <p:sp>
        <p:nvSpPr>
          <p:cNvPr id="3" name="Text 1"/>
          <p:cNvSpPr/>
          <p:nvPr/>
        </p:nvSpPr>
        <p:spPr>
          <a:xfrm>
            <a:off x="0" y="0"/>
            <a:ext cx="7562088" cy="164592"/>
          </a:xfrm>
          <a:prstGeom prst="rect">
            <a:avLst/>
          </a:prstGeom>
          <a:noFill/>
          <a:ln/>
        </p:spPr>
        <p:txBody>
          <a:bodyPr wrap="square" lIns="0" tIns="0" rIns="0" bIns="0" rtlCol="0" anchor="ctr"/>
          <a:lstStyle/>
          <a:p>
            <a:pPr algn="ctr" indent="0" marL="0">
              <a:buNone/>
            </a:pPr>
            <a:r>
              <a:rPr lang="en-US" sz="750" b="1" spc="400" kern="0" dirty="0">
                <a:solidFill>
                  <a:srgbClr val="FFFFFF"/>
                </a:solidFill>
                <a:latin typeface="Arial" pitchFamily="34" charset="0"/>
                <a:ea typeface="Arial" pitchFamily="34" charset="-122"/>
                <a:cs typeface="Arial" pitchFamily="34" charset="-120"/>
              </a:rPr>
              <a:t>UNCLASSIFIED</a:t>
            </a:r>
            <a:endParaRPr lang="en-US" sz="750" dirty="0"/>
          </a:p>
        </p:txBody>
      </p:sp>
      <p:sp>
        <p:nvSpPr>
          <p:cNvPr id="4" name="Shape 2"/>
          <p:cNvSpPr/>
          <p:nvPr/>
        </p:nvSpPr>
        <p:spPr>
          <a:xfrm>
            <a:off x="0" y="10524744"/>
            <a:ext cx="7562088" cy="164592"/>
          </a:xfrm>
          <a:prstGeom prst="rect">
            <a:avLst/>
          </a:prstGeom>
          <a:solidFill>
            <a:srgbClr val="000000"/>
          </a:solidFill>
          <a:ln/>
        </p:spPr>
      </p:sp>
      <p:sp>
        <p:nvSpPr>
          <p:cNvPr id="5" name="Text 3"/>
          <p:cNvSpPr/>
          <p:nvPr/>
        </p:nvSpPr>
        <p:spPr>
          <a:xfrm>
            <a:off x="0" y="10524744"/>
            <a:ext cx="7562088" cy="164592"/>
          </a:xfrm>
          <a:prstGeom prst="rect">
            <a:avLst/>
          </a:prstGeom>
          <a:noFill/>
          <a:ln/>
        </p:spPr>
        <p:txBody>
          <a:bodyPr wrap="square" lIns="0" tIns="0" rIns="0" bIns="0" rtlCol="0" anchor="ctr"/>
          <a:lstStyle/>
          <a:p>
            <a:pPr algn="ctr" indent="0" marL="0">
              <a:buNone/>
            </a:pPr>
            <a:r>
              <a:rPr lang="en-US" sz="750" b="1" spc="400" kern="0" dirty="0">
                <a:solidFill>
                  <a:srgbClr val="FFFFFF"/>
                </a:solidFill>
                <a:latin typeface="Arial" pitchFamily="34" charset="0"/>
                <a:ea typeface="Arial" pitchFamily="34" charset="-122"/>
                <a:cs typeface="Arial" pitchFamily="34" charset="-120"/>
              </a:rPr>
              <a:t>UNCLASSIFIED</a:t>
            </a:r>
            <a:endParaRPr lang="en-US" sz="750" dirty="0"/>
          </a:p>
        </p:txBody>
      </p:sp>
      <p:sp>
        <p:nvSpPr>
          <p:cNvPr id="6" name="Text 4"/>
          <p:cNvSpPr/>
          <p:nvPr/>
        </p:nvSpPr>
        <p:spPr>
          <a:xfrm>
            <a:off x="457200" y="10524744"/>
            <a:ext cx="2377440" cy="164592"/>
          </a:xfrm>
          <a:prstGeom prst="rect">
            <a:avLst/>
          </a:prstGeom>
          <a:noFill/>
          <a:ln/>
        </p:spPr>
        <p:txBody>
          <a:bodyPr wrap="square" lIns="0" tIns="0" rIns="0" bIns="0" rtlCol="0" anchor="ctr"/>
          <a:lstStyle/>
          <a:p>
            <a:pPr algn="l" indent="0" marL="0">
              <a:buNone/>
            </a:pPr>
            <a:r>
              <a:rPr lang="en-US" sz="600" dirty="0">
                <a:solidFill>
                  <a:srgbClr val="CDD2B7"/>
                </a:solidFill>
                <a:latin typeface="Arial" pitchFamily="34" charset="0"/>
                <a:ea typeface="Arial" pitchFamily="34" charset="-122"/>
                <a:cs typeface="Arial" pitchFamily="34" charset="-120"/>
              </a:rPr>
              <a:t>Army Command School  ·  ACS 2026</a:t>
            </a:r>
            <a:endParaRPr lang="en-US" sz="600" dirty="0"/>
          </a:p>
        </p:txBody>
      </p:sp>
      <p:sp>
        <p:nvSpPr>
          <p:cNvPr id="7" name="Text 5"/>
          <p:cNvSpPr/>
          <p:nvPr/>
        </p:nvSpPr>
        <p:spPr>
          <a:xfrm>
            <a:off x="5212080" y="10524744"/>
            <a:ext cx="1892808" cy="164592"/>
          </a:xfrm>
          <a:prstGeom prst="rect">
            <a:avLst/>
          </a:prstGeom>
          <a:noFill/>
          <a:ln/>
        </p:spPr>
        <p:txBody>
          <a:bodyPr wrap="square" lIns="0" tIns="0" rIns="0" bIns="0" rtlCol="0" anchor="ctr"/>
          <a:lstStyle/>
          <a:p>
            <a:pPr algn="r" indent="0" marL="0">
              <a:buNone/>
            </a:pPr>
            <a:r>
              <a:rPr lang="en-US" sz="600" dirty="0">
                <a:solidFill>
                  <a:srgbClr val="CDD2B7"/>
                </a:solidFill>
                <a:latin typeface="Arial" pitchFamily="34" charset="0"/>
                <a:ea typeface="Arial" pitchFamily="34" charset="-122"/>
                <a:cs typeface="Arial" pitchFamily="34" charset="-120"/>
              </a:rPr>
              <a:t>Draft v0.8  ·  July 2026</a:t>
            </a:r>
            <a:endParaRPr lang="en-US" sz="600" dirty="0"/>
          </a:p>
        </p:txBody>
      </p:sp>
      <p:pic>
        <p:nvPicPr>
          <p:cNvPr id="8" name="Image 0" descr="/tmp/claude-0/-home-user-PUP/2d4cec0e-a52e-5368-bb54-803c6f37698d/scratchpad/logo-trimmed.png">    </p:cNvPr>
          <p:cNvPicPr>
            <a:picLocks noChangeAspect="1"/>
          </p:cNvPicPr>
          <p:nvPr/>
        </p:nvPicPr>
        <p:blipFill>
          <a:blip r:embed="rId1"/>
          <a:stretch>
            <a:fillRect/>
          </a:stretch>
        </p:blipFill>
        <p:spPr>
          <a:xfrm>
            <a:off x="457200" y="310896"/>
            <a:ext cx="1005840" cy="243230"/>
          </a:xfrm>
          <a:prstGeom prst="rect">
            <a:avLst/>
          </a:prstGeom>
        </p:spPr>
      </p:pic>
      <p:sp>
        <p:nvSpPr>
          <p:cNvPr id="9" name="Text 6"/>
          <p:cNvSpPr/>
          <p:nvPr/>
        </p:nvSpPr>
        <p:spPr>
          <a:xfrm>
            <a:off x="1691640" y="274320"/>
            <a:ext cx="5413248" cy="256032"/>
          </a:xfrm>
          <a:prstGeom prst="rect">
            <a:avLst/>
          </a:prstGeom>
          <a:noFill/>
          <a:ln/>
        </p:spPr>
        <p:txBody>
          <a:bodyPr wrap="square" lIns="0" tIns="0" rIns="0" bIns="0" rtlCol="0" anchor="ctr"/>
          <a:lstStyle/>
          <a:p>
            <a:pPr algn="l" indent="0" marL="0">
              <a:buNone/>
            </a:pPr>
            <a:r>
              <a:rPr lang="en-US" sz="1550" b="1" dirty="0">
                <a:solidFill>
                  <a:srgbClr val="000000"/>
                </a:solidFill>
                <a:latin typeface="Arial" pitchFamily="34" charset="0"/>
                <a:ea typeface="Arial" pitchFamily="34" charset="-122"/>
                <a:cs typeface="Arial" pitchFamily="34" charset="-120"/>
              </a:rPr>
              <a:t>COMBAT MINDSET — THE WAY FORWARD</a:t>
            </a:r>
            <a:endParaRPr lang="en-US" sz="1550" dirty="0"/>
          </a:p>
        </p:txBody>
      </p:sp>
      <p:sp>
        <p:nvSpPr>
          <p:cNvPr id="10" name="Text 7"/>
          <p:cNvSpPr/>
          <p:nvPr/>
        </p:nvSpPr>
        <p:spPr>
          <a:xfrm>
            <a:off x="1691640" y="530352"/>
            <a:ext cx="5413248" cy="164592"/>
          </a:xfrm>
          <a:prstGeom prst="rect">
            <a:avLst/>
          </a:prstGeom>
          <a:noFill/>
          <a:ln/>
        </p:spPr>
        <p:txBody>
          <a:bodyPr wrap="square" lIns="0" tIns="0" rIns="0" bIns="0" rtlCol="0" anchor="ctr"/>
          <a:lstStyle/>
          <a:p>
            <a:pPr algn="l" indent="0" marL="0">
              <a:buNone/>
            </a:pPr>
            <a:r>
              <a:rPr lang="en-US" sz="800" i="1" dirty="0">
                <a:solidFill>
                  <a:srgbClr val="000000"/>
                </a:solidFill>
                <a:latin typeface="Arial" pitchFamily="34" charset="0"/>
                <a:ea typeface="Arial" pitchFamily="34" charset="-122"/>
                <a:cs typeface="Arial" pitchFamily="34" charset="-120"/>
              </a:rPr>
              <a:t>Defining, developing and assuring the human-performance capability Army requires to remain effective in combat.</a:t>
            </a:r>
            <a:endParaRPr lang="en-US" sz="800" dirty="0"/>
          </a:p>
        </p:txBody>
      </p:sp>
      <p:sp>
        <p:nvSpPr>
          <p:cNvPr id="11" name="Shape 8"/>
          <p:cNvSpPr/>
          <p:nvPr/>
        </p:nvSpPr>
        <p:spPr>
          <a:xfrm>
            <a:off x="457200" y="868680"/>
            <a:ext cx="6647688" cy="1234440"/>
          </a:xfrm>
          <a:prstGeom prst="rect">
            <a:avLst/>
          </a:prstGeom>
          <a:solidFill>
            <a:srgbClr val="000000"/>
          </a:solidFill>
          <a:ln/>
        </p:spPr>
      </p:sp>
      <p:pic>
        <p:nvPicPr>
          <p:cNvPr id="12" name="Image 1" descr="preencoded.png">    </p:cNvPr>
          <p:cNvPicPr>
            <a:picLocks noChangeAspect="1"/>
          </p:cNvPicPr>
          <p:nvPr/>
        </p:nvPicPr>
        <p:blipFill>
          <a:blip r:embed="rId2">
            <a:alphaModFix amt="55000"/>
          </a:blip>
          <a:stretch>
            <a:fillRect/>
          </a:stretch>
        </p:blipFill>
        <p:spPr>
          <a:xfrm>
            <a:off x="6053328" y="1078992"/>
            <a:ext cx="804672" cy="804672"/>
          </a:xfrm>
          <a:prstGeom prst="rect">
            <a:avLst/>
          </a:prstGeom>
        </p:spPr>
      </p:pic>
      <p:sp>
        <p:nvSpPr>
          <p:cNvPr id="13" name="Text 9"/>
          <p:cNvSpPr/>
          <p:nvPr/>
        </p:nvSpPr>
        <p:spPr>
          <a:xfrm>
            <a:off x="713232" y="987552"/>
            <a:ext cx="4114800" cy="164592"/>
          </a:xfrm>
          <a:prstGeom prst="rect">
            <a:avLst/>
          </a:prstGeom>
          <a:noFill/>
          <a:ln/>
        </p:spPr>
        <p:txBody>
          <a:bodyPr wrap="square" lIns="0" tIns="0" rIns="0" bIns="0" rtlCol="0" anchor="ctr"/>
          <a:lstStyle/>
          <a:p>
            <a:pPr indent="0" marL="0">
              <a:buNone/>
            </a:pPr>
            <a:r>
              <a:rPr lang="en-US" sz="850" b="1" spc="300" kern="0" dirty="0">
                <a:solidFill>
                  <a:srgbClr val="CDD2B7"/>
                </a:solidFill>
                <a:latin typeface="Arial" pitchFamily="34" charset="0"/>
                <a:ea typeface="Arial" pitchFamily="34" charset="-122"/>
                <a:cs typeface="Arial" pitchFamily="34" charset="-120"/>
              </a:rPr>
              <a:t>WARFIGHTING IMPERATIVE</a:t>
            </a:r>
            <a:endParaRPr lang="en-US" sz="850" dirty="0"/>
          </a:p>
        </p:txBody>
      </p:sp>
      <p:sp>
        <p:nvSpPr>
          <p:cNvPr id="14" name="Text 10"/>
          <p:cNvSpPr/>
          <p:nvPr/>
        </p:nvSpPr>
        <p:spPr>
          <a:xfrm>
            <a:off x="713232" y="1161288"/>
            <a:ext cx="5120640" cy="384048"/>
          </a:xfrm>
          <a:prstGeom prst="rect">
            <a:avLst/>
          </a:prstGeom>
          <a:noFill/>
          <a:ln/>
        </p:spPr>
        <p:txBody>
          <a:bodyPr wrap="square" lIns="0" tIns="0" rIns="0" bIns="0" rtlCol="0" anchor="ctr"/>
          <a:lstStyle/>
          <a:p>
            <a:pPr algn="l" indent="0" marL="0">
              <a:buNone/>
            </a:pPr>
            <a:r>
              <a:rPr lang="en-US" sz="2100" b="1" dirty="0">
                <a:solidFill>
                  <a:srgbClr val="FFFFFF"/>
                </a:solidFill>
                <a:latin typeface="Arial" pitchFamily="34" charset="0"/>
                <a:ea typeface="Arial" pitchFamily="34" charset="-122"/>
                <a:cs typeface="Arial" pitchFamily="34" charset="-120"/>
              </a:rPr>
              <a:t>REMAIN EFFECTIVE. </a:t>
            </a:r>
            <a:pPr algn="l" indent="0" marL="0">
              <a:buNone/>
            </a:pPr>
            <a:r>
              <a:rPr lang="en-US" sz="2100" b="1" dirty="0">
                <a:solidFill>
                  <a:srgbClr val="C62026"/>
                </a:solidFill>
                <a:latin typeface="Arial" pitchFamily="34" charset="0"/>
                <a:ea typeface="Arial" pitchFamily="34" charset="-122"/>
                <a:cs typeface="Arial" pitchFamily="34" charset="-120"/>
              </a:rPr>
              <a:t>ACT DECISIVELY.</a:t>
            </a:r>
            <a:endParaRPr lang="en-US" sz="2100" dirty="0"/>
          </a:p>
        </p:txBody>
      </p:sp>
      <p:sp>
        <p:nvSpPr>
          <p:cNvPr id="15" name="Text 11"/>
          <p:cNvSpPr/>
          <p:nvPr/>
        </p:nvSpPr>
        <p:spPr>
          <a:xfrm>
            <a:off x="713232" y="1591056"/>
            <a:ext cx="5212080" cy="402336"/>
          </a:xfrm>
          <a:prstGeom prst="rect">
            <a:avLst/>
          </a:prstGeom>
          <a:noFill/>
          <a:ln/>
        </p:spPr>
        <p:txBody>
          <a:bodyPr wrap="square" lIns="0" tIns="0" rIns="0" bIns="0" rtlCol="0" anchor="t"/>
          <a:lstStyle/>
          <a:p>
            <a:pPr algn="l" indent="0" marL="0">
              <a:buNone/>
            </a:pPr>
            <a:r>
              <a:rPr lang="en-US" sz="850" dirty="0">
                <a:solidFill>
                  <a:srgbClr val="FFFFFF"/>
                </a:solidFill>
                <a:latin typeface="Arial" pitchFamily="34" charset="0"/>
                <a:ea typeface="Arial" pitchFamily="34" charset="-122"/>
                <a:cs typeface="Arial" pitchFamily="34" charset="-120"/>
              </a:rPr>
              <a:t>Army requires individuals, teams and leaders who remain effective and act decisively, persistently, adaptively and ethically under the threat, adversity and uncertainty of combat.</a:t>
            </a:r>
            <a:endParaRPr lang="en-US" sz="850" dirty="0"/>
          </a:p>
        </p:txBody>
      </p:sp>
      <p:sp>
        <p:nvSpPr>
          <p:cNvPr id="16" name="Shape 12"/>
          <p:cNvSpPr/>
          <p:nvPr/>
        </p:nvSpPr>
        <p:spPr>
          <a:xfrm>
            <a:off x="457200" y="2267712"/>
            <a:ext cx="1874520" cy="804672"/>
          </a:xfrm>
          <a:prstGeom prst="rect">
            <a:avLst/>
          </a:prstGeom>
          <a:solidFill>
            <a:srgbClr val="C62026"/>
          </a:solidFill>
          <a:ln/>
        </p:spPr>
      </p:sp>
      <p:pic>
        <p:nvPicPr>
          <p:cNvPr id="17" name="Image 2" descr="preencoded.png">    </p:cNvPr>
          <p:cNvPicPr>
            <a:picLocks noChangeAspect="1"/>
          </p:cNvPicPr>
          <p:nvPr/>
        </p:nvPicPr>
        <p:blipFill>
          <a:blip r:embed="rId3"/>
          <a:stretch>
            <a:fillRect/>
          </a:stretch>
        </p:blipFill>
        <p:spPr>
          <a:xfrm>
            <a:off x="603504" y="2395728"/>
            <a:ext cx="310896" cy="310896"/>
          </a:xfrm>
          <a:prstGeom prst="rect">
            <a:avLst/>
          </a:prstGeom>
        </p:spPr>
      </p:pic>
      <p:sp>
        <p:nvSpPr>
          <p:cNvPr id="18" name="Text 13"/>
          <p:cNvSpPr/>
          <p:nvPr/>
        </p:nvSpPr>
        <p:spPr>
          <a:xfrm>
            <a:off x="1005840" y="2359152"/>
            <a:ext cx="1216152" cy="420624"/>
          </a:xfrm>
          <a:prstGeom prst="rect">
            <a:avLst/>
          </a:prstGeom>
          <a:noFill/>
          <a:ln/>
        </p:spPr>
        <p:txBody>
          <a:bodyPr wrap="square" lIns="0" tIns="0" rIns="0" bIns="0" rtlCol="0" anchor="ctr"/>
          <a:lstStyle/>
          <a:p>
            <a:pPr algn="l" indent="0" marL="0">
              <a:buNone/>
            </a:pPr>
            <a:r>
              <a:rPr lang="en-US" sz="1050" b="1" dirty="0">
                <a:solidFill>
                  <a:srgbClr val="FFFFFF"/>
                </a:solidFill>
                <a:latin typeface="Arial" pitchFamily="34" charset="0"/>
                <a:ea typeface="Arial" pitchFamily="34" charset="-122"/>
                <a:cs typeface="Arial" pitchFamily="34" charset="-120"/>
              </a:rPr>
              <a:t>COMBAT MINDSET</a:t>
            </a:r>
            <a:endParaRPr lang="en-US" sz="1050" dirty="0"/>
          </a:p>
        </p:txBody>
      </p:sp>
      <p:sp>
        <p:nvSpPr>
          <p:cNvPr id="19" name="Text 14"/>
          <p:cNvSpPr/>
          <p:nvPr/>
        </p:nvSpPr>
        <p:spPr>
          <a:xfrm>
            <a:off x="603504" y="2798064"/>
            <a:ext cx="1581912" cy="219456"/>
          </a:xfrm>
          <a:prstGeom prst="rect">
            <a:avLst/>
          </a:prstGeom>
          <a:noFill/>
          <a:ln/>
        </p:spPr>
        <p:txBody>
          <a:bodyPr wrap="square" lIns="0" tIns="0" rIns="0" bIns="0" rtlCol="0" anchor="ctr"/>
          <a:lstStyle/>
          <a:p>
            <a:pPr algn="l" indent="0" marL="0">
              <a:buNone/>
            </a:pPr>
            <a:r>
              <a:rPr lang="en-US" sz="750" i="1" dirty="0">
                <a:solidFill>
                  <a:srgbClr val="CDD2B7"/>
                </a:solidFill>
                <a:latin typeface="Arial" pitchFamily="34" charset="0"/>
                <a:ea typeface="Arial" pitchFamily="34" charset="-122"/>
                <a:cs typeface="Arial" pitchFamily="34" charset="-120"/>
              </a:rPr>
              <a:t>Combat-specific expression</a:t>
            </a:r>
            <a:endParaRPr lang="en-US" sz="750" dirty="0"/>
          </a:p>
        </p:txBody>
      </p:sp>
      <p:sp>
        <p:nvSpPr>
          <p:cNvPr id="20" name="Shape 15"/>
          <p:cNvSpPr/>
          <p:nvPr/>
        </p:nvSpPr>
        <p:spPr>
          <a:xfrm>
            <a:off x="2487168" y="2267712"/>
            <a:ext cx="4617720" cy="804672"/>
          </a:xfrm>
          <a:prstGeom prst="rect">
            <a:avLst/>
          </a:prstGeom>
          <a:solidFill>
            <a:srgbClr val="CDD2B7">
              <a:alpha val="28000"/>
            </a:srgbClr>
          </a:solidFill>
          <a:ln/>
        </p:spPr>
      </p:sp>
      <p:sp>
        <p:nvSpPr>
          <p:cNvPr id="21" name="Text 16"/>
          <p:cNvSpPr/>
          <p:nvPr/>
        </p:nvSpPr>
        <p:spPr>
          <a:xfrm>
            <a:off x="2633472" y="2331720"/>
            <a:ext cx="4325112" cy="457200"/>
          </a:xfrm>
          <a:prstGeom prst="rect">
            <a:avLst/>
          </a:prstGeom>
          <a:noFill/>
          <a:ln/>
        </p:spPr>
        <p:txBody>
          <a:bodyPr wrap="square" lIns="0" tIns="0" rIns="0" bIns="0" rtlCol="0" anchor="t"/>
          <a:lstStyle/>
          <a:p>
            <a:pPr algn="l" indent="0" marL="0">
              <a:buNone/>
            </a:pPr>
            <a:r>
              <a:rPr lang="en-US" sz="840" b="1" dirty="0">
                <a:solidFill>
                  <a:srgbClr val="002516"/>
                </a:solidFill>
                <a:latin typeface="Arial" pitchFamily="34" charset="0"/>
                <a:ea typeface="Arial" pitchFamily="34" charset="-122"/>
                <a:cs typeface="Arial" pitchFamily="34" charset="-120"/>
              </a:rPr>
              <a:t>Combat Mindset is the individual and collective readiness and disposition to remain effective and act decisively and ethically under the threat, adversity and uncertainty of combat in order to achieve the mission.</a:t>
            </a:r>
            <a:endParaRPr lang="en-US" sz="840" dirty="0"/>
          </a:p>
        </p:txBody>
      </p:sp>
      <p:sp>
        <p:nvSpPr>
          <p:cNvPr id="22" name="Text 17"/>
          <p:cNvSpPr/>
          <p:nvPr/>
        </p:nvSpPr>
        <p:spPr>
          <a:xfrm>
            <a:off x="2633472" y="2816352"/>
            <a:ext cx="4325112" cy="182880"/>
          </a:xfrm>
          <a:prstGeom prst="rect">
            <a:avLst/>
          </a:prstGeom>
          <a:noFill/>
          <a:ln/>
        </p:spPr>
        <p:txBody>
          <a:bodyPr wrap="square" lIns="0" tIns="0" rIns="0" bIns="0" rtlCol="0" anchor="t"/>
          <a:lstStyle/>
          <a:p>
            <a:pPr algn="l" indent="0" marL="0">
              <a:buNone/>
            </a:pPr>
            <a:r>
              <a:rPr lang="en-US" sz="820" i="1" dirty="0">
                <a:solidFill>
                  <a:srgbClr val="000000"/>
                </a:solidFill>
                <a:latin typeface="Arial" pitchFamily="34" charset="0"/>
                <a:ea typeface="Arial" pitchFamily="34" charset="-122"/>
                <a:cs typeface="Arial" pitchFamily="34" charset="-120"/>
              </a:rPr>
              <a:t>It is the combat-specific expression of Performance Under Pressure.</a:t>
            </a:r>
            <a:endParaRPr lang="en-US" sz="820" dirty="0"/>
          </a:p>
        </p:txBody>
      </p:sp>
      <p:sp>
        <p:nvSpPr>
          <p:cNvPr id="23" name="Shape 18"/>
          <p:cNvSpPr/>
          <p:nvPr/>
        </p:nvSpPr>
        <p:spPr>
          <a:xfrm rot="10800000">
            <a:off x="1321308" y="3145536"/>
            <a:ext cx="146304" cy="109728"/>
          </a:xfrm>
          <a:prstGeom prst="triangle">
            <a:avLst/>
          </a:prstGeom>
          <a:solidFill>
            <a:srgbClr val="002516"/>
          </a:solidFill>
          <a:ln/>
        </p:spPr>
      </p:sp>
      <p:sp>
        <p:nvSpPr>
          <p:cNvPr id="24" name="Text 19"/>
          <p:cNvSpPr/>
          <p:nvPr/>
        </p:nvSpPr>
        <p:spPr>
          <a:xfrm>
            <a:off x="1540764" y="3127248"/>
            <a:ext cx="2926080" cy="146304"/>
          </a:xfrm>
          <a:prstGeom prst="rect">
            <a:avLst/>
          </a:prstGeom>
          <a:noFill/>
          <a:ln/>
        </p:spPr>
        <p:txBody>
          <a:bodyPr wrap="square" lIns="0" tIns="0" rIns="0" bIns="0" rtlCol="0" anchor="ctr"/>
          <a:lstStyle/>
          <a:p>
            <a:pPr algn="l" indent="0" marL="0">
              <a:buNone/>
            </a:pPr>
            <a:r>
              <a:rPr lang="en-US" sz="750" i="1" dirty="0">
                <a:solidFill>
                  <a:srgbClr val="000000"/>
                </a:solidFill>
                <a:latin typeface="Arial" pitchFamily="34" charset="0"/>
                <a:ea typeface="Arial" pitchFamily="34" charset="-122"/>
                <a:cs typeface="Arial" pitchFamily="34" charset="-120"/>
              </a:rPr>
              <a:t>enabled by</a:t>
            </a:r>
            <a:endParaRPr lang="en-US" sz="750" dirty="0"/>
          </a:p>
        </p:txBody>
      </p:sp>
      <p:sp>
        <p:nvSpPr>
          <p:cNvPr id="25" name="Shape 20"/>
          <p:cNvSpPr/>
          <p:nvPr/>
        </p:nvSpPr>
        <p:spPr>
          <a:xfrm>
            <a:off x="457200" y="3346704"/>
            <a:ext cx="1874520" cy="1152144"/>
          </a:xfrm>
          <a:prstGeom prst="rect">
            <a:avLst/>
          </a:prstGeom>
          <a:solidFill>
            <a:srgbClr val="002516"/>
          </a:solidFill>
          <a:ln/>
        </p:spPr>
      </p:sp>
      <p:pic>
        <p:nvPicPr>
          <p:cNvPr id="26" name="Image 3" descr="preencoded.png">    </p:cNvPr>
          <p:cNvPicPr>
            <a:picLocks noChangeAspect="1"/>
          </p:cNvPicPr>
          <p:nvPr/>
        </p:nvPicPr>
        <p:blipFill>
          <a:blip r:embed="rId4"/>
          <a:stretch>
            <a:fillRect/>
          </a:stretch>
        </p:blipFill>
        <p:spPr>
          <a:xfrm>
            <a:off x="603504" y="3474720"/>
            <a:ext cx="310896" cy="310896"/>
          </a:xfrm>
          <a:prstGeom prst="rect">
            <a:avLst/>
          </a:prstGeom>
        </p:spPr>
      </p:pic>
      <p:sp>
        <p:nvSpPr>
          <p:cNvPr id="27" name="Text 21"/>
          <p:cNvSpPr/>
          <p:nvPr/>
        </p:nvSpPr>
        <p:spPr>
          <a:xfrm>
            <a:off x="1005840" y="3438144"/>
            <a:ext cx="1216152" cy="420624"/>
          </a:xfrm>
          <a:prstGeom prst="rect">
            <a:avLst/>
          </a:prstGeom>
          <a:noFill/>
          <a:ln/>
        </p:spPr>
        <p:txBody>
          <a:bodyPr wrap="square" lIns="0" tIns="0" rIns="0" bIns="0" rtlCol="0" anchor="ctr"/>
          <a:lstStyle/>
          <a:p>
            <a:pPr algn="l" indent="0" marL="0">
              <a:buNone/>
            </a:pPr>
            <a:r>
              <a:rPr lang="en-US" sz="1050" b="1" dirty="0">
                <a:solidFill>
                  <a:srgbClr val="FFFFFF"/>
                </a:solidFill>
                <a:latin typeface="Arial" pitchFamily="34" charset="0"/>
                <a:ea typeface="Arial" pitchFamily="34" charset="-122"/>
                <a:cs typeface="Arial" pitchFamily="34" charset="-120"/>
              </a:rPr>
              <a:t>PERFORMANCE UNDER PRESSURE</a:t>
            </a:r>
            <a:endParaRPr lang="en-US" sz="1050" dirty="0"/>
          </a:p>
        </p:txBody>
      </p:sp>
      <p:sp>
        <p:nvSpPr>
          <p:cNvPr id="28" name="Text 22"/>
          <p:cNvSpPr/>
          <p:nvPr/>
        </p:nvSpPr>
        <p:spPr>
          <a:xfrm>
            <a:off x="603504" y="4224528"/>
            <a:ext cx="1581912" cy="219456"/>
          </a:xfrm>
          <a:prstGeom prst="rect">
            <a:avLst/>
          </a:prstGeom>
          <a:noFill/>
          <a:ln/>
        </p:spPr>
        <p:txBody>
          <a:bodyPr wrap="square" lIns="0" tIns="0" rIns="0" bIns="0" rtlCol="0" anchor="ctr"/>
          <a:lstStyle/>
          <a:p>
            <a:pPr algn="l" indent="0" marL="0">
              <a:buNone/>
            </a:pPr>
            <a:r>
              <a:rPr lang="en-US" sz="750" i="1" dirty="0">
                <a:solidFill>
                  <a:srgbClr val="CDD2B7"/>
                </a:solidFill>
                <a:latin typeface="Arial" pitchFamily="34" charset="0"/>
                <a:ea typeface="Arial" pitchFamily="34" charset="-122"/>
                <a:cs typeface="Arial" pitchFamily="34" charset="-120"/>
              </a:rPr>
              <a:t>Enabling human-performance capability</a:t>
            </a:r>
            <a:endParaRPr lang="en-US" sz="750" dirty="0"/>
          </a:p>
        </p:txBody>
      </p:sp>
      <p:sp>
        <p:nvSpPr>
          <p:cNvPr id="29" name="Shape 23"/>
          <p:cNvSpPr/>
          <p:nvPr/>
        </p:nvSpPr>
        <p:spPr>
          <a:xfrm>
            <a:off x="2487168" y="3346704"/>
            <a:ext cx="4617720" cy="1152144"/>
          </a:xfrm>
          <a:prstGeom prst="rect">
            <a:avLst/>
          </a:prstGeom>
          <a:solidFill>
            <a:srgbClr val="CDD2B7">
              <a:alpha val="28000"/>
            </a:srgbClr>
          </a:solidFill>
          <a:ln/>
        </p:spPr>
      </p:sp>
      <p:sp>
        <p:nvSpPr>
          <p:cNvPr id="30" name="Text 24"/>
          <p:cNvSpPr/>
          <p:nvPr/>
        </p:nvSpPr>
        <p:spPr>
          <a:xfrm>
            <a:off x="2633472" y="3419856"/>
            <a:ext cx="4325112" cy="310896"/>
          </a:xfrm>
          <a:prstGeom prst="rect">
            <a:avLst/>
          </a:prstGeom>
          <a:noFill/>
          <a:ln/>
        </p:spPr>
        <p:txBody>
          <a:bodyPr wrap="square" lIns="0" tIns="0" rIns="0" bIns="0" rtlCol="0" anchor="t"/>
          <a:lstStyle/>
          <a:p>
            <a:pPr algn="l" indent="0" marL="0">
              <a:buNone/>
            </a:pPr>
            <a:r>
              <a:rPr lang="en-US" sz="870" b="1" dirty="0">
                <a:solidFill>
                  <a:srgbClr val="002516"/>
                </a:solidFill>
                <a:latin typeface="Arial" pitchFamily="34" charset="0"/>
                <a:ea typeface="Arial" pitchFamily="34" charset="-122"/>
                <a:cs typeface="Arial" pitchFamily="34" charset="-120"/>
              </a:rPr>
              <a:t>Performance Under Pressure is the trainable individual and collective human-performance capability to:</a:t>
            </a:r>
            <a:endParaRPr lang="en-US" sz="870" dirty="0"/>
          </a:p>
        </p:txBody>
      </p:sp>
      <p:sp>
        <p:nvSpPr>
          <p:cNvPr id="31" name="Text 25"/>
          <p:cNvSpPr/>
          <p:nvPr/>
        </p:nvSpPr>
        <p:spPr>
          <a:xfrm>
            <a:off x="2633472" y="3767328"/>
            <a:ext cx="2286000" cy="182880"/>
          </a:xfrm>
          <a:prstGeom prst="rect">
            <a:avLst/>
          </a:prstGeom>
          <a:noFill/>
          <a:ln/>
        </p:spPr>
        <p:txBody>
          <a:bodyPr wrap="square" lIns="0" tIns="0" rIns="0" bIns="0" rtlCol="0" anchor="ctr"/>
          <a:lstStyle/>
          <a:p>
            <a:pPr algn="l" indent="0" marL="0">
              <a:buNone/>
            </a:pPr>
            <a:r>
              <a:rPr lang="en-US" sz="820" b="1" dirty="0">
                <a:solidFill>
                  <a:srgbClr val="3A4B00"/>
                </a:solidFill>
                <a:latin typeface="Arial" pitchFamily="34" charset="0"/>
                <a:ea typeface="Arial" pitchFamily="34" charset="-122"/>
                <a:cs typeface="Arial" pitchFamily="34" charset="-120"/>
              </a:rPr>
              <a:t>✓ </a:t>
            </a:r>
            <a:pPr algn="l" indent="0" marL="0">
              <a:buNone/>
            </a:pPr>
            <a:r>
              <a:rPr lang="en-US" sz="820" dirty="0">
                <a:solidFill>
                  <a:srgbClr val="000000"/>
                </a:solidFill>
                <a:latin typeface="Arial" pitchFamily="34" charset="0"/>
                <a:ea typeface="Arial" pitchFamily="34" charset="-122"/>
                <a:cs typeface="Arial" pitchFamily="34" charset="-120"/>
              </a:rPr>
              <a:t>Prepare for pressure</a:t>
            </a:r>
            <a:endParaRPr lang="en-US" sz="820" dirty="0"/>
          </a:p>
        </p:txBody>
      </p:sp>
      <p:sp>
        <p:nvSpPr>
          <p:cNvPr id="32" name="Text 26"/>
          <p:cNvSpPr/>
          <p:nvPr/>
        </p:nvSpPr>
        <p:spPr>
          <a:xfrm>
            <a:off x="4965192" y="3767328"/>
            <a:ext cx="2286000" cy="182880"/>
          </a:xfrm>
          <a:prstGeom prst="rect">
            <a:avLst/>
          </a:prstGeom>
          <a:noFill/>
          <a:ln/>
        </p:spPr>
        <p:txBody>
          <a:bodyPr wrap="square" lIns="0" tIns="0" rIns="0" bIns="0" rtlCol="0" anchor="ctr"/>
          <a:lstStyle/>
          <a:p>
            <a:pPr algn="l" indent="0" marL="0">
              <a:buNone/>
            </a:pPr>
            <a:r>
              <a:rPr lang="en-US" sz="820" b="1" dirty="0">
                <a:solidFill>
                  <a:srgbClr val="3A4B00"/>
                </a:solidFill>
                <a:latin typeface="Arial" pitchFamily="34" charset="0"/>
                <a:ea typeface="Arial" pitchFamily="34" charset="-122"/>
                <a:cs typeface="Arial" pitchFamily="34" charset="-120"/>
              </a:rPr>
              <a:t>✓ </a:t>
            </a:r>
            <a:pPr algn="l" indent="0" marL="0">
              <a:buNone/>
            </a:pPr>
            <a:r>
              <a:rPr lang="en-US" sz="820" dirty="0">
                <a:solidFill>
                  <a:srgbClr val="000000"/>
                </a:solidFill>
                <a:latin typeface="Arial" pitchFamily="34" charset="0"/>
                <a:ea typeface="Arial" pitchFamily="34" charset="-122"/>
                <a:cs typeface="Arial" pitchFamily="34" charset="-120"/>
              </a:rPr>
              <a:t>Adapt within pressure</a:t>
            </a:r>
            <a:endParaRPr lang="en-US" sz="820" dirty="0"/>
          </a:p>
        </p:txBody>
      </p:sp>
      <p:sp>
        <p:nvSpPr>
          <p:cNvPr id="33" name="Text 27"/>
          <p:cNvSpPr/>
          <p:nvPr/>
        </p:nvSpPr>
        <p:spPr>
          <a:xfrm>
            <a:off x="2633472" y="3950208"/>
            <a:ext cx="2286000" cy="182880"/>
          </a:xfrm>
          <a:prstGeom prst="rect">
            <a:avLst/>
          </a:prstGeom>
          <a:noFill/>
          <a:ln/>
        </p:spPr>
        <p:txBody>
          <a:bodyPr wrap="square" lIns="0" tIns="0" rIns="0" bIns="0" rtlCol="0" anchor="ctr"/>
          <a:lstStyle/>
          <a:p>
            <a:pPr algn="l" indent="0" marL="0">
              <a:buNone/>
            </a:pPr>
            <a:r>
              <a:rPr lang="en-US" sz="820" b="1" dirty="0">
                <a:solidFill>
                  <a:srgbClr val="3A4B00"/>
                </a:solidFill>
                <a:latin typeface="Arial" pitchFamily="34" charset="0"/>
                <a:ea typeface="Arial" pitchFamily="34" charset="-122"/>
                <a:cs typeface="Arial" pitchFamily="34" charset="-120"/>
              </a:rPr>
              <a:t>✓ </a:t>
            </a:r>
            <a:pPr algn="l" indent="0" marL="0">
              <a:buNone/>
            </a:pPr>
            <a:r>
              <a:rPr lang="en-US" sz="820" dirty="0">
                <a:solidFill>
                  <a:srgbClr val="000000"/>
                </a:solidFill>
                <a:latin typeface="Arial" pitchFamily="34" charset="0"/>
                <a:ea typeface="Arial" pitchFamily="34" charset="-122"/>
                <a:cs typeface="Arial" pitchFamily="34" charset="-120"/>
              </a:rPr>
              <a:t>Maintain performance through pressure</a:t>
            </a:r>
            <a:endParaRPr lang="en-US" sz="820" dirty="0"/>
          </a:p>
        </p:txBody>
      </p:sp>
      <p:sp>
        <p:nvSpPr>
          <p:cNvPr id="34" name="Text 28"/>
          <p:cNvSpPr/>
          <p:nvPr/>
        </p:nvSpPr>
        <p:spPr>
          <a:xfrm>
            <a:off x="4965192" y="3950208"/>
            <a:ext cx="2286000" cy="182880"/>
          </a:xfrm>
          <a:prstGeom prst="rect">
            <a:avLst/>
          </a:prstGeom>
          <a:noFill/>
          <a:ln/>
        </p:spPr>
        <p:txBody>
          <a:bodyPr wrap="square" lIns="0" tIns="0" rIns="0" bIns="0" rtlCol="0" anchor="ctr"/>
          <a:lstStyle/>
          <a:p>
            <a:pPr algn="l" indent="0" marL="0">
              <a:buNone/>
            </a:pPr>
            <a:r>
              <a:rPr lang="en-US" sz="820" b="1" dirty="0">
                <a:solidFill>
                  <a:srgbClr val="3A4B00"/>
                </a:solidFill>
                <a:latin typeface="Arial" pitchFamily="34" charset="0"/>
                <a:ea typeface="Arial" pitchFamily="34" charset="-122"/>
                <a:cs typeface="Arial" pitchFamily="34" charset="-120"/>
              </a:rPr>
              <a:t>✓ </a:t>
            </a:r>
            <a:pPr algn="l" indent="0" marL="0">
              <a:buNone/>
            </a:pPr>
            <a:r>
              <a:rPr lang="en-US" sz="820" dirty="0">
                <a:solidFill>
                  <a:srgbClr val="000000"/>
                </a:solidFill>
                <a:latin typeface="Arial" pitchFamily="34" charset="0"/>
                <a:ea typeface="Arial" pitchFamily="34" charset="-122"/>
                <a:cs typeface="Arial" pitchFamily="34" charset="-120"/>
              </a:rPr>
              <a:t>Recover from pressure</a:t>
            </a:r>
            <a:endParaRPr lang="en-US" sz="820" dirty="0"/>
          </a:p>
        </p:txBody>
      </p:sp>
      <p:sp>
        <p:nvSpPr>
          <p:cNvPr id="35" name="Text 29"/>
          <p:cNvSpPr/>
          <p:nvPr/>
        </p:nvSpPr>
        <p:spPr>
          <a:xfrm>
            <a:off x="2633472" y="4187952"/>
            <a:ext cx="4325112" cy="274320"/>
          </a:xfrm>
          <a:prstGeom prst="rect">
            <a:avLst/>
          </a:prstGeom>
          <a:noFill/>
          <a:ln/>
        </p:spPr>
        <p:txBody>
          <a:bodyPr wrap="square" lIns="0" tIns="0" rIns="0" bIns="0" rtlCol="0" anchor="t"/>
          <a:lstStyle/>
          <a:p>
            <a:pPr algn="l" indent="0" marL="0">
              <a:buNone/>
            </a:pPr>
            <a:r>
              <a:rPr lang="en-US" sz="750" i="1" dirty="0">
                <a:solidFill>
                  <a:srgbClr val="000000"/>
                </a:solidFill>
                <a:latin typeface="Arial" pitchFamily="34" charset="0"/>
                <a:ea typeface="Arial" pitchFamily="34" charset="-122"/>
                <a:cs typeface="Arial" pitchFamily="34" charset="-120"/>
              </a:rPr>
              <a:t>Applicable across combat, command, crisis response, training, garrison leadership and high-risk technical activity.</a:t>
            </a:r>
            <a:endParaRPr lang="en-US" sz="750" dirty="0"/>
          </a:p>
        </p:txBody>
      </p:sp>
      <p:sp>
        <p:nvSpPr>
          <p:cNvPr id="36" name="Shape 30"/>
          <p:cNvSpPr/>
          <p:nvPr/>
        </p:nvSpPr>
        <p:spPr>
          <a:xfrm rot="10800000">
            <a:off x="1321308" y="4572000"/>
            <a:ext cx="146304" cy="109728"/>
          </a:xfrm>
          <a:prstGeom prst="triangle">
            <a:avLst/>
          </a:prstGeom>
          <a:solidFill>
            <a:srgbClr val="3A4B00"/>
          </a:solidFill>
          <a:ln/>
        </p:spPr>
      </p:sp>
      <p:sp>
        <p:nvSpPr>
          <p:cNvPr id="37" name="Text 31"/>
          <p:cNvSpPr/>
          <p:nvPr/>
        </p:nvSpPr>
        <p:spPr>
          <a:xfrm>
            <a:off x="1540764" y="4553712"/>
            <a:ext cx="2926080" cy="146304"/>
          </a:xfrm>
          <a:prstGeom prst="rect">
            <a:avLst/>
          </a:prstGeom>
          <a:noFill/>
          <a:ln/>
        </p:spPr>
        <p:txBody>
          <a:bodyPr wrap="square" lIns="0" tIns="0" rIns="0" bIns="0" rtlCol="0" anchor="ctr"/>
          <a:lstStyle/>
          <a:p>
            <a:pPr algn="l" indent="0" marL="0">
              <a:buNone/>
            </a:pPr>
            <a:r>
              <a:rPr lang="en-US" sz="750" i="1" dirty="0">
                <a:solidFill>
                  <a:srgbClr val="000000"/>
                </a:solidFill>
                <a:latin typeface="Arial" pitchFamily="34" charset="0"/>
                <a:ea typeface="Arial" pitchFamily="34" charset="-122"/>
                <a:cs typeface="Arial" pitchFamily="34" charset="-120"/>
              </a:rPr>
              <a:t>developed and organised through</a:t>
            </a:r>
            <a:endParaRPr lang="en-US" sz="750" dirty="0"/>
          </a:p>
        </p:txBody>
      </p:sp>
      <p:sp>
        <p:nvSpPr>
          <p:cNvPr id="38" name="Shape 32"/>
          <p:cNvSpPr/>
          <p:nvPr/>
        </p:nvSpPr>
        <p:spPr>
          <a:xfrm>
            <a:off x="457200" y="4773168"/>
            <a:ext cx="1874520" cy="1078992"/>
          </a:xfrm>
          <a:prstGeom prst="rect">
            <a:avLst/>
          </a:prstGeom>
          <a:solidFill>
            <a:srgbClr val="3A4B00"/>
          </a:solidFill>
          <a:ln/>
        </p:spPr>
      </p:sp>
      <p:pic>
        <p:nvPicPr>
          <p:cNvPr id="39" name="Image 4" descr="preencoded.png">    </p:cNvPr>
          <p:cNvPicPr>
            <a:picLocks noChangeAspect="1"/>
          </p:cNvPicPr>
          <p:nvPr/>
        </p:nvPicPr>
        <p:blipFill>
          <a:blip r:embed="rId5"/>
          <a:stretch>
            <a:fillRect/>
          </a:stretch>
        </p:blipFill>
        <p:spPr>
          <a:xfrm>
            <a:off x="603504" y="4901184"/>
            <a:ext cx="310896" cy="310896"/>
          </a:xfrm>
          <a:prstGeom prst="rect">
            <a:avLst/>
          </a:prstGeom>
        </p:spPr>
      </p:pic>
      <p:sp>
        <p:nvSpPr>
          <p:cNvPr id="40" name="Text 33"/>
          <p:cNvSpPr/>
          <p:nvPr/>
        </p:nvSpPr>
        <p:spPr>
          <a:xfrm>
            <a:off x="1005840" y="4864608"/>
            <a:ext cx="1216152" cy="420624"/>
          </a:xfrm>
          <a:prstGeom prst="rect">
            <a:avLst/>
          </a:prstGeom>
          <a:noFill/>
          <a:ln/>
        </p:spPr>
        <p:txBody>
          <a:bodyPr wrap="square" lIns="0" tIns="0" rIns="0" bIns="0" rtlCol="0" anchor="ctr"/>
          <a:lstStyle/>
          <a:p>
            <a:pPr algn="l" indent="0" marL="0">
              <a:buNone/>
            </a:pPr>
            <a:r>
              <a:rPr lang="en-US" sz="1050" b="1" dirty="0">
                <a:solidFill>
                  <a:srgbClr val="FFFFFF"/>
                </a:solidFill>
                <a:latin typeface="Arial" pitchFamily="34" charset="0"/>
                <a:ea typeface="Arial" pitchFamily="34" charset="-122"/>
                <a:cs typeface="Arial" pitchFamily="34" charset="-120"/>
              </a:rPr>
              <a:t>ARMY COMBAT MINDSET FRAMEWORK</a:t>
            </a:r>
            <a:endParaRPr lang="en-US" sz="1050" dirty="0"/>
          </a:p>
        </p:txBody>
      </p:sp>
      <p:sp>
        <p:nvSpPr>
          <p:cNvPr id="41" name="Text 34"/>
          <p:cNvSpPr/>
          <p:nvPr/>
        </p:nvSpPr>
        <p:spPr>
          <a:xfrm>
            <a:off x="603504" y="5577840"/>
            <a:ext cx="1581912" cy="219456"/>
          </a:xfrm>
          <a:prstGeom prst="rect">
            <a:avLst/>
          </a:prstGeom>
          <a:noFill/>
          <a:ln/>
        </p:spPr>
        <p:txBody>
          <a:bodyPr wrap="square" lIns="0" tIns="0" rIns="0" bIns="0" rtlCol="0" anchor="ctr"/>
          <a:lstStyle/>
          <a:p>
            <a:pPr algn="l" indent="0" marL="0">
              <a:buNone/>
            </a:pPr>
            <a:r>
              <a:rPr lang="en-US" sz="750" i="1" dirty="0">
                <a:solidFill>
                  <a:srgbClr val="CDD2B7"/>
                </a:solidFill>
                <a:latin typeface="Arial" pitchFamily="34" charset="0"/>
                <a:ea typeface="Arial" pitchFamily="34" charset="-122"/>
                <a:cs typeface="Arial" pitchFamily="34" charset="-120"/>
              </a:rPr>
              <a:t>Organising model</a:t>
            </a:r>
            <a:endParaRPr lang="en-US" sz="750" dirty="0"/>
          </a:p>
        </p:txBody>
      </p:sp>
      <p:sp>
        <p:nvSpPr>
          <p:cNvPr id="42" name="Shape 35"/>
          <p:cNvSpPr/>
          <p:nvPr/>
        </p:nvSpPr>
        <p:spPr>
          <a:xfrm>
            <a:off x="2487168" y="4773168"/>
            <a:ext cx="4617720" cy="1078992"/>
          </a:xfrm>
          <a:prstGeom prst="rect">
            <a:avLst/>
          </a:prstGeom>
          <a:solidFill>
            <a:srgbClr val="CDD2B7">
              <a:alpha val="28000"/>
            </a:srgbClr>
          </a:solidFill>
          <a:ln/>
        </p:spPr>
      </p:sp>
      <p:sp>
        <p:nvSpPr>
          <p:cNvPr id="43" name="Text 36"/>
          <p:cNvSpPr/>
          <p:nvPr/>
        </p:nvSpPr>
        <p:spPr>
          <a:xfrm>
            <a:off x="2633472" y="4846320"/>
            <a:ext cx="4325112" cy="475488"/>
          </a:xfrm>
          <a:prstGeom prst="rect">
            <a:avLst/>
          </a:prstGeom>
          <a:noFill/>
          <a:ln/>
        </p:spPr>
        <p:txBody>
          <a:bodyPr wrap="square" lIns="0" tIns="0" rIns="0" bIns="0" rtlCol="0" anchor="t"/>
          <a:lstStyle/>
          <a:p>
            <a:pPr algn="l" indent="0" marL="0">
              <a:buNone/>
            </a:pPr>
            <a:r>
              <a:rPr lang="en-US" sz="870" b="1" dirty="0">
                <a:solidFill>
                  <a:srgbClr val="002516"/>
                </a:solidFill>
                <a:latin typeface="Arial" pitchFamily="34" charset="0"/>
                <a:ea typeface="Arial" pitchFamily="34" charset="-122"/>
                <a:cs typeface="Arial" pitchFamily="34" charset="-120"/>
              </a:rPr>
              <a:t>The Army Combat Mindset Framework is the organising model through which Army defines, develops, integrates and assures the capabilities, products and governance arrangements that enable Combat Mindset.</a:t>
            </a:r>
            <a:endParaRPr lang="en-US" sz="870" dirty="0"/>
          </a:p>
        </p:txBody>
      </p:sp>
      <p:sp>
        <p:nvSpPr>
          <p:cNvPr id="44" name="Text 37"/>
          <p:cNvSpPr/>
          <p:nvPr/>
        </p:nvSpPr>
        <p:spPr>
          <a:xfrm>
            <a:off x="2633472" y="5340096"/>
            <a:ext cx="1097280" cy="146304"/>
          </a:xfrm>
          <a:prstGeom prst="rect">
            <a:avLst/>
          </a:prstGeom>
          <a:noFill/>
          <a:ln/>
        </p:spPr>
        <p:txBody>
          <a:bodyPr wrap="square" lIns="0" tIns="0" rIns="0" bIns="0" rtlCol="0" anchor="ctr"/>
          <a:lstStyle/>
          <a:p>
            <a:pPr algn="l" indent="0" marL="0">
              <a:buNone/>
            </a:pPr>
            <a:r>
              <a:rPr lang="en-US" sz="760" i="1" dirty="0">
                <a:solidFill>
                  <a:srgbClr val="000000"/>
                </a:solidFill>
                <a:latin typeface="Arial" pitchFamily="34" charset="0"/>
                <a:ea typeface="Arial" pitchFamily="34" charset="-122"/>
                <a:cs typeface="Arial" pitchFamily="34" charset="-120"/>
              </a:rPr>
              <a:t>It organises:</a:t>
            </a:r>
            <a:endParaRPr lang="en-US" sz="760" dirty="0"/>
          </a:p>
        </p:txBody>
      </p:sp>
      <p:sp>
        <p:nvSpPr>
          <p:cNvPr id="45" name="Text 38"/>
          <p:cNvSpPr/>
          <p:nvPr/>
        </p:nvSpPr>
        <p:spPr>
          <a:xfrm>
            <a:off x="2633472" y="5504688"/>
            <a:ext cx="1554480" cy="310896"/>
          </a:xfrm>
          <a:prstGeom prst="rect">
            <a:avLst/>
          </a:prstGeom>
          <a:noFill/>
          <a:ln/>
        </p:spPr>
        <p:txBody>
          <a:bodyPr wrap="square" lIns="0" tIns="0" rIns="0" bIns="0" rtlCol="0" anchor="t"/>
          <a:lstStyle/>
          <a:p>
            <a:pPr algn="l" indent="0" marL="0">
              <a:buNone/>
            </a:pPr>
            <a:r>
              <a:rPr lang="en-US" sz="720" dirty="0">
                <a:solidFill>
                  <a:srgbClr val="000000"/>
                </a:solidFill>
                <a:latin typeface="Arial" pitchFamily="34" charset="0"/>
                <a:ea typeface="Arial" pitchFamily="34" charset="-122"/>
                <a:cs typeface="Arial" pitchFamily="34" charset="-120"/>
              </a:rPr>
              <a:t>·  Doctrinal definitions</a:t>
            </a:r>
            <a:endParaRPr lang="en-US" sz="720" dirty="0"/>
          </a:p>
          <a:p>
            <a:pPr algn="l" indent="0" marL="0">
              <a:buNone/>
            </a:pPr>
            <a:r>
              <a:rPr lang="en-US" sz="720" dirty="0">
                <a:solidFill>
                  <a:srgbClr val="000000"/>
                </a:solidFill>
                <a:latin typeface="Arial" pitchFamily="34" charset="0"/>
                <a:ea typeface="Arial" pitchFamily="34" charset="-122"/>
                <a:cs typeface="Arial" pitchFamily="34" charset="-120"/>
              </a:rPr>
              <a:t>·  Desired outcomes</a:t>
            </a:r>
            <a:endParaRPr lang="en-US" sz="720" dirty="0"/>
          </a:p>
          <a:p>
            <a:pPr algn="l" indent="0" marL="0">
              <a:buNone/>
            </a:pPr>
            <a:r>
              <a:rPr lang="en-US" sz="720" dirty="0">
                <a:solidFill>
                  <a:srgbClr val="000000"/>
                </a:solidFill>
                <a:latin typeface="Arial" pitchFamily="34" charset="0"/>
                <a:ea typeface="Arial" pitchFamily="34" charset="-122"/>
                <a:cs typeface="Arial" pitchFamily="34" charset="-120"/>
              </a:rPr>
              <a:t>·  Provisional pillars</a:t>
            </a:r>
            <a:endParaRPr lang="en-US" sz="720" dirty="0"/>
          </a:p>
        </p:txBody>
      </p:sp>
      <p:sp>
        <p:nvSpPr>
          <p:cNvPr id="46" name="Text 39"/>
          <p:cNvSpPr/>
          <p:nvPr/>
        </p:nvSpPr>
        <p:spPr>
          <a:xfrm>
            <a:off x="4206240" y="5504688"/>
            <a:ext cx="1554480" cy="310896"/>
          </a:xfrm>
          <a:prstGeom prst="rect">
            <a:avLst/>
          </a:prstGeom>
          <a:noFill/>
          <a:ln/>
        </p:spPr>
        <p:txBody>
          <a:bodyPr wrap="square" lIns="0" tIns="0" rIns="0" bIns="0" rtlCol="0" anchor="t"/>
          <a:lstStyle/>
          <a:p>
            <a:pPr algn="l" indent="0" marL="0">
              <a:buNone/>
            </a:pPr>
            <a:r>
              <a:rPr lang="en-US" sz="720" dirty="0">
                <a:solidFill>
                  <a:srgbClr val="000000"/>
                </a:solidFill>
                <a:latin typeface="Arial" pitchFamily="34" charset="0"/>
                <a:ea typeface="Arial" pitchFamily="34" charset="-122"/>
                <a:cs typeface="Arial" pitchFamily="34" charset="-120"/>
              </a:rPr>
              <a:t>·  Developmental progression</a:t>
            </a:r>
            <a:endParaRPr lang="en-US" sz="720" dirty="0"/>
          </a:p>
          <a:p>
            <a:pPr algn="l" indent="0" marL="0">
              <a:buNone/>
            </a:pPr>
            <a:r>
              <a:rPr lang="en-US" sz="720" dirty="0">
                <a:solidFill>
                  <a:srgbClr val="000000"/>
                </a:solidFill>
                <a:latin typeface="Arial" pitchFamily="34" charset="0"/>
                <a:ea typeface="Arial" pitchFamily="34" charset="-122"/>
                <a:cs typeface="Arial" pitchFamily="34" charset="-120"/>
              </a:rPr>
              <a:t>·  Products and methods</a:t>
            </a:r>
            <a:endParaRPr lang="en-US" sz="720" dirty="0"/>
          </a:p>
          <a:p>
            <a:pPr algn="l" indent="0" marL="0">
              <a:buNone/>
            </a:pPr>
            <a:r>
              <a:rPr lang="en-US" sz="720" dirty="0">
                <a:solidFill>
                  <a:srgbClr val="000000"/>
                </a:solidFill>
                <a:latin typeface="Arial" pitchFamily="34" charset="0"/>
                <a:ea typeface="Arial" pitchFamily="34" charset="-122"/>
                <a:cs typeface="Arial" pitchFamily="34" charset="-120"/>
              </a:rPr>
              <a:t>·  Delivery responsibilities</a:t>
            </a:r>
            <a:endParaRPr lang="en-US" sz="720" dirty="0"/>
          </a:p>
        </p:txBody>
      </p:sp>
      <p:sp>
        <p:nvSpPr>
          <p:cNvPr id="47" name="Text 40"/>
          <p:cNvSpPr/>
          <p:nvPr/>
        </p:nvSpPr>
        <p:spPr>
          <a:xfrm>
            <a:off x="5779008" y="5504688"/>
            <a:ext cx="1554480" cy="310896"/>
          </a:xfrm>
          <a:prstGeom prst="rect">
            <a:avLst/>
          </a:prstGeom>
          <a:noFill/>
          <a:ln/>
        </p:spPr>
        <p:txBody>
          <a:bodyPr wrap="square" lIns="0" tIns="0" rIns="0" bIns="0" rtlCol="0" anchor="t"/>
          <a:lstStyle/>
          <a:p>
            <a:pPr algn="l" indent="0" marL="0">
              <a:buNone/>
            </a:pPr>
            <a:r>
              <a:rPr lang="en-US" sz="720" dirty="0">
                <a:solidFill>
                  <a:srgbClr val="000000"/>
                </a:solidFill>
                <a:latin typeface="Arial" pitchFamily="34" charset="0"/>
                <a:ea typeface="Arial" pitchFamily="34" charset="-122"/>
                <a:cs typeface="Arial" pitchFamily="34" charset="-120"/>
              </a:rPr>
              <a:t>·  Governance</a:t>
            </a:r>
            <a:endParaRPr lang="en-US" sz="720" dirty="0"/>
          </a:p>
          <a:p>
            <a:pPr algn="l" indent="0" marL="0">
              <a:buNone/>
            </a:pPr>
            <a:r>
              <a:rPr lang="en-US" sz="720" dirty="0">
                <a:solidFill>
                  <a:srgbClr val="000000"/>
                </a:solidFill>
                <a:latin typeface="Arial" pitchFamily="34" charset="0"/>
                <a:ea typeface="Arial" pitchFamily="34" charset="-122"/>
                <a:cs typeface="Arial" pitchFamily="34" charset="-120"/>
              </a:rPr>
              <a:t>·  Evidence</a:t>
            </a:r>
            <a:endParaRPr lang="en-US" sz="720" dirty="0"/>
          </a:p>
          <a:p>
            <a:pPr algn="l" indent="0" marL="0">
              <a:buNone/>
            </a:pPr>
            <a:r>
              <a:rPr lang="en-US" sz="720" dirty="0">
                <a:solidFill>
                  <a:srgbClr val="000000"/>
                </a:solidFill>
                <a:latin typeface="Arial" pitchFamily="34" charset="0"/>
                <a:ea typeface="Arial" pitchFamily="34" charset="-122"/>
                <a:cs typeface="Arial" pitchFamily="34" charset="-120"/>
              </a:rPr>
              <a:t>·  Assurance</a:t>
            </a:r>
            <a:endParaRPr lang="en-US" sz="720" dirty="0"/>
          </a:p>
        </p:txBody>
      </p:sp>
      <p:sp>
        <p:nvSpPr>
          <p:cNvPr id="48" name="Shape 41"/>
          <p:cNvSpPr/>
          <p:nvPr/>
        </p:nvSpPr>
        <p:spPr>
          <a:xfrm rot="10800000">
            <a:off x="1321308" y="5961888"/>
            <a:ext cx="146304" cy="109728"/>
          </a:xfrm>
          <a:prstGeom prst="triangle">
            <a:avLst/>
          </a:prstGeom>
          <a:solidFill>
            <a:srgbClr val="002516"/>
          </a:solidFill>
          <a:ln/>
        </p:spPr>
      </p:sp>
      <p:sp>
        <p:nvSpPr>
          <p:cNvPr id="49" name="Text 42"/>
          <p:cNvSpPr/>
          <p:nvPr/>
        </p:nvSpPr>
        <p:spPr>
          <a:xfrm>
            <a:off x="1540764" y="5943600"/>
            <a:ext cx="2926080" cy="146304"/>
          </a:xfrm>
          <a:prstGeom prst="rect">
            <a:avLst/>
          </a:prstGeom>
          <a:noFill/>
          <a:ln/>
        </p:spPr>
        <p:txBody>
          <a:bodyPr wrap="square" lIns="0" tIns="0" rIns="0" bIns="0" rtlCol="0" anchor="ctr"/>
          <a:lstStyle/>
          <a:p>
            <a:pPr algn="l" indent="0" marL="0">
              <a:buNone/>
            </a:pPr>
            <a:r>
              <a:rPr lang="en-US" sz="750" i="1" dirty="0">
                <a:solidFill>
                  <a:srgbClr val="000000"/>
                </a:solidFill>
                <a:latin typeface="Arial" pitchFamily="34" charset="0"/>
                <a:ea typeface="Arial" pitchFamily="34" charset="-122"/>
                <a:cs typeface="Arial" pitchFamily="34" charset="-120"/>
              </a:rPr>
              <a:t>delivered through</a:t>
            </a:r>
            <a:endParaRPr lang="en-US" sz="750" dirty="0"/>
          </a:p>
        </p:txBody>
      </p:sp>
      <p:sp>
        <p:nvSpPr>
          <p:cNvPr id="50" name="Shape 43"/>
          <p:cNvSpPr/>
          <p:nvPr/>
        </p:nvSpPr>
        <p:spPr>
          <a:xfrm>
            <a:off x="457200" y="6163056"/>
            <a:ext cx="6647688" cy="1133856"/>
          </a:xfrm>
          <a:prstGeom prst="rect">
            <a:avLst/>
          </a:prstGeom>
          <a:solidFill>
            <a:srgbClr val="CDD2B7">
              <a:alpha val="28000"/>
            </a:srgbClr>
          </a:solidFill>
          <a:ln/>
        </p:spPr>
      </p:sp>
      <p:sp>
        <p:nvSpPr>
          <p:cNvPr id="51" name="Text 44"/>
          <p:cNvSpPr/>
          <p:nvPr/>
        </p:nvSpPr>
        <p:spPr>
          <a:xfrm>
            <a:off x="457200" y="6208776"/>
            <a:ext cx="6647688" cy="164592"/>
          </a:xfrm>
          <a:prstGeom prst="rect">
            <a:avLst/>
          </a:prstGeom>
          <a:noFill/>
          <a:ln/>
        </p:spPr>
        <p:txBody>
          <a:bodyPr wrap="square" lIns="0" tIns="0" rIns="0" bIns="0" rtlCol="0" anchor="ctr"/>
          <a:lstStyle/>
          <a:p>
            <a:pPr algn="ctr" indent="0" marL="0">
              <a:buNone/>
            </a:pPr>
            <a:r>
              <a:rPr lang="en-US" sz="1000" b="1" spc="200" kern="0" dirty="0">
                <a:solidFill>
                  <a:srgbClr val="002516"/>
                </a:solidFill>
                <a:latin typeface="Arial" pitchFamily="34" charset="0"/>
                <a:ea typeface="Arial" pitchFamily="34" charset="-122"/>
                <a:cs typeface="Arial" pitchFamily="34" charset="-120"/>
              </a:rPr>
              <a:t>PROVISIONAL CAPABILITY PILLARS</a:t>
            </a:r>
            <a:endParaRPr lang="en-US" sz="1000" dirty="0"/>
          </a:p>
        </p:txBody>
      </p:sp>
      <p:sp>
        <p:nvSpPr>
          <p:cNvPr id="52" name="Text 45"/>
          <p:cNvSpPr/>
          <p:nvPr/>
        </p:nvSpPr>
        <p:spPr>
          <a:xfrm>
            <a:off x="457200" y="6364224"/>
            <a:ext cx="6647688" cy="118872"/>
          </a:xfrm>
          <a:prstGeom prst="rect">
            <a:avLst/>
          </a:prstGeom>
          <a:noFill/>
          <a:ln/>
        </p:spPr>
        <p:txBody>
          <a:bodyPr wrap="square" lIns="0" tIns="0" rIns="0" bIns="0" rtlCol="0" anchor="ctr"/>
          <a:lstStyle/>
          <a:p>
            <a:pPr algn="ctr" indent="0" marL="0">
              <a:buNone/>
            </a:pPr>
            <a:r>
              <a:rPr lang="en-US" sz="650" i="1" dirty="0">
                <a:solidFill>
                  <a:srgbClr val="000000"/>
                </a:solidFill>
                <a:latin typeface="Arial" pitchFamily="34" charset="0"/>
                <a:ea typeface="Arial" pitchFamily="34" charset="-122"/>
                <a:cs typeface="Arial" pitchFamily="34" charset="-120"/>
              </a:rPr>
              <a:t>Provisional working pillars — subject to Phase 1 validation</a:t>
            </a:r>
            <a:endParaRPr lang="en-US" sz="650" dirty="0"/>
          </a:p>
        </p:txBody>
      </p:sp>
      <p:sp>
        <p:nvSpPr>
          <p:cNvPr id="53" name="Shape 46"/>
          <p:cNvSpPr/>
          <p:nvPr/>
        </p:nvSpPr>
        <p:spPr>
          <a:xfrm>
            <a:off x="758299" y="6510528"/>
            <a:ext cx="347472" cy="347472"/>
          </a:xfrm>
          <a:prstGeom prst="ellipse">
            <a:avLst/>
          </a:prstGeom>
          <a:solidFill>
            <a:srgbClr val="FFFFFF"/>
          </a:solidFill>
          <a:ln w="15875">
            <a:solidFill>
              <a:srgbClr val="002516"/>
            </a:solidFill>
            <a:prstDash val="solid"/>
          </a:ln>
        </p:spPr>
      </p:sp>
      <p:pic>
        <p:nvPicPr>
          <p:cNvPr id="54" name="Image 5" descr="preencoded.png">    </p:cNvPr>
          <p:cNvPicPr>
            <a:picLocks noChangeAspect="1"/>
          </p:cNvPicPr>
          <p:nvPr/>
        </p:nvPicPr>
        <p:blipFill>
          <a:blip r:embed="rId6"/>
          <a:stretch>
            <a:fillRect/>
          </a:stretch>
        </p:blipFill>
        <p:spPr>
          <a:xfrm>
            <a:off x="831451" y="6583680"/>
            <a:ext cx="201168" cy="201168"/>
          </a:xfrm>
          <a:prstGeom prst="rect">
            <a:avLst/>
          </a:prstGeom>
        </p:spPr>
      </p:pic>
      <p:sp>
        <p:nvSpPr>
          <p:cNvPr id="55" name="Text 47"/>
          <p:cNvSpPr/>
          <p:nvPr/>
        </p:nvSpPr>
        <p:spPr>
          <a:xfrm>
            <a:off x="484632" y="6894576"/>
            <a:ext cx="894806" cy="384048"/>
          </a:xfrm>
          <a:prstGeom prst="rect">
            <a:avLst/>
          </a:prstGeom>
          <a:noFill/>
          <a:ln/>
        </p:spPr>
        <p:txBody>
          <a:bodyPr wrap="square" lIns="0" tIns="0" rIns="0" bIns="0" rtlCol="0" anchor="t"/>
          <a:lstStyle/>
          <a:p>
            <a:pPr algn="ctr" indent="0" marL="0">
              <a:buNone/>
            </a:pPr>
            <a:r>
              <a:rPr lang="en-US" sz="680" b="1" dirty="0">
                <a:solidFill>
                  <a:srgbClr val="002516"/>
                </a:solidFill>
                <a:latin typeface="Arial" pitchFamily="34" charset="0"/>
                <a:ea typeface="Arial" pitchFamily="34" charset="-122"/>
                <a:cs typeface="Arial" pitchFamily="34" charset="-120"/>
              </a:rPr>
              <a:t>Leadership</a:t>
            </a:r>
            <a:endParaRPr lang="en-US" sz="680" dirty="0"/>
          </a:p>
        </p:txBody>
      </p:sp>
      <p:sp>
        <p:nvSpPr>
          <p:cNvPr id="56" name="Shape 48"/>
          <p:cNvSpPr/>
          <p:nvPr/>
        </p:nvSpPr>
        <p:spPr>
          <a:xfrm>
            <a:off x="1707969" y="6510528"/>
            <a:ext cx="347472" cy="347472"/>
          </a:xfrm>
          <a:prstGeom prst="ellipse">
            <a:avLst/>
          </a:prstGeom>
          <a:solidFill>
            <a:srgbClr val="FFFFFF"/>
          </a:solidFill>
          <a:ln w="15875">
            <a:solidFill>
              <a:srgbClr val="002516"/>
            </a:solidFill>
            <a:prstDash val="solid"/>
          </a:ln>
        </p:spPr>
      </p:sp>
      <p:pic>
        <p:nvPicPr>
          <p:cNvPr id="57" name="Image 6" descr="preencoded.png">    </p:cNvPr>
          <p:cNvPicPr>
            <a:picLocks noChangeAspect="1"/>
          </p:cNvPicPr>
          <p:nvPr/>
        </p:nvPicPr>
        <p:blipFill>
          <a:blip r:embed="rId7"/>
          <a:stretch>
            <a:fillRect/>
          </a:stretch>
        </p:blipFill>
        <p:spPr>
          <a:xfrm>
            <a:off x="1781121" y="6583680"/>
            <a:ext cx="201168" cy="201168"/>
          </a:xfrm>
          <a:prstGeom prst="rect">
            <a:avLst/>
          </a:prstGeom>
        </p:spPr>
      </p:pic>
      <p:sp>
        <p:nvSpPr>
          <p:cNvPr id="58" name="Text 49"/>
          <p:cNvSpPr/>
          <p:nvPr/>
        </p:nvSpPr>
        <p:spPr>
          <a:xfrm>
            <a:off x="1434302" y="6894576"/>
            <a:ext cx="894806" cy="384048"/>
          </a:xfrm>
          <a:prstGeom prst="rect">
            <a:avLst/>
          </a:prstGeom>
          <a:noFill/>
          <a:ln/>
        </p:spPr>
        <p:txBody>
          <a:bodyPr wrap="square" lIns="0" tIns="0" rIns="0" bIns="0" rtlCol="0" anchor="t"/>
          <a:lstStyle/>
          <a:p>
            <a:pPr algn="ctr" indent="0" marL="0">
              <a:buNone/>
            </a:pPr>
            <a:r>
              <a:rPr lang="en-US" sz="680" b="1" dirty="0">
                <a:solidFill>
                  <a:srgbClr val="002516"/>
                </a:solidFill>
                <a:latin typeface="Arial" pitchFamily="34" charset="0"/>
                <a:ea typeface="Arial" pitchFamily="34" charset="-122"/>
                <a:cs typeface="Arial" pitchFamily="34" charset="-120"/>
              </a:rPr>
              <a:t>Self-regulation</a:t>
            </a:r>
            <a:endParaRPr lang="en-US" sz="680" dirty="0"/>
          </a:p>
        </p:txBody>
      </p:sp>
      <p:sp>
        <p:nvSpPr>
          <p:cNvPr id="59" name="Shape 50"/>
          <p:cNvSpPr/>
          <p:nvPr/>
        </p:nvSpPr>
        <p:spPr>
          <a:xfrm>
            <a:off x="2657638" y="6510528"/>
            <a:ext cx="347472" cy="347472"/>
          </a:xfrm>
          <a:prstGeom prst="ellipse">
            <a:avLst/>
          </a:prstGeom>
          <a:solidFill>
            <a:srgbClr val="002516"/>
          </a:solidFill>
          <a:ln w="15875">
            <a:solidFill>
              <a:srgbClr val="002516"/>
            </a:solidFill>
            <a:prstDash val="solid"/>
          </a:ln>
        </p:spPr>
      </p:sp>
      <p:pic>
        <p:nvPicPr>
          <p:cNvPr id="60" name="Image 7" descr="preencoded.png">    </p:cNvPr>
          <p:cNvPicPr>
            <a:picLocks noChangeAspect="1"/>
          </p:cNvPicPr>
          <p:nvPr/>
        </p:nvPicPr>
        <p:blipFill>
          <a:blip r:embed="rId8"/>
          <a:stretch>
            <a:fillRect/>
          </a:stretch>
        </p:blipFill>
        <p:spPr>
          <a:xfrm>
            <a:off x="2730790" y="6583680"/>
            <a:ext cx="201168" cy="201168"/>
          </a:xfrm>
          <a:prstGeom prst="rect">
            <a:avLst/>
          </a:prstGeom>
        </p:spPr>
      </p:pic>
      <p:sp>
        <p:nvSpPr>
          <p:cNvPr id="61" name="Text 51"/>
          <p:cNvSpPr/>
          <p:nvPr/>
        </p:nvSpPr>
        <p:spPr>
          <a:xfrm>
            <a:off x="2383971" y="6894576"/>
            <a:ext cx="894806" cy="384048"/>
          </a:xfrm>
          <a:prstGeom prst="rect">
            <a:avLst/>
          </a:prstGeom>
          <a:noFill/>
          <a:ln/>
        </p:spPr>
        <p:txBody>
          <a:bodyPr wrap="square" lIns="0" tIns="0" rIns="0" bIns="0" rtlCol="0" anchor="t"/>
          <a:lstStyle/>
          <a:p>
            <a:pPr algn="ctr" indent="0" marL="0">
              <a:buNone/>
            </a:pPr>
            <a:r>
              <a:rPr lang="en-US" sz="680" b="1" dirty="0">
                <a:solidFill>
                  <a:srgbClr val="002516"/>
                </a:solidFill>
                <a:latin typeface="Arial" pitchFamily="34" charset="0"/>
                <a:ea typeface="Arial" pitchFamily="34" charset="-122"/>
                <a:cs typeface="Arial" pitchFamily="34" charset="-120"/>
              </a:rPr>
              <a:t>Performance cognition</a:t>
            </a:r>
            <a:endParaRPr lang="en-US" sz="680" dirty="0"/>
          </a:p>
        </p:txBody>
      </p:sp>
      <p:sp>
        <p:nvSpPr>
          <p:cNvPr id="62" name="Shape 52"/>
          <p:cNvSpPr/>
          <p:nvPr/>
        </p:nvSpPr>
        <p:spPr>
          <a:xfrm>
            <a:off x="3607308" y="6510528"/>
            <a:ext cx="347472" cy="347472"/>
          </a:xfrm>
          <a:prstGeom prst="ellipse">
            <a:avLst/>
          </a:prstGeom>
          <a:solidFill>
            <a:srgbClr val="FFFFFF"/>
          </a:solidFill>
          <a:ln w="15875">
            <a:solidFill>
              <a:srgbClr val="002516"/>
            </a:solidFill>
            <a:prstDash val="solid"/>
          </a:ln>
        </p:spPr>
      </p:sp>
      <p:pic>
        <p:nvPicPr>
          <p:cNvPr id="63" name="Image 8" descr="preencoded.png">    </p:cNvPr>
          <p:cNvPicPr>
            <a:picLocks noChangeAspect="1"/>
          </p:cNvPicPr>
          <p:nvPr/>
        </p:nvPicPr>
        <p:blipFill>
          <a:blip r:embed="rId9"/>
          <a:stretch>
            <a:fillRect/>
          </a:stretch>
        </p:blipFill>
        <p:spPr>
          <a:xfrm>
            <a:off x="3680460" y="6583680"/>
            <a:ext cx="201168" cy="201168"/>
          </a:xfrm>
          <a:prstGeom prst="rect">
            <a:avLst/>
          </a:prstGeom>
        </p:spPr>
      </p:pic>
      <p:sp>
        <p:nvSpPr>
          <p:cNvPr id="64" name="Text 53"/>
          <p:cNvSpPr/>
          <p:nvPr/>
        </p:nvSpPr>
        <p:spPr>
          <a:xfrm>
            <a:off x="3333641" y="6894576"/>
            <a:ext cx="894806" cy="384048"/>
          </a:xfrm>
          <a:prstGeom prst="rect">
            <a:avLst/>
          </a:prstGeom>
          <a:noFill/>
          <a:ln/>
        </p:spPr>
        <p:txBody>
          <a:bodyPr wrap="square" lIns="0" tIns="0" rIns="0" bIns="0" rtlCol="0" anchor="t"/>
          <a:lstStyle/>
          <a:p>
            <a:pPr algn="ctr" indent="0" marL="0">
              <a:buNone/>
            </a:pPr>
            <a:r>
              <a:rPr lang="en-US" sz="680" b="1" dirty="0">
                <a:solidFill>
                  <a:srgbClr val="002516"/>
                </a:solidFill>
                <a:latin typeface="Arial" pitchFamily="34" charset="0"/>
                <a:ea typeface="Arial" pitchFamily="34" charset="-122"/>
                <a:cs typeface="Arial" pitchFamily="34" charset="-120"/>
              </a:rPr>
              <a:t>Resilience &amp; recovery</a:t>
            </a:r>
            <a:endParaRPr lang="en-US" sz="680" dirty="0"/>
          </a:p>
        </p:txBody>
      </p:sp>
      <p:sp>
        <p:nvSpPr>
          <p:cNvPr id="65" name="Shape 54"/>
          <p:cNvSpPr/>
          <p:nvPr/>
        </p:nvSpPr>
        <p:spPr>
          <a:xfrm>
            <a:off x="4556978" y="6510528"/>
            <a:ext cx="347472" cy="347472"/>
          </a:xfrm>
          <a:prstGeom prst="ellipse">
            <a:avLst/>
          </a:prstGeom>
          <a:solidFill>
            <a:srgbClr val="FFFFFF"/>
          </a:solidFill>
          <a:ln w="15875">
            <a:solidFill>
              <a:srgbClr val="002516"/>
            </a:solidFill>
            <a:prstDash val="solid"/>
          </a:ln>
        </p:spPr>
      </p:sp>
      <p:pic>
        <p:nvPicPr>
          <p:cNvPr id="66" name="Image 9" descr="preencoded.png">    </p:cNvPr>
          <p:cNvPicPr>
            <a:picLocks noChangeAspect="1"/>
          </p:cNvPicPr>
          <p:nvPr/>
        </p:nvPicPr>
        <p:blipFill>
          <a:blip r:embed="rId10"/>
          <a:stretch>
            <a:fillRect/>
          </a:stretch>
        </p:blipFill>
        <p:spPr>
          <a:xfrm>
            <a:off x="4630130" y="6583680"/>
            <a:ext cx="201168" cy="201168"/>
          </a:xfrm>
          <a:prstGeom prst="rect">
            <a:avLst/>
          </a:prstGeom>
        </p:spPr>
      </p:pic>
      <p:sp>
        <p:nvSpPr>
          <p:cNvPr id="67" name="Text 55"/>
          <p:cNvSpPr/>
          <p:nvPr/>
        </p:nvSpPr>
        <p:spPr>
          <a:xfrm>
            <a:off x="4283311" y="6894576"/>
            <a:ext cx="894806" cy="384048"/>
          </a:xfrm>
          <a:prstGeom prst="rect">
            <a:avLst/>
          </a:prstGeom>
          <a:noFill/>
          <a:ln/>
        </p:spPr>
        <p:txBody>
          <a:bodyPr wrap="square" lIns="0" tIns="0" rIns="0" bIns="0" rtlCol="0" anchor="t"/>
          <a:lstStyle/>
          <a:p>
            <a:pPr algn="ctr" indent="0" marL="0">
              <a:buNone/>
            </a:pPr>
            <a:r>
              <a:rPr lang="en-US" sz="680" b="1" dirty="0">
                <a:solidFill>
                  <a:srgbClr val="002516"/>
                </a:solidFill>
                <a:latin typeface="Arial" pitchFamily="34" charset="0"/>
                <a:ea typeface="Arial" pitchFamily="34" charset="-122"/>
                <a:cs typeface="Arial" pitchFamily="34" charset="-120"/>
              </a:rPr>
              <a:t>Physical performance</a:t>
            </a:r>
            <a:endParaRPr lang="en-US" sz="680" dirty="0"/>
          </a:p>
        </p:txBody>
      </p:sp>
      <p:sp>
        <p:nvSpPr>
          <p:cNvPr id="68" name="Shape 56"/>
          <p:cNvSpPr/>
          <p:nvPr/>
        </p:nvSpPr>
        <p:spPr>
          <a:xfrm>
            <a:off x="5506647" y="6510528"/>
            <a:ext cx="347472" cy="347472"/>
          </a:xfrm>
          <a:prstGeom prst="ellipse">
            <a:avLst/>
          </a:prstGeom>
          <a:solidFill>
            <a:srgbClr val="FFFFFF"/>
          </a:solidFill>
          <a:ln w="15875">
            <a:solidFill>
              <a:srgbClr val="002516"/>
            </a:solidFill>
            <a:prstDash val="solid"/>
          </a:ln>
        </p:spPr>
      </p:sp>
      <p:pic>
        <p:nvPicPr>
          <p:cNvPr id="69" name="Image 10" descr="preencoded.png">    </p:cNvPr>
          <p:cNvPicPr>
            <a:picLocks noChangeAspect="1"/>
          </p:cNvPicPr>
          <p:nvPr/>
        </p:nvPicPr>
        <p:blipFill>
          <a:blip r:embed="rId11"/>
          <a:stretch>
            <a:fillRect/>
          </a:stretch>
        </p:blipFill>
        <p:spPr>
          <a:xfrm>
            <a:off x="5579799" y="6583680"/>
            <a:ext cx="201168" cy="201168"/>
          </a:xfrm>
          <a:prstGeom prst="rect">
            <a:avLst/>
          </a:prstGeom>
        </p:spPr>
      </p:pic>
      <p:sp>
        <p:nvSpPr>
          <p:cNvPr id="70" name="Text 57"/>
          <p:cNvSpPr/>
          <p:nvPr/>
        </p:nvSpPr>
        <p:spPr>
          <a:xfrm>
            <a:off x="5232981" y="6894576"/>
            <a:ext cx="894806" cy="384048"/>
          </a:xfrm>
          <a:prstGeom prst="rect">
            <a:avLst/>
          </a:prstGeom>
          <a:noFill/>
          <a:ln/>
        </p:spPr>
        <p:txBody>
          <a:bodyPr wrap="square" lIns="0" tIns="0" rIns="0" bIns="0" rtlCol="0" anchor="t"/>
          <a:lstStyle/>
          <a:p>
            <a:pPr algn="ctr" indent="0" marL="0">
              <a:buNone/>
            </a:pPr>
            <a:r>
              <a:rPr lang="en-US" sz="680" b="1" dirty="0">
                <a:solidFill>
                  <a:srgbClr val="002516"/>
                </a:solidFill>
                <a:latin typeface="Arial" pitchFamily="34" charset="0"/>
                <a:ea typeface="Arial" pitchFamily="34" charset="-122"/>
                <a:cs typeface="Arial" pitchFamily="34" charset="-120"/>
              </a:rPr>
              <a:t>Identity, values &amp; will</a:t>
            </a:r>
            <a:endParaRPr lang="en-US" sz="680" dirty="0"/>
          </a:p>
        </p:txBody>
      </p:sp>
      <p:sp>
        <p:nvSpPr>
          <p:cNvPr id="71" name="Shape 58"/>
          <p:cNvSpPr/>
          <p:nvPr/>
        </p:nvSpPr>
        <p:spPr>
          <a:xfrm>
            <a:off x="6456317" y="6510528"/>
            <a:ext cx="347472" cy="347472"/>
          </a:xfrm>
          <a:prstGeom prst="ellipse">
            <a:avLst/>
          </a:prstGeom>
          <a:solidFill>
            <a:srgbClr val="FFFFFF"/>
          </a:solidFill>
          <a:ln w="15875">
            <a:solidFill>
              <a:srgbClr val="002516"/>
            </a:solidFill>
            <a:prstDash val="solid"/>
          </a:ln>
        </p:spPr>
      </p:sp>
      <p:pic>
        <p:nvPicPr>
          <p:cNvPr id="72" name="Image 11" descr="preencoded.png">    </p:cNvPr>
          <p:cNvPicPr>
            <a:picLocks noChangeAspect="1"/>
          </p:cNvPicPr>
          <p:nvPr/>
        </p:nvPicPr>
        <p:blipFill>
          <a:blip r:embed="rId12"/>
          <a:stretch>
            <a:fillRect/>
          </a:stretch>
        </p:blipFill>
        <p:spPr>
          <a:xfrm>
            <a:off x="6529469" y="6583680"/>
            <a:ext cx="201168" cy="201168"/>
          </a:xfrm>
          <a:prstGeom prst="rect">
            <a:avLst/>
          </a:prstGeom>
        </p:spPr>
      </p:pic>
      <p:sp>
        <p:nvSpPr>
          <p:cNvPr id="73" name="Text 59"/>
          <p:cNvSpPr/>
          <p:nvPr/>
        </p:nvSpPr>
        <p:spPr>
          <a:xfrm>
            <a:off x="6182650" y="6894576"/>
            <a:ext cx="894806" cy="384048"/>
          </a:xfrm>
          <a:prstGeom prst="rect">
            <a:avLst/>
          </a:prstGeom>
          <a:noFill/>
          <a:ln/>
        </p:spPr>
        <p:txBody>
          <a:bodyPr wrap="square" lIns="0" tIns="0" rIns="0" bIns="0" rtlCol="0" anchor="t"/>
          <a:lstStyle/>
          <a:p>
            <a:pPr algn="ctr" indent="0" marL="0">
              <a:buNone/>
            </a:pPr>
            <a:r>
              <a:rPr lang="en-US" sz="680" b="1" dirty="0">
                <a:solidFill>
                  <a:srgbClr val="002516"/>
                </a:solidFill>
                <a:latin typeface="Arial" pitchFamily="34" charset="0"/>
                <a:ea typeface="Arial" pitchFamily="34" charset="-122"/>
                <a:cs typeface="Arial" pitchFamily="34" charset="-120"/>
              </a:rPr>
              <a:t>Collective performance</a:t>
            </a:r>
            <a:endParaRPr lang="en-US" sz="680" dirty="0"/>
          </a:p>
        </p:txBody>
      </p:sp>
      <p:sp>
        <p:nvSpPr>
          <p:cNvPr id="74" name="Shape 60"/>
          <p:cNvSpPr/>
          <p:nvPr/>
        </p:nvSpPr>
        <p:spPr>
          <a:xfrm rot="10800000">
            <a:off x="3707892" y="7370064"/>
            <a:ext cx="146304" cy="109728"/>
          </a:xfrm>
          <a:prstGeom prst="triangle">
            <a:avLst/>
          </a:prstGeom>
          <a:solidFill>
            <a:srgbClr val="002516"/>
          </a:solidFill>
          <a:ln/>
        </p:spPr>
      </p:sp>
      <p:sp>
        <p:nvSpPr>
          <p:cNvPr id="75" name="Text 61"/>
          <p:cNvSpPr/>
          <p:nvPr/>
        </p:nvSpPr>
        <p:spPr>
          <a:xfrm>
            <a:off x="3927348" y="7351776"/>
            <a:ext cx="2926080" cy="146304"/>
          </a:xfrm>
          <a:prstGeom prst="rect">
            <a:avLst/>
          </a:prstGeom>
          <a:noFill/>
          <a:ln/>
        </p:spPr>
        <p:txBody>
          <a:bodyPr wrap="square" lIns="0" tIns="0" rIns="0" bIns="0" rtlCol="0" anchor="ctr"/>
          <a:lstStyle/>
          <a:p>
            <a:pPr algn="l" indent="0" marL="0">
              <a:buNone/>
            </a:pPr>
            <a:r>
              <a:rPr lang="en-US" sz="750" i="1" dirty="0">
                <a:solidFill>
                  <a:srgbClr val="000000"/>
                </a:solidFill>
                <a:latin typeface="Arial" pitchFamily="34" charset="0"/>
                <a:ea typeface="Arial" pitchFamily="34" charset="-122"/>
                <a:cs typeface="Arial" pitchFamily="34" charset="-120"/>
              </a:rPr>
              <a:t>each product contributes across multiple pillars</a:t>
            </a:r>
            <a:endParaRPr lang="en-US" sz="750" dirty="0"/>
          </a:p>
        </p:txBody>
      </p:sp>
      <p:sp>
        <p:nvSpPr>
          <p:cNvPr id="76" name="Text 62"/>
          <p:cNvSpPr/>
          <p:nvPr/>
        </p:nvSpPr>
        <p:spPr>
          <a:xfrm>
            <a:off x="457200" y="7552944"/>
            <a:ext cx="6647688" cy="182880"/>
          </a:xfrm>
          <a:prstGeom prst="rect">
            <a:avLst/>
          </a:prstGeom>
          <a:noFill/>
          <a:ln/>
        </p:spPr>
        <p:txBody>
          <a:bodyPr wrap="square" lIns="0" tIns="0" rIns="0" bIns="0" rtlCol="0" anchor="ctr"/>
          <a:lstStyle/>
          <a:p>
            <a:pPr algn="ctr" indent="0" marL="0">
              <a:buNone/>
            </a:pPr>
            <a:r>
              <a:rPr lang="en-US" sz="1050" b="1" spc="200" kern="0" dirty="0">
                <a:solidFill>
                  <a:srgbClr val="002516"/>
                </a:solidFill>
                <a:latin typeface="Arial" pitchFamily="34" charset="0"/>
                <a:ea typeface="Arial" pitchFamily="34" charset="-122"/>
                <a:cs typeface="Arial" pitchFamily="34" charset="-120"/>
              </a:rPr>
              <a:t>TRAINING PRODUCTS AND METHODS</a:t>
            </a:r>
            <a:endParaRPr lang="en-US" sz="1050" dirty="0"/>
          </a:p>
        </p:txBody>
      </p:sp>
      <p:sp>
        <p:nvSpPr>
          <p:cNvPr id="77" name="Shape 63"/>
          <p:cNvSpPr/>
          <p:nvPr/>
        </p:nvSpPr>
        <p:spPr>
          <a:xfrm>
            <a:off x="457200" y="7790688"/>
            <a:ext cx="902643" cy="713232"/>
          </a:xfrm>
          <a:prstGeom prst="rect">
            <a:avLst/>
          </a:prstGeom>
          <a:solidFill>
            <a:srgbClr val="FFFFFF"/>
          </a:solidFill>
          <a:ln w="9525">
            <a:solidFill>
              <a:srgbClr val="A89662"/>
            </a:solidFill>
            <a:prstDash val="solid"/>
          </a:ln>
        </p:spPr>
      </p:sp>
      <p:sp>
        <p:nvSpPr>
          <p:cNvPr id="78" name="Text 64"/>
          <p:cNvSpPr/>
          <p:nvPr/>
        </p:nvSpPr>
        <p:spPr>
          <a:xfrm>
            <a:off x="493776" y="7790688"/>
            <a:ext cx="829491" cy="713232"/>
          </a:xfrm>
          <a:prstGeom prst="rect">
            <a:avLst/>
          </a:prstGeom>
          <a:noFill/>
          <a:ln/>
        </p:spPr>
        <p:txBody>
          <a:bodyPr wrap="square" lIns="0" tIns="0" rIns="0" bIns="0" rtlCol="0" anchor="ctr"/>
          <a:lstStyle/>
          <a:p>
            <a:pPr algn="ctr" indent="0" marL="0">
              <a:buNone/>
            </a:pPr>
            <a:r>
              <a:rPr lang="en-US" sz="720" b="1" dirty="0">
                <a:solidFill>
                  <a:srgbClr val="000000"/>
                </a:solidFill>
                <a:latin typeface="Arial" pitchFamily="34" charset="0"/>
                <a:ea typeface="Arial" pitchFamily="34" charset="-122"/>
                <a:cs typeface="Arial" pitchFamily="34" charset="-120"/>
              </a:rPr>
              <a:t>NZALC Performance Under Pressure package</a:t>
            </a:r>
            <a:endParaRPr lang="en-US" sz="720" dirty="0"/>
          </a:p>
        </p:txBody>
      </p:sp>
      <p:sp>
        <p:nvSpPr>
          <p:cNvPr id="79" name="Shape 65"/>
          <p:cNvSpPr/>
          <p:nvPr/>
        </p:nvSpPr>
        <p:spPr>
          <a:xfrm>
            <a:off x="1414707" y="7790688"/>
            <a:ext cx="902643" cy="713232"/>
          </a:xfrm>
          <a:prstGeom prst="rect">
            <a:avLst/>
          </a:prstGeom>
          <a:solidFill>
            <a:srgbClr val="FFFFFF"/>
          </a:solidFill>
          <a:ln w="9525">
            <a:solidFill>
              <a:srgbClr val="A89662"/>
            </a:solidFill>
            <a:prstDash val="solid"/>
          </a:ln>
        </p:spPr>
      </p:sp>
      <p:sp>
        <p:nvSpPr>
          <p:cNvPr id="80" name="Text 66"/>
          <p:cNvSpPr/>
          <p:nvPr/>
        </p:nvSpPr>
        <p:spPr>
          <a:xfrm>
            <a:off x="1451283" y="7790688"/>
            <a:ext cx="829491" cy="713232"/>
          </a:xfrm>
          <a:prstGeom prst="rect">
            <a:avLst/>
          </a:prstGeom>
          <a:noFill/>
          <a:ln/>
        </p:spPr>
        <p:txBody>
          <a:bodyPr wrap="square" lIns="0" tIns="0" rIns="0" bIns="0" rtlCol="0" anchor="ctr"/>
          <a:lstStyle/>
          <a:p>
            <a:pPr algn="ctr" indent="0" marL="0">
              <a:buNone/>
            </a:pPr>
            <a:r>
              <a:rPr lang="en-US" sz="720" b="1" dirty="0">
                <a:solidFill>
                  <a:srgbClr val="000000"/>
                </a:solidFill>
                <a:latin typeface="Arial" pitchFamily="34" charset="0"/>
                <a:ea typeface="Arial" pitchFamily="34" charset="-122"/>
                <a:cs typeface="Arial" pitchFamily="34" charset="-120"/>
              </a:rPr>
              <a:t>NZDF Psychology products</a:t>
            </a:r>
            <a:endParaRPr lang="en-US" sz="720" dirty="0"/>
          </a:p>
        </p:txBody>
      </p:sp>
      <p:sp>
        <p:nvSpPr>
          <p:cNvPr id="81" name="Shape 67"/>
          <p:cNvSpPr/>
          <p:nvPr/>
        </p:nvSpPr>
        <p:spPr>
          <a:xfrm>
            <a:off x="2372215" y="7790688"/>
            <a:ext cx="902643" cy="713232"/>
          </a:xfrm>
          <a:prstGeom prst="rect">
            <a:avLst/>
          </a:prstGeom>
          <a:solidFill>
            <a:srgbClr val="FFFFFF"/>
          </a:solidFill>
          <a:ln w="19050">
            <a:solidFill>
              <a:srgbClr val="002516"/>
            </a:solidFill>
            <a:prstDash val="dash"/>
          </a:ln>
        </p:spPr>
      </p:sp>
      <p:sp>
        <p:nvSpPr>
          <p:cNvPr id="82" name="Text 68"/>
          <p:cNvSpPr/>
          <p:nvPr/>
        </p:nvSpPr>
        <p:spPr>
          <a:xfrm>
            <a:off x="2399647" y="7790688"/>
            <a:ext cx="847779" cy="713232"/>
          </a:xfrm>
          <a:prstGeom prst="rect">
            <a:avLst/>
          </a:prstGeom>
          <a:noFill/>
          <a:ln/>
        </p:spPr>
        <p:txBody>
          <a:bodyPr wrap="square" lIns="0" tIns="0" rIns="0" bIns="0" rtlCol="0" anchor="ctr"/>
          <a:lstStyle/>
          <a:p>
            <a:pPr algn="ctr" indent="0" marL="0">
              <a:buNone/>
            </a:pPr>
            <a:r>
              <a:rPr lang="en-US" sz="720" b="1" dirty="0">
                <a:solidFill>
                  <a:srgbClr val="000000"/>
                </a:solidFill>
                <a:latin typeface="Arial" pitchFamily="34" charset="0"/>
                <a:ea typeface="Arial" pitchFamily="34" charset="-122"/>
                <a:cs typeface="Arial" pitchFamily="34" charset="-120"/>
              </a:rPr>
              <a:t>COGCON</a:t>
            </a:r>
            <a:endParaRPr lang="en-US" sz="720" dirty="0"/>
          </a:p>
          <a:p>
            <a:pPr algn="ctr" indent="0" marL="0">
              <a:buNone/>
            </a:pPr>
            <a:r>
              <a:rPr lang="en-US" sz="620" i="1" dirty="0">
                <a:solidFill>
                  <a:srgbClr val="000000"/>
                </a:solidFill>
                <a:latin typeface="Arial" pitchFamily="34" charset="0"/>
                <a:ea typeface="Arial" pitchFamily="34" charset="-122"/>
                <a:cs typeface="Arial" pitchFamily="34" charset="-120"/>
              </a:rPr>
              <a:t>Developmental performance-cognition product</a:t>
            </a:r>
            <a:endParaRPr lang="en-US" sz="720" dirty="0"/>
          </a:p>
        </p:txBody>
      </p:sp>
      <p:sp>
        <p:nvSpPr>
          <p:cNvPr id="83" name="Shape 69"/>
          <p:cNvSpPr/>
          <p:nvPr/>
        </p:nvSpPr>
        <p:spPr>
          <a:xfrm>
            <a:off x="3329722" y="7790688"/>
            <a:ext cx="902643" cy="713232"/>
          </a:xfrm>
          <a:prstGeom prst="rect">
            <a:avLst/>
          </a:prstGeom>
          <a:solidFill>
            <a:srgbClr val="FFFFFF"/>
          </a:solidFill>
          <a:ln w="9525">
            <a:solidFill>
              <a:srgbClr val="A89662"/>
            </a:solidFill>
            <a:prstDash val="solid"/>
          </a:ln>
        </p:spPr>
      </p:sp>
      <p:sp>
        <p:nvSpPr>
          <p:cNvPr id="84" name="Text 70"/>
          <p:cNvSpPr/>
          <p:nvPr/>
        </p:nvSpPr>
        <p:spPr>
          <a:xfrm>
            <a:off x="3366298" y="7790688"/>
            <a:ext cx="829491" cy="713232"/>
          </a:xfrm>
          <a:prstGeom prst="rect">
            <a:avLst/>
          </a:prstGeom>
          <a:noFill/>
          <a:ln/>
        </p:spPr>
        <p:txBody>
          <a:bodyPr wrap="square" lIns="0" tIns="0" rIns="0" bIns="0" rtlCol="0" anchor="ctr"/>
          <a:lstStyle/>
          <a:p>
            <a:pPr algn="ctr" indent="0" marL="0">
              <a:buNone/>
            </a:pPr>
            <a:r>
              <a:rPr lang="en-US" sz="720" b="1" dirty="0">
                <a:solidFill>
                  <a:srgbClr val="000000"/>
                </a:solidFill>
                <a:latin typeface="Arial" pitchFamily="34" charset="0"/>
                <a:ea typeface="Arial" pitchFamily="34" charset="-122"/>
                <a:cs typeface="Arial" pitchFamily="34" charset="-120"/>
              </a:rPr>
              <a:t>Scenario, experiential &amp; progressive pressure training</a:t>
            </a:r>
            <a:endParaRPr lang="en-US" sz="720" dirty="0"/>
          </a:p>
        </p:txBody>
      </p:sp>
      <p:sp>
        <p:nvSpPr>
          <p:cNvPr id="85" name="Shape 71"/>
          <p:cNvSpPr/>
          <p:nvPr/>
        </p:nvSpPr>
        <p:spPr>
          <a:xfrm>
            <a:off x="4287230" y="7790688"/>
            <a:ext cx="902643" cy="713232"/>
          </a:xfrm>
          <a:prstGeom prst="rect">
            <a:avLst/>
          </a:prstGeom>
          <a:solidFill>
            <a:srgbClr val="FFFFFF"/>
          </a:solidFill>
          <a:ln w="9525">
            <a:solidFill>
              <a:srgbClr val="A89662"/>
            </a:solidFill>
            <a:prstDash val="solid"/>
          </a:ln>
        </p:spPr>
      </p:sp>
      <p:sp>
        <p:nvSpPr>
          <p:cNvPr id="86" name="Text 72"/>
          <p:cNvSpPr/>
          <p:nvPr/>
        </p:nvSpPr>
        <p:spPr>
          <a:xfrm>
            <a:off x="4323806" y="7790688"/>
            <a:ext cx="829491" cy="713232"/>
          </a:xfrm>
          <a:prstGeom prst="rect">
            <a:avLst/>
          </a:prstGeom>
          <a:noFill/>
          <a:ln/>
        </p:spPr>
        <p:txBody>
          <a:bodyPr wrap="square" lIns="0" tIns="0" rIns="0" bIns="0" rtlCol="0" anchor="ctr"/>
          <a:lstStyle/>
          <a:p>
            <a:pPr algn="ctr" indent="0" marL="0">
              <a:buNone/>
            </a:pPr>
            <a:r>
              <a:rPr lang="en-US" sz="720" b="1" dirty="0">
                <a:solidFill>
                  <a:srgbClr val="000000"/>
                </a:solidFill>
                <a:latin typeface="Arial" pitchFamily="34" charset="0"/>
                <a:ea typeface="Arial" pitchFamily="34" charset="-122"/>
                <a:cs typeface="Arial" pitchFamily="34" charset="-120"/>
              </a:rPr>
              <a:t>Physical &amp; cognitive conditioning</a:t>
            </a:r>
            <a:endParaRPr lang="en-US" sz="720" dirty="0"/>
          </a:p>
        </p:txBody>
      </p:sp>
      <p:sp>
        <p:nvSpPr>
          <p:cNvPr id="87" name="Shape 73"/>
          <p:cNvSpPr/>
          <p:nvPr/>
        </p:nvSpPr>
        <p:spPr>
          <a:xfrm>
            <a:off x="5244737" y="7790688"/>
            <a:ext cx="902643" cy="713232"/>
          </a:xfrm>
          <a:prstGeom prst="rect">
            <a:avLst/>
          </a:prstGeom>
          <a:solidFill>
            <a:srgbClr val="FFFFFF"/>
          </a:solidFill>
          <a:ln w="9525">
            <a:solidFill>
              <a:srgbClr val="A89662"/>
            </a:solidFill>
            <a:prstDash val="solid"/>
          </a:ln>
        </p:spPr>
      </p:sp>
      <p:sp>
        <p:nvSpPr>
          <p:cNvPr id="88" name="Text 74"/>
          <p:cNvSpPr/>
          <p:nvPr/>
        </p:nvSpPr>
        <p:spPr>
          <a:xfrm>
            <a:off x="5281313" y="7790688"/>
            <a:ext cx="829491" cy="713232"/>
          </a:xfrm>
          <a:prstGeom prst="rect">
            <a:avLst/>
          </a:prstGeom>
          <a:noFill/>
          <a:ln/>
        </p:spPr>
        <p:txBody>
          <a:bodyPr wrap="square" lIns="0" tIns="0" rIns="0" bIns="0" rtlCol="0" anchor="ctr"/>
          <a:lstStyle/>
          <a:p>
            <a:pPr algn="ctr" indent="0" marL="0">
              <a:buNone/>
            </a:pPr>
            <a:r>
              <a:rPr lang="en-US" sz="720" b="1" dirty="0">
                <a:solidFill>
                  <a:srgbClr val="000000"/>
                </a:solidFill>
                <a:latin typeface="Arial" pitchFamily="34" charset="0"/>
                <a:ea typeface="Arial" pitchFamily="34" charset="-122"/>
                <a:cs typeface="Arial" pitchFamily="34" charset="-120"/>
              </a:rPr>
              <a:t>Structured reflection &amp; recovery</a:t>
            </a:r>
            <a:endParaRPr lang="en-US" sz="720" dirty="0"/>
          </a:p>
        </p:txBody>
      </p:sp>
      <p:sp>
        <p:nvSpPr>
          <p:cNvPr id="89" name="Shape 75"/>
          <p:cNvSpPr/>
          <p:nvPr/>
        </p:nvSpPr>
        <p:spPr>
          <a:xfrm>
            <a:off x="6202245" y="7790688"/>
            <a:ext cx="902643" cy="713232"/>
          </a:xfrm>
          <a:prstGeom prst="rect">
            <a:avLst/>
          </a:prstGeom>
          <a:solidFill>
            <a:srgbClr val="FFFFFF"/>
          </a:solidFill>
          <a:ln w="9525">
            <a:solidFill>
              <a:srgbClr val="A89662"/>
            </a:solidFill>
            <a:prstDash val="solid"/>
          </a:ln>
        </p:spPr>
      </p:sp>
      <p:sp>
        <p:nvSpPr>
          <p:cNvPr id="90" name="Text 76"/>
          <p:cNvSpPr/>
          <p:nvPr/>
        </p:nvSpPr>
        <p:spPr>
          <a:xfrm>
            <a:off x="6238821" y="7790688"/>
            <a:ext cx="829491" cy="713232"/>
          </a:xfrm>
          <a:prstGeom prst="rect">
            <a:avLst/>
          </a:prstGeom>
          <a:noFill/>
          <a:ln/>
        </p:spPr>
        <p:txBody>
          <a:bodyPr wrap="square" lIns="0" tIns="0" rIns="0" bIns="0" rtlCol="0" anchor="ctr"/>
          <a:lstStyle/>
          <a:p>
            <a:pPr algn="ctr" indent="0" marL="0">
              <a:buNone/>
            </a:pPr>
            <a:r>
              <a:rPr lang="en-US" sz="720" b="1" dirty="0">
                <a:solidFill>
                  <a:srgbClr val="000000"/>
                </a:solidFill>
                <a:latin typeface="Arial" pitchFamily="34" charset="0"/>
                <a:ea typeface="Arial" pitchFamily="34" charset="-122"/>
                <a:cs typeface="Arial" pitchFamily="34" charset="-120"/>
              </a:rPr>
              <a:t>Other products identified in Phase 1 stocktake</a:t>
            </a:r>
            <a:endParaRPr lang="en-US" sz="720" dirty="0"/>
          </a:p>
        </p:txBody>
      </p:sp>
      <p:sp>
        <p:nvSpPr>
          <p:cNvPr id="91" name="Text 77"/>
          <p:cNvSpPr/>
          <p:nvPr/>
        </p:nvSpPr>
        <p:spPr>
          <a:xfrm>
            <a:off x="457200" y="8513064"/>
            <a:ext cx="6647688" cy="91440"/>
          </a:xfrm>
          <a:prstGeom prst="rect">
            <a:avLst/>
          </a:prstGeom>
          <a:noFill/>
          <a:ln/>
        </p:spPr>
        <p:txBody>
          <a:bodyPr wrap="square" lIns="0" tIns="0" rIns="0" bIns="0" rtlCol="0" anchor="ctr"/>
          <a:lstStyle/>
          <a:p>
            <a:pPr algn="ctr" indent="0" marL="0">
              <a:buNone/>
            </a:pPr>
            <a:r>
              <a:rPr lang="en-US" sz="600" i="1" dirty="0">
                <a:solidFill>
                  <a:srgbClr val="000000"/>
                </a:solidFill>
                <a:latin typeface="Arial" pitchFamily="34" charset="0"/>
                <a:ea typeface="Arial" pitchFamily="34" charset="-122"/>
                <a:cs typeface="Arial" pitchFamily="34" charset="-120"/>
              </a:rPr>
              <a:t>Dashed outline indicates developmental status pending the Phase 1 stocktake</a:t>
            </a:r>
            <a:endParaRPr lang="en-US" sz="600" dirty="0"/>
          </a:p>
        </p:txBody>
      </p:sp>
      <p:sp>
        <p:nvSpPr>
          <p:cNvPr id="92" name="Text 78"/>
          <p:cNvSpPr/>
          <p:nvPr/>
        </p:nvSpPr>
        <p:spPr>
          <a:xfrm>
            <a:off x="457200" y="8595360"/>
            <a:ext cx="6647688" cy="164592"/>
          </a:xfrm>
          <a:prstGeom prst="rect">
            <a:avLst/>
          </a:prstGeom>
          <a:noFill/>
          <a:ln/>
        </p:spPr>
        <p:txBody>
          <a:bodyPr wrap="square" lIns="0" tIns="0" rIns="0" bIns="0" rtlCol="0" anchor="ctr"/>
          <a:lstStyle/>
          <a:p>
            <a:pPr algn="ctr" indent="0" marL="0">
              <a:buNone/>
            </a:pPr>
            <a:r>
              <a:rPr lang="en-US" sz="800" b="1" dirty="0">
                <a:solidFill>
                  <a:srgbClr val="002516"/>
                </a:solidFill>
                <a:latin typeface="Arial" pitchFamily="34" charset="0"/>
                <a:ea typeface="Arial" pitchFamily="34" charset="-122"/>
                <a:cs typeface="Arial" pitchFamily="34" charset="-120"/>
              </a:rPr>
              <a:t>Developed across the Prepare – Perform – Recover cycle   ·   Lead Self</a:t>
            </a:r>
            <a:pPr algn="ctr" indent="0" marL="0">
              <a:buNone/>
            </a:pPr>
            <a:r>
              <a:rPr lang="en-US" sz="620" b="1" dirty="0">
                <a:solidFill>
                  <a:srgbClr val="C62026"/>
                </a:solidFill>
                <a:latin typeface="Arial" pitchFamily="34" charset="0"/>
                <a:ea typeface="Arial" pitchFamily="34" charset="-122"/>
                <a:cs typeface="Arial" pitchFamily="34" charset="-120"/>
              </a:rPr>
              <a:t>  ►  </a:t>
            </a:r>
            <a:pPr algn="ctr" indent="0" marL="0">
              <a:buNone/>
            </a:pPr>
            <a:r>
              <a:rPr lang="en-US" sz="800" b="1" dirty="0">
                <a:solidFill>
                  <a:srgbClr val="002516"/>
                </a:solidFill>
                <a:latin typeface="Arial" pitchFamily="34" charset="0"/>
                <a:ea typeface="Arial" pitchFamily="34" charset="-122"/>
                <a:cs typeface="Arial" pitchFamily="34" charset="-120"/>
              </a:rPr>
              <a:t>Lead Teams</a:t>
            </a:r>
            <a:pPr algn="ctr" indent="0" marL="0">
              <a:buNone/>
            </a:pPr>
            <a:r>
              <a:rPr lang="en-US" sz="620" b="1" dirty="0">
                <a:solidFill>
                  <a:srgbClr val="C62026"/>
                </a:solidFill>
                <a:latin typeface="Arial" pitchFamily="34" charset="0"/>
                <a:ea typeface="Arial" pitchFamily="34" charset="-122"/>
                <a:cs typeface="Arial" pitchFamily="34" charset="-120"/>
              </a:rPr>
              <a:t>  ►  </a:t>
            </a:r>
            <a:pPr algn="ctr" indent="0" marL="0">
              <a:buNone/>
            </a:pPr>
            <a:r>
              <a:rPr lang="en-US" sz="800" b="1" dirty="0">
                <a:solidFill>
                  <a:srgbClr val="002516"/>
                </a:solidFill>
                <a:latin typeface="Arial" pitchFamily="34" charset="0"/>
                <a:ea typeface="Arial" pitchFamily="34" charset="-122"/>
                <a:cs typeface="Arial" pitchFamily="34" charset="-120"/>
              </a:rPr>
              <a:t>Lead Leaders</a:t>
            </a:r>
            <a:pPr algn="ctr" indent="0" marL="0">
              <a:buNone/>
            </a:pPr>
            <a:r>
              <a:rPr lang="en-US" sz="620" b="1" dirty="0">
                <a:solidFill>
                  <a:srgbClr val="C62026"/>
                </a:solidFill>
                <a:latin typeface="Arial" pitchFamily="34" charset="0"/>
                <a:ea typeface="Arial" pitchFamily="34" charset="-122"/>
                <a:cs typeface="Arial" pitchFamily="34" charset="-120"/>
              </a:rPr>
              <a:t>  ►  </a:t>
            </a:r>
            <a:pPr algn="ctr" indent="0" marL="0">
              <a:buNone/>
            </a:pPr>
            <a:r>
              <a:rPr lang="en-US" sz="800" b="1" dirty="0">
                <a:solidFill>
                  <a:srgbClr val="002516"/>
                </a:solidFill>
                <a:latin typeface="Arial" pitchFamily="34" charset="0"/>
                <a:ea typeface="Arial" pitchFamily="34" charset="-122"/>
                <a:cs typeface="Arial" pitchFamily="34" charset="-120"/>
              </a:rPr>
              <a:t>Lead Systems</a:t>
            </a:r>
            <a:endParaRPr lang="en-US" sz="800" dirty="0"/>
          </a:p>
        </p:txBody>
      </p:sp>
      <p:sp>
        <p:nvSpPr>
          <p:cNvPr id="93" name="Text 79"/>
          <p:cNvSpPr/>
          <p:nvPr/>
        </p:nvSpPr>
        <p:spPr>
          <a:xfrm>
            <a:off x="457200" y="8769096"/>
            <a:ext cx="6647688" cy="137160"/>
          </a:xfrm>
          <a:prstGeom prst="rect">
            <a:avLst/>
          </a:prstGeom>
          <a:noFill/>
          <a:ln/>
        </p:spPr>
        <p:txBody>
          <a:bodyPr wrap="square" lIns="0" tIns="0" rIns="0" bIns="0" rtlCol="0" anchor="ctr"/>
          <a:lstStyle/>
          <a:p>
            <a:pPr algn="ctr" indent="0" marL="0">
              <a:buNone/>
            </a:pPr>
            <a:r>
              <a:rPr lang="en-US" sz="700" i="1" dirty="0">
                <a:solidFill>
                  <a:srgbClr val="000000"/>
                </a:solidFill>
                <a:latin typeface="Arial" pitchFamily="34" charset="0"/>
                <a:ea typeface="Arial" pitchFamily="34" charset="-122"/>
                <a:cs typeface="Arial" pitchFamily="34" charset="-120"/>
              </a:rPr>
              <a:t>Delivered by approved training establishments, units and existing instructor workforces across Army</a:t>
            </a:r>
            <a:endParaRPr lang="en-US" sz="700" dirty="0"/>
          </a:p>
        </p:txBody>
      </p:sp>
      <p:sp>
        <p:nvSpPr>
          <p:cNvPr id="94" name="Shape 80"/>
          <p:cNvSpPr/>
          <p:nvPr/>
        </p:nvSpPr>
        <p:spPr>
          <a:xfrm>
            <a:off x="457200" y="8997696"/>
            <a:ext cx="3246120" cy="1078992"/>
          </a:xfrm>
          <a:prstGeom prst="rect">
            <a:avLst/>
          </a:prstGeom>
          <a:solidFill>
            <a:srgbClr val="CDD2B7">
              <a:alpha val="28000"/>
            </a:srgbClr>
          </a:solidFill>
          <a:ln/>
        </p:spPr>
      </p:sp>
      <p:pic>
        <p:nvPicPr>
          <p:cNvPr id="95" name="Image 12" descr="preencoded.png">    </p:cNvPr>
          <p:cNvPicPr>
            <a:picLocks noChangeAspect="1"/>
          </p:cNvPicPr>
          <p:nvPr/>
        </p:nvPicPr>
        <p:blipFill>
          <a:blip r:embed="rId13"/>
          <a:stretch>
            <a:fillRect/>
          </a:stretch>
        </p:blipFill>
        <p:spPr>
          <a:xfrm>
            <a:off x="585216" y="9089136"/>
            <a:ext cx="201168" cy="201168"/>
          </a:xfrm>
          <a:prstGeom prst="rect">
            <a:avLst/>
          </a:prstGeom>
        </p:spPr>
      </p:pic>
      <p:sp>
        <p:nvSpPr>
          <p:cNvPr id="96" name="Text 81"/>
          <p:cNvSpPr/>
          <p:nvPr/>
        </p:nvSpPr>
        <p:spPr>
          <a:xfrm>
            <a:off x="859536" y="9079992"/>
            <a:ext cx="2770632" cy="201168"/>
          </a:xfrm>
          <a:prstGeom prst="rect">
            <a:avLst/>
          </a:prstGeom>
          <a:noFill/>
          <a:ln/>
        </p:spPr>
        <p:txBody>
          <a:bodyPr wrap="square" lIns="0" tIns="0" rIns="0" bIns="0" rtlCol="0" anchor="ctr"/>
          <a:lstStyle/>
          <a:p>
            <a:pPr algn="l" indent="0" marL="0">
              <a:buNone/>
            </a:pPr>
            <a:r>
              <a:rPr lang="en-US" sz="880" b="1" dirty="0">
                <a:solidFill>
                  <a:srgbClr val="002516"/>
                </a:solidFill>
                <a:latin typeface="Arial" pitchFamily="34" charset="0"/>
                <a:ea typeface="Arial" pitchFamily="34" charset="-122"/>
                <a:cs typeface="Arial" pitchFamily="34" charset="-120"/>
              </a:rPr>
              <a:t>GOVERNANCE AND ASSURANCE</a:t>
            </a:r>
            <a:endParaRPr lang="en-US" sz="880" dirty="0"/>
          </a:p>
        </p:txBody>
      </p:sp>
      <p:sp>
        <p:nvSpPr>
          <p:cNvPr id="97" name="Text 82"/>
          <p:cNvSpPr/>
          <p:nvPr/>
        </p:nvSpPr>
        <p:spPr>
          <a:xfrm>
            <a:off x="621792" y="9326880"/>
            <a:ext cx="2971800" cy="713232"/>
          </a:xfrm>
          <a:prstGeom prst="rect">
            <a:avLst/>
          </a:prstGeom>
          <a:noFill/>
          <a:ln/>
        </p:spPr>
        <p:txBody>
          <a:bodyPr wrap="square" lIns="0" tIns="0" rIns="0" bIns="0" rtlCol="0" anchor="t"/>
          <a:lstStyle/>
          <a:p>
            <a:pPr algn="l" marL="101600" indent="-101600">
              <a:spcAft>
                <a:spcPts val="200"/>
              </a:spcAft>
              <a:buSzPct val="100000"/>
              <a:buChar char="•"/>
            </a:pPr>
            <a:r>
              <a:rPr lang="en-US" sz="700" dirty="0">
                <a:solidFill>
                  <a:srgbClr val="000000"/>
                </a:solidFill>
                <a:latin typeface="Arial" pitchFamily="34" charset="0"/>
                <a:ea typeface="Arial" pitchFamily="34" charset="-122"/>
                <a:cs typeface="Arial" pitchFamily="34" charset="-120"/>
              </a:rPr>
              <a:t>Army Sponsor (to be confirmed) — strategic sponsorship and policy direction</a:t>
            </a:r>
            <a:endParaRPr lang="en-US" sz="700" dirty="0"/>
          </a:p>
          <a:p>
            <a:pPr algn="l" marL="101600" indent="-101600">
              <a:spcAft>
                <a:spcPts val="200"/>
              </a:spcAft>
              <a:buSzPct val="100000"/>
              <a:buChar char="•"/>
            </a:pPr>
            <a:r>
              <a:rPr lang="en-US" sz="700" dirty="0">
                <a:solidFill>
                  <a:srgbClr val="000000"/>
                </a:solidFill>
                <a:latin typeface="Arial" pitchFamily="34" charset="0"/>
                <a:ea typeface="Arial" pitchFamily="34" charset="-122"/>
                <a:cs typeface="Arial" pitchFamily="34" charset="-120"/>
              </a:rPr>
              <a:t>COMDT ACS — interim capability integrator</a:t>
            </a:r>
            <a:endParaRPr lang="en-US" sz="700" dirty="0"/>
          </a:p>
          <a:p>
            <a:pPr algn="l" marL="101600" indent="-101600">
              <a:spcAft>
                <a:spcPts val="200"/>
              </a:spcAft>
              <a:buSzPct val="100000"/>
              <a:buChar char="•"/>
            </a:pPr>
            <a:r>
              <a:rPr lang="en-US" sz="700" dirty="0">
                <a:solidFill>
                  <a:srgbClr val="000000"/>
                </a:solidFill>
                <a:latin typeface="Arial" pitchFamily="34" charset="0"/>
                <a:ea typeface="Arial" pitchFamily="34" charset="-122"/>
                <a:cs typeface="Arial" pitchFamily="34" charset="-120"/>
              </a:rPr>
              <a:t>ACS — framework development and capability-integration lead</a:t>
            </a:r>
            <a:endParaRPr lang="en-US" sz="700" dirty="0"/>
          </a:p>
          <a:p>
            <a:pPr algn="l" marL="101600" indent="-101600">
              <a:spcAft>
                <a:spcPts val="200"/>
              </a:spcAft>
              <a:buSzPct val="100000"/>
              <a:buChar char="•"/>
            </a:pPr>
            <a:r>
              <a:rPr lang="en-US" sz="700" dirty="0">
                <a:solidFill>
                  <a:srgbClr val="000000"/>
                </a:solidFill>
                <a:latin typeface="Arial" pitchFamily="34" charset="0"/>
                <a:ea typeface="Arial" pitchFamily="34" charset="-122"/>
                <a:cs typeface="Arial" pitchFamily="34" charset="-120"/>
              </a:rPr>
              <a:t>HPC — COGCON product steward; performance-cognition adviser</a:t>
            </a:r>
            <a:endParaRPr lang="en-US" sz="700" dirty="0"/>
          </a:p>
          <a:p>
            <a:pPr algn="l" marL="101600" indent="-101600">
              <a:spcAft>
                <a:spcPts val="200"/>
              </a:spcAft>
              <a:buSzPct val="100000"/>
              <a:buChar char="•"/>
            </a:pPr>
            <a:r>
              <a:rPr lang="en-US" sz="700" dirty="0">
                <a:solidFill>
                  <a:srgbClr val="000000"/>
                </a:solidFill>
                <a:latin typeface="Arial" pitchFamily="34" charset="0"/>
                <a:ea typeface="Arial" pitchFamily="34" charset="-122"/>
                <a:cs typeface="Arial" pitchFamily="34" charset="-120"/>
              </a:rPr>
              <a:t>Layered doctrine, evidence, professional and delivery assurance</a:t>
            </a:r>
            <a:endParaRPr lang="en-US" sz="700" dirty="0"/>
          </a:p>
        </p:txBody>
      </p:sp>
      <p:sp>
        <p:nvSpPr>
          <p:cNvPr id="98" name="Shape 83"/>
          <p:cNvSpPr/>
          <p:nvPr/>
        </p:nvSpPr>
        <p:spPr>
          <a:xfrm>
            <a:off x="3858768" y="8997696"/>
            <a:ext cx="3246120" cy="1078992"/>
          </a:xfrm>
          <a:prstGeom prst="rect">
            <a:avLst/>
          </a:prstGeom>
          <a:solidFill>
            <a:srgbClr val="CDD2B7">
              <a:alpha val="28000"/>
            </a:srgbClr>
          </a:solidFill>
          <a:ln/>
        </p:spPr>
      </p:sp>
      <p:pic>
        <p:nvPicPr>
          <p:cNvPr id="99" name="Image 13" descr="preencoded.png">    </p:cNvPr>
          <p:cNvPicPr>
            <a:picLocks noChangeAspect="1"/>
          </p:cNvPicPr>
          <p:nvPr/>
        </p:nvPicPr>
        <p:blipFill>
          <a:blip r:embed="rId14"/>
          <a:stretch>
            <a:fillRect/>
          </a:stretch>
        </p:blipFill>
        <p:spPr>
          <a:xfrm>
            <a:off x="3986784" y="9089136"/>
            <a:ext cx="201168" cy="201168"/>
          </a:xfrm>
          <a:prstGeom prst="rect">
            <a:avLst/>
          </a:prstGeom>
        </p:spPr>
      </p:pic>
      <p:sp>
        <p:nvSpPr>
          <p:cNvPr id="100" name="Text 84"/>
          <p:cNvSpPr/>
          <p:nvPr/>
        </p:nvSpPr>
        <p:spPr>
          <a:xfrm>
            <a:off x="4261104" y="9079992"/>
            <a:ext cx="2770632" cy="201168"/>
          </a:xfrm>
          <a:prstGeom prst="rect">
            <a:avLst/>
          </a:prstGeom>
          <a:noFill/>
          <a:ln/>
        </p:spPr>
        <p:txBody>
          <a:bodyPr wrap="square" lIns="0" tIns="0" rIns="0" bIns="0" rtlCol="0" anchor="ctr"/>
          <a:lstStyle/>
          <a:p>
            <a:pPr algn="l" indent="0" marL="0">
              <a:buNone/>
            </a:pPr>
            <a:r>
              <a:rPr lang="en-US" sz="880" b="1" dirty="0">
                <a:solidFill>
                  <a:srgbClr val="002516"/>
                </a:solidFill>
                <a:latin typeface="Arial" pitchFamily="34" charset="0"/>
                <a:ea typeface="Arial" pitchFamily="34" charset="-122"/>
                <a:cs typeface="Arial" pitchFamily="34" charset="-120"/>
              </a:rPr>
              <a:t>PROGRAMME OF WORK — PHASES 0–4</a:t>
            </a:r>
            <a:endParaRPr lang="en-US" sz="880" dirty="0"/>
          </a:p>
        </p:txBody>
      </p:sp>
      <p:sp>
        <p:nvSpPr>
          <p:cNvPr id="101" name="Text 85"/>
          <p:cNvSpPr/>
          <p:nvPr/>
        </p:nvSpPr>
        <p:spPr>
          <a:xfrm>
            <a:off x="4023360" y="9326880"/>
            <a:ext cx="2971800" cy="713232"/>
          </a:xfrm>
          <a:prstGeom prst="rect">
            <a:avLst/>
          </a:prstGeom>
          <a:noFill/>
          <a:ln/>
        </p:spPr>
        <p:txBody>
          <a:bodyPr wrap="square" lIns="0" tIns="0" rIns="0" bIns="0" rtlCol="0" anchor="t"/>
          <a:lstStyle/>
          <a:p>
            <a:pPr algn="l" indent="0" marL="0">
              <a:spcAft>
                <a:spcPts val="200"/>
              </a:spcAft>
              <a:buNone/>
            </a:pPr>
            <a:r>
              <a:rPr lang="en-US" sz="700" dirty="0">
                <a:solidFill>
                  <a:srgbClr val="000000"/>
                </a:solidFill>
                <a:latin typeface="Arial" pitchFamily="34" charset="0"/>
                <a:ea typeface="Arial" pitchFamily="34" charset="-122"/>
                <a:cs typeface="Arial" pitchFamily="34" charset="-120"/>
              </a:rPr>
              <a:t>0.  Define terms, sponsorship and relationship</a:t>
            </a:r>
            <a:endParaRPr lang="en-US" sz="700" dirty="0"/>
          </a:p>
          <a:p>
            <a:pPr algn="l" indent="0" marL="0">
              <a:spcAft>
                <a:spcPts val="200"/>
              </a:spcAft>
              <a:buNone/>
            </a:pPr>
            <a:r>
              <a:rPr lang="en-US" sz="700" dirty="0">
                <a:solidFill>
                  <a:srgbClr val="000000"/>
                </a:solidFill>
                <a:latin typeface="Arial" pitchFamily="34" charset="0"/>
                <a:ea typeface="Arial" pitchFamily="34" charset="-122"/>
                <a:cs typeface="Arial" pitchFamily="34" charset="-120"/>
              </a:rPr>
              <a:t>1.  Stocktake current capabilities, products and evidence</a:t>
            </a:r>
            <a:endParaRPr lang="en-US" sz="700" dirty="0"/>
          </a:p>
          <a:p>
            <a:pPr algn="l" indent="0" marL="0">
              <a:spcAft>
                <a:spcPts val="200"/>
              </a:spcAft>
              <a:buNone/>
            </a:pPr>
            <a:r>
              <a:rPr lang="en-US" sz="700" dirty="0">
                <a:solidFill>
                  <a:srgbClr val="000000"/>
                </a:solidFill>
                <a:latin typeface="Arial" pitchFamily="34" charset="0"/>
                <a:ea typeface="Arial" pitchFamily="34" charset="-122"/>
                <a:cs typeface="Arial" pitchFamily="34" charset="-120"/>
              </a:rPr>
              <a:t>2.  Draft the Army Combat Mindset Framework</a:t>
            </a:r>
            <a:endParaRPr lang="en-US" sz="700" dirty="0"/>
          </a:p>
          <a:p>
            <a:pPr algn="l" indent="0" marL="0">
              <a:spcAft>
                <a:spcPts val="200"/>
              </a:spcAft>
              <a:buNone/>
            </a:pPr>
            <a:r>
              <a:rPr lang="en-US" sz="700" dirty="0">
                <a:solidFill>
                  <a:srgbClr val="000000"/>
                </a:solidFill>
                <a:latin typeface="Arial" pitchFamily="34" charset="0"/>
                <a:ea typeface="Arial" pitchFamily="34" charset="-122"/>
                <a:cs typeface="Arial" pitchFamily="34" charset="-120"/>
              </a:rPr>
              <a:t>3.  Validate with stakeholders and units</a:t>
            </a:r>
            <a:endParaRPr lang="en-US" sz="700" dirty="0"/>
          </a:p>
          <a:p>
            <a:pPr algn="l" indent="0" marL="0">
              <a:spcAft>
                <a:spcPts val="200"/>
              </a:spcAft>
              <a:buNone/>
            </a:pPr>
            <a:r>
              <a:rPr lang="en-US" sz="700" dirty="0">
                <a:solidFill>
                  <a:srgbClr val="000000"/>
                </a:solidFill>
                <a:latin typeface="Arial" pitchFamily="34" charset="0"/>
                <a:ea typeface="Arial" pitchFamily="34" charset="-122"/>
                <a:cs typeface="Arial" pitchFamily="34" charset="-120"/>
              </a:rPr>
              <a:t>4.  Report back — Framework v1.0, November 2026</a:t>
            </a:r>
            <a:endParaRPr lang="en-US" sz="700" dirty="0"/>
          </a:p>
        </p:txBody>
      </p:sp>
      <p:sp>
        <p:nvSpPr>
          <p:cNvPr id="102" name="Shape 86"/>
          <p:cNvSpPr/>
          <p:nvPr/>
        </p:nvSpPr>
        <p:spPr>
          <a:xfrm>
            <a:off x="457200" y="10204704"/>
            <a:ext cx="6647688" cy="274320"/>
          </a:xfrm>
          <a:prstGeom prst="rect">
            <a:avLst/>
          </a:prstGeom>
          <a:solidFill>
            <a:srgbClr val="000000"/>
          </a:solidFill>
          <a:ln/>
        </p:spPr>
      </p:sp>
      <p:pic>
        <p:nvPicPr>
          <p:cNvPr id="103" name="Image 14" descr="preencoded.png">    </p:cNvPr>
          <p:cNvPicPr>
            <a:picLocks noChangeAspect="1"/>
          </p:cNvPicPr>
          <p:nvPr/>
        </p:nvPicPr>
        <p:blipFill>
          <a:blip r:embed="rId15"/>
          <a:stretch>
            <a:fillRect/>
          </a:stretch>
        </p:blipFill>
        <p:spPr>
          <a:xfrm>
            <a:off x="585216" y="10250424"/>
            <a:ext cx="182880" cy="182880"/>
          </a:xfrm>
          <a:prstGeom prst="rect">
            <a:avLst/>
          </a:prstGeom>
        </p:spPr>
      </p:pic>
      <p:sp>
        <p:nvSpPr>
          <p:cNvPr id="104" name="Text 87"/>
          <p:cNvSpPr/>
          <p:nvPr/>
        </p:nvSpPr>
        <p:spPr>
          <a:xfrm>
            <a:off x="877824" y="10204704"/>
            <a:ext cx="6135624" cy="274320"/>
          </a:xfrm>
          <a:prstGeom prst="rect">
            <a:avLst/>
          </a:prstGeom>
          <a:noFill/>
          <a:ln/>
        </p:spPr>
        <p:txBody>
          <a:bodyPr wrap="square" lIns="0" tIns="0" rIns="0" bIns="0" rtlCol="0" anchor="ctr"/>
          <a:lstStyle/>
          <a:p>
            <a:pPr algn="l" indent="0" marL="0">
              <a:buNone/>
            </a:pPr>
            <a:r>
              <a:rPr lang="en-US" sz="1000" b="1" spc="250" kern="0" dirty="0">
                <a:solidFill>
                  <a:srgbClr val="C62026"/>
                </a:solidFill>
                <a:latin typeface="Arial" pitchFamily="34" charset="0"/>
                <a:ea typeface="Arial" pitchFamily="34" charset="-122"/>
                <a:cs typeface="Arial" pitchFamily="34" charset="-120"/>
              </a:rPr>
              <a:t>HARDER TO KILL</a:t>
            </a:r>
            <a:pPr algn="l" indent="0" marL="0">
              <a:buNone/>
            </a:pPr>
            <a:r>
              <a:rPr lang="en-US" sz="700" dirty="0">
                <a:solidFill>
                  <a:srgbClr val="FFFFFF"/>
                </a:solidFill>
                <a:latin typeface="Arial" pitchFamily="34" charset="0"/>
                <a:ea typeface="Arial" pitchFamily="34" charset="-122"/>
                <a:cs typeface="Arial" pitchFamily="34" charset="-120"/>
              </a:rPr>
              <a:t>      Proposed Warfighter Focus tagline — subject to sponsor endorsement</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Slides>
  <Notes>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vt:i4>
      </vt:variant>
    </vt:vector>
  </HeadingPairs>
  <TitlesOfParts>
    <vt:vector size="4" baseType="lpstr">
      <vt:lpstr>Arial</vt:lpstr>
      <vt:lpstr>Calibri</vt:lpstr>
      <vt:lpstr>Office Theme</vt:lpstr>
      <vt:lpstr>Slide 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2026-07-23T08:59:39Z</dcterms:created>
  <dcterms:modified xsi:type="dcterms:W3CDTF">2026-07-23T08:59:39Z</dcterms:modified>
</cp:coreProperties>
</file>