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1.png"/><Relationship Id="rId4" Type="http://schemas.openxmlformats.org/officeDocument/2006/relationships/image" Target="../media/image-1-1.png"/><Relationship Id="rId5" Type="http://schemas.openxmlformats.org/officeDocument/2006/relationships/image" Target="../media/image-1-1.png"/><Relationship Id="rId6" Type="http://schemas.openxmlformats.org/officeDocument/2006/relationships/image" Target="../media/image-1-1.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513832" cy="164592"/>
          </a:xfrm>
          <a:prstGeom prst="rect">
            <a:avLst/>
          </a:prstGeom>
          <a:noFill/>
          <a:ln/>
        </p:spPr>
        <p:txBody>
          <a:bodyPr wrap="square" lIns="0" tIns="0" rIns="0" bIns="0" rtlCol="0" anchor="ctr"/>
          <a:lstStyle/>
          <a:p>
            <a:pPr algn="l" indent="0" marL="0">
              <a:buNone/>
            </a:pPr>
            <a:r>
              <a:rPr lang="en-US" sz="700" b="1" spc="140" kern="0" dirty="0">
                <a:solidFill>
                  <a:srgbClr val="1A1A1A"/>
                </a:solidFill>
                <a:latin typeface="Arial" pitchFamily="34" charset="0"/>
                <a:ea typeface="Arial" pitchFamily="34" charset="-122"/>
                <a:cs typeface="Arial" pitchFamily="34" charset="-120"/>
              </a:rPr>
              <a:t>LOCKUP</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01</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Combat Mindset and the NZ Army logo</a:t>
            </a:r>
            <a:endParaRPr lang="en-US" sz="1900" dirty="0"/>
          </a:p>
        </p:txBody>
      </p:sp>
      <p:sp>
        <p:nvSpPr>
          <p:cNvPr id="6" name="Text 4"/>
          <p:cNvSpPr/>
          <p:nvPr/>
        </p:nvSpPr>
        <p:spPr>
          <a:xfrm>
            <a:off x="566928" y="1060704"/>
            <a:ext cx="6153912" cy="402336"/>
          </a:xfrm>
          <a:prstGeom prst="rect">
            <a:avLst/>
          </a:prstGeom>
          <a:noFill/>
          <a:ln/>
        </p:spPr>
        <p:txBody>
          <a:bodyPr wrap="square" lIns="0" tIns="0" rIns="0" bIns="0" rtlCol="0" anchor="t"/>
          <a:lstStyle/>
          <a:p>
            <a:pPr algn="l" indent="0" marL="0">
              <a:lnSpc>
                <a:spcPct val="120000"/>
              </a:lnSpc>
              <a:buNone/>
            </a:pPr>
            <a:r>
              <a:rPr lang="en-US" sz="940" dirty="0">
                <a:solidFill>
                  <a:srgbClr val="6E6E6E"/>
                </a:solidFill>
                <a:latin typeface="Arial" pitchFamily="34" charset="0"/>
                <a:ea typeface="Arial" pitchFamily="34" charset="-122"/>
                <a:cs typeface="Arial" pitchFamily="34" charset="-120"/>
              </a:rPr>
              <a:t>Six pairings, all built only from the logo and plain text. The guidelines fix the logo, its clear space and its minimum size, and set the name in plain text, title case, in the Army's own face. They leave the arrangement open.</a:t>
            </a:r>
            <a:endParaRPr lang="en-US" sz="940" dirty="0"/>
          </a:p>
        </p:txBody>
      </p:sp>
      <p:sp>
        <p:nvSpPr>
          <p:cNvPr id="7" name="Text 5"/>
          <p:cNvSpPr/>
          <p:nvPr/>
        </p:nvSpPr>
        <p:spPr>
          <a:xfrm>
            <a:off x="566928" y="10204704"/>
            <a:ext cx="36576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LOCKUP</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60" kern="0" dirty="0">
                <a:solidFill>
                  <a:srgbClr val="6E6E6E"/>
                </a:solidFill>
                <a:latin typeface="Arial" pitchFamily="34" charset="0"/>
                <a:ea typeface="Arial" pitchFamily="34" charset="-122"/>
                <a:cs typeface="Arial" pitchFamily="34" charset="-120"/>
              </a:rPr>
              <a:t>DRAFT   |   AUGUST 2026</a:t>
            </a:r>
            <a:endParaRPr lang="en-US" sz="600" dirty="0"/>
          </a:p>
        </p:txBody>
      </p:sp>
      <p:sp>
        <p:nvSpPr>
          <p:cNvPr id="9" name="Text 7"/>
          <p:cNvSpPr/>
          <p:nvPr/>
        </p:nvSpPr>
        <p:spPr>
          <a:xfrm>
            <a:off x="566928" y="17007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SIX PAIRINGS</a:t>
            </a:r>
            <a:endParaRPr lang="en-US" sz="740" dirty="0"/>
          </a:p>
        </p:txBody>
      </p:sp>
      <p:sp>
        <p:nvSpPr>
          <p:cNvPr id="10" name="Shape 8"/>
          <p:cNvSpPr/>
          <p:nvPr/>
        </p:nvSpPr>
        <p:spPr>
          <a:xfrm>
            <a:off x="566928" y="1883664"/>
            <a:ext cx="6428232" cy="7315"/>
          </a:xfrm>
          <a:prstGeom prst="rect">
            <a:avLst/>
          </a:prstGeom>
          <a:solidFill>
            <a:srgbClr val="D2D2D2"/>
          </a:solidFill>
          <a:ln/>
        </p:spPr>
      </p:sp>
      <p:sp>
        <p:nvSpPr>
          <p:cNvPr id="11" name="Shape 9"/>
          <p:cNvSpPr/>
          <p:nvPr/>
        </p:nvSpPr>
        <p:spPr>
          <a:xfrm>
            <a:off x="566928" y="2011680"/>
            <a:ext cx="3140964" cy="1298448"/>
          </a:xfrm>
          <a:prstGeom prst="rect">
            <a:avLst/>
          </a:prstGeom>
          <a:solidFill>
            <a:srgbClr val="FFFFFF"/>
          </a:solidFill>
          <a:ln w="12700">
            <a:solidFill>
              <a:srgbClr val="D2D2D2"/>
            </a:solidFill>
            <a:prstDash val="solid"/>
          </a:ln>
        </p:spPr>
      </p:sp>
      <p:sp>
        <p:nvSpPr>
          <p:cNvPr id="12" name="Text 10"/>
          <p:cNvSpPr/>
          <p:nvPr/>
        </p:nvSpPr>
        <p:spPr>
          <a:xfrm>
            <a:off x="694944" y="2103120"/>
            <a:ext cx="274320" cy="146304"/>
          </a:xfrm>
          <a:prstGeom prst="rect">
            <a:avLst/>
          </a:prstGeom>
          <a:noFill/>
          <a:ln/>
        </p:spPr>
        <p:txBody>
          <a:bodyPr wrap="square" lIns="0" tIns="0" rIns="0" bIns="0" rtlCol="0" anchor="ctr"/>
          <a:lstStyle/>
          <a:p>
            <a:pPr algn="l" indent="0" marL="0">
              <a:buNone/>
            </a:pPr>
            <a:r>
              <a:rPr lang="en-US" sz="700" b="1" dirty="0">
                <a:solidFill>
                  <a:srgbClr val="6E6E6E"/>
                </a:solidFill>
                <a:latin typeface="Arial" pitchFamily="34" charset="0"/>
                <a:ea typeface="Arial" pitchFamily="34" charset="-122"/>
                <a:cs typeface="Arial" pitchFamily="34" charset="-120"/>
              </a:rPr>
              <a:t>A</a:t>
            </a:r>
            <a:endParaRPr lang="en-US" sz="700" dirty="0"/>
          </a:p>
        </p:txBody>
      </p:sp>
      <p:pic>
        <p:nvPicPr>
          <p:cNvPr id="13" name="Image 0" descr="assets/nz-army-logo.png">    </p:cNvPr>
          <p:cNvPicPr>
            <a:picLocks noChangeAspect="1"/>
          </p:cNvPicPr>
          <p:nvPr/>
        </p:nvPicPr>
        <p:blipFill>
          <a:blip r:embed="rId1"/>
          <a:stretch>
            <a:fillRect/>
          </a:stretch>
        </p:blipFill>
        <p:spPr>
          <a:xfrm>
            <a:off x="786384" y="2487168"/>
            <a:ext cx="1170432" cy="267222"/>
          </a:xfrm>
          <a:prstGeom prst="rect">
            <a:avLst/>
          </a:prstGeom>
        </p:spPr>
      </p:pic>
      <p:sp>
        <p:nvSpPr>
          <p:cNvPr id="14" name="Text 11"/>
          <p:cNvSpPr/>
          <p:nvPr/>
        </p:nvSpPr>
        <p:spPr>
          <a:xfrm>
            <a:off x="2098672" y="2487168"/>
            <a:ext cx="1755648" cy="267222"/>
          </a:xfrm>
          <a:prstGeom prst="rect">
            <a:avLst/>
          </a:prstGeom>
          <a:noFill/>
          <a:ln/>
        </p:spPr>
        <p:txBody>
          <a:bodyPr wrap="square" lIns="0" tIns="0" rIns="0" bIns="0" rtlCol="0" anchor="ctr"/>
          <a:lstStyle/>
          <a:p>
            <a:pPr algn="l" indent="0" marL="0">
              <a:buNone/>
            </a:pPr>
            <a:r>
              <a:rPr lang="en-US" sz="1217" b="1" dirty="0">
                <a:solidFill>
                  <a:srgbClr val="1A1A1A"/>
                </a:solidFill>
                <a:latin typeface="Arial" pitchFamily="34" charset="0"/>
                <a:ea typeface="Arial" pitchFamily="34" charset="-122"/>
                <a:cs typeface="Arial" pitchFamily="34" charset="-120"/>
              </a:rPr>
              <a:t>Combat Mindset</a:t>
            </a:r>
            <a:endParaRPr lang="en-US" sz="1217" dirty="0"/>
          </a:p>
        </p:txBody>
      </p:sp>
      <p:sp>
        <p:nvSpPr>
          <p:cNvPr id="15" name="Text 12"/>
          <p:cNvSpPr/>
          <p:nvPr/>
        </p:nvSpPr>
        <p:spPr>
          <a:xfrm>
            <a:off x="566928" y="3364992"/>
            <a:ext cx="3140964" cy="164592"/>
          </a:xfrm>
          <a:prstGeom prst="rect">
            <a:avLst/>
          </a:prstGeom>
          <a:noFill/>
          <a:ln/>
        </p:spPr>
        <p:txBody>
          <a:bodyPr wrap="square" lIns="0" tIns="0" rIns="0" bIns="0" rtlCol="0" anchor="ctr"/>
          <a:lstStyle/>
          <a:p>
            <a:pPr algn="l" indent="0" marL="0">
              <a:buNone/>
            </a:pPr>
            <a:r>
              <a:rPr lang="en-US" sz="860" b="1" dirty="0">
                <a:solidFill>
                  <a:srgbClr val="1A1A1A"/>
                </a:solidFill>
                <a:latin typeface="Arial" pitchFamily="34" charset="0"/>
                <a:ea typeface="Arial" pitchFamily="34" charset="-122"/>
                <a:cs typeface="Arial" pitchFamily="34" charset="-120"/>
              </a:rPr>
              <a:t>Horizontal</a:t>
            </a:r>
            <a:endParaRPr lang="en-US" sz="860" dirty="0"/>
          </a:p>
        </p:txBody>
      </p:sp>
      <p:sp>
        <p:nvSpPr>
          <p:cNvPr id="16" name="Text 13"/>
          <p:cNvSpPr/>
          <p:nvPr/>
        </p:nvSpPr>
        <p:spPr>
          <a:xfrm>
            <a:off x="566928" y="3529584"/>
            <a:ext cx="3049524" cy="219456"/>
          </a:xfrm>
          <a:prstGeom prst="rect">
            <a:avLst/>
          </a:prstGeom>
          <a:noFill/>
          <a:ln/>
        </p:spPr>
        <p:txBody>
          <a:bodyPr wrap="square" lIns="0" tIns="0" rIns="0" bIns="0" rtlCol="0" anchor="t"/>
          <a:lstStyle/>
          <a:p>
            <a:pPr algn="l" indent="0" marL="0">
              <a:lnSpc>
                <a:spcPct val="112000"/>
              </a:lnSpc>
              <a:buNone/>
            </a:pPr>
            <a:r>
              <a:rPr lang="en-US" sz="760" dirty="0">
                <a:solidFill>
                  <a:srgbClr val="3E3E3E"/>
                </a:solidFill>
                <a:latin typeface="Arial" pitchFamily="34" charset="0"/>
                <a:ea typeface="Arial" pitchFamily="34" charset="-122"/>
                <a:cs typeface="Arial" pitchFamily="34" charset="-120"/>
              </a:rPr>
              <a:t>Name beside the logo, one clear space away. The pattern the guidelines illustrate.</a:t>
            </a:r>
            <a:endParaRPr lang="en-US" sz="760" dirty="0"/>
          </a:p>
        </p:txBody>
      </p:sp>
      <p:sp>
        <p:nvSpPr>
          <p:cNvPr id="17" name="Shape 14"/>
          <p:cNvSpPr/>
          <p:nvPr/>
        </p:nvSpPr>
        <p:spPr>
          <a:xfrm>
            <a:off x="3854196" y="2011680"/>
            <a:ext cx="3140964" cy="1298448"/>
          </a:xfrm>
          <a:prstGeom prst="rect">
            <a:avLst/>
          </a:prstGeom>
          <a:solidFill>
            <a:srgbClr val="FFFFFF"/>
          </a:solidFill>
          <a:ln w="12700">
            <a:solidFill>
              <a:srgbClr val="D2D2D2"/>
            </a:solidFill>
            <a:prstDash val="solid"/>
          </a:ln>
        </p:spPr>
      </p:sp>
      <p:sp>
        <p:nvSpPr>
          <p:cNvPr id="18" name="Text 15"/>
          <p:cNvSpPr/>
          <p:nvPr/>
        </p:nvSpPr>
        <p:spPr>
          <a:xfrm>
            <a:off x="3982212" y="2103120"/>
            <a:ext cx="274320" cy="146304"/>
          </a:xfrm>
          <a:prstGeom prst="rect">
            <a:avLst/>
          </a:prstGeom>
          <a:noFill/>
          <a:ln/>
        </p:spPr>
        <p:txBody>
          <a:bodyPr wrap="square" lIns="0" tIns="0" rIns="0" bIns="0" rtlCol="0" anchor="ctr"/>
          <a:lstStyle/>
          <a:p>
            <a:pPr algn="l" indent="0" marL="0">
              <a:buNone/>
            </a:pPr>
            <a:r>
              <a:rPr lang="en-US" sz="700" b="1" dirty="0">
                <a:solidFill>
                  <a:srgbClr val="6E6E6E"/>
                </a:solidFill>
                <a:latin typeface="Arial" pitchFamily="34" charset="0"/>
                <a:ea typeface="Arial" pitchFamily="34" charset="-122"/>
                <a:cs typeface="Arial" pitchFamily="34" charset="-120"/>
              </a:rPr>
              <a:t>B</a:t>
            </a:r>
            <a:endParaRPr lang="en-US" sz="700" dirty="0"/>
          </a:p>
        </p:txBody>
      </p:sp>
      <p:pic>
        <p:nvPicPr>
          <p:cNvPr id="19" name="Image 1" descr="assets/nz-army-logo.png">    </p:cNvPr>
          <p:cNvPicPr>
            <a:picLocks noChangeAspect="1"/>
          </p:cNvPicPr>
          <p:nvPr/>
        </p:nvPicPr>
        <p:blipFill>
          <a:blip r:embed="rId2"/>
          <a:stretch>
            <a:fillRect/>
          </a:stretch>
        </p:blipFill>
        <p:spPr>
          <a:xfrm>
            <a:off x="4073652" y="2487168"/>
            <a:ext cx="1170432" cy="267222"/>
          </a:xfrm>
          <a:prstGeom prst="rect">
            <a:avLst/>
          </a:prstGeom>
        </p:spPr>
      </p:pic>
      <p:sp>
        <p:nvSpPr>
          <p:cNvPr id="20" name="Text 16"/>
          <p:cNvSpPr/>
          <p:nvPr/>
        </p:nvSpPr>
        <p:spPr>
          <a:xfrm>
            <a:off x="5385940" y="2487168"/>
            <a:ext cx="1755648" cy="267222"/>
          </a:xfrm>
          <a:prstGeom prst="rect">
            <a:avLst/>
          </a:prstGeom>
          <a:noFill/>
          <a:ln/>
        </p:spPr>
        <p:txBody>
          <a:bodyPr wrap="square" lIns="0" tIns="0" rIns="0" bIns="0" rtlCol="0" anchor="ctr"/>
          <a:lstStyle/>
          <a:p>
            <a:pPr algn="l" indent="0" marL="0">
              <a:buNone/>
            </a:pPr>
            <a:r>
              <a:rPr lang="en-US" sz="936" b="1" dirty="0">
                <a:solidFill>
                  <a:srgbClr val="1A1A1A"/>
                </a:solidFill>
                <a:latin typeface="Arial" pitchFamily="34" charset="0"/>
                <a:ea typeface="Arial" pitchFamily="34" charset="-122"/>
                <a:cs typeface="Arial" pitchFamily="34" charset="-120"/>
              </a:rPr>
              <a:t>Combat Mindset</a:t>
            </a:r>
            <a:endParaRPr lang="en-US" sz="936" dirty="0"/>
          </a:p>
          <a:p>
            <a:pPr algn="l" indent="0" marL="0">
              <a:buNone/>
            </a:pPr>
            <a:r>
              <a:rPr lang="en-US" sz="936" b="1" dirty="0">
                <a:solidFill>
                  <a:srgbClr val="1A1A1A"/>
                </a:solidFill>
                <a:latin typeface="Arial" pitchFamily="34" charset="0"/>
                <a:ea typeface="Arial" pitchFamily="34" charset="-122"/>
                <a:cs typeface="Arial" pitchFamily="34" charset="-120"/>
              </a:rPr>
              <a:t>Framework</a:t>
            </a:r>
            <a:endParaRPr lang="en-US" sz="936" dirty="0"/>
          </a:p>
        </p:txBody>
      </p:sp>
      <p:sp>
        <p:nvSpPr>
          <p:cNvPr id="21" name="Text 17"/>
          <p:cNvSpPr/>
          <p:nvPr/>
        </p:nvSpPr>
        <p:spPr>
          <a:xfrm>
            <a:off x="3854196" y="3364992"/>
            <a:ext cx="3140964" cy="164592"/>
          </a:xfrm>
          <a:prstGeom prst="rect">
            <a:avLst/>
          </a:prstGeom>
          <a:noFill/>
          <a:ln/>
        </p:spPr>
        <p:txBody>
          <a:bodyPr wrap="square" lIns="0" tIns="0" rIns="0" bIns="0" rtlCol="0" anchor="ctr"/>
          <a:lstStyle/>
          <a:p>
            <a:pPr algn="l" indent="0" marL="0">
              <a:buNone/>
            </a:pPr>
            <a:r>
              <a:rPr lang="en-US" sz="860" b="1" dirty="0">
                <a:solidFill>
                  <a:srgbClr val="1A1A1A"/>
                </a:solidFill>
                <a:latin typeface="Arial" pitchFamily="34" charset="0"/>
                <a:ea typeface="Arial" pitchFamily="34" charset="-122"/>
                <a:cs typeface="Arial" pitchFamily="34" charset="-120"/>
              </a:rPr>
              <a:t>Horizontal, two line</a:t>
            </a:r>
            <a:endParaRPr lang="en-US" sz="860" dirty="0"/>
          </a:p>
        </p:txBody>
      </p:sp>
      <p:sp>
        <p:nvSpPr>
          <p:cNvPr id="22" name="Text 18"/>
          <p:cNvSpPr/>
          <p:nvPr/>
        </p:nvSpPr>
        <p:spPr>
          <a:xfrm>
            <a:off x="3854196" y="3529584"/>
            <a:ext cx="3049524" cy="219456"/>
          </a:xfrm>
          <a:prstGeom prst="rect">
            <a:avLst/>
          </a:prstGeom>
          <a:noFill/>
          <a:ln/>
        </p:spPr>
        <p:txBody>
          <a:bodyPr wrap="square" lIns="0" tIns="0" rIns="0" bIns="0" rtlCol="0" anchor="t"/>
          <a:lstStyle/>
          <a:p>
            <a:pPr algn="l" indent="0" marL="0">
              <a:lnSpc>
                <a:spcPct val="112000"/>
              </a:lnSpc>
              <a:buNone/>
            </a:pPr>
            <a:r>
              <a:rPr lang="en-US" sz="760" dirty="0">
                <a:solidFill>
                  <a:srgbClr val="3E3E3E"/>
                </a:solidFill>
                <a:latin typeface="Arial" pitchFamily="34" charset="0"/>
                <a:ea typeface="Arial" pitchFamily="34" charset="-122"/>
                <a:cs typeface="Arial" pitchFamily="34" charset="-120"/>
              </a:rPr>
              <a:t>For where the full name of the framework is needed.</a:t>
            </a:r>
            <a:endParaRPr lang="en-US" sz="760" dirty="0"/>
          </a:p>
        </p:txBody>
      </p:sp>
      <p:sp>
        <p:nvSpPr>
          <p:cNvPr id="23" name="Shape 19"/>
          <p:cNvSpPr/>
          <p:nvPr/>
        </p:nvSpPr>
        <p:spPr>
          <a:xfrm>
            <a:off x="566928" y="3877056"/>
            <a:ext cx="3140964" cy="1298448"/>
          </a:xfrm>
          <a:prstGeom prst="rect">
            <a:avLst/>
          </a:prstGeom>
          <a:solidFill>
            <a:srgbClr val="FFFFFF"/>
          </a:solidFill>
          <a:ln w="12700">
            <a:solidFill>
              <a:srgbClr val="D2D2D2"/>
            </a:solidFill>
            <a:prstDash val="solid"/>
          </a:ln>
        </p:spPr>
      </p:sp>
      <p:sp>
        <p:nvSpPr>
          <p:cNvPr id="24" name="Text 20"/>
          <p:cNvSpPr/>
          <p:nvPr/>
        </p:nvSpPr>
        <p:spPr>
          <a:xfrm>
            <a:off x="694944" y="3968496"/>
            <a:ext cx="274320" cy="146304"/>
          </a:xfrm>
          <a:prstGeom prst="rect">
            <a:avLst/>
          </a:prstGeom>
          <a:noFill/>
          <a:ln/>
        </p:spPr>
        <p:txBody>
          <a:bodyPr wrap="square" lIns="0" tIns="0" rIns="0" bIns="0" rtlCol="0" anchor="ctr"/>
          <a:lstStyle/>
          <a:p>
            <a:pPr algn="l" indent="0" marL="0">
              <a:buNone/>
            </a:pPr>
            <a:r>
              <a:rPr lang="en-US" sz="700" b="1" dirty="0">
                <a:solidFill>
                  <a:srgbClr val="6E6E6E"/>
                </a:solidFill>
                <a:latin typeface="Arial" pitchFamily="34" charset="0"/>
                <a:ea typeface="Arial" pitchFamily="34" charset="-122"/>
                <a:cs typeface="Arial" pitchFamily="34" charset="-120"/>
              </a:rPr>
              <a:t>C</a:t>
            </a:r>
            <a:endParaRPr lang="en-US" sz="700" dirty="0"/>
          </a:p>
        </p:txBody>
      </p:sp>
      <p:pic>
        <p:nvPicPr>
          <p:cNvPr id="25" name="Image 2" descr="assets/nz-army-logo.png">    </p:cNvPr>
          <p:cNvPicPr>
            <a:picLocks noChangeAspect="1"/>
          </p:cNvPicPr>
          <p:nvPr/>
        </p:nvPicPr>
        <p:blipFill>
          <a:blip r:embed="rId3"/>
          <a:stretch>
            <a:fillRect/>
          </a:stretch>
        </p:blipFill>
        <p:spPr>
          <a:xfrm>
            <a:off x="786384" y="4151376"/>
            <a:ext cx="1417320" cy="323589"/>
          </a:xfrm>
          <a:prstGeom prst="rect">
            <a:avLst/>
          </a:prstGeom>
        </p:spPr>
      </p:pic>
      <p:sp>
        <p:nvSpPr>
          <p:cNvPr id="26" name="Shape 21"/>
          <p:cNvSpPr/>
          <p:nvPr/>
        </p:nvSpPr>
        <p:spPr>
          <a:xfrm>
            <a:off x="786384" y="4646744"/>
            <a:ext cx="1417320" cy="17008"/>
          </a:xfrm>
          <a:prstGeom prst="rect">
            <a:avLst/>
          </a:prstGeom>
          <a:solidFill>
            <a:srgbClr val="1A1A1A"/>
          </a:solidFill>
          <a:ln/>
        </p:spPr>
      </p:sp>
      <p:sp>
        <p:nvSpPr>
          <p:cNvPr id="27" name="Text 22"/>
          <p:cNvSpPr/>
          <p:nvPr/>
        </p:nvSpPr>
        <p:spPr>
          <a:xfrm>
            <a:off x="786384" y="4723875"/>
            <a:ext cx="2267712" cy="247592"/>
          </a:xfrm>
          <a:prstGeom prst="rect">
            <a:avLst/>
          </a:prstGeom>
          <a:noFill/>
          <a:ln/>
        </p:spPr>
        <p:txBody>
          <a:bodyPr wrap="square" lIns="0" tIns="0" rIns="0" bIns="0" rtlCol="0" anchor="t"/>
          <a:lstStyle/>
          <a:p>
            <a:pPr algn="l" indent="0" marL="0">
              <a:buNone/>
            </a:pPr>
            <a:r>
              <a:rPr lang="en-US" sz="1625" b="1" dirty="0">
                <a:solidFill>
                  <a:srgbClr val="1A1A1A"/>
                </a:solidFill>
                <a:latin typeface="Arial" pitchFamily="34" charset="0"/>
                <a:ea typeface="Arial" pitchFamily="34" charset="-122"/>
                <a:cs typeface="Arial" pitchFamily="34" charset="-120"/>
              </a:rPr>
              <a:t>Combat Mindset</a:t>
            </a:r>
            <a:endParaRPr lang="en-US" sz="1625" dirty="0"/>
          </a:p>
        </p:txBody>
      </p:sp>
      <p:sp>
        <p:nvSpPr>
          <p:cNvPr id="28" name="Text 23"/>
          <p:cNvSpPr/>
          <p:nvPr/>
        </p:nvSpPr>
        <p:spPr>
          <a:xfrm>
            <a:off x="566928" y="5230368"/>
            <a:ext cx="3140964" cy="164592"/>
          </a:xfrm>
          <a:prstGeom prst="rect">
            <a:avLst/>
          </a:prstGeom>
          <a:noFill/>
          <a:ln/>
        </p:spPr>
        <p:txBody>
          <a:bodyPr wrap="square" lIns="0" tIns="0" rIns="0" bIns="0" rtlCol="0" anchor="ctr"/>
          <a:lstStyle/>
          <a:p>
            <a:pPr algn="l" indent="0" marL="0">
              <a:buNone/>
            </a:pPr>
            <a:r>
              <a:rPr lang="en-US" sz="860" b="1" dirty="0">
                <a:solidFill>
                  <a:srgbClr val="1A1A1A"/>
                </a:solidFill>
                <a:latin typeface="Arial" pitchFamily="34" charset="0"/>
                <a:ea typeface="Arial" pitchFamily="34" charset="-122"/>
                <a:cs typeface="Arial" pitchFamily="34" charset="-120"/>
              </a:rPr>
              <a:t>Stacked, hung from the datum</a:t>
            </a:r>
            <a:endParaRPr lang="en-US" sz="860" dirty="0"/>
          </a:p>
        </p:txBody>
      </p:sp>
      <p:sp>
        <p:nvSpPr>
          <p:cNvPr id="29" name="Text 24"/>
          <p:cNvSpPr/>
          <p:nvPr/>
        </p:nvSpPr>
        <p:spPr>
          <a:xfrm>
            <a:off x="566928" y="5394960"/>
            <a:ext cx="3049524" cy="219456"/>
          </a:xfrm>
          <a:prstGeom prst="rect">
            <a:avLst/>
          </a:prstGeom>
          <a:noFill/>
          <a:ln/>
        </p:spPr>
        <p:txBody>
          <a:bodyPr wrap="square" lIns="0" tIns="0" rIns="0" bIns="0" rtlCol="0" anchor="t"/>
          <a:lstStyle/>
          <a:p>
            <a:pPr algn="l" indent="0" marL="0">
              <a:lnSpc>
                <a:spcPct val="112000"/>
              </a:lnSpc>
              <a:buNone/>
            </a:pPr>
            <a:r>
              <a:rPr lang="en-US" sz="760" dirty="0">
                <a:solidFill>
                  <a:srgbClr val="3E3E3E"/>
                </a:solidFill>
                <a:latin typeface="Arial" pitchFamily="34" charset="0"/>
                <a:ea typeface="Arial" pitchFamily="34" charset="-122"/>
                <a:cs typeface="Arial" pitchFamily="34" charset="-120"/>
              </a:rPr>
              <a:t>The adopted device separating the two. Compact footprint.</a:t>
            </a:r>
            <a:endParaRPr lang="en-US" sz="760" dirty="0"/>
          </a:p>
        </p:txBody>
      </p:sp>
      <p:sp>
        <p:nvSpPr>
          <p:cNvPr id="30" name="Shape 25"/>
          <p:cNvSpPr/>
          <p:nvPr/>
        </p:nvSpPr>
        <p:spPr>
          <a:xfrm>
            <a:off x="3854196" y="3877056"/>
            <a:ext cx="3140964" cy="1298448"/>
          </a:xfrm>
          <a:prstGeom prst="rect">
            <a:avLst/>
          </a:prstGeom>
          <a:solidFill>
            <a:srgbClr val="FFFFFF"/>
          </a:solidFill>
          <a:ln w="12700">
            <a:solidFill>
              <a:srgbClr val="D2D2D2"/>
            </a:solidFill>
            <a:prstDash val="solid"/>
          </a:ln>
        </p:spPr>
      </p:sp>
      <p:sp>
        <p:nvSpPr>
          <p:cNvPr id="31" name="Text 26"/>
          <p:cNvSpPr/>
          <p:nvPr/>
        </p:nvSpPr>
        <p:spPr>
          <a:xfrm>
            <a:off x="3982212" y="3968496"/>
            <a:ext cx="274320" cy="146304"/>
          </a:xfrm>
          <a:prstGeom prst="rect">
            <a:avLst/>
          </a:prstGeom>
          <a:noFill/>
          <a:ln/>
        </p:spPr>
        <p:txBody>
          <a:bodyPr wrap="square" lIns="0" tIns="0" rIns="0" bIns="0" rtlCol="0" anchor="ctr"/>
          <a:lstStyle/>
          <a:p>
            <a:pPr algn="l" indent="0" marL="0">
              <a:buNone/>
            </a:pPr>
            <a:r>
              <a:rPr lang="en-US" sz="700" b="1" dirty="0">
                <a:solidFill>
                  <a:srgbClr val="6E6E6E"/>
                </a:solidFill>
                <a:latin typeface="Arial" pitchFamily="34" charset="0"/>
                <a:ea typeface="Arial" pitchFamily="34" charset="-122"/>
                <a:cs typeface="Arial" pitchFamily="34" charset="-120"/>
              </a:rPr>
              <a:t>D</a:t>
            </a:r>
            <a:endParaRPr lang="en-US" sz="700" dirty="0"/>
          </a:p>
        </p:txBody>
      </p:sp>
      <p:pic>
        <p:nvPicPr>
          <p:cNvPr id="32" name="Image 3" descr="assets/nz-army-logo.png">    </p:cNvPr>
          <p:cNvPicPr>
            <a:picLocks noChangeAspect="1"/>
          </p:cNvPicPr>
          <p:nvPr/>
        </p:nvPicPr>
        <p:blipFill>
          <a:blip r:embed="rId4"/>
          <a:stretch>
            <a:fillRect/>
          </a:stretch>
        </p:blipFill>
        <p:spPr>
          <a:xfrm>
            <a:off x="4073652" y="4224528"/>
            <a:ext cx="1417320" cy="323589"/>
          </a:xfrm>
          <a:prstGeom prst="rect">
            <a:avLst/>
          </a:prstGeom>
        </p:spPr>
      </p:pic>
      <p:sp>
        <p:nvSpPr>
          <p:cNvPr id="33" name="Text 27"/>
          <p:cNvSpPr/>
          <p:nvPr/>
        </p:nvSpPr>
        <p:spPr>
          <a:xfrm>
            <a:off x="4073652" y="4719896"/>
            <a:ext cx="2267712" cy="310896"/>
          </a:xfrm>
          <a:prstGeom prst="rect">
            <a:avLst/>
          </a:prstGeom>
          <a:noFill/>
          <a:ln/>
        </p:spPr>
        <p:txBody>
          <a:bodyPr wrap="square" lIns="0" tIns="0" rIns="0" bIns="0" rtlCol="0" anchor="t"/>
          <a:lstStyle/>
          <a:p>
            <a:pPr algn="l" indent="0" marL="0">
              <a:buNone/>
            </a:pPr>
            <a:r>
              <a:rPr lang="en-US" sz="1625" b="1" dirty="0">
                <a:solidFill>
                  <a:srgbClr val="1A1A1A"/>
                </a:solidFill>
                <a:latin typeface="Arial" pitchFamily="34" charset="0"/>
                <a:ea typeface="Arial" pitchFamily="34" charset="-122"/>
                <a:cs typeface="Arial" pitchFamily="34" charset="-120"/>
              </a:rPr>
              <a:t>Combat Mindset</a:t>
            </a:r>
            <a:endParaRPr lang="en-US" sz="1625" dirty="0"/>
          </a:p>
        </p:txBody>
      </p:sp>
      <p:sp>
        <p:nvSpPr>
          <p:cNvPr id="34" name="Text 28"/>
          <p:cNvSpPr/>
          <p:nvPr/>
        </p:nvSpPr>
        <p:spPr>
          <a:xfrm>
            <a:off x="3854196" y="5230368"/>
            <a:ext cx="3140964" cy="164592"/>
          </a:xfrm>
          <a:prstGeom prst="rect">
            <a:avLst/>
          </a:prstGeom>
          <a:noFill/>
          <a:ln/>
        </p:spPr>
        <p:txBody>
          <a:bodyPr wrap="square" lIns="0" tIns="0" rIns="0" bIns="0" rtlCol="0" anchor="ctr"/>
          <a:lstStyle/>
          <a:p>
            <a:pPr algn="l" indent="0" marL="0">
              <a:buNone/>
            </a:pPr>
            <a:r>
              <a:rPr lang="en-US" sz="860" b="1" dirty="0">
                <a:solidFill>
                  <a:srgbClr val="1A1A1A"/>
                </a:solidFill>
                <a:latin typeface="Arial" pitchFamily="34" charset="0"/>
                <a:ea typeface="Arial" pitchFamily="34" charset="-122"/>
                <a:cs typeface="Arial" pitchFamily="34" charset="-120"/>
              </a:rPr>
              <a:t>Stacked, plain</a:t>
            </a:r>
            <a:endParaRPr lang="en-US" sz="860" dirty="0"/>
          </a:p>
        </p:txBody>
      </p:sp>
      <p:sp>
        <p:nvSpPr>
          <p:cNvPr id="35" name="Text 29"/>
          <p:cNvSpPr/>
          <p:nvPr/>
        </p:nvSpPr>
        <p:spPr>
          <a:xfrm>
            <a:off x="3854196" y="5394960"/>
            <a:ext cx="3049524" cy="219456"/>
          </a:xfrm>
          <a:prstGeom prst="rect">
            <a:avLst/>
          </a:prstGeom>
          <a:noFill/>
          <a:ln/>
        </p:spPr>
        <p:txBody>
          <a:bodyPr wrap="square" lIns="0" tIns="0" rIns="0" bIns="0" rtlCol="0" anchor="t"/>
          <a:lstStyle/>
          <a:p>
            <a:pPr algn="l" indent="0" marL="0">
              <a:lnSpc>
                <a:spcPct val="112000"/>
              </a:lnSpc>
              <a:buNone/>
            </a:pPr>
            <a:r>
              <a:rPr lang="en-US" sz="760" dirty="0">
                <a:solidFill>
                  <a:srgbClr val="3E3E3E"/>
                </a:solidFill>
                <a:latin typeface="Arial" pitchFamily="34" charset="0"/>
                <a:ea typeface="Arial" pitchFamily="34" charset="-122"/>
                <a:cs typeface="Arial" pitchFamily="34" charset="-120"/>
              </a:rPr>
              <a:t>The same without the rule. Quieter, and the pairing is looser for it.</a:t>
            </a:r>
            <a:endParaRPr lang="en-US" sz="760" dirty="0"/>
          </a:p>
        </p:txBody>
      </p:sp>
      <p:sp>
        <p:nvSpPr>
          <p:cNvPr id="36" name="Shape 30"/>
          <p:cNvSpPr/>
          <p:nvPr/>
        </p:nvSpPr>
        <p:spPr>
          <a:xfrm>
            <a:off x="566928" y="5742432"/>
            <a:ext cx="3140964" cy="1298448"/>
          </a:xfrm>
          <a:prstGeom prst="rect">
            <a:avLst/>
          </a:prstGeom>
          <a:solidFill>
            <a:srgbClr val="FFFFFF"/>
          </a:solidFill>
          <a:ln w="12700">
            <a:solidFill>
              <a:srgbClr val="D2D2D2"/>
            </a:solidFill>
            <a:prstDash val="solid"/>
          </a:ln>
        </p:spPr>
      </p:sp>
      <p:sp>
        <p:nvSpPr>
          <p:cNvPr id="37" name="Text 31"/>
          <p:cNvSpPr/>
          <p:nvPr/>
        </p:nvSpPr>
        <p:spPr>
          <a:xfrm>
            <a:off x="694944" y="5833872"/>
            <a:ext cx="274320" cy="146304"/>
          </a:xfrm>
          <a:prstGeom prst="rect">
            <a:avLst/>
          </a:prstGeom>
          <a:noFill/>
          <a:ln/>
        </p:spPr>
        <p:txBody>
          <a:bodyPr wrap="square" lIns="0" tIns="0" rIns="0" bIns="0" rtlCol="0" anchor="ctr"/>
          <a:lstStyle/>
          <a:p>
            <a:pPr algn="l" indent="0" marL="0">
              <a:buNone/>
            </a:pPr>
            <a:r>
              <a:rPr lang="en-US" sz="700" b="1" dirty="0">
                <a:solidFill>
                  <a:srgbClr val="6E6E6E"/>
                </a:solidFill>
                <a:latin typeface="Arial" pitchFamily="34" charset="0"/>
                <a:ea typeface="Arial" pitchFamily="34" charset="-122"/>
                <a:cs typeface="Arial" pitchFamily="34" charset="-120"/>
              </a:rPr>
              <a:t>E</a:t>
            </a:r>
            <a:endParaRPr lang="en-US" sz="700" dirty="0"/>
          </a:p>
        </p:txBody>
      </p:sp>
      <p:pic>
        <p:nvPicPr>
          <p:cNvPr id="38" name="Image 4" descr="assets/nz-army-logo.png">    </p:cNvPr>
          <p:cNvPicPr>
            <a:picLocks noChangeAspect="1"/>
          </p:cNvPicPr>
          <p:nvPr/>
        </p:nvPicPr>
        <p:blipFill>
          <a:blip r:embed="rId5"/>
          <a:stretch>
            <a:fillRect/>
          </a:stretch>
        </p:blipFill>
        <p:spPr>
          <a:xfrm>
            <a:off x="786384" y="6016752"/>
            <a:ext cx="1417320" cy="323589"/>
          </a:xfrm>
          <a:prstGeom prst="rect">
            <a:avLst/>
          </a:prstGeom>
        </p:spPr>
      </p:pic>
      <p:sp>
        <p:nvSpPr>
          <p:cNvPr id="39" name="Shape 32"/>
          <p:cNvSpPr/>
          <p:nvPr/>
        </p:nvSpPr>
        <p:spPr>
          <a:xfrm>
            <a:off x="786384" y="6512120"/>
            <a:ext cx="1417320" cy="17008"/>
          </a:xfrm>
          <a:prstGeom prst="rect">
            <a:avLst/>
          </a:prstGeom>
          <a:solidFill>
            <a:srgbClr val="1A1A1A"/>
          </a:solidFill>
          <a:ln/>
        </p:spPr>
      </p:sp>
      <p:sp>
        <p:nvSpPr>
          <p:cNvPr id="40" name="Text 33"/>
          <p:cNvSpPr/>
          <p:nvPr/>
        </p:nvSpPr>
        <p:spPr>
          <a:xfrm>
            <a:off x="786384" y="6589251"/>
            <a:ext cx="2267712" cy="201529"/>
          </a:xfrm>
          <a:prstGeom prst="rect">
            <a:avLst/>
          </a:prstGeom>
          <a:noFill/>
          <a:ln/>
        </p:spPr>
        <p:txBody>
          <a:bodyPr wrap="square" lIns="0" tIns="0" rIns="0" bIns="0" rtlCol="0" anchor="t"/>
          <a:lstStyle/>
          <a:p>
            <a:pPr algn="l" indent="0" marL="0">
              <a:buNone/>
            </a:pPr>
            <a:r>
              <a:rPr lang="en-US" sz="1322" b="1" dirty="0">
                <a:solidFill>
                  <a:srgbClr val="1A1A1A"/>
                </a:solidFill>
                <a:latin typeface="Arial" pitchFamily="34" charset="0"/>
                <a:ea typeface="Arial" pitchFamily="34" charset="-122"/>
                <a:cs typeface="Arial" pitchFamily="34" charset="-120"/>
              </a:rPr>
              <a:t>COMBAT MINDSET</a:t>
            </a:r>
            <a:endParaRPr lang="en-US" sz="1322" dirty="0"/>
          </a:p>
        </p:txBody>
      </p:sp>
      <p:sp>
        <p:nvSpPr>
          <p:cNvPr id="41" name="Text 34"/>
          <p:cNvSpPr/>
          <p:nvPr/>
        </p:nvSpPr>
        <p:spPr>
          <a:xfrm>
            <a:off x="566928" y="7095744"/>
            <a:ext cx="3140964" cy="164592"/>
          </a:xfrm>
          <a:prstGeom prst="rect">
            <a:avLst/>
          </a:prstGeom>
          <a:noFill/>
          <a:ln/>
        </p:spPr>
        <p:txBody>
          <a:bodyPr wrap="square" lIns="0" tIns="0" rIns="0" bIns="0" rtlCol="0" anchor="ctr"/>
          <a:lstStyle/>
          <a:p>
            <a:pPr algn="l" indent="0" marL="0">
              <a:buNone/>
            </a:pPr>
            <a:r>
              <a:rPr lang="en-US" sz="860" b="1" dirty="0">
                <a:solidFill>
                  <a:srgbClr val="1A1A1A"/>
                </a:solidFill>
                <a:latin typeface="Arial" pitchFamily="34" charset="0"/>
                <a:ea typeface="Arial" pitchFamily="34" charset="-122"/>
                <a:cs typeface="Arial" pitchFamily="34" charset="-120"/>
              </a:rPr>
              <a:t>Uppercase</a:t>
            </a:r>
            <a:endParaRPr lang="en-US" sz="860" dirty="0"/>
          </a:p>
        </p:txBody>
      </p:sp>
      <p:sp>
        <p:nvSpPr>
          <p:cNvPr id="42" name="Text 35"/>
          <p:cNvSpPr/>
          <p:nvPr/>
        </p:nvSpPr>
        <p:spPr>
          <a:xfrm>
            <a:off x="566928" y="7260336"/>
            <a:ext cx="3049524" cy="219456"/>
          </a:xfrm>
          <a:prstGeom prst="rect">
            <a:avLst/>
          </a:prstGeom>
          <a:noFill/>
          <a:ln/>
        </p:spPr>
        <p:txBody>
          <a:bodyPr wrap="square" lIns="0" tIns="0" rIns="0" bIns="0" rtlCol="0" anchor="t"/>
          <a:lstStyle/>
          <a:p>
            <a:pPr algn="l" indent="0" marL="0">
              <a:lnSpc>
                <a:spcPct val="112000"/>
              </a:lnSpc>
              <a:buNone/>
            </a:pPr>
            <a:r>
              <a:rPr lang="en-US" sz="760" dirty="0">
                <a:solidFill>
                  <a:srgbClr val="3E3E3E"/>
                </a:solidFill>
                <a:latin typeface="Arial" pitchFamily="34" charset="0"/>
                <a:ea typeface="Arial" pitchFamily="34" charset="-122"/>
                <a:cs typeface="Arial" pitchFamily="34" charset="-120"/>
              </a:rPr>
              <a:t>Reads harder, but the guidelines set unit and portfolio names in title case.</a:t>
            </a:r>
            <a:endParaRPr lang="en-US" sz="760" dirty="0"/>
          </a:p>
        </p:txBody>
      </p:sp>
      <p:sp>
        <p:nvSpPr>
          <p:cNvPr id="43" name="Shape 36"/>
          <p:cNvSpPr/>
          <p:nvPr/>
        </p:nvSpPr>
        <p:spPr>
          <a:xfrm>
            <a:off x="3854196" y="5742432"/>
            <a:ext cx="3140964" cy="1298448"/>
          </a:xfrm>
          <a:prstGeom prst="rect">
            <a:avLst/>
          </a:prstGeom>
          <a:solidFill>
            <a:srgbClr val="FFFFFF"/>
          </a:solidFill>
          <a:ln w="12700">
            <a:solidFill>
              <a:srgbClr val="D2D2D2"/>
            </a:solidFill>
            <a:prstDash val="solid"/>
          </a:ln>
        </p:spPr>
      </p:sp>
      <p:sp>
        <p:nvSpPr>
          <p:cNvPr id="44" name="Text 37"/>
          <p:cNvSpPr/>
          <p:nvPr/>
        </p:nvSpPr>
        <p:spPr>
          <a:xfrm>
            <a:off x="3982212" y="5833872"/>
            <a:ext cx="274320" cy="146304"/>
          </a:xfrm>
          <a:prstGeom prst="rect">
            <a:avLst/>
          </a:prstGeom>
          <a:noFill/>
          <a:ln/>
        </p:spPr>
        <p:txBody>
          <a:bodyPr wrap="square" lIns="0" tIns="0" rIns="0" bIns="0" rtlCol="0" anchor="ctr"/>
          <a:lstStyle/>
          <a:p>
            <a:pPr algn="l" indent="0" marL="0">
              <a:buNone/>
            </a:pPr>
            <a:r>
              <a:rPr lang="en-US" sz="700" b="1" dirty="0">
                <a:solidFill>
                  <a:srgbClr val="6E6E6E"/>
                </a:solidFill>
                <a:latin typeface="Arial" pitchFamily="34" charset="0"/>
                <a:ea typeface="Arial" pitchFamily="34" charset="-122"/>
                <a:cs typeface="Arial" pitchFamily="34" charset="-120"/>
              </a:rPr>
              <a:t>F</a:t>
            </a:r>
            <a:endParaRPr lang="en-US" sz="700" dirty="0"/>
          </a:p>
        </p:txBody>
      </p:sp>
      <p:pic>
        <p:nvPicPr>
          <p:cNvPr id="45" name="Image 5" descr="assets/nz-army-logo.png">    </p:cNvPr>
          <p:cNvPicPr>
            <a:picLocks noChangeAspect="1"/>
          </p:cNvPicPr>
          <p:nvPr/>
        </p:nvPicPr>
        <p:blipFill>
          <a:blip r:embed="rId6"/>
          <a:stretch>
            <a:fillRect/>
          </a:stretch>
        </p:blipFill>
        <p:spPr>
          <a:xfrm>
            <a:off x="4073652" y="6309360"/>
            <a:ext cx="960120" cy="219205"/>
          </a:xfrm>
          <a:prstGeom prst="rect">
            <a:avLst/>
          </a:prstGeom>
        </p:spPr>
      </p:pic>
      <p:sp>
        <p:nvSpPr>
          <p:cNvPr id="46" name="Text 38"/>
          <p:cNvSpPr/>
          <p:nvPr/>
        </p:nvSpPr>
        <p:spPr>
          <a:xfrm>
            <a:off x="5150139" y="6309360"/>
            <a:ext cx="1645920" cy="219205"/>
          </a:xfrm>
          <a:prstGeom prst="rect">
            <a:avLst/>
          </a:prstGeom>
          <a:noFill/>
          <a:ln/>
        </p:spPr>
        <p:txBody>
          <a:bodyPr wrap="square" lIns="0" tIns="0" rIns="0" bIns="0" rtlCol="0" anchor="ctr"/>
          <a:lstStyle/>
          <a:p>
            <a:pPr algn="l" indent="0" marL="0">
              <a:buNone/>
            </a:pPr>
            <a:r>
              <a:rPr lang="en-US" sz="720" b="1" spc="100" kern="0" dirty="0">
                <a:solidFill>
                  <a:srgbClr val="1A1A1A"/>
                </a:solidFill>
                <a:latin typeface="Arial" pitchFamily="34" charset="0"/>
                <a:ea typeface="Arial" pitchFamily="34" charset="-122"/>
                <a:cs typeface="Arial" pitchFamily="34" charset="-120"/>
              </a:rPr>
              <a:t>COMBAT MINDSET</a:t>
            </a:r>
            <a:endParaRPr lang="en-US" sz="720" dirty="0"/>
          </a:p>
        </p:txBody>
      </p:sp>
      <p:sp>
        <p:nvSpPr>
          <p:cNvPr id="47" name="Text 39"/>
          <p:cNvSpPr/>
          <p:nvPr/>
        </p:nvSpPr>
        <p:spPr>
          <a:xfrm>
            <a:off x="3854196" y="7095744"/>
            <a:ext cx="3140964" cy="164592"/>
          </a:xfrm>
          <a:prstGeom prst="rect">
            <a:avLst/>
          </a:prstGeom>
          <a:noFill/>
          <a:ln/>
        </p:spPr>
        <p:txBody>
          <a:bodyPr wrap="square" lIns="0" tIns="0" rIns="0" bIns="0" rtlCol="0" anchor="ctr"/>
          <a:lstStyle/>
          <a:p>
            <a:pPr algn="l" indent="0" marL="0">
              <a:buNone/>
            </a:pPr>
            <a:r>
              <a:rPr lang="en-US" sz="860" b="1" dirty="0">
                <a:solidFill>
                  <a:srgbClr val="1A1A1A"/>
                </a:solidFill>
                <a:latin typeface="Arial" pitchFamily="34" charset="0"/>
                <a:ea typeface="Arial" pitchFamily="34" charset="-122"/>
                <a:cs typeface="Arial" pitchFamily="34" charset="-120"/>
              </a:rPr>
              <a:t>Running, single line</a:t>
            </a:r>
            <a:endParaRPr lang="en-US" sz="860" dirty="0"/>
          </a:p>
        </p:txBody>
      </p:sp>
      <p:sp>
        <p:nvSpPr>
          <p:cNvPr id="48" name="Text 40"/>
          <p:cNvSpPr/>
          <p:nvPr/>
        </p:nvSpPr>
        <p:spPr>
          <a:xfrm>
            <a:off x="3854196" y="7260336"/>
            <a:ext cx="3049524" cy="219456"/>
          </a:xfrm>
          <a:prstGeom prst="rect">
            <a:avLst/>
          </a:prstGeom>
          <a:noFill/>
          <a:ln/>
        </p:spPr>
        <p:txBody>
          <a:bodyPr wrap="square" lIns="0" tIns="0" rIns="0" bIns="0" rtlCol="0" anchor="t"/>
          <a:lstStyle/>
          <a:p>
            <a:pPr algn="l" indent="0" marL="0">
              <a:lnSpc>
                <a:spcPct val="112000"/>
              </a:lnSpc>
              <a:buNone/>
            </a:pPr>
            <a:r>
              <a:rPr lang="en-US" sz="760" dirty="0">
                <a:solidFill>
                  <a:srgbClr val="3E3E3E"/>
                </a:solidFill>
                <a:latin typeface="Arial" pitchFamily="34" charset="0"/>
                <a:ea typeface="Arial" pitchFamily="34" charset="-122"/>
                <a:cs typeface="Arial" pitchFamily="34" charset="-120"/>
              </a:rPr>
              <a:t>For headers, footers and spines. The logo drops to minimum size.</a:t>
            </a:r>
            <a:endParaRPr lang="en-US" sz="760" dirty="0"/>
          </a:p>
        </p:txBody>
      </p:sp>
      <p:sp>
        <p:nvSpPr>
          <p:cNvPr id="49" name="Text 41"/>
          <p:cNvSpPr/>
          <p:nvPr/>
        </p:nvSpPr>
        <p:spPr>
          <a:xfrm>
            <a:off x="566928" y="762609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WHAT THE GUIDELINES DECIDE FOR US</a:t>
            </a:r>
            <a:endParaRPr lang="en-US" sz="740" dirty="0"/>
          </a:p>
        </p:txBody>
      </p:sp>
      <p:sp>
        <p:nvSpPr>
          <p:cNvPr id="50" name="Shape 42"/>
          <p:cNvSpPr/>
          <p:nvPr/>
        </p:nvSpPr>
        <p:spPr>
          <a:xfrm>
            <a:off x="566928" y="7808976"/>
            <a:ext cx="6428232" cy="7315"/>
          </a:xfrm>
          <a:prstGeom prst="rect">
            <a:avLst/>
          </a:prstGeom>
          <a:solidFill>
            <a:srgbClr val="D2D2D2"/>
          </a:solidFill>
          <a:ln/>
        </p:spPr>
      </p:sp>
      <p:sp>
        <p:nvSpPr>
          <p:cNvPr id="51" name="Text 43"/>
          <p:cNvSpPr/>
          <p:nvPr/>
        </p:nvSpPr>
        <p:spPr>
          <a:xfrm>
            <a:off x="566928" y="7936992"/>
            <a:ext cx="1280160" cy="310896"/>
          </a:xfrm>
          <a:prstGeom prst="rect">
            <a:avLst/>
          </a:prstGeom>
          <a:noFill/>
          <a:ln/>
        </p:spPr>
        <p:txBody>
          <a:bodyPr wrap="square" lIns="0" tIns="0" rIns="0" bIns="0" rtlCol="0" anchor="t"/>
          <a:lstStyle/>
          <a:p>
            <a:pPr algn="l" indent="0" marL="0">
              <a:buNone/>
            </a:pPr>
            <a:r>
              <a:rPr lang="en-US" sz="840" b="1" dirty="0">
                <a:solidFill>
                  <a:srgbClr val="1A1A1A"/>
                </a:solidFill>
                <a:latin typeface="Arial" pitchFamily="34" charset="0"/>
                <a:ea typeface="Arial" pitchFamily="34" charset="-122"/>
                <a:cs typeface="Arial" pitchFamily="34" charset="-120"/>
              </a:rPr>
              <a:t>Clear space</a:t>
            </a:r>
            <a:endParaRPr lang="en-US" sz="840" dirty="0"/>
          </a:p>
        </p:txBody>
      </p:sp>
      <p:sp>
        <p:nvSpPr>
          <p:cNvPr id="52" name="Text 44"/>
          <p:cNvSpPr/>
          <p:nvPr/>
        </p:nvSpPr>
        <p:spPr>
          <a:xfrm>
            <a:off x="1938528" y="7936992"/>
            <a:ext cx="5056632" cy="310896"/>
          </a:xfrm>
          <a:prstGeom prst="rect">
            <a:avLst/>
          </a:prstGeom>
          <a:noFill/>
          <a:ln/>
        </p:spPr>
        <p:txBody>
          <a:bodyPr wrap="square" lIns="0" tIns="0" rIns="0" bIns="0" rtlCol="0" anchor="t"/>
          <a:lstStyle/>
          <a:p>
            <a:pPr algn="l" indent="0" marL="0">
              <a:lnSpc>
                <a:spcPct val="115000"/>
              </a:lnSpc>
              <a:buNone/>
            </a:pPr>
            <a:r>
              <a:rPr lang="en-US" sz="840" dirty="0">
                <a:solidFill>
                  <a:srgbClr val="3E3E3E"/>
                </a:solidFill>
                <a:latin typeface="Arial" pitchFamily="34" charset="0"/>
                <a:ea typeface="Arial" pitchFamily="34" charset="-122"/>
                <a:cs typeface="Arial" pitchFamily="34" charset="-120"/>
              </a:rPr>
              <a:t>One N height on all four sides, measured from the artwork at 0.531 of the logo height. Nothing enters it, including the name.</a:t>
            </a:r>
            <a:endParaRPr lang="en-US" sz="840" dirty="0"/>
          </a:p>
        </p:txBody>
      </p:sp>
      <p:sp>
        <p:nvSpPr>
          <p:cNvPr id="53" name="Shape 45"/>
          <p:cNvSpPr/>
          <p:nvPr/>
        </p:nvSpPr>
        <p:spPr>
          <a:xfrm>
            <a:off x="566928" y="8284464"/>
            <a:ext cx="6428232" cy="5486"/>
          </a:xfrm>
          <a:prstGeom prst="rect">
            <a:avLst/>
          </a:prstGeom>
          <a:solidFill>
            <a:srgbClr val="D2D2D2"/>
          </a:solidFill>
          <a:ln/>
        </p:spPr>
      </p:sp>
      <p:sp>
        <p:nvSpPr>
          <p:cNvPr id="54" name="Text 46"/>
          <p:cNvSpPr/>
          <p:nvPr/>
        </p:nvSpPr>
        <p:spPr>
          <a:xfrm>
            <a:off x="566928" y="8375904"/>
            <a:ext cx="1280160" cy="310896"/>
          </a:xfrm>
          <a:prstGeom prst="rect">
            <a:avLst/>
          </a:prstGeom>
          <a:noFill/>
          <a:ln/>
        </p:spPr>
        <p:txBody>
          <a:bodyPr wrap="square" lIns="0" tIns="0" rIns="0" bIns="0" rtlCol="0" anchor="t"/>
          <a:lstStyle/>
          <a:p>
            <a:pPr algn="l" indent="0" marL="0">
              <a:buNone/>
            </a:pPr>
            <a:r>
              <a:rPr lang="en-US" sz="840" b="1" dirty="0">
                <a:solidFill>
                  <a:srgbClr val="1A1A1A"/>
                </a:solidFill>
                <a:latin typeface="Arial" pitchFamily="34" charset="0"/>
                <a:ea typeface="Arial" pitchFamily="34" charset="-122"/>
                <a:cs typeface="Arial" pitchFamily="34" charset="-120"/>
              </a:rPr>
              <a:t>Minimum size</a:t>
            </a:r>
            <a:endParaRPr lang="en-US" sz="840" dirty="0"/>
          </a:p>
        </p:txBody>
      </p:sp>
      <p:sp>
        <p:nvSpPr>
          <p:cNvPr id="55" name="Text 47"/>
          <p:cNvSpPr/>
          <p:nvPr/>
        </p:nvSpPr>
        <p:spPr>
          <a:xfrm>
            <a:off x="1938528" y="8375904"/>
            <a:ext cx="5056632" cy="310896"/>
          </a:xfrm>
          <a:prstGeom prst="rect">
            <a:avLst/>
          </a:prstGeom>
          <a:noFill/>
          <a:ln/>
        </p:spPr>
        <p:txBody>
          <a:bodyPr wrap="square" lIns="0" tIns="0" rIns="0" bIns="0" rtlCol="0" anchor="t"/>
          <a:lstStyle/>
          <a:p>
            <a:pPr algn="l" indent="0" marL="0">
              <a:lnSpc>
                <a:spcPct val="115000"/>
              </a:lnSpc>
              <a:buNone/>
            </a:pPr>
            <a:r>
              <a:rPr lang="en-US" sz="840" dirty="0">
                <a:solidFill>
                  <a:srgbClr val="3E3E3E"/>
                </a:solidFill>
                <a:latin typeface="Arial" pitchFamily="34" charset="0"/>
                <a:ea typeface="Arial" pitchFamily="34" charset="-122"/>
                <a:cs typeface="Arial" pitchFamily="34" charset="-120"/>
              </a:rPr>
              <a:t>35 mm logo width in print. Below that the descriptor stops being readable and the logo may not be used.</a:t>
            </a:r>
            <a:endParaRPr lang="en-US" sz="840" dirty="0"/>
          </a:p>
        </p:txBody>
      </p:sp>
      <p:sp>
        <p:nvSpPr>
          <p:cNvPr id="56" name="Shape 48"/>
          <p:cNvSpPr/>
          <p:nvPr/>
        </p:nvSpPr>
        <p:spPr>
          <a:xfrm>
            <a:off x="566928" y="8723376"/>
            <a:ext cx="6428232" cy="5486"/>
          </a:xfrm>
          <a:prstGeom prst="rect">
            <a:avLst/>
          </a:prstGeom>
          <a:solidFill>
            <a:srgbClr val="D2D2D2"/>
          </a:solidFill>
          <a:ln/>
        </p:spPr>
      </p:sp>
      <p:sp>
        <p:nvSpPr>
          <p:cNvPr id="57" name="Text 49"/>
          <p:cNvSpPr/>
          <p:nvPr/>
        </p:nvSpPr>
        <p:spPr>
          <a:xfrm>
            <a:off x="566928" y="8814816"/>
            <a:ext cx="1280160" cy="310896"/>
          </a:xfrm>
          <a:prstGeom prst="rect">
            <a:avLst/>
          </a:prstGeom>
          <a:noFill/>
          <a:ln/>
        </p:spPr>
        <p:txBody>
          <a:bodyPr wrap="square" lIns="0" tIns="0" rIns="0" bIns="0" rtlCol="0" anchor="t"/>
          <a:lstStyle/>
          <a:p>
            <a:pPr algn="l" indent="0" marL="0">
              <a:buNone/>
            </a:pPr>
            <a:r>
              <a:rPr lang="en-US" sz="840" b="1" dirty="0">
                <a:solidFill>
                  <a:srgbClr val="1A1A1A"/>
                </a:solidFill>
                <a:latin typeface="Arial" pitchFamily="34" charset="0"/>
                <a:ea typeface="Arial" pitchFamily="34" charset="-122"/>
                <a:cs typeface="Arial" pitchFamily="34" charset="-120"/>
              </a:rPr>
              <a:t>The name</a:t>
            </a:r>
            <a:endParaRPr lang="en-US" sz="840" dirty="0"/>
          </a:p>
        </p:txBody>
      </p:sp>
      <p:sp>
        <p:nvSpPr>
          <p:cNvPr id="58" name="Text 50"/>
          <p:cNvSpPr/>
          <p:nvPr/>
        </p:nvSpPr>
        <p:spPr>
          <a:xfrm>
            <a:off x="1938528" y="8814816"/>
            <a:ext cx="5056632" cy="310896"/>
          </a:xfrm>
          <a:prstGeom prst="rect">
            <a:avLst/>
          </a:prstGeom>
          <a:noFill/>
          <a:ln/>
        </p:spPr>
        <p:txBody>
          <a:bodyPr wrap="square" lIns="0" tIns="0" rIns="0" bIns="0" rtlCol="0" anchor="t"/>
          <a:lstStyle/>
          <a:p>
            <a:pPr algn="l" indent="0" marL="0">
              <a:lnSpc>
                <a:spcPct val="115000"/>
              </a:lnSpc>
              <a:buNone/>
            </a:pPr>
            <a:r>
              <a:rPr lang="en-US" sz="840" dirty="0">
                <a:solidFill>
                  <a:srgbClr val="3E3E3E"/>
                </a:solidFill>
                <a:latin typeface="Arial" pitchFamily="34" charset="0"/>
                <a:ea typeface="Arial" pitchFamily="34" charset="-122"/>
                <a:cs typeface="Arial" pitchFamily="34" charset="-120"/>
              </a:rPr>
              <a:t>Plain text, title case, in the Army's own face. Never inside a shape, never on a rule of its own colour, never redrawn.</a:t>
            </a:r>
            <a:endParaRPr lang="en-US" sz="840" dirty="0"/>
          </a:p>
        </p:txBody>
      </p:sp>
      <p:sp>
        <p:nvSpPr>
          <p:cNvPr id="59" name="Shape 51"/>
          <p:cNvSpPr/>
          <p:nvPr/>
        </p:nvSpPr>
        <p:spPr>
          <a:xfrm>
            <a:off x="566928" y="9162288"/>
            <a:ext cx="6428232" cy="5486"/>
          </a:xfrm>
          <a:prstGeom prst="rect">
            <a:avLst/>
          </a:prstGeom>
          <a:solidFill>
            <a:srgbClr val="D2D2D2"/>
          </a:solidFill>
          <a:ln/>
        </p:spPr>
      </p:sp>
      <p:sp>
        <p:nvSpPr>
          <p:cNvPr id="60" name="Text 52"/>
          <p:cNvSpPr/>
          <p:nvPr/>
        </p:nvSpPr>
        <p:spPr>
          <a:xfrm>
            <a:off x="566928" y="9253728"/>
            <a:ext cx="1280160" cy="310896"/>
          </a:xfrm>
          <a:prstGeom prst="rect">
            <a:avLst/>
          </a:prstGeom>
          <a:noFill/>
          <a:ln/>
        </p:spPr>
        <p:txBody>
          <a:bodyPr wrap="square" lIns="0" tIns="0" rIns="0" bIns="0" rtlCol="0" anchor="t"/>
          <a:lstStyle/>
          <a:p>
            <a:pPr algn="l" indent="0" marL="0">
              <a:buNone/>
            </a:pPr>
            <a:r>
              <a:rPr lang="en-US" sz="840" b="1" dirty="0">
                <a:solidFill>
                  <a:srgbClr val="1A1A1A"/>
                </a:solidFill>
                <a:latin typeface="Arial" pitchFamily="34" charset="0"/>
                <a:ea typeface="Arial" pitchFamily="34" charset="-122"/>
                <a:cs typeface="Arial" pitchFamily="34" charset="-120"/>
              </a:rPr>
              <a:t>Hierarchy</a:t>
            </a:r>
            <a:endParaRPr lang="en-US" sz="840" dirty="0"/>
          </a:p>
        </p:txBody>
      </p:sp>
      <p:sp>
        <p:nvSpPr>
          <p:cNvPr id="61" name="Text 53"/>
          <p:cNvSpPr/>
          <p:nvPr/>
        </p:nvSpPr>
        <p:spPr>
          <a:xfrm>
            <a:off x="1938528" y="9253728"/>
            <a:ext cx="5056632" cy="310896"/>
          </a:xfrm>
          <a:prstGeom prst="rect">
            <a:avLst/>
          </a:prstGeom>
          <a:noFill/>
          <a:ln/>
        </p:spPr>
        <p:txBody>
          <a:bodyPr wrap="square" lIns="0" tIns="0" rIns="0" bIns="0" rtlCol="0" anchor="t"/>
          <a:lstStyle/>
          <a:p>
            <a:pPr algn="l" indent="0" marL="0">
              <a:lnSpc>
                <a:spcPct val="115000"/>
              </a:lnSpc>
              <a:buNone/>
            </a:pPr>
            <a:r>
              <a:rPr lang="en-US" sz="840" dirty="0">
                <a:solidFill>
                  <a:srgbClr val="3E3E3E"/>
                </a:solidFill>
                <a:latin typeface="Arial" pitchFamily="34" charset="0"/>
                <a:ea typeface="Arial" pitchFamily="34" charset="-122"/>
                <a:cs typeface="Arial" pitchFamily="34" charset="-120"/>
              </a:rPr>
              <a:t>The logo carries more visual weight than the name in every pairing. The name is set at 78 to 86 per cent of the logo cap height.</a:t>
            </a:r>
            <a:endParaRPr lang="en-US" sz="840" dirty="0"/>
          </a:p>
        </p:txBody>
      </p:sp>
      <p:sp>
        <p:nvSpPr>
          <p:cNvPr id="62" name="Shape 54"/>
          <p:cNvSpPr/>
          <p:nvPr/>
        </p:nvSpPr>
        <p:spPr>
          <a:xfrm>
            <a:off x="566928" y="9601200"/>
            <a:ext cx="6428232" cy="5486"/>
          </a:xfrm>
          <a:prstGeom prst="rect">
            <a:avLst/>
          </a:prstGeom>
          <a:solidFill>
            <a:srgbClr val="D2D2D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513832" cy="164592"/>
          </a:xfrm>
          <a:prstGeom prst="rect">
            <a:avLst/>
          </a:prstGeom>
          <a:noFill/>
          <a:ln/>
        </p:spPr>
        <p:txBody>
          <a:bodyPr wrap="square" lIns="0" tIns="0" rIns="0" bIns="0" rtlCol="0" anchor="ctr"/>
          <a:lstStyle/>
          <a:p>
            <a:pPr algn="l" indent="0" marL="0">
              <a:buNone/>
            </a:pPr>
            <a:r>
              <a:rPr lang="en-US" sz="700" b="1" spc="140" kern="0" dirty="0">
                <a:solidFill>
                  <a:srgbClr val="1A1A1A"/>
                </a:solidFill>
                <a:latin typeface="Arial" pitchFamily="34" charset="0"/>
                <a:ea typeface="Arial" pitchFamily="34" charset="-122"/>
                <a:cs typeface="Arial" pitchFamily="34" charset="-120"/>
              </a:rPr>
              <a:t>LOCKUP</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02</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The recommended pair</a:t>
            </a:r>
            <a:endParaRPr lang="en-US" sz="1900" dirty="0"/>
          </a:p>
        </p:txBody>
      </p:sp>
      <p:sp>
        <p:nvSpPr>
          <p:cNvPr id="6" name="Text 4"/>
          <p:cNvSpPr/>
          <p:nvPr/>
        </p:nvSpPr>
        <p:spPr>
          <a:xfrm>
            <a:off x="566928" y="1060704"/>
            <a:ext cx="6153912" cy="402336"/>
          </a:xfrm>
          <a:prstGeom prst="rect">
            <a:avLst/>
          </a:prstGeom>
          <a:noFill/>
          <a:ln/>
        </p:spPr>
        <p:txBody>
          <a:bodyPr wrap="square" lIns="0" tIns="0" rIns="0" bIns="0" rtlCol="0" anchor="t"/>
          <a:lstStyle/>
          <a:p>
            <a:pPr algn="l" indent="0" marL="0">
              <a:lnSpc>
                <a:spcPct val="120000"/>
              </a:lnSpc>
              <a:buNone/>
            </a:pPr>
            <a:r>
              <a:rPr lang="en-US" sz="940" dirty="0">
                <a:solidFill>
                  <a:srgbClr val="6E6E6E"/>
                </a:solidFill>
                <a:latin typeface="Arial" pitchFamily="34" charset="0"/>
                <a:ea typeface="Arial" pitchFamily="34" charset="-122"/>
                <a:cs typeface="Arial" pitchFamily="34" charset="-120"/>
              </a:rPr>
              <a:t>One horizontal lockup for headers, slides and correspondence, and one stacked lockup for covers and anywhere the measure is narrow. Both are built from the same two parts and the same interval.</a:t>
            </a:r>
            <a:endParaRPr lang="en-US" sz="940" dirty="0"/>
          </a:p>
        </p:txBody>
      </p:sp>
      <p:sp>
        <p:nvSpPr>
          <p:cNvPr id="7" name="Text 5"/>
          <p:cNvSpPr/>
          <p:nvPr/>
        </p:nvSpPr>
        <p:spPr>
          <a:xfrm>
            <a:off x="566928" y="10204704"/>
            <a:ext cx="36576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LOCKUP</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60" kern="0" dirty="0">
                <a:solidFill>
                  <a:srgbClr val="6E6E6E"/>
                </a:solidFill>
                <a:latin typeface="Arial" pitchFamily="34" charset="0"/>
                <a:ea typeface="Arial" pitchFamily="34" charset="-122"/>
                <a:cs typeface="Arial" pitchFamily="34" charset="-120"/>
              </a:rPr>
              <a:t>DRAFT   |   AUGUST 2026</a:t>
            </a:r>
            <a:endParaRPr lang="en-US" sz="600" dirty="0"/>
          </a:p>
        </p:txBody>
      </p:sp>
      <p:sp>
        <p:nvSpPr>
          <p:cNvPr id="9" name="Text 7"/>
          <p:cNvSpPr/>
          <p:nvPr/>
        </p:nvSpPr>
        <p:spPr>
          <a:xfrm>
            <a:off x="566928" y="1737360"/>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PRIMARY  —  HORIZONTAL</a:t>
            </a:r>
            <a:endParaRPr lang="en-US" sz="740" dirty="0"/>
          </a:p>
        </p:txBody>
      </p:sp>
      <p:sp>
        <p:nvSpPr>
          <p:cNvPr id="10" name="Shape 8"/>
          <p:cNvSpPr/>
          <p:nvPr/>
        </p:nvSpPr>
        <p:spPr>
          <a:xfrm>
            <a:off x="566928" y="1920240"/>
            <a:ext cx="6428232" cy="7315"/>
          </a:xfrm>
          <a:prstGeom prst="rect">
            <a:avLst/>
          </a:prstGeom>
          <a:solidFill>
            <a:srgbClr val="D2D2D2"/>
          </a:solidFill>
          <a:ln/>
        </p:spPr>
      </p:sp>
      <p:sp>
        <p:nvSpPr>
          <p:cNvPr id="11" name="Shape 9"/>
          <p:cNvSpPr/>
          <p:nvPr/>
        </p:nvSpPr>
        <p:spPr>
          <a:xfrm>
            <a:off x="566928" y="2048256"/>
            <a:ext cx="6428232" cy="1447161"/>
          </a:xfrm>
          <a:prstGeom prst="rect">
            <a:avLst/>
          </a:prstGeom>
          <a:solidFill>
            <a:srgbClr val="F5F5F3"/>
          </a:solidFill>
          <a:ln/>
        </p:spPr>
      </p:sp>
      <p:sp>
        <p:nvSpPr>
          <p:cNvPr id="12" name="Shape 10"/>
          <p:cNvSpPr/>
          <p:nvPr/>
        </p:nvSpPr>
        <p:spPr>
          <a:xfrm>
            <a:off x="814950" y="2276856"/>
            <a:ext cx="2612916" cy="989961"/>
          </a:xfrm>
          <a:prstGeom prst="rect">
            <a:avLst/>
          </a:prstGeom>
          <a:solidFill>
            <a:srgbClr val="FFFFFF"/>
          </a:solidFill>
          <a:ln w="9525">
            <a:solidFill>
              <a:srgbClr val="D31145"/>
            </a:solidFill>
            <a:prstDash val="dash"/>
          </a:ln>
        </p:spPr>
      </p:sp>
      <p:pic>
        <p:nvPicPr>
          <p:cNvPr id="13" name="Image 0" descr="assets/nz-army-logo.png">    </p:cNvPr>
          <p:cNvPicPr>
            <a:picLocks noChangeAspect="1"/>
          </p:cNvPicPr>
          <p:nvPr/>
        </p:nvPicPr>
        <p:blipFill>
          <a:blip r:embed="rId1"/>
          <a:stretch>
            <a:fillRect/>
          </a:stretch>
        </p:blipFill>
        <p:spPr>
          <a:xfrm>
            <a:off x="1069848" y="2531754"/>
            <a:ext cx="2103120" cy="480164"/>
          </a:xfrm>
          <a:prstGeom prst="rect">
            <a:avLst/>
          </a:prstGeom>
        </p:spPr>
      </p:pic>
      <p:sp>
        <p:nvSpPr>
          <p:cNvPr id="14" name="Text 11"/>
          <p:cNvSpPr/>
          <p:nvPr/>
        </p:nvSpPr>
        <p:spPr>
          <a:xfrm>
            <a:off x="3427866" y="2531754"/>
            <a:ext cx="3154680" cy="480164"/>
          </a:xfrm>
          <a:prstGeom prst="rect">
            <a:avLst/>
          </a:prstGeom>
          <a:noFill/>
          <a:ln/>
        </p:spPr>
        <p:txBody>
          <a:bodyPr wrap="square" lIns="0" tIns="0" rIns="0" bIns="0" rtlCol="0" anchor="ctr"/>
          <a:lstStyle/>
          <a:p>
            <a:pPr algn="l" indent="0" marL="0">
              <a:buNone/>
            </a:pPr>
            <a:r>
              <a:rPr lang="en-US" sz="2186" b="1" dirty="0">
                <a:solidFill>
                  <a:srgbClr val="1A1A1A"/>
                </a:solidFill>
                <a:latin typeface="Arial" pitchFamily="34" charset="0"/>
                <a:ea typeface="Arial" pitchFamily="34" charset="-122"/>
                <a:cs typeface="Arial" pitchFamily="34" charset="-120"/>
              </a:rPr>
              <a:t>Combat Mindset</a:t>
            </a:r>
            <a:endParaRPr lang="en-US" sz="2186" dirty="0"/>
          </a:p>
        </p:txBody>
      </p:sp>
      <p:sp>
        <p:nvSpPr>
          <p:cNvPr id="15" name="Text 12"/>
          <p:cNvSpPr/>
          <p:nvPr/>
        </p:nvSpPr>
        <p:spPr>
          <a:xfrm>
            <a:off x="814950" y="3257673"/>
            <a:ext cx="3657600" cy="164592"/>
          </a:xfrm>
          <a:prstGeom prst="rect">
            <a:avLst/>
          </a:prstGeom>
          <a:noFill/>
          <a:ln/>
        </p:spPr>
        <p:txBody>
          <a:bodyPr wrap="square" lIns="0" tIns="0" rIns="0" bIns="0" rtlCol="0" anchor="ctr"/>
          <a:lstStyle/>
          <a:p>
            <a:pPr algn="l" indent="0" marL="0">
              <a:buNone/>
            </a:pPr>
            <a:r>
              <a:rPr lang="en-US" sz="680" i="1" dirty="0">
                <a:solidFill>
                  <a:srgbClr val="D31145"/>
                </a:solidFill>
                <a:latin typeface="Arial" pitchFamily="34" charset="0"/>
                <a:ea typeface="Arial" pitchFamily="34" charset="-122"/>
                <a:cs typeface="Arial" pitchFamily="34" charset="-120"/>
              </a:rPr>
              <a:t>clear space = one N height = 7.1 mm at this size</a:t>
            </a:r>
            <a:endParaRPr lang="en-US" sz="680" dirty="0"/>
          </a:p>
        </p:txBody>
      </p:sp>
      <p:sp>
        <p:nvSpPr>
          <p:cNvPr id="16" name="Text 13"/>
          <p:cNvSpPr/>
          <p:nvPr/>
        </p:nvSpPr>
        <p:spPr>
          <a:xfrm>
            <a:off x="566928" y="3605145"/>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ALTERNATE  —  STACKED</a:t>
            </a:r>
            <a:endParaRPr lang="en-US" sz="740" dirty="0"/>
          </a:p>
        </p:txBody>
      </p:sp>
      <p:sp>
        <p:nvSpPr>
          <p:cNvPr id="17" name="Shape 14"/>
          <p:cNvSpPr/>
          <p:nvPr/>
        </p:nvSpPr>
        <p:spPr>
          <a:xfrm>
            <a:off x="566928" y="3788025"/>
            <a:ext cx="6428232" cy="7315"/>
          </a:xfrm>
          <a:prstGeom prst="rect">
            <a:avLst/>
          </a:prstGeom>
          <a:solidFill>
            <a:srgbClr val="D2D2D2"/>
          </a:solidFill>
          <a:ln/>
        </p:spPr>
      </p:sp>
      <p:sp>
        <p:nvSpPr>
          <p:cNvPr id="18" name="Shape 15"/>
          <p:cNvSpPr/>
          <p:nvPr/>
        </p:nvSpPr>
        <p:spPr>
          <a:xfrm>
            <a:off x="566928" y="3916041"/>
            <a:ext cx="3140964" cy="1371600"/>
          </a:xfrm>
          <a:prstGeom prst="rect">
            <a:avLst/>
          </a:prstGeom>
          <a:solidFill>
            <a:srgbClr val="F5F5F3"/>
          </a:solidFill>
          <a:ln/>
        </p:spPr>
      </p:sp>
      <p:pic>
        <p:nvPicPr>
          <p:cNvPr id="19" name="Image 1" descr="assets/nz-army-logo.png">    </p:cNvPr>
          <p:cNvPicPr>
            <a:picLocks noChangeAspect="1"/>
          </p:cNvPicPr>
          <p:nvPr/>
        </p:nvPicPr>
        <p:blipFill>
          <a:blip r:embed="rId2"/>
          <a:stretch>
            <a:fillRect/>
          </a:stretch>
        </p:blipFill>
        <p:spPr>
          <a:xfrm>
            <a:off x="978408" y="4226937"/>
            <a:ext cx="1737360" cy="396658"/>
          </a:xfrm>
          <a:prstGeom prst="rect">
            <a:avLst/>
          </a:prstGeom>
        </p:spPr>
      </p:pic>
      <p:sp>
        <p:nvSpPr>
          <p:cNvPr id="20" name="Shape 16"/>
          <p:cNvSpPr/>
          <p:nvPr/>
        </p:nvSpPr>
        <p:spPr>
          <a:xfrm>
            <a:off x="978408" y="4834162"/>
            <a:ext cx="1737360" cy="20848"/>
          </a:xfrm>
          <a:prstGeom prst="rect">
            <a:avLst/>
          </a:prstGeom>
          <a:solidFill>
            <a:srgbClr val="1A1A1A"/>
          </a:solidFill>
          <a:ln/>
        </p:spPr>
      </p:sp>
      <p:sp>
        <p:nvSpPr>
          <p:cNvPr id="21" name="Text 17"/>
          <p:cNvSpPr/>
          <p:nvPr/>
        </p:nvSpPr>
        <p:spPr>
          <a:xfrm>
            <a:off x="978408" y="4928709"/>
            <a:ext cx="2779776" cy="303500"/>
          </a:xfrm>
          <a:prstGeom prst="rect">
            <a:avLst/>
          </a:prstGeom>
          <a:noFill/>
          <a:ln/>
        </p:spPr>
        <p:txBody>
          <a:bodyPr wrap="square" lIns="0" tIns="0" rIns="0" bIns="0" rtlCol="0" anchor="t"/>
          <a:lstStyle/>
          <a:p>
            <a:pPr algn="l" indent="0" marL="0">
              <a:buNone/>
            </a:pPr>
            <a:r>
              <a:rPr lang="en-US" sz="1991" b="1" dirty="0">
                <a:solidFill>
                  <a:srgbClr val="1A1A1A"/>
                </a:solidFill>
                <a:latin typeface="Arial" pitchFamily="34" charset="0"/>
                <a:ea typeface="Arial" pitchFamily="34" charset="-122"/>
                <a:cs typeface="Arial" pitchFamily="34" charset="-120"/>
              </a:rPr>
              <a:t>Combat Mindset</a:t>
            </a:r>
            <a:endParaRPr lang="en-US" sz="1991" dirty="0"/>
          </a:p>
        </p:txBody>
      </p:sp>
      <p:sp>
        <p:nvSpPr>
          <p:cNvPr id="22" name="Shape 18"/>
          <p:cNvSpPr/>
          <p:nvPr/>
        </p:nvSpPr>
        <p:spPr>
          <a:xfrm>
            <a:off x="3854196" y="3916041"/>
            <a:ext cx="3140964" cy="1371600"/>
          </a:xfrm>
          <a:prstGeom prst="rect">
            <a:avLst/>
          </a:prstGeom>
          <a:solidFill>
            <a:srgbClr val="00261B"/>
          </a:solidFill>
          <a:ln/>
        </p:spPr>
      </p:sp>
      <p:pic>
        <p:nvPicPr>
          <p:cNvPr id="23" name="Image 2" descr="assets/nz-army-logo-white.png">    </p:cNvPr>
          <p:cNvPicPr>
            <a:picLocks noChangeAspect="1"/>
          </p:cNvPicPr>
          <p:nvPr/>
        </p:nvPicPr>
        <p:blipFill>
          <a:blip r:embed="rId3"/>
          <a:stretch>
            <a:fillRect/>
          </a:stretch>
        </p:blipFill>
        <p:spPr>
          <a:xfrm>
            <a:off x="4265676" y="4226937"/>
            <a:ext cx="1737360" cy="396658"/>
          </a:xfrm>
          <a:prstGeom prst="rect">
            <a:avLst/>
          </a:prstGeom>
        </p:spPr>
      </p:pic>
      <p:sp>
        <p:nvSpPr>
          <p:cNvPr id="24" name="Shape 19"/>
          <p:cNvSpPr/>
          <p:nvPr/>
        </p:nvSpPr>
        <p:spPr>
          <a:xfrm>
            <a:off x="4265676" y="4834162"/>
            <a:ext cx="1737360" cy="20848"/>
          </a:xfrm>
          <a:prstGeom prst="rect">
            <a:avLst/>
          </a:prstGeom>
          <a:solidFill>
            <a:srgbClr val="FFFFFF"/>
          </a:solidFill>
          <a:ln/>
        </p:spPr>
      </p:sp>
      <p:sp>
        <p:nvSpPr>
          <p:cNvPr id="25" name="Text 20"/>
          <p:cNvSpPr/>
          <p:nvPr/>
        </p:nvSpPr>
        <p:spPr>
          <a:xfrm>
            <a:off x="4265676" y="4928709"/>
            <a:ext cx="2779776" cy="303500"/>
          </a:xfrm>
          <a:prstGeom prst="rect">
            <a:avLst/>
          </a:prstGeom>
          <a:noFill/>
          <a:ln/>
        </p:spPr>
        <p:txBody>
          <a:bodyPr wrap="square" lIns="0" tIns="0" rIns="0" bIns="0" rtlCol="0" anchor="t"/>
          <a:lstStyle/>
          <a:p>
            <a:pPr algn="l" indent="0" marL="0">
              <a:buNone/>
            </a:pPr>
            <a:r>
              <a:rPr lang="en-US" sz="1991" b="1" dirty="0">
                <a:solidFill>
                  <a:srgbClr val="FFFFFF"/>
                </a:solidFill>
                <a:latin typeface="Arial" pitchFamily="34" charset="0"/>
                <a:ea typeface="Arial" pitchFamily="34" charset="-122"/>
                <a:cs typeface="Arial" pitchFamily="34" charset="-120"/>
              </a:rPr>
              <a:t>Combat Mindset</a:t>
            </a:r>
            <a:endParaRPr lang="en-US" sz="1991" dirty="0"/>
          </a:p>
        </p:txBody>
      </p:sp>
      <p:sp>
        <p:nvSpPr>
          <p:cNvPr id="26" name="Text 21"/>
          <p:cNvSpPr/>
          <p:nvPr/>
        </p:nvSpPr>
        <p:spPr>
          <a:xfrm>
            <a:off x="566928" y="5342505"/>
            <a:ext cx="1828800" cy="164592"/>
          </a:xfrm>
          <a:prstGeom prst="rect">
            <a:avLst/>
          </a:prstGeom>
          <a:noFill/>
          <a:ln/>
        </p:spPr>
        <p:txBody>
          <a:bodyPr wrap="square" lIns="0" tIns="0" rIns="0" bIns="0" rtlCol="0" anchor="ctr"/>
          <a:lstStyle/>
          <a:p>
            <a:pPr algn="l" indent="0" marL="0">
              <a:buNone/>
            </a:pPr>
            <a:r>
              <a:rPr lang="en-US" sz="740" i="1" dirty="0">
                <a:solidFill>
                  <a:srgbClr val="6E6E6E"/>
                </a:solidFill>
                <a:latin typeface="Arial" pitchFamily="34" charset="0"/>
                <a:ea typeface="Arial" pitchFamily="34" charset="-122"/>
                <a:cs typeface="Arial" pitchFamily="34" charset="-120"/>
              </a:rPr>
              <a:t>On light grounds</a:t>
            </a:r>
            <a:endParaRPr lang="en-US" sz="740" dirty="0"/>
          </a:p>
        </p:txBody>
      </p:sp>
      <p:sp>
        <p:nvSpPr>
          <p:cNvPr id="27" name="Text 22"/>
          <p:cNvSpPr/>
          <p:nvPr/>
        </p:nvSpPr>
        <p:spPr>
          <a:xfrm>
            <a:off x="3854196" y="5342505"/>
            <a:ext cx="1828800" cy="164592"/>
          </a:xfrm>
          <a:prstGeom prst="rect">
            <a:avLst/>
          </a:prstGeom>
          <a:noFill/>
          <a:ln/>
        </p:spPr>
        <p:txBody>
          <a:bodyPr wrap="square" lIns="0" tIns="0" rIns="0" bIns="0" rtlCol="0" anchor="ctr"/>
          <a:lstStyle/>
          <a:p>
            <a:pPr algn="l" indent="0" marL="0">
              <a:buNone/>
            </a:pPr>
            <a:r>
              <a:rPr lang="en-US" sz="740" i="1" dirty="0">
                <a:solidFill>
                  <a:srgbClr val="6E6E6E"/>
                </a:solidFill>
                <a:latin typeface="Arial" pitchFamily="34" charset="0"/>
                <a:ea typeface="Arial" pitchFamily="34" charset="-122"/>
                <a:cs typeface="Arial" pitchFamily="34" charset="-120"/>
              </a:rPr>
              <a:t>Reversed, one colour</a:t>
            </a:r>
            <a:endParaRPr lang="en-US" sz="740" dirty="0"/>
          </a:p>
        </p:txBody>
      </p:sp>
      <p:sp>
        <p:nvSpPr>
          <p:cNvPr id="28" name="Text 23"/>
          <p:cNvSpPr/>
          <p:nvPr/>
        </p:nvSpPr>
        <p:spPr>
          <a:xfrm>
            <a:off x="566928" y="5671689"/>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RULES</a:t>
            </a:r>
            <a:endParaRPr lang="en-US" sz="740" dirty="0"/>
          </a:p>
        </p:txBody>
      </p:sp>
      <p:sp>
        <p:nvSpPr>
          <p:cNvPr id="29" name="Shape 24"/>
          <p:cNvSpPr/>
          <p:nvPr/>
        </p:nvSpPr>
        <p:spPr>
          <a:xfrm>
            <a:off x="566928" y="5854569"/>
            <a:ext cx="6428232" cy="7315"/>
          </a:xfrm>
          <a:prstGeom prst="rect">
            <a:avLst/>
          </a:prstGeom>
          <a:solidFill>
            <a:srgbClr val="D2D2D2"/>
          </a:solidFill>
          <a:ln/>
        </p:spPr>
      </p:sp>
      <p:sp>
        <p:nvSpPr>
          <p:cNvPr id="30" name="Text 25"/>
          <p:cNvSpPr/>
          <p:nvPr/>
        </p:nvSpPr>
        <p:spPr>
          <a:xfrm>
            <a:off x="566928" y="5982585"/>
            <a:ext cx="1051560" cy="292608"/>
          </a:xfrm>
          <a:prstGeom prst="rect">
            <a:avLst/>
          </a:prstGeom>
          <a:noFill/>
          <a:ln/>
        </p:spPr>
        <p:txBody>
          <a:bodyPr wrap="square" lIns="0" tIns="0" rIns="0" bIns="0" rtlCol="0" anchor="t"/>
          <a:lstStyle/>
          <a:p>
            <a:pPr algn="l" indent="0" marL="0">
              <a:buNone/>
            </a:pPr>
            <a:r>
              <a:rPr lang="en-US" sz="820" b="1" dirty="0">
                <a:solidFill>
                  <a:srgbClr val="1A1A1A"/>
                </a:solidFill>
                <a:latin typeface="Arial" pitchFamily="34" charset="0"/>
                <a:ea typeface="Arial" pitchFamily="34" charset="-122"/>
                <a:cs typeface="Arial" pitchFamily="34" charset="-120"/>
              </a:rPr>
              <a:t>Interval</a:t>
            </a:r>
            <a:endParaRPr lang="en-US" sz="820" dirty="0"/>
          </a:p>
        </p:txBody>
      </p:sp>
      <p:sp>
        <p:nvSpPr>
          <p:cNvPr id="31" name="Text 26"/>
          <p:cNvSpPr/>
          <p:nvPr/>
        </p:nvSpPr>
        <p:spPr>
          <a:xfrm>
            <a:off x="1709928" y="5982585"/>
            <a:ext cx="5285232" cy="292608"/>
          </a:xfrm>
          <a:prstGeom prst="rect">
            <a:avLst/>
          </a:prstGeom>
          <a:noFill/>
          <a:ln/>
        </p:spPr>
        <p:txBody>
          <a:bodyPr wrap="square" lIns="0" tIns="0" rIns="0" bIns="0" rtlCol="0" anchor="t"/>
          <a:lstStyle/>
          <a:p>
            <a:pPr algn="l" indent="0" marL="0">
              <a:lnSpc>
                <a:spcPct val="115000"/>
              </a:lnSpc>
              <a:buNone/>
            </a:pPr>
            <a:r>
              <a:rPr lang="en-US" sz="820" dirty="0">
                <a:solidFill>
                  <a:srgbClr val="3E3E3E"/>
                </a:solidFill>
                <a:latin typeface="Arial" pitchFamily="34" charset="0"/>
                <a:ea typeface="Arial" pitchFamily="34" charset="-122"/>
                <a:cs typeface="Arial" pitchFamily="34" charset="-120"/>
              </a:rPr>
              <a:t>The gap between the logo and the name is exactly one clear space. It never closes up and never opens out.</a:t>
            </a:r>
            <a:endParaRPr lang="en-US" sz="820" dirty="0"/>
          </a:p>
        </p:txBody>
      </p:sp>
      <p:sp>
        <p:nvSpPr>
          <p:cNvPr id="32" name="Shape 27"/>
          <p:cNvSpPr/>
          <p:nvPr/>
        </p:nvSpPr>
        <p:spPr>
          <a:xfrm>
            <a:off x="566928" y="6311769"/>
            <a:ext cx="6428232" cy="5486"/>
          </a:xfrm>
          <a:prstGeom prst="rect">
            <a:avLst/>
          </a:prstGeom>
          <a:solidFill>
            <a:srgbClr val="D2D2D2"/>
          </a:solidFill>
          <a:ln/>
        </p:spPr>
      </p:sp>
      <p:sp>
        <p:nvSpPr>
          <p:cNvPr id="33" name="Text 28"/>
          <p:cNvSpPr/>
          <p:nvPr/>
        </p:nvSpPr>
        <p:spPr>
          <a:xfrm>
            <a:off x="566928" y="6403209"/>
            <a:ext cx="1051560" cy="292608"/>
          </a:xfrm>
          <a:prstGeom prst="rect">
            <a:avLst/>
          </a:prstGeom>
          <a:noFill/>
          <a:ln/>
        </p:spPr>
        <p:txBody>
          <a:bodyPr wrap="square" lIns="0" tIns="0" rIns="0" bIns="0" rtlCol="0" anchor="t"/>
          <a:lstStyle/>
          <a:p>
            <a:pPr algn="l" indent="0" marL="0">
              <a:buNone/>
            </a:pPr>
            <a:r>
              <a:rPr lang="en-US" sz="820" b="1" dirty="0">
                <a:solidFill>
                  <a:srgbClr val="1A1A1A"/>
                </a:solidFill>
                <a:latin typeface="Arial" pitchFamily="34" charset="0"/>
                <a:ea typeface="Arial" pitchFamily="34" charset="-122"/>
                <a:cs typeface="Arial" pitchFamily="34" charset="-120"/>
              </a:rPr>
              <a:t>Alignment</a:t>
            </a:r>
            <a:endParaRPr lang="en-US" sz="820" dirty="0"/>
          </a:p>
        </p:txBody>
      </p:sp>
      <p:sp>
        <p:nvSpPr>
          <p:cNvPr id="34" name="Text 29"/>
          <p:cNvSpPr/>
          <p:nvPr/>
        </p:nvSpPr>
        <p:spPr>
          <a:xfrm>
            <a:off x="1709928" y="6403209"/>
            <a:ext cx="5285232" cy="292608"/>
          </a:xfrm>
          <a:prstGeom prst="rect">
            <a:avLst/>
          </a:prstGeom>
          <a:noFill/>
          <a:ln/>
        </p:spPr>
        <p:txBody>
          <a:bodyPr wrap="square" lIns="0" tIns="0" rIns="0" bIns="0" rtlCol="0" anchor="t"/>
          <a:lstStyle/>
          <a:p>
            <a:pPr algn="l" indent="0" marL="0">
              <a:lnSpc>
                <a:spcPct val="115000"/>
              </a:lnSpc>
              <a:buNone/>
            </a:pPr>
            <a:r>
              <a:rPr lang="en-US" sz="820" dirty="0">
                <a:solidFill>
                  <a:srgbClr val="3E3E3E"/>
                </a:solidFill>
                <a:latin typeface="Arial" pitchFamily="34" charset="0"/>
                <a:ea typeface="Arial" pitchFamily="34" charset="-122"/>
                <a:cs typeface="Arial" pitchFamily="34" charset="-120"/>
              </a:rPr>
              <a:t>Horizontal: the name is optically centred on the logo. Stacked: the name aligns to the left edge of the logo's ink.</a:t>
            </a:r>
            <a:endParaRPr lang="en-US" sz="820" dirty="0"/>
          </a:p>
        </p:txBody>
      </p:sp>
      <p:sp>
        <p:nvSpPr>
          <p:cNvPr id="35" name="Shape 30"/>
          <p:cNvSpPr/>
          <p:nvPr/>
        </p:nvSpPr>
        <p:spPr>
          <a:xfrm>
            <a:off x="566928" y="6732393"/>
            <a:ext cx="6428232" cy="5486"/>
          </a:xfrm>
          <a:prstGeom prst="rect">
            <a:avLst/>
          </a:prstGeom>
          <a:solidFill>
            <a:srgbClr val="D2D2D2"/>
          </a:solidFill>
          <a:ln/>
        </p:spPr>
      </p:sp>
      <p:sp>
        <p:nvSpPr>
          <p:cNvPr id="36" name="Text 31"/>
          <p:cNvSpPr/>
          <p:nvPr/>
        </p:nvSpPr>
        <p:spPr>
          <a:xfrm>
            <a:off x="566928" y="6823833"/>
            <a:ext cx="1051560" cy="292608"/>
          </a:xfrm>
          <a:prstGeom prst="rect">
            <a:avLst/>
          </a:prstGeom>
          <a:noFill/>
          <a:ln/>
        </p:spPr>
        <p:txBody>
          <a:bodyPr wrap="square" lIns="0" tIns="0" rIns="0" bIns="0" rtlCol="0" anchor="t"/>
          <a:lstStyle/>
          <a:p>
            <a:pPr algn="l" indent="0" marL="0">
              <a:buNone/>
            </a:pPr>
            <a:r>
              <a:rPr lang="en-US" sz="820" b="1" dirty="0">
                <a:solidFill>
                  <a:srgbClr val="1A1A1A"/>
                </a:solidFill>
                <a:latin typeface="Arial" pitchFamily="34" charset="0"/>
                <a:ea typeface="Arial" pitchFamily="34" charset="-122"/>
                <a:cs typeface="Arial" pitchFamily="34" charset="-120"/>
              </a:rPr>
              <a:t>The rule</a:t>
            </a:r>
            <a:endParaRPr lang="en-US" sz="820" dirty="0"/>
          </a:p>
        </p:txBody>
      </p:sp>
      <p:sp>
        <p:nvSpPr>
          <p:cNvPr id="37" name="Text 32"/>
          <p:cNvSpPr/>
          <p:nvPr/>
        </p:nvSpPr>
        <p:spPr>
          <a:xfrm>
            <a:off x="1709928" y="6823833"/>
            <a:ext cx="5285232" cy="292608"/>
          </a:xfrm>
          <a:prstGeom prst="rect">
            <a:avLst/>
          </a:prstGeom>
          <a:noFill/>
          <a:ln/>
        </p:spPr>
        <p:txBody>
          <a:bodyPr wrap="square" lIns="0" tIns="0" rIns="0" bIns="0" rtlCol="0" anchor="t"/>
          <a:lstStyle/>
          <a:p>
            <a:pPr algn="l" indent="0" marL="0">
              <a:lnSpc>
                <a:spcPct val="115000"/>
              </a:lnSpc>
              <a:buNone/>
            </a:pPr>
            <a:r>
              <a:rPr lang="en-US" sz="820" dirty="0">
                <a:solidFill>
                  <a:srgbClr val="3E3E3E"/>
                </a:solidFill>
                <a:latin typeface="Arial" pitchFamily="34" charset="0"/>
                <a:ea typeface="Arial" pitchFamily="34" charset="-122"/>
                <a:cs typeface="Arial" pitchFamily="34" charset="-120"/>
              </a:rPr>
              <a:t>In the stacked lockup the rule spans the logo width exactly, at one hundredth of that width. Black, or white reversed. Never red.</a:t>
            </a:r>
            <a:endParaRPr lang="en-US" sz="820" dirty="0"/>
          </a:p>
        </p:txBody>
      </p:sp>
      <p:sp>
        <p:nvSpPr>
          <p:cNvPr id="38" name="Shape 33"/>
          <p:cNvSpPr/>
          <p:nvPr/>
        </p:nvSpPr>
        <p:spPr>
          <a:xfrm>
            <a:off x="566928" y="7153017"/>
            <a:ext cx="6428232" cy="5486"/>
          </a:xfrm>
          <a:prstGeom prst="rect">
            <a:avLst/>
          </a:prstGeom>
          <a:solidFill>
            <a:srgbClr val="D2D2D2"/>
          </a:solidFill>
          <a:ln/>
        </p:spPr>
      </p:sp>
      <p:sp>
        <p:nvSpPr>
          <p:cNvPr id="39" name="Text 34"/>
          <p:cNvSpPr/>
          <p:nvPr/>
        </p:nvSpPr>
        <p:spPr>
          <a:xfrm>
            <a:off x="566928" y="7244457"/>
            <a:ext cx="1051560" cy="292608"/>
          </a:xfrm>
          <a:prstGeom prst="rect">
            <a:avLst/>
          </a:prstGeom>
          <a:noFill/>
          <a:ln/>
        </p:spPr>
        <p:txBody>
          <a:bodyPr wrap="square" lIns="0" tIns="0" rIns="0" bIns="0" rtlCol="0" anchor="t"/>
          <a:lstStyle/>
          <a:p>
            <a:pPr algn="l" indent="0" marL="0">
              <a:buNone/>
            </a:pPr>
            <a:r>
              <a:rPr lang="en-US" sz="820" b="1" dirty="0">
                <a:solidFill>
                  <a:srgbClr val="1A1A1A"/>
                </a:solidFill>
                <a:latin typeface="Arial" pitchFamily="34" charset="0"/>
                <a:ea typeface="Arial" pitchFamily="34" charset="-122"/>
                <a:cs typeface="Arial" pitchFamily="34" charset="-120"/>
              </a:rPr>
              <a:t>Colour</a:t>
            </a:r>
            <a:endParaRPr lang="en-US" sz="820" dirty="0"/>
          </a:p>
        </p:txBody>
      </p:sp>
      <p:sp>
        <p:nvSpPr>
          <p:cNvPr id="40" name="Text 35"/>
          <p:cNvSpPr/>
          <p:nvPr/>
        </p:nvSpPr>
        <p:spPr>
          <a:xfrm>
            <a:off x="1709928" y="7244457"/>
            <a:ext cx="5285232" cy="292608"/>
          </a:xfrm>
          <a:prstGeom prst="rect">
            <a:avLst/>
          </a:prstGeom>
          <a:noFill/>
          <a:ln/>
        </p:spPr>
        <p:txBody>
          <a:bodyPr wrap="square" lIns="0" tIns="0" rIns="0" bIns="0" rtlCol="0" anchor="t"/>
          <a:lstStyle/>
          <a:p>
            <a:pPr algn="l" indent="0" marL="0">
              <a:lnSpc>
                <a:spcPct val="115000"/>
              </a:lnSpc>
              <a:buNone/>
            </a:pPr>
            <a:r>
              <a:rPr lang="en-US" sz="820" dirty="0">
                <a:solidFill>
                  <a:srgbClr val="3E3E3E"/>
                </a:solidFill>
                <a:latin typeface="Arial" pitchFamily="34" charset="0"/>
                <a:ea typeface="Arial" pitchFamily="34" charset="-122"/>
                <a:cs typeface="Arial" pitchFamily="34" charset="-120"/>
              </a:rPr>
              <a:t>One colour throughout. The logo's own red is the only red in the lockup; the name is never red, never tinted, never outlined.</a:t>
            </a:r>
            <a:endParaRPr lang="en-US" sz="820" dirty="0"/>
          </a:p>
        </p:txBody>
      </p:sp>
      <p:sp>
        <p:nvSpPr>
          <p:cNvPr id="41" name="Shape 36"/>
          <p:cNvSpPr/>
          <p:nvPr/>
        </p:nvSpPr>
        <p:spPr>
          <a:xfrm>
            <a:off x="566928" y="7573641"/>
            <a:ext cx="6428232" cy="5486"/>
          </a:xfrm>
          <a:prstGeom prst="rect">
            <a:avLst/>
          </a:prstGeom>
          <a:solidFill>
            <a:srgbClr val="D2D2D2"/>
          </a:solidFill>
          <a:ln/>
        </p:spPr>
      </p:sp>
      <p:sp>
        <p:nvSpPr>
          <p:cNvPr id="42" name="Text 37"/>
          <p:cNvSpPr/>
          <p:nvPr/>
        </p:nvSpPr>
        <p:spPr>
          <a:xfrm>
            <a:off x="566928" y="7665081"/>
            <a:ext cx="1051560" cy="292608"/>
          </a:xfrm>
          <a:prstGeom prst="rect">
            <a:avLst/>
          </a:prstGeom>
          <a:noFill/>
          <a:ln/>
        </p:spPr>
        <p:txBody>
          <a:bodyPr wrap="square" lIns="0" tIns="0" rIns="0" bIns="0" rtlCol="0" anchor="t"/>
          <a:lstStyle/>
          <a:p>
            <a:pPr algn="l" indent="0" marL="0">
              <a:buNone/>
            </a:pPr>
            <a:r>
              <a:rPr lang="en-US" sz="820" b="1" dirty="0">
                <a:solidFill>
                  <a:srgbClr val="1A1A1A"/>
                </a:solidFill>
                <a:latin typeface="Arial" pitchFamily="34" charset="0"/>
                <a:ea typeface="Arial" pitchFamily="34" charset="-122"/>
                <a:cs typeface="Arial" pitchFamily="34" charset="-120"/>
              </a:rPr>
              <a:t>Backgrounds</a:t>
            </a:r>
            <a:endParaRPr lang="en-US" sz="820" dirty="0"/>
          </a:p>
        </p:txBody>
      </p:sp>
      <p:sp>
        <p:nvSpPr>
          <p:cNvPr id="43" name="Text 38"/>
          <p:cNvSpPr/>
          <p:nvPr/>
        </p:nvSpPr>
        <p:spPr>
          <a:xfrm>
            <a:off x="1709928" y="7665081"/>
            <a:ext cx="5285232" cy="292608"/>
          </a:xfrm>
          <a:prstGeom prst="rect">
            <a:avLst/>
          </a:prstGeom>
          <a:noFill/>
          <a:ln/>
        </p:spPr>
        <p:txBody>
          <a:bodyPr wrap="square" lIns="0" tIns="0" rIns="0" bIns="0" rtlCol="0" anchor="t"/>
          <a:lstStyle/>
          <a:p>
            <a:pPr algn="l" indent="0" marL="0">
              <a:lnSpc>
                <a:spcPct val="115000"/>
              </a:lnSpc>
              <a:buNone/>
            </a:pPr>
            <a:r>
              <a:rPr lang="en-US" sz="820" dirty="0">
                <a:solidFill>
                  <a:srgbClr val="3E3E3E"/>
                </a:solidFill>
                <a:latin typeface="Arial" pitchFamily="34" charset="0"/>
                <a:ea typeface="Arial" pitchFamily="34" charset="-122"/>
                <a:cs typeface="Arial" pitchFamily="34" charset="-120"/>
              </a:rPr>
              <a:t>White, black, or a solid panel in the palette. Never a photograph, never a pattern, never a mid tone that flattens the logo.</a:t>
            </a:r>
            <a:endParaRPr lang="en-US" sz="820" dirty="0"/>
          </a:p>
        </p:txBody>
      </p:sp>
      <p:sp>
        <p:nvSpPr>
          <p:cNvPr id="44" name="Shape 39"/>
          <p:cNvSpPr/>
          <p:nvPr/>
        </p:nvSpPr>
        <p:spPr>
          <a:xfrm>
            <a:off x="566928" y="7994265"/>
            <a:ext cx="6428232" cy="5486"/>
          </a:xfrm>
          <a:prstGeom prst="rect">
            <a:avLst/>
          </a:prstGeom>
          <a:solidFill>
            <a:srgbClr val="D2D2D2"/>
          </a:solidFill>
          <a:ln/>
        </p:spPr>
      </p:sp>
      <p:sp>
        <p:nvSpPr>
          <p:cNvPr id="45" name="Text 40"/>
          <p:cNvSpPr/>
          <p:nvPr/>
        </p:nvSpPr>
        <p:spPr>
          <a:xfrm>
            <a:off x="566928" y="8085705"/>
            <a:ext cx="1051560" cy="292608"/>
          </a:xfrm>
          <a:prstGeom prst="rect">
            <a:avLst/>
          </a:prstGeom>
          <a:noFill/>
          <a:ln/>
        </p:spPr>
        <p:txBody>
          <a:bodyPr wrap="square" lIns="0" tIns="0" rIns="0" bIns="0" rtlCol="0" anchor="t"/>
          <a:lstStyle/>
          <a:p>
            <a:pPr algn="l" indent="0" marL="0">
              <a:buNone/>
            </a:pPr>
            <a:r>
              <a:rPr lang="en-US" sz="820" b="1" dirty="0">
                <a:solidFill>
                  <a:srgbClr val="1A1A1A"/>
                </a:solidFill>
                <a:latin typeface="Arial" pitchFamily="34" charset="0"/>
                <a:ea typeface="Arial" pitchFamily="34" charset="-122"/>
                <a:cs typeface="Arial" pitchFamily="34" charset="-120"/>
              </a:rPr>
              <a:t>Not a logo</a:t>
            </a:r>
            <a:endParaRPr lang="en-US" sz="820" dirty="0"/>
          </a:p>
        </p:txBody>
      </p:sp>
      <p:sp>
        <p:nvSpPr>
          <p:cNvPr id="46" name="Text 41"/>
          <p:cNvSpPr/>
          <p:nvPr/>
        </p:nvSpPr>
        <p:spPr>
          <a:xfrm>
            <a:off x="1709928" y="8085705"/>
            <a:ext cx="5285232" cy="292608"/>
          </a:xfrm>
          <a:prstGeom prst="rect">
            <a:avLst/>
          </a:prstGeom>
          <a:noFill/>
          <a:ln/>
        </p:spPr>
        <p:txBody>
          <a:bodyPr wrap="square" lIns="0" tIns="0" rIns="0" bIns="0" rtlCol="0" anchor="t"/>
          <a:lstStyle/>
          <a:p>
            <a:pPr algn="l" indent="0" marL="0">
              <a:lnSpc>
                <a:spcPct val="115000"/>
              </a:lnSpc>
              <a:buNone/>
            </a:pPr>
            <a:r>
              <a:rPr lang="en-US" sz="820" dirty="0">
                <a:solidFill>
                  <a:srgbClr val="3E3E3E"/>
                </a:solidFill>
                <a:latin typeface="Arial" pitchFamily="34" charset="0"/>
                <a:ea typeface="Arial" pitchFamily="34" charset="-122"/>
                <a:cs typeface="Arial" pitchFamily="34" charset="-120"/>
              </a:rPr>
              <a:t>This is a pairing of an approved logo with plain text. It is not itself a mark, and it is not registered, drawn as artwork or used as a badge.</a:t>
            </a:r>
            <a:endParaRPr lang="en-US" sz="820" dirty="0"/>
          </a:p>
        </p:txBody>
      </p:sp>
      <p:sp>
        <p:nvSpPr>
          <p:cNvPr id="47" name="Shape 42"/>
          <p:cNvSpPr/>
          <p:nvPr/>
        </p:nvSpPr>
        <p:spPr>
          <a:xfrm>
            <a:off x="566928" y="8414889"/>
            <a:ext cx="6428232" cy="5486"/>
          </a:xfrm>
          <a:prstGeom prst="rect">
            <a:avLst/>
          </a:prstGeom>
          <a:solidFill>
            <a:srgbClr val="D2D2D2"/>
          </a:solidFill>
          <a:ln/>
        </p:spPr>
      </p:sp>
      <p:sp>
        <p:nvSpPr>
          <p:cNvPr id="48" name="Text 43"/>
          <p:cNvSpPr/>
          <p:nvPr/>
        </p:nvSpPr>
        <p:spPr>
          <a:xfrm>
            <a:off x="566928" y="8542905"/>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INCORRECT USE</a:t>
            </a:r>
            <a:endParaRPr lang="en-US" sz="740" dirty="0"/>
          </a:p>
        </p:txBody>
      </p:sp>
      <p:sp>
        <p:nvSpPr>
          <p:cNvPr id="49" name="Shape 44"/>
          <p:cNvSpPr/>
          <p:nvPr/>
        </p:nvSpPr>
        <p:spPr>
          <a:xfrm>
            <a:off x="566928" y="8725785"/>
            <a:ext cx="6428232" cy="7315"/>
          </a:xfrm>
          <a:prstGeom prst="rect">
            <a:avLst/>
          </a:prstGeom>
          <a:solidFill>
            <a:srgbClr val="D2D2D2"/>
          </a:solidFill>
          <a:ln/>
        </p:spPr>
      </p:sp>
      <p:sp>
        <p:nvSpPr>
          <p:cNvPr id="50" name="Shape 45"/>
          <p:cNvSpPr/>
          <p:nvPr/>
        </p:nvSpPr>
        <p:spPr>
          <a:xfrm>
            <a:off x="566928" y="8853801"/>
            <a:ext cx="1524762" cy="786384"/>
          </a:xfrm>
          <a:prstGeom prst="rect">
            <a:avLst/>
          </a:prstGeom>
          <a:solidFill>
            <a:srgbClr val="F5F5F3"/>
          </a:solidFill>
          <a:ln/>
        </p:spPr>
      </p:sp>
      <p:pic>
        <p:nvPicPr>
          <p:cNvPr id="51" name="Image 3" descr="assets/nz-army-logo.png">    </p:cNvPr>
          <p:cNvPicPr>
            <a:picLocks noChangeAspect="1"/>
          </p:cNvPicPr>
          <p:nvPr/>
        </p:nvPicPr>
        <p:blipFill>
          <a:blip r:embed="rId4"/>
          <a:stretch>
            <a:fillRect/>
          </a:stretch>
        </p:blipFill>
        <p:spPr>
          <a:xfrm>
            <a:off x="676656" y="9054969"/>
            <a:ext cx="713232" cy="162838"/>
          </a:xfrm>
          <a:prstGeom prst="rect">
            <a:avLst/>
          </a:prstGeom>
        </p:spPr>
      </p:pic>
      <p:sp>
        <p:nvSpPr>
          <p:cNvPr id="52" name="Text 46"/>
          <p:cNvSpPr/>
          <p:nvPr/>
        </p:nvSpPr>
        <p:spPr>
          <a:xfrm>
            <a:off x="1476332" y="9054969"/>
            <a:ext cx="701802" cy="162838"/>
          </a:xfrm>
          <a:prstGeom prst="rect">
            <a:avLst/>
          </a:prstGeom>
          <a:noFill/>
          <a:ln/>
        </p:spPr>
        <p:txBody>
          <a:bodyPr wrap="square" lIns="0" tIns="0" rIns="0" bIns="0" rtlCol="0" anchor="ctr"/>
          <a:lstStyle/>
          <a:p>
            <a:pPr algn="l" indent="0" marL="0">
              <a:buNone/>
            </a:pPr>
            <a:r>
              <a:rPr lang="en-US" sz="840" b="1" dirty="0">
                <a:solidFill>
                  <a:srgbClr val="1A1A1A"/>
                </a:solidFill>
                <a:latin typeface="Arial" pitchFamily="34" charset="0"/>
                <a:ea typeface="Arial" pitchFamily="34" charset="-122"/>
                <a:cs typeface="Arial" pitchFamily="34" charset="-120"/>
              </a:rPr>
              <a:t>Combat Mindset</a:t>
            </a:r>
            <a:endParaRPr lang="en-US" sz="840" dirty="0"/>
          </a:p>
        </p:txBody>
      </p:sp>
      <p:sp>
        <p:nvSpPr>
          <p:cNvPr id="53" name="Shape 47"/>
          <p:cNvSpPr/>
          <p:nvPr/>
        </p:nvSpPr>
        <p:spPr>
          <a:xfrm>
            <a:off x="621792" y="8945241"/>
            <a:ext cx="1415034" cy="603504"/>
          </a:xfrm>
          <a:prstGeom prst="line">
            <a:avLst/>
          </a:prstGeom>
          <a:noFill/>
          <a:ln w="12700">
            <a:solidFill>
              <a:srgbClr val="1A1A1A"/>
            </a:solidFill>
            <a:prstDash val="solid"/>
          </a:ln>
        </p:spPr>
      </p:sp>
      <p:sp>
        <p:nvSpPr>
          <p:cNvPr id="54" name="Shape 48"/>
          <p:cNvSpPr/>
          <p:nvPr/>
        </p:nvSpPr>
        <p:spPr>
          <a:xfrm>
            <a:off x="621792" y="9548745"/>
            <a:ext cx="1415034" cy="-603504"/>
          </a:xfrm>
          <a:prstGeom prst="line">
            <a:avLst/>
          </a:prstGeom>
          <a:noFill/>
          <a:ln w="12700">
            <a:solidFill>
              <a:srgbClr val="1A1A1A"/>
            </a:solidFill>
            <a:prstDash val="solid"/>
          </a:ln>
        </p:spPr>
      </p:sp>
      <p:sp>
        <p:nvSpPr>
          <p:cNvPr id="55" name="Text 49"/>
          <p:cNvSpPr/>
          <p:nvPr/>
        </p:nvSpPr>
        <p:spPr>
          <a:xfrm>
            <a:off x="566928" y="9695049"/>
            <a:ext cx="1524762" cy="274320"/>
          </a:xfrm>
          <a:prstGeom prst="rect">
            <a:avLst/>
          </a:prstGeom>
          <a:noFill/>
          <a:ln/>
        </p:spPr>
        <p:txBody>
          <a:bodyPr wrap="square" lIns="0" tIns="0" rIns="0" bIns="0" rtlCol="0" anchor="t"/>
          <a:lstStyle/>
          <a:p>
            <a:pPr algn="l" indent="0" marL="0">
              <a:lnSpc>
                <a:spcPct val="110000"/>
              </a:lnSpc>
              <a:buNone/>
            </a:pPr>
            <a:r>
              <a:rPr lang="en-US" sz="720" dirty="0">
                <a:solidFill>
                  <a:srgbClr val="1A1A1A"/>
                </a:solidFill>
                <a:latin typeface="Arial" pitchFamily="34" charset="0"/>
                <a:ea typeface="Arial" pitchFamily="34" charset="-122"/>
                <a:cs typeface="Arial" pitchFamily="34" charset="-120"/>
              </a:rPr>
              <a:t>Name larger than the logo</a:t>
            </a:r>
            <a:endParaRPr lang="en-US" sz="720" dirty="0"/>
          </a:p>
        </p:txBody>
      </p:sp>
      <p:sp>
        <p:nvSpPr>
          <p:cNvPr id="56" name="Shape 50"/>
          <p:cNvSpPr/>
          <p:nvPr/>
        </p:nvSpPr>
        <p:spPr>
          <a:xfrm>
            <a:off x="2201418" y="8853801"/>
            <a:ext cx="1524762" cy="786384"/>
          </a:xfrm>
          <a:prstGeom prst="rect">
            <a:avLst/>
          </a:prstGeom>
          <a:solidFill>
            <a:srgbClr val="F5F5F3"/>
          </a:solidFill>
          <a:ln/>
        </p:spPr>
      </p:sp>
      <p:pic>
        <p:nvPicPr>
          <p:cNvPr id="57" name="Image 4" descr="assets/nz-army-logo.png">    </p:cNvPr>
          <p:cNvPicPr>
            <a:picLocks noChangeAspect="1"/>
          </p:cNvPicPr>
          <p:nvPr/>
        </p:nvPicPr>
        <p:blipFill>
          <a:blip r:embed="rId5"/>
          <a:stretch>
            <a:fillRect/>
          </a:stretch>
        </p:blipFill>
        <p:spPr>
          <a:xfrm>
            <a:off x="2311146" y="9054969"/>
            <a:ext cx="713232" cy="162838"/>
          </a:xfrm>
          <a:prstGeom prst="rect">
            <a:avLst/>
          </a:prstGeom>
        </p:spPr>
      </p:pic>
      <p:sp>
        <p:nvSpPr>
          <p:cNvPr id="58" name="Text 51"/>
          <p:cNvSpPr/>
          <p:nvPr/>
        </p:nvSpPr>
        <p:spPr>
          <a:xfrm>
            <a:off x="3033522" y="9054969"/>
            <a:ext cx="701802" cy="162838"/>
          </a:xfrm>
          <a:prstGeom prst="rect">
            <a:avLst/>
          </a:prstGeom>
          <a:noFill/>
          <a:ln/>
        </p:spPr>
        <p:txBody>
          <a:bodyPr wrap="square" lIns="0" tIns="0" rIns="0" bIns="0" rtlCol="0" anchor="ctr"/>
          <a:lstStyle/>
          <a:p>
            <a:pPr algn="l" indent="0" marL="0">
              <a:buNone/>
            </a:pPr>
            <a:r>
              <a:rPr lang="en-US" sz="560" b="1" dirty="0">
                <a:solidFill>
                  <a:srgbClr val="1A1A1A"/>
                </a:solidFill>
                <a:latin typeface="Arial" pitchFamily="34" charset="0"/>
                <a:ea typeface="Arial" pitchFamily="34" charset="-122"/>
                <a:cs typeface="Arial" pitchFamily="34" charset="-120"/>
              </a:rPr>
              <a:t>Combat Mindset</a:t>
            </a:r>
            <a:endParaRPr lang="en-US" sz="560" dirty="0"/>
          </a:p>
        </p:txBody>
      </p:sp>
      <p:sp>
        <p:nvSpPr>
          <p:cNvPr id="59" name="Shape 52"/>
          <p:cNvSpPr/>
          <p:nvPr/>
        </p:nvSpPr>
        <p:spPr>
          <a:xfrm>
            <a:off x="2256282" y="8945241"/>
            <a:ext cx="1415034" cy="603504"/>
          </a:xfrm>
          <a:prstGeom prst="line">
            <a:avLst/>
          </a:prstGeom>
          <a:noFill/>
          <a:ln w="12700">
            <a:solidFill>
              <a:srgbClr val="1A1A1A"/>
            </a:solidFill>
            <a:prstDash val="solid"/>
          </a:ln>
        </p:spPr>
      </p:sp>
      <p:sp>
        <p:nvSpPr>
          <p:cNvPr id="60" name="Shape 53"/>
          <p:cNvSpPr/>
          <p:nvPr/>
        </p:nvSpPr>
        <p:spPr>
          <a:xfrm>
            <a:off x="2256282" y="9548745"/>
            <a:ext cx="1415034" cy="-603504"/>
          </a:xfrm>
          <a:prstGeom prst="line">
            <a:avLst/>
          </a:prstGeom>
          <a:noFill/>
          <a:ln w="12700">
            <a:solidFill>
              <a:srgbClr val="1A1A1A"/>
            </a:solidFill>
            <a:prstDash val="solid"/>
          </a:ln>
        </p:spPr>
      </p:sp>
      <p:sp>
        <p:nvSpPr>
          <p:cNvPr id="61" name="Text 54"/>
          <p:cNvSpPr/>
          <p:nvPr/>
        </p:nvSpPr>
        <p:spPr>
          <a:xfrm>
            <a:off x="2201418" y="9695049"/>
            <a:ext cx="1524762" cy="274320"/>
          </a:xfrm>
          <a:prstGeom prst="rect">
            <a:avLst/>
          </a:prstGeom>
          <a:noFill/>
          <a:ln/>
        </p:spPr>
        <p:txBody>
          <a:bodyPr wrap="square" lIns="0" tIns="0" rIns="0" bIns="0" rtlCol="0" anchor="t"/>
          <a:lstStyle/>
          <a:p>
            <a:pPr algn="l" indent="0" marL="0">
              <a:lnSpc>
                <a:spcPct val="110000"/>
              </a:lnSpc>
              <a:buNone/>
            </a:pPr>
            <a:r>
              <a:rPr lang="en-US" sz="720" dirty="0">
                <a:solidFill>
                  <a:srgbClr val="1A1A1A"/>
                </a:solidFill>
                <a:latin typeface="Arial" pitchFamily="34" charset="0"/>
                <a:ea typeface="Arial" pitchFamily="34" charset="-122"/>
                <a:cs typeface="Arial" pitchFamily="34" charset="-120"/>
              </a:rPr>
              <a:t>Clear space closed up</a:t>
            </a:r>
            <a:endParaRPr lang="en-US" sz="720" dirty="0"/>
          </a:p>
        </p:txBody>
      </p:sp>
      <p:sp>
        <p:nvSpPr>
          <p:cNvPr id="62" name="Shape 55"/>
          <p:cNvSpPr/>
          <p:nvPr/>
        </p:nvSpPr>
        <p:spPr>
          <a:xfrm>
            <a:off x="3835908" y="8853801"/>
            <a:ext cx="1524762" cy="786384"/>
          </a:xfrm>
          <a:prstGeom prst="rect">
            <a:avLst/>
          </a:prstGeom>
          <a:solidFill>
            <a:srgbClr val="F5F5F3"/>
          </a:solidFill>
          <a:ln/>
        </p:spPr>
      </p:sp>
      <p:pic>
        <p:nvPicPr>
          <p:cNvPr id="63" name="Image 5" descr="assets/nz-army-logo.png">    </p:cNvPr>
          <p:cNvPicPr>
            <a:picLocks noChangeAspect="1"/>
          </p:cNvPicPr>
          <p:nvPr/>
        </p:nvPicPr>
        <p:blipFill>
          <a:blip r:embed="rId6"/>
          <a:stretch>
            <a:fillRect/>
          </a:stretch>
        </p:blipFill>
        <p:spPr>
          <a:xfrm>
            <a:off x="3945636" y="9054969"/>
            <a:ext cx="713232" cy="162838"/>
          </a:xfrm>
          <a:prstGeom prst="rect">
            <a:avLst/>
          </a:prstGeom>
        </p:spPr>
      </p:pic>
      <p:sp>
        <p:nvSpPr>
          <p:cNvPr id="64" name="Text 56"/>
          <p:cNvSpPr/>
          <p:nvPr/>
        </p:nvSpPr>
        <p:spPr>
          <a:xfrm>
            <a:off x="4745312" y="9054969"/>
            <a:ext cx="701802" cy="162838"/>
          </a:xfrm>
          <a:prstGeom prst="rect">
            <a:avLst/>
          </a:prstGeom>
          <a:noFill/>
          <a:ln/>
        </p:spPr>
        <p:txBody>
          <a:bodyPr wrap="square" lIns="0" tIns="0" rIns="0" bIns="0" rtlCol="0" anchor="ctr"/>
          <a:lstStyle/>
          <a:p>
            <a:pPr algn="l" indent="0" marL="0">
              <a:buNone/>
            </a:pPr>
            <a:r>
              <a:rPr lang="en-US" sz="560" b="1" dirty="0">
                <a:solidFill>
                  <a:srgbClr val="D31145"/>
                </a:solidFill>
                <a:latin typeface="Arial" pitchFamily="34" charset="0"/>
                <a:ea typeface="Arial" pitchFamily="34" charset="-122"/>
                <a:cs typeface="Arial" pitchFamily="34" charset="-120"/>
              </a:rPr>
              <a:t>Combat Mindset</a:t>
            </a:r>
            <a:endParaRPr lang="en-US" sz="560" dirty="0"/>
          </a:p>
        </p:txBody>
      </p:sp>
      <p:sp>
        <p:nvSpPr>
          <p:cNvPr id="65" name="Shape 57"/>
          <p:cNvSpPr/>
          <p:nvPr/>
        </p:nvSpPr>
        <p:spPr>
          <a:xfrm>
            <a:off x="3890772" y="8945241"/>
            <a:ext cx="1415034" cy="603504"/>
          </a:xfrm>
          <a:prstGeom prst="line">
            <a:avLst/>
          </a:prstGeom>
          <a:noFill/>
          <a:ln w="12700">
            <a:solidFill>
              <a:srgbClr val="1A1A1A"/>
            </a:solidFill>
            <a:prstDash val="solid"/>
          </a:ln>
        </p:spPr>
      </p:sp>
      <p:sp>
        <p:nvSpPr>
          <p:cNvPr id="66" name="Shape 58"/>
          <p:cNvSpPr/>
          <p:nvPr/>
        </p:nvSpPr>
        <p:spPr>
          <a:xfrm>
            <a:off x="3890772" y="9548745"/>
            <a:ext cx="1415034" cy="-603504"/>
          </a:xfrm>
          <a:prstGeom prst="line">
            <a:avLst/>
          </a:prstGeom>
          <a:noFill/>
          <a:ln w="12700">
            <a:solidFill>
              <a:srgbClr val="1A1A1A"/>
            </a:solidFill>
            <a:prstDash val="solid"/>
          </a:ln>
        </p:spPr>
      </p:sp>
      <p:sp>
        <p:nvSpPr>
          <p:cNvPr id="67" name="Text 59"/>
          <p:cNvSpPr/>
          <p:nvPr/>
        </p:nvSpPr>
        <p:spPr>
          <a:xfrm>
            <a:off x="3835908" y="9695049"/>
            <a:ext cx="1524762" cy="274320"/>
          </a:xfrm>
          <a:prstGeom prst="rect">
            <a:avLst/>
          </a:prstGeom>
          <a:noFill/>
          <a:ln/>
        </p:spPr>
        <p:txBody>
          <a:bodyPr wrap="square" lIns="0" tIns="0" rIns="0" bIns="0" rtlCol="0" anchor="t"/>
          <a:lstStyle/>
          <a:p>
            <a:pPr algn="l" indent="0" marL="0">
              <a:lnSpc>
                <a:spcPct val="110000"/>
              </a:lnSpc>
              <a:buNone/>
            </a:pPr>
            <a:r>
              <a:rPr lang="en-US" sz="720" dirty="0">
                <a:solidFill>
                  <a:srgbClr val="1A1A1A"/>
                </a:solidFill>
                <a:latin typeface="Arial" pitchFamily="34" charset="0"/>
                <a:ea typeface="Arial" pitchFamily="34" charset="-122"/>
                <a:cs typeface="Arial" pitchFamily="34" charset="-120"/>
              </a:rPr>
              <a:t>Name in red</a:t>
            </a:r>
            <a:endParaRPr lang="en-US" sz="720" dirty="0"/>
          </a:p>
        </p:txBody>
      </p:sp>
      <p:sp>
        <p:nvSpPr>
          <p:cNvPr id="68" name="Shape 60"/>
          <p:cNvSpPr/>
          <p:nvPr/>
        </p:nvSpPr>
        <p:spPr>
          <a:xfrm>
            <a:off x="5470398" y="8853801"/>
            <a:ext cx="1524762" cy="786384"/>
          </a:xfrm>
          <a:prstGeom prst="rect">
            <a:avLst/>
          </a:prstGeom>
          <a:solidFill>
            <a:srgbClr val="F5F5F3"/>
          </a:solidFill>
          <a:ln/>
        </p:spPr>
      </p:sp>
      <p:pic>
        <p:nvPicPr>
          <p:cNvPr id="69" name="Image 6" descr="assets/nz-army-logo.png">    </p:cNvPr>
          <p:cNvPicPr>
            <a:picLocks noChangeAspect="1"/>
          </p:cNvPicPr>
          <p:nvPr/>
        </p:nvPicPr>
        <p:blipFill>
          <a:blip r:embed="rId7"/>
          <a:stretch>
            <a:fillRect/>
          </a:stretch>
        </p:blipFill>
        <p:spPr>
          <a:xfrm>
            <a:off x="5580126" y="9054969"/>
            <a:ext cx="713232" cy="162838"/>
          </a:xfrm>
          <a:prstGeom prst="rect">
            <a:avLst/>
          </a:prstGeom>
        </p:spPr>
      </p:pic>
      <p:sp>
        <p:nvSpPr>
          <p:cNvPr id="70" name="Text 61"/>
          <p:cNvSpPr/>
          <p:nvPr/>
        </p:nvSpPr>
        <p:spPr>
          <a:xfrm>
            <a:off x="6379802" y="9054969"/>
            <a:ext cx="701802" cy="162838"/>
          </a:xfrm>
          <a:prstGeom prst="rect">
            <a:avLst/>
          </a:prstGeom>
          <a:noFill/>
          <a:ln/>
        </p:spPr>
        <p:txBody>
          <a:bodyPr wrap="square" lIns="0" tIns="0" rIns="0" bIns="0" rtlCol="0" anchor="ctr"/>
          <a:lstStyle/>
          <a:p>
            <a:pPr algn="l" indent="0" marL="0">
              <a:buNone/>
            </a:pPr>
            <a:r>
              <a:rPr lang="en-US" sz="560" i="1" dirty="0">
                <a:solidFill>
                  <a:srgbClr val="1A1A1A"/>
                </a:solidFill>
                <a:latin typeface="Arial" pitchFamily="34" charset="0"/>
                <a:ea typeface="Arial" pitchFamily="34" charset="-122"/>
                <a:cs typeface="Arial" pitchFamily="34" charset="-120"/>
              </a:rPr>
              <a:t>Combat Mindset</a:t>
            </a:r>
            <a:endParaRPr lang="en-US" sz="560" dirty="0"/>
          </a:p>
        </p:txBody>
      </p:sp>
      <p:sp>
        <p:nvSpPr>
          <p:cNvPr id="71" name="Shape 62"/>
          <p:cNvSpPr/>
          <p:nvPr/>
        </p:nvSpPr>
        <p:spPr>
          <a:xfrm>
            <a:off x="5525262" y="8945241"/>
            <a:ext cx="1415034" cy="603504"/>
          </a:xfrm>
          <a:prstGeom prst="line">
            <a:avLst/>
          </a:prstGeom>
          <a:noFill/>
          <a:ln w="12700">
            <a:solidFill>
              <a:srgbClr val="1A1A1A"/>
            </a:solidFill>
            <a:prstDash val="solid"/>
          </a:ln>
        </p:spPr>
      </p:sp>
      <p:sp>
        <p:nvSpPr>
          <p:cNvPr id="72" name="Shape 63"/>
          <p:cNvSpPr/>
          <p:nvPr/>
        </p:nvSpPr>
        <p:spPr>
          <a:xfrm>
            <a:off x="5525262" y="9548745"/>
            <a:ext cx="1415034" cy="-603504"/>
          </a:xfrm>
          <a:prstGeom prst="line">
            <a:avLst/>
          </a:prstGeom>
          <a:noFill/>
          <a:ln w="12700">
            <a:solidFill>
              <a:srgbClr val="1A1A1A"/>
            </a:solidFill>
            <a:prstDash val="solid"/>
          </a:ln>
        </p:spPr>
      </p:sp>
      <p:sp>
        <p:nvSpPr>
          <p:cNvPr id="73" name="Text 64"/>
          <p:cNvSpPr/>
          <p:nvPr/>
        </p:nvSpPr>
        <p:spPr>
          <a:xfrm>
            <a:off x="5470398" y="9695049"/>
            <a:ext cx="1524762" cy="274320"/>
          </a:xfrm>
          <a:prstGeom prst="rect">
            <a:avLst/>
          </a:prstGeom>
          <a:noFill/>
          <a:ln/>
        </p:spPr>
        <p:txBody>
          <a:bodyPr wrap="square" lIns="0" tIns="0" rIns="0" bIns="0" rtlCol="0" anchor="t"/>
          <a:lstStyle/>
          <a:p>
            <a:pPr algn="l" indent="0" marL="0">
              <a:lnSpc>
                <a:spcPct val="110000"/>
              </a:lnSpc>
              <a:buNone/>
            </a:pPr>
            <a:r>
              <a:rPr lang="en-US" sz="720" dirty="0">
                <a:solidFill>
                  <a:srgbClr val="1A1A1A"/>
                </a:solidFill>
                <a:latin typeface="Arial" pitchFamily="34" charset="0"/>
                <a:ea typeface="Arial" pitchFamily="34" charset="-122"/>
                <a:cs typeface="Arial" pitchFamily="34" charset="-120"/>
              </a:rPr>
              <a:t>Name set in another face</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Army Command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Combat Mindset lockup</dc:title>
  <dc:subject>Lockup of the Combat Mindset name with the NZ Army logo</dc:subject>
  <dc:creator>PptxGenJS</dc:creator>
  <cp:lastModifiedBy>PptxGenJS</cp:lastModifiedBy>
  <cp:revision>1</cp:revision>
  <dcterms:created xsi:type="dcterms:W3CDTF">2026-08-06T07:05:32Z</dcterms:created>
  <dcterms:modified xsi:type="dcterms:W3CDTF">2026-08-06T07:05:32Z</dcterms:modified>
</cp:coreProperties>
</file>