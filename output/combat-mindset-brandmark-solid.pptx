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7562088" cy="10689336"/>
  <p:notesSz cx="10689336" cy="7562088"/>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1-10.png"/><Relationship Id="rId11" Type="http://schemas.openxmlformats.org/officeDocument/2006/relationships/image" Target="../media/image-1-11.png"/><Relationship Id="rId12" Type="http://schemas.openxmlformats.org/officeDocument/2006/relationships/image" Target="../media/image-1-12.png"/><Relationship Id="rId13" Type="http://schemas.openxmlformats.org/officeDocument/2006/relationships/image" Target="../media/image-1-13.png"/><Relationship Id="rId14" Type="http://schemas.openxmlformats.org/officeDocument/2006/relationships/image" Target="../media/image-1-14.png"/><Relationship Id="rId15" Type="http://schemas.openxmlformats.org/officeDocument/2006/relationships/image" Target="../media/image-1-15.png"/><Relationship Id="rId16" Type="http://schemas.openxmlformats.org/officeDocument/2006/relationships/image" Target="../media/image-1-16.png"/><Relationship Id="rId17" Type="http://schemas.openxmlformats.org/officeDocument/2006/relationships/image" Target="../media/image-1-17.png"/><Relationship Id="rId18" Type="http://schemas.openxmlformats.org/officeDocument/2006/relationships/image" Target="../media/image-1-18.png"/><Relationship Id="rId19" Type="http://schemas.openxmlformats.org/officeDocument/2006/relationships/image" Target="../media/image-1-19.png"/><Relationship Id="rId20" Type="http://schemas.openxmlformats.org/officeDocument/2006/relationships/image" Target="../media/image-1-20.png"/><Relationship Id="rId21" Type="http://schemas.openxmlformats.org/officeDocument/2006/relationships/image" Target="../media/image-1-21.png"/><Relationship Id="rId22" Type="http://schemas.openxmlformats.org/officeDocument/2006/relationships/slideLayout" Target="../slideLayouts/slideLayout1.xml"/><Relationship Id="rId23"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tmp/claude-0/-home-user-PUP/2d4cec0e-a52e-5368-bb54-803c6f37698d/scratchpad/logo-trimmed.png">    </p:cNvPr>
          <p:cNvPicPr>
            <a:picLocks noChangeAspect="1"/>
          </p:cNvPicPr>
          <p:nvPr/>
        </p:nvPicPr>
        <p:blipFill>
          <a:blip r:embed="rId1"/>
          <a:stretch>
            <a:fillRect/>
          </a:stretch>
        </p:blipFill>
        <p:spPr>
          <a:xfrm>
            <a:off x="457200" y="329184"/>
            <a:ext cx="1572768" cy="380390"/>
          </a:xfrm>
          <a:prstGeom prst="rect">
            <a:avLst/>
          </a:prstGeom>
        </p:spPr>
      </p:pic>
      <p:sp>
        <p:nvSpPr>
          <p:cNvPr id="3" name="Text 0"/>
          <p:cNvSpPr/>
          <p:nvPr/>
        </p:nvSpPr>
        <p:spPr>
          <a:xfrm>
            <a:off x="457200" y="804672"/>
            <a:ext cx="6647688" cy="365760"/>
          </a:xfrm>
          <a:prstGeom prst="rect">
            <a:avLst/>
          </a:prstGeom>
          <a:noFill/>
          <a:ln/>
        </p:spPr>
        <p:txBody>
          <a:bodyPr wrap="square" lIns="0" tIns="0" rIns="0" bIns="0" rtlCol="0" anchor="ctr"/>
          <a:lstStyle/>
          <a:p>
            <a:pPr algn="l" indent="0" marL="0">
              <a:buNone/>
            </a:pPr>
            <a:r>
              <a:rPr lang="en-US" sz="2200" b="1" dirty="0">
                <a:solidFill>
                  <a:srgbClr val="000000"/>
                </a:solidFill>
                <a:latin typeface="Arial" pitchFamily="34" charset="0"/>
                <a:ea typeface="Arial" pitchFamily="34" charset="-122"/>
                <a:cs typeface="Arial" pitchFamily="34" charset="-120"/>
              </a:rPr>
              <a:t>COMBAT MINDSET BRANDMARK</a:t>
            </a:r>
            <a:endParaRPr lang="en-US" sz="2200" dirty="0"/>
          </a:p>
        </p:txBody>
      </p:sp>
      <p:sp>
        <p:nvSpPr>
          <p:cNvPr id="4" name="Text 1"/>
          <p:cNvSpPr/>
          <p:nvPr/>
        </p:nvSpPr>
        <p:spPr>
          <a:xfrm>
            <a:off x="457200" y="1152144"/>
            <a:ext cx="6647688" cy="201168"/>
          </a:xfrm>
          <a:prstGeom prst="rect">
            <a:avLst/>
          </a:prstGeom>
          <a:noFill/>
          <a:ln/>
        </p:spPr>
        <p:txBody>
          <a:bodyPr wrap="square" lIns="0" tIns="0" rIns="0" bIns="0" rtlCol="0" anchor="ctr"/>
          <a:lstStyle/>
          <a:p>
            <a:pPr algn="l" indent="0" marL="0">
              <a:buNone/>
            </a:pPr>
            <a:r>
              <a:rPr lang="en-US" sz="1100" dirty="0">
                <a:solidFill>
                  <a:srgbClr val="002516"/>
                </a:solidFill>
                <a:latin typeface="Arial" pitchFamily="34" charset="0"/>
                <a:ea typeface="Arial" pitchFamily="34" charset="-122"/>
                <a:cs typeface="Arial" pitchFamily="34" charset="-120"/>
              </a:rPr>
              <a:t>Solid forms, round 2</a:t>
            </a:r>
            <a:endParaRPr lang="en-US" sz="1100" dirty="0"/>
          </a:p>
        </p:txBody>
      </p:sp>
      <p:sp>
        <p:nvSpPr>
          <p:cNvPr id="5" name="Text 2"/>
          <p:cNvSpPr/>
          <p:nvPr/>
        </p:nvSpPr>
        <p:spPr>
          <a:xfrm>
            <a:off x="457200" y="1353312"/>
            <a:ext cx="5184648" cy="182880"/>
          </a:xfrm>
          <a:prstGeom prst="rect">
            <a:avLst/>
          </a:prstGeom>
          <a:noFill/>
          <a:ln/>
        </p:spPr>
        <p:txBody>
          <a:bodyPr wrap="square" lIns="0" tIns="0" rIns="0" bIns="0" rtlCol="0" anchor="ctr"/>
          <a:lstStyle/>
          <a:p>
            <a:pPr algn="l" indent="0" marL="0">
              <a:buNone/>
            </a:pPr>
            <a:r>
              <a:rPr lang="en-US" sz="850" i="1" dirty="0">
                <a:solidFill>
                  <a:srgbClr val="7F7F7F"/>
                </a:solidFill>
                <a:latin typeface="Arial" pitchFamily="34" charset="0"/>
                <a:ea typeface="Arial" pitchFamily="34" charset="-122"/>
                <a:cs typeface="Arial" pitchFamily="34" charset="-120"/>
              </a:rPr>
              <a:t>Army Command School</a:t>
            </a:r>
            <a:endParaRPr lang="en-US" sz="850" dirty="0"/>
          </a:p>
        </p:txBody>
      </p:sp>
      <p:sp>
        <p:nvSpPr>
          <p:cNvPr id="6" name="Text 3"/>
          <p:cNvSpPr/>
          <p:nvPr/>
        </p:nvSpPr>
        <p:spPr>
          <a:xfrm>
            <a:off x="5641848" y="1353312"/>
            <a:ext cx="1463040" cy="182880"/>
          </a:xfrm>
          <a:prstGeom prst="rect">
            <a:avLst/>
          </a:prstGeom>
          <a:noFill/>
          <a:ln/>
        </p:spPr>
        <p:txBody>
          <a:bodyPr wrap="square" lIns="0" tIns="0" rIns="0" bIns="0" rtlCol="0" anchor="ctr"/>
          <a:lstStyle/>
          <a:p>
            <a:pPr algn="r" indent="0" marL="0">
              <a:buNone/>
            </a:pPr>
            <a:r>
              <a:rPr lang="en-US" sz="850" dirty="0">
                <a:solidFill>
                  <a:srgbClr val="7F7F7F"/>
                </a:solidFill>
                <a:latin typeface="Arial" pitchFamily="34" charset="0"/>
                <a:ea typeface="Arial" pitchFamily="34" charset="-122"/>
                <a:cs typeface="Arial" pitchFamily="34" charset="-120"/>
              </a:rPr>
              <a:t>August 2026</a:t>
            </a:r>
            <a:endParaRPr lang="en-US" sz="850" dirty="0"/>
          </a:p>
        </p:txBody>
      </p:sp>
      <p:sp>
        <p:nvSpPr>
          <p:cNvPr id="7" name="Shape 4"/>
          <p:cNvSpPr/>
          <p:nvPr/>
        </p:nvSpPr>
        <p:spPr>
          <a:xfrm>
            <a:off x="457200" y="1591056"/>
            <a:ext cx="6647688" cy="25603"/>
          </a:xfrm>
          <a:prstGeom prst="rect">
            <a:avLst/>
          </a:prstGeom>
          <a:solidFill>
            <a:srgbClr val="C62026"/>
          </a:solidFill>
          <a:ln/>
        </p:spPr>
      </p:sp>
      <p:sp>
        <p:nvSpPr>
          <p:cNvPr id="8" name="Text 5"/>
          <p:cNvSpPr/>
          <p:nvPr/>
        </p:nvSpPr>
        <p:spPr>
          <a:xfrm>
            <a:off x="457200" y="1737360"/>
            <a:ext cx="6647688" cy="475488"/>
          </a:xfrm>
          <a:prstGeom prst="rect">
            <a:avLst/>
          </a:prstGeom>
          <a:noFill/>
          <a:ln/>
        </p:spPr>
        <p:txBody>
          <a:bodyPr wrap="square" lIns="0" tIns="0" rIns="0" bIns="0" rtlCol="0" anchor="t"/>
          <a:lstStyle/>
          <a:p>
            <a:pPr algn="l" indent="0" marL="0">
              <a:lnSpc>
                <a:spcPct val="115000"/>
              </a:lnSpc>
              <a:buNone/>
            </a:pPr>
            <a:r>
              <a:rPr lang="en-US" sz="900" dirty="0">
                <a:solidFill>
                  <a:srgbClr val="000000"/>
                </a:solidFill>
                <a:latin typeface="Arial" pitchFamily="34" charset="0"/>
                <a:ea typeface="Arial" pitchFamily="34" charset="-122"/>
                <a:cs typeface="Arial" pitchFamily="34" charset="-120"/>
              </a:rPr>
              <a:t>Round one drew the marks as outlines, which read thin. These are solid forms with the symbol cut out of them, so the mass carries the weight and the detail is subtractive. The centre column shows each mark at document, slide and favicon size; a mark that survives the smallest of these is the one worth building.</a:t>
            </a:r>
            <a:endParaRPr lang="en-US" sz="900" dirty="0"/>
          </a:p>
        </p:txBody>
      </p:sp>
      <p:sp>
        <p:nvSpPr>
          <p:cNvPr id="9" name="Text 6"/>
          <p:cNvSpPr/>
          <p:nvPr/>
        </p:nvSpPr>
        <p:spPr>
          <a:xfrm>
            <a:off x="457200" y="2286000"/>
            <a:ext cx="2130552" cy="164592"/>
          </a:xfrm>
          <a:prstGeom prst="rect">
            <a:avLst/>
          </a:prstGeom>
          <a:noFill/>
          <a:ln/>
        </p:spPr>
        <p:txBody>
          <a:bodyPr wrap="square" lIns="0" tIns="0" rIns="0" bIns="0" rtlCol="0" anchor="ctr"/>
          <a:lstStyle/>
          <a:p>
            <a:pPr algn="ctr" indent="0" marL="0">
              <a:buNone/>
            </a:pPr>
            <a:r>
              <a:rPr lang="en-US" sz="760" b="1" spc="140" kern="0" dirty="0">
                <a:solidFill>
                  <a:srgbClr val="002516"/>
                </a:solidFill>
                <a:latin typeface="Arial" pitchFamily="34" charset="0"/>
                <a:ea typeface="Arial" pitchFamily="34" charset="-122"/>
                <a:cs typeface="Arial" pitchFamily="34" charset="-120"/>
              </a:rPr>
              <a:t>BRANDMARK</a:t>
            </a:r>
            <a:endParaRPr lang="en-US" sz="760" dirty="0"/>
          </a:p>
        </p:txBody>
      </p:sp>
      <p:sp>
        <p:nvSpPr>
          <p:cNvPr id="10" name="Text 7"/>
          <p:cNvSpPr/>
          <p:nvPr/>
        </p:nvSpPr>
        <p:spPr>
          <a:xfrm>
            <a:off x="2715768" y="2286000"/>
            <a:ext cx="2130552" cy="164592"/>
          </a:xfrm>
          <a:prstGeom prst="rect">
            <a:avLst/>
          </a:prstGeom>
          <a:noFill/>
          <a:ln/>
        </p:spPr>
        <p:txBody>
          <a:bodyPr wrap="square" lIns="0" tIns="0" rIns="0" bIns="0" rtlCol="0" anchor="ctr"/>
          <a:lstStyle/>
          <a:p>
            <a:pPr algn="ctr" indent="0" marL="0">
              <a:buNone/>
            </a:pPr>
            <a:r>
              <a:rPr lang="en-US" sz="760" b="1" spc="140" kern="0" dirty="0">
                <a:solidFill>
                  <a:srgbClr val="002516"/>
                </a:solidFill>
                <a:latin typeface="Arial" pitchFamily="34" charset="0"/>
                <a:ea typeface="Arial" pitchFamily="34" charset="-122"/>
                <a:cs typeface="Arial" pitchFamily="34" charset="-120"/>
              </a:rPr>
              <a:t>AT SIZE</a:t>
            </a:r>
            <a:endParaRPr lang="en-US" sz="760" dirty="0"/>
          </a:p>
        </p:txBody>
      </p:sp>
      <p:sp>
        <p:nvSpPr>
          <p:cNvPr id="11" name="Text 8"/>
          <p:cNvSpPr/>
          <p:nvPr/>
        </p:nvSpPr>
        <p:spPr>
          <a:xfrm>
            <a:off x="4974336" y="2286000"/>
            <a:ext cx="2130552" cy="164592"/>
          </a:xfrm>
          <a:prstGeom prst="rect">
            <a:avLst/>
          </a:prstGeom>
          <a:noFill/>
          <a:ln/>
        </p:spPr>
        <p:txBody>
          <a:bodyPr wrap="square" lIns="0" tIns="0" rIns="0" bIns="0" rtlCol="0" anchor="ctr"/>
          <a:lstStyle/>
          <a:p>
            <a:pPr algn="ctr" indent="0" marL="0">
              <a:buNone/>
            </a:pPr>
            <a:r>
              <a:rPr lang="en-US" sz="760" b="1" spc="140" kern="0" dirty="0">
                <a:solidFill>
                  <a:srgbClr val="002516"/>
                </a:solidFill>
                <a:latin typeface="Arial" pitchFamily="34" charset="0"/>
                <a:ea typeface="Arial" pitchFamily="34" charset="-122"/>
                <a:cs typeface="Arial" pitchFamily="34" charset="-120"/>
              </a:rPr>
              <a:t>LOCKUP</a:t>
            </a:r>
            <a:endParaRPr lang="en-US" sz="760" dirty="0"/>
          </a:p>
        </p:txBody>
      </p:sp>
      <p:sp>
        <p:nvSpPr>
          <p:cNvPr id="12" name="Text 9"/>
          <p:cNvSpPr/>
          <p:nvPr/>
        </p:nvSpPr>
        <p:spPr>
          <a:xfrm>
            <a:off x="457200" y="2487168"/>
            <a:ext cx="6647688" cy="274320"/>
          </a:xfrm>
          <a:prstGeom prst="rect">
            <a:avLst/>
          </a:prstGeom>
          <a:noFill/>
          <a:ln/>
        </p:spPr>
        <p:txBody>
          <a:bodyPr wrap="square" lIns="0" tIns="0" rIns="0" bIns="0" rtlCol="0" anchor="ctr"/>
          <a:lstStyle/>
          <a:p>
            <a:pPr algn="l" indent="0" marL="0">
              <a:buNone/>
            </a:pPr>
            <a:r>
              <a:rPr lang="en-US" sz="940" b="1" spc="160" kern="0" dirty="0">
                <a:solidFill>
                  <a:srgbClr val="002516"/>
                </a:solidFill>
                <a:latin typeface="Arial" pitchFamily="34" charset="0"/>
                <a:ea typeface="Arial" pitchFamily="34" charset="-122"/>
                <a:cs typeface="Arial" pitchFamily="34" charset="-120"/>
              </a:rPr>
              <a:t>A    ROUNDEL</a:t>
            </a:r>
            <a:pPr algn="l" indent="0" marL="0">
              <a:buNone/>
            </a:pPr>
            <a:r>
              <a:rPr lang="en-US" sz="760" i="1" dirty="0">
                <a:solidFill>
                  <a:srgbClr val="000000"/>
                </a:solidFill>
                <a:latin typeface="Arial" pitchFamily="34" charset="0"/>
                <a:ea typeface="Arial" pitchFamily="34" charset="-122"/>
                <a:cs typeface="Arial" pitchFamily="34" charset="-120"/>
              </a:rPr>
              <a:t>    The disc carries the weight; the cross is cut out of it. Holds at any size.</a:t>
            </a:r>
            <a:endParaRPr lang="en-US" sz="940" dirty="0"/>
          </a:p>
        </p:txBody>
      </p:sp>
      <p:sp>
        <p:nvSpPr>
          <p:cNvPr id="13" name="Shape 10"/>
          <p:cNvSpPr/>
          <p:nvPr/>
        </p:nvSpPr>
        <p:spPr>
          <a:xfrm>
            <a:off x="457200" y="2761488"/>
            <a:ext cx="2130552" cy="1316736"/>
          </a:xfrm>
          <a:prstGeom prst="rect">
            <a:avLst/>
          </a:prstGeom>
          <a:solidFill>
            <a:srgbClr val="000000"/>
          </a:solidFill>
          <a:ln/>
        </p:spPr>
      </p:sp>
      <p:pic>
        <p:nvPicPr>
          <p:cNvPr id="14" name="Image 1" descr="preencoded.png">    </p:cNvPr>
          <p:cNvPicPr>
            <a:picLocks noChangeAspect="1"/>
          </p:cNvPicPr>
          <p:nvPr/>
        </p:nvPicPr>
        <p:blipFill>
          <a:blip r:embed="rId2"/>
          <a:stretch>
            <a:fillRect/>
          </a:stretch>
        </p:blipFill>
        <p:spPr>
          <a:xfrm>
            <a:off x="1046988" y="2944368"/>
            <a:ext cx="950976" cy="950976"/>
          </a:xfrm>
          <a:prstGeom prst="rect">
            <a:avLst/>
          </a:prstGeom>
        </p:spPr>
      </p:pic>
      <p:sp>
        <p:nvSpPr>
          <p:cNvPr id="15" name="Shape 11"/>
          <p:cNvSpPr/>
          <p:nvPr/>
        </p:nvSpPr>
        <p:spPr>
          <a:xfrm>
            <a:off x="2715768" y="2761488"/>
            <a:ext cx="2130552" cy="1316736"/>
          </a:xfrm>
          <a:prstGeom prst="rect">
            <a:avLst/>
          </a:prstGeom>
          <a:solidFill>
            <a:srgbClr val="FFFFFF"/>
          </a:solidFill>
          <a:ln w="12700">
            <a:solidFill>
              <a:srgbClr val="CDD2B7"/>
            </a:solidFill>
            <a:prstDash val="solid"/>
          </a:ln>
        </p:spPr>
      </p:sp>
      <p:pic>
        <p:nvPicPr>
          <p:cNvPr id="16" name="Image 2" descr="preencoded.png">    </p:cNvPr>
          <p:cNvPicPr>
            <a:picLocks noChangeAspect="1"/>
          </p:cNvPicPr>
          <p:nvPr/>
        </p:nvPicPr>
        <p:blipFill>
          <a:blip r:embed="rId3"/>
          <a:stretch>
            <a:fillRect/>
          </a:stretch>
        </p:blipFill>
        <p:spPr>
          <a:xfrm>
            <a:off x="2953512" y="3026664"/>
            <a:ext cx="676656" cy="676656"/>
          </a:xfrm>
          <a:prstGeom prst="rect">
            <a:avLst/>
          </a:prstGeom>
        </p:spPr>
      </p:pic>
      <p:pic>
        <p:nvPicPr>
          <p:cNvPr id="17" name="Image 3" descr="preencoded.png">    </p:cNvPr>
          <p:cNvPicPr>
            <a:picLocks noChangeAspect="1"/>
          </p:cNvPicPr>
          <p:nvPr/>
        </p:nvPicPr>
        <p:blipFill>
          <a:blip r:embed="rId4"/>
          <a:stretch>
            <a:fillRect/>
          </a:stretch>
        </p:blipFill>
        <p:spPr>
          <a:xfrm>
            <a:off x="3813048" y="3172968"/>
            <a:ext cx="384048" cy="384048"/>
          </a:xfrm>
          <a:prstGeom prst="rect">
            <a:avLst/>
          </a:prstGeom>
        </p:spPr>
      </p:pic>
      <p:pic>
        <p:nvPicPr>
          <p:cNvPr id="18" name="Image 4" descr="preencoded.png">    </p:cNvPr>
          <p:cNvPicPr>
            <a:picLocks noChangeAspect="1"/>
          </p:cNvPicPr>
          <p:nvPr/>
        </p:nvPicPr>
        <p:blipFill>
          <a:blip r:embed="rId5"/>
          <a:stretch>
            <a:fillRect/>
          </a:stretch>
        </p:blipFill>
        <p:spPr>
          <a:xfrm>
            <a:off x="4379976" y="3264408"/>
            <a:ext cx="201168" cy="201168"/>
          </a:xfrm>
          <a:prstGeom prst="rect">
            <a:avLst/>
          </a:prstGeom>
        </p:spPr>
      </p:pic>
      <p:sp>
        <p:nvSpPr>
          <p:cNvPr id="19" name="Text 12"/>
          <p:cNvSpPr/>
          <p:nvPr/>
        </p:nvSpPr>
        <p:spPr>
          <a:xfrm>
            <a:off x="2715768" y="3822192"/>
            <a:ext cx="2130552" cy="164592"/>
          </a:xfrm>
          <a:prstGeom prst="rect">
            <a:avLst/>
          </a:prstGeom>
          <a:noFill/>
          <a:ln/>
        </p:spPr>
        <p:txBody>
          <a:bodyPr wrap="square" lIns="0" tIns="0" rIns="0" bIns="0" rtlCol="0" anchor="ctr"/>
          <a:lstStyle/>
          <a:p>
            <a:pPr algn="ctr" indent="0" marL="0">
              <a:buNone/>
            </a:pPr>
            <a:r>
              <a:rPr lang="en-US" sz="640" dirty="0">
                <a:solidFill>
                  <a:srgbClr val="7F7F7F"/>
                </a:solidFill>
                <a:latin typeface="Arial" pitchFamily="34" charset="0"/>
                <a:ea typeface="Arial" pitchFamily="34" charset="-122"/>
                <a:cs typeface="Arial" pitchFamily="34" charset="-120"/>
              </a:rPr>
              <a:t>24 mm        14 mm        7 mm</a:t>
            </a:r>
            <a:endParaRPr lang="en-US" sz="640" dirty="0"/>
          </a:p>
        </p:txBody>
      </p:sp>
      <p:sp>
        <p:nvSpPr>
          <p:cNvPr id="20" name="Shape 13"/>
          <p:cNvSpPr/>
          <p:nvPr/>
        </p:nvSpPr>
        <p:spPr>
          <a:xfrm>
            <a:off x="4974336" y="2761488"/>
            <a:ext cx="2130552" cy="1316736"/>
          </a:xfrm>
          <a:prstGeom prst="rect">
            <a:avLst/>
          </a:prstGeom>
          <a:solidFill>
            <a:srgbClr val="002516"/>
          </a:solidFill>
          <a:ln/>
        </p:spPr>
      </p:sp>
      <p:pic>
        <p:nvPicPr>
          <p:cNvPr id="21" name="Image 5" descr="preencoded.png">    </p:cNvPr>
          <p:cNvPicPr>
            <a:picLocks noChangeAspect="1"/>
          </p:cNvPicPr>
          <p:nvPr/>
        </p:nvPicPr>
        <p:blipFill>
          <a:blip r:embed="rId6"/>
          <a:stretch>
            <a:fillRect/>
          </a:stretch>
        </p:blipFill>
        <p:spPr>
          <a:xfrm>
            <a:off x="5157216" y="3099816"/>
            <a:ext cx="640080" cy="640080"/>
          </a:xfrm>
          <a:prstGeom prst="rect">
            <a:avLst/>
          </a:prstGeom>
        </p:spPr>
      </p:pic>
      <p:sp>
        <p:nvSpPr>
          <p:cNvPr id="22" name="Text 14"/>
          <p:cNvSpPr/>
          <p:nvPr/>
        </p:nvSpPr>
        <p:spPr>
          <a:xfrm>
            <a:off x="5870448" y="3191256"/>
            <a:ext cx="1124712" cy="182880"/>
          </a:xfrm>
          <a:prstGeom prst="rect">
            <a:avLst/>
          </a:prstGeom>
          <a:noFill/>
          <a:ln/>
        </p:spPr>
        <p:txBody>
          <a:bodyPr wrap="square" lIns="0" tIns="0" rIns="0" bIns="0" rtlCol="0" anchor="ctr"/>
          <a:lstStyle/>
          <a:p>
            <a:pPr algn="l" indent="0" marL="0">
              <a:buNone/>
            </a:pPr>
            <a:r>
              <a:rPr lang="en-US" sz="1150" b="1" spc="220" kern="0" dirty="0">
                <a:solidFill>
                  <a:srgbClr val="FFFFFF"/>
                </a:solidFill>
                <a:latin typeface="Arial" pitchFamily="34" charset="0"/>
                <a:ea typeface="Arial" pitchFamily="34" charset="-122"/>
                <a:cs typeface="Arial" pitchFamily="34" charset="-120"/>
              </a:rPr>
              <a:t>COMBAT</a:t>
            </a:r>
            <a:endParaRPr lang="en-US" sz="1150" dirty="0"/>
          </a:p>
        </p:txBody>
      </p:sp>
      <p:sp>
        <p:nvSpPr>
          <p:cNvPr id="23" name="Text 15"/>
          <p:cNvSpPr/>
          <p:nvPr/>
        </p:nvSpPr>
        <p:spPr>
          <a:xfrm>
            <a:off x="5870448" y="3374136"/>
            <a:ext cx="1124712" cy="182880"/>
          </a:xfrm>
          <a:prstGeom prst="rect">
            <a:avLst/>
          </a:prstGeom>
          <a:noFill/>
          <a:ln/>
        </p:spPr>
        <p:txBody>
          <a:bodyPr wrap="square" lIns="0" tIns="0" rIns="0" bIns="0" rtlCol="0" anchor="ctr"/>
          <a:lstStyle/>
          <a:p>
            <a:pPr algn="l" indent="0" marL="0">
              <a:buNone/>
            </a:pPr>
            <a:r>
              <a:rPr lang="en-US" sz="1150" b="1" spc="220" kern="0" dirty="0">
                <a:solidFill>
                  <a:srgbClr val="FFFFFF"/>
                </a:solidFill>
                <a:latin typeface="Arial" pitchFamily="34" charset="0"/>
                <a:ea typeface="Arial" pitchFamily="34" charset="-122"/>
                <a:cs typeface="Arial" pitchFamily="34" charset="-120"/>
              </a:rPr>
              <a:t>MINDSET</a:t>
            </a:r>
            <a:endParaRPr lang="en-US" sz="1150" dirty="0"/>
          </a:p>
        </p:txBody>
      </p:sp>
      <p:sp>
        <p:nvSpPr>
          <p:cNvPr id="24" name="Shape 16"/>
          <p:cNvSpPr/>
          <p:nvPr/>
        </p:nvSpPr>
        <p:spPr>
          <a:xfrm>
            <a:off x="5870448" y="3593592"/>
            <a:ext cx="457200" cy="20117"/>
          </a:xfrm>
          <a:prstGeom prst="rect">
            <a:avLst/>
          </a:prstGeom>
          <a:solidFill>
            <a:srgbClr val="C62026"/>
          </a:solidFill>
          <a:ln/>
        </p:spPr>
      </p:sp>
      <p:sp>
        <p:nvSpPr>
          <p:cNvPr id="25" name="Text 17"/>
          <p:cNvSpPr/>
          <p:nvPr/>
        </p:nvSpPr>
        <p:spPr>
          <a:xfrm>
            <a:off x="457200" y="4279392"/>
            <a:ext cx="6647688" cy="274320"/>
          </a:xfrm>
          <a:prstGeom prst="rect">
            <a:avLst/>
          </a:prstGeom>
          <a:noFill/>
          <a:ln/>
        </p:spPr>
        <p:txBody>
          <a:bodyPr wrap="square" lIns="0" tIns="0" rIns="0" bIns="0" rtlCol="0" anchor="ctr"/>
          <a:lstStyle/>
          <a:p>
            <a:pPr algn="l" indent="0" marL="0">
              <a:buNone/>
            </a:pPr>
            <a:r>
              <a:rPr lang="en-US" sz="940" b="1" spc="160" kern="0" dirty="0">
                <a:solidFill>
                  <a:srgbClr val="002516"/>
                </a:solidFill>
                <a:latin typeface="Arial" pitchFamily="34" charset="0"/>
                <a:ea typeface="Arial" pitchFamily="34" charset="-122"/>
                <a:cs typeface="Arial" pitchFamily="34" charset="-120"/>
              </a:rPr>
              <a:t>B    SHIELD</a:t>
            </a:r>
            <a:pPr algn="l" indent="0" marL="0">
              <a:buNone/>
            </a:pPr>
            <a:r>
              <a:rPr lang="en-US" sz="760" i="1" dirty="0">
                <a:solidFill>
                  <a:srgbClr val="000000"/>
                </a:solidFill>
                <a:latin typeface="Arial" pitchFamily="34" charset="0"/>
                <a:ea typeface="Arial" pitchFamily="34" charset="-122"/>
                <a:cs typeface="Arial" pitchFamily="34" charset="-120"/>
              </a:rPr>
              <a:t>    Keeps the protection of the shield, with the national reference cut into it.</a:t>
            </a:r>
            <a:endParaRPr lang="en-US" sz="940" dirty="0"/>
          </a:p>
        </p:txBody>
      </p:sp>
      <p:sp>
        <p:nvSpPr>
          <p:cNvPr id="26" name="Shape 18"/>
          <p:cNvSpPr/>
          <p:nvPr/>
        </p:nvSpPr>
        <p:spPr>
          <a:xfrm>
            <a:off x="457200" y="4553712"/>
            <a:ext cx="2130552" cy="1316736"/>
          </a:xfrm>
          <a:prstGeom prst="rect">
            <a:avLst/>
          </a:prstGeom>
          <a:solidFill>
            <a:srgbClr val="000000"/>
          </a:solidFill>
          <a:ln/>
        </p:spPr>
      </p:sp>
      <p:pic>
        <p:nvPicPr>
          <p:cNvPr id="27" name="Image 6" descr="preencoded.png">    </p:cNvPr>
          <p:cNvPicPr>
            <a:picLocks noChangeAspect="1"/>
          </p:cNvPicPr>
          <p:nvPr/>
        </p:nvPicPr>
        <p:blipFill>
          <a:blip r:embed="rId7"/>
          <a:stretch>
            <a:fillRect/>
          </a:stretch>
        </p:blipFill>
        <p:spPr>
          <a:xfrm>
            <a:off x="1046988" y="4736592"/>
            <a:ext cx="950976" cy="950976"/>
          </a:xfrm>
          <a:prstGeom prst="rect">
            <a:avLst/>
          </a:prstGeom>
        </p:spPr>
      </p:pic>
      <p:sp>
        <p:nvSpPr>
          <p:cNvPr id="28" name="Shape 19"/>
          <p:cNvSpPr/>
          <p:nvPr/>
        </p:nvSpPr>
        <p:spPr>
          <a:xfrm>
            <a:off x="2715768" y="4553712"/>
            <a:ext cx="2130552" cy="1316736"/>
          </a:xfrm>
          <a:prstGeom prst="rect">
            <a:avLst/>
          </a:prstGeom>
          <a:solidFill>
            <a:srgbClr val="FFFFFF"/>
          </a:solidFill>
          <a:ln w="12700">
            <a:solidFill>
              <a:srgbClr val="CDD2B7"/>
            </a:solidFill>
            <a:prstDash val="solid"/>
          </a:ln>
        </p:spPr>
      </p:sp>
      <p:pic>
        <p:nvPicPr>
          <p:cNvPr id="29" name="Image 7" descr="preencoded.png">    </p:cNvPr>
          <p:cNvPicPr>
            <a:picLocks noChangeAspect="1"/>
          </p:cNvPicPr>
          <p:nvPr/>
        </p:nvPicPr>
        <p:blipFill>
          <a:blip r:embed="rId8"/>
          <a:stretch>
            <a:fillRect/>
          </a:stretch>
        </p:blipFill>
        <p:spPr>
          <a:xfrm>
            <a:off x="2953512" y="4818888"/>
            <a:ext cx="676656" cy="676656"/>
          </a:xfrm>
          <a:prstGeom prst="rect">
            <a:avLst/>
          </a:prstGeom>
        </p:spPr>
      </p:pic>
      <p:pic>
        <p:nvPicPr>
          <p:cNvPr id="30" name="Image 8" descr="preencoded.png">    </p:cNvPr>
          <p:cNvPicPr>
            <a:picLocks noChangeAspect="1"/>
          </p:cNvPicPr>
          <p:nvPr/>
        </p:nvPicPr>
        <p:blipFill>
          <a:blip r:embed="rId9"/>
          <a:stretch>
            <a:fillRect/>
          </a:stretch>
        </p:blipFill>
        <p:spPr>
          <a:xfrm>
            <a:off x="3813048" y="4965192"/>
            <a:ext cx="384048" cy="384048"/>
          </a:xfrm>
          <a:prstGeom prst="rect">
            <a:avLst/>
          </a:prstGeom>
        </p:spPr>
      </p:pic>
      <p:pic>
        <p:nvPicPr>
          <p:cNvPr id="31" name="Image 9" descr="preencoded.png">    </p:cNvPr>
          <p:cNvPicPr>
            <a:picLocks noChangeAspect="1"/>
          </p:cNvPicPr>
          <p:nvPr/>
        </p:nvPicPr>
        <p:blipFill>
          <a:blip r:embed="rId10"/>
          <a:stretch>
            <a:fillRect/>
          </a:stretch>
        </p:blipFill>
        <p:spPr>
          <a:xfrm>
            <a:off x="4379976" y="5056632"/>
            <a:ext cx="201168" cy="201168"/>
          </a:xfrm>
          <a:prstGeom prst="rect">
            <a:avLst/>
          </a:prstGeom>
        </p:spPr>
      </p:pic>
      <p:sp>
        <p:nvSpPr>
          <p:cNvPr id="32" name="Text 20"/>
          <p:cNvSpPr/>
          <p:nvPr/>
        </p:nvSpPr>
        <p:spPr>
          <a:xfrm>
            <a:off x="2715768" y="5614416"/>
            <a:ext cx="2130552" cy="164592"/>
          </a:xfrm>
          <a:prstGeom prst="rect">
            <a:avLst/>
          </a:prstGeom>
          <a:noFill/>
          <a:ln/>
        </p:spPr>
        <p:txBody>
          <a:bodyPr wrap="square" lIns="0" tIns="0" rIns="0" bIns="0" rtlCol="0" anchor="ctr"/>
          <a:lstStyle/>
          <a:p>
            <a:pPr algn="ctr" indent="0" marL="0">
              <a:buNone/>
            </a:pPr>
            <a:r>
              <a:rPr lang="en-US" sz="640" dirty="0">
                <a:solidFill>
                  <a:srgbClr val="7F7F7F"/>
                </a:solidFill>
                <a:latin typeface="Arial" pitchFamily="34" charset="0"/>
                <a:ea typeface="Arial" pitchFamily="34" charset="-122"/>
                <a:cs typeface="Arial" pitchFamily="34" charset="-120"/>
              </a:rPr>
              <a:t>24 mm        14 mm        7 mm</a:t>
            </a:r>
            <a:endParaRPr lang="en-US" sz="640" dirty="0"/>
          </a:p>
        </p:txBody>
      </p:sp>
      <p:sp>
        <p:nvSpPr>
          <p:cNvPr id="33" name="Shape 21"/>
          <p:cNvSpPr/>
          <p:nvPr/>
        </p:nvSpPr>
        <p:spPr>
          <a:xfrm>
            <a:off x="4974336" y="4553712"/>
            <a:ext cx="2130552" cy="1316736"/>
          </a:xfrm>
          <a:prstGeom prst="rect">
            <a:avLst/>
          </a:prstGeom>
          <a:solidFill>
            <a:srgbClr val="002516"/>
          </a:solidFill>
          <a:ln/>
        </p:spPr>
      </p:sp>
      <p:pic>
        <p:nvPicPr>
          <p:cNvPr id="34" name="Image 10" descr="preencoded.png">    </p:cNvPr>
          <p:cNvPicPr>
            <a:picLocks noChangeAspect="1"/>
          </p:cNvPicPr>
          <p:nvPr/>
        </p:nvPicPr>
        <p:blipFill>
          <a:blip r:embed="rId11"/>
          <a:stretch>
            <a:fillRect/>
          </a:stretch>
        </p:blipFill>
        <p:spPr>
          <a:xfrm>
            <a:off x="5157216" y="4892040"/>
            <a:ext cx="640080" cy="640080"/>
          </a:xfrm>
          <a:prstGeom prst="rect">
            <a:avLst/>
          </a:prstGeom>
        </p:spPr>
      </p:pic>
      <p:sp>
        <p:nvSpPr>
          <p:cNvPr id="35" name="Text 22"/>
          <p:cNvSpPr/>
          <p:nvPr/>
        </p:nvSpPr>
        <p:spPr>
          <a:xfrm>
            <a:off x="5870448" y="4983480"/>
            <a:ext cx="1124712" cy="182880"/>
          </a:xfrm>
          <a:prstGeom prst="rect">
            <a:avLst/>
          </a:prstGeom>
          <a:noFill/>
          <a:ln/>
        </p:spPr>
        <p:txBody>
          <a:bodyPr wrap="square" lIns="0" tIns="0" rIns="0" bIns="0" rtlCol="0" anchor="ctr"/>
          <a:lstStyle/>
          <a:p>
            <a:pPr algn="l" indent="0" marL="0">
              <a:buNone/>
            </a:pPr>
            <a:r>
              <a:rPr lang="en-US" sz="1150" b="1" spc="220" kern="0" dirty="0">
                <a:solidFill>
                  <a:srgbClr val="FFFFFF"/>
                </a:solidFill>
                <a:latin typeface="Arial" pitchFamily="34" charset="0"/>
                <a:ea typeface="Arial" pitchFamily="34" charset="-122"/>
                <a:cs typeface="Arial" pitchFamily="34" charset="-120"/>
              </a:rPr>
              <a:t>COMBAT</a:t>
            </a:r>
            <a:endParaRPr lang="en-US" sz="1150" dirty="0"/>
          </a:p>
        </p:txBody>
      </p:sp>
      <p:sp>
        <p:nvSpPr>
          <p:cNvPr id="36" name="Text 23"/>
          <p:cNvSpPr/>
          <p:nvPr/>
        </p:nvSpPr>
        <p:spPr>
          <a:xfrm>
            <a:off x="5870448" y="5166360"/>
            <a:ext cx="1124712" cy="182880"/>
          </a:xfrm>
          <a:prstGeom prst="rect">
            <a:avLst/>
          </a:prstGeom>
          <a:noFill/>
          <a:ln/>
        </p:spPr>
        <p:txBody>
          <a:bodyPr wrap="square" lIns="0" tIns="0" rIns="0" bIns="0" rtlCol="0" anchor="ctr"/>
          <a:lstStyle/>
          <a:p>
            <a:pPr algn="l" indent="0" marL="0">
              <a:buNone/>
            </a:pPr>
            <a:r>
              <a:rPr lang="en-US" sz="1150" b="1" spc="220" kern="0" dirty="0">
                <a:solidFill>
                  <a:srgbClr val="FFFFFF"/>
                </a:solidFill>
                <a:latin typeface="Arial" pitchFamily="34" charset="0"/>
                <a:ea typeface="Arial" pitchFamily="34" charset="-122"/>
                <a:cs typeface="Arial" pitchFamily="34" charset="-120"/>
              </a:rPr>
              <a:t>MINDSET</a:t>
            </a:r>
            <a:endParaRPr lang="en-US" sz="1150" dirty="0"/>
          </a:p>
        </p:txBody>
      </p:sp>
      <p:sp>
        <p:nvSpPr>
          <p:cNvPr id="37" name="Shape 24"/>
          <p:cNvSpPr/>
          <p:nvPr/>
        </p:nvSpPr>
        <p:spPr>
          <a:xfrm>
            <a:off x="5870448" y="5385816"/>
            <a:ext cx="457200" cy="20117"/>
          </a:xfrm>
          <a:prstGeom prst="rect">
            <a:avLst/>
          </a:prstGeom>
          <a:solidFill>
            <a:srgbClr val="C62026"/>
          </a:solidFill>
          <a:ln/>
        </p:spPr>
      </p:sp>
      <p:sp>
        <p:nvSpPr>
          <p:cNvPr id="38" name="Text 25"/>
          <p:cNvSpPr/>
          <p:nvPr/>
        </p:nvSpPr>
        <p:spPr>
          <a:xfrm>
            <a:off x="457200" y="6071616"/>
            <a:ext cx="6647688" cy="274320"/>
          </a:xfrm>
          <a:prstGeom prst="rect">
            <a:avLst/>
          </a:prstGeom>
          <a:noFill/>
          <a:ln/>
        </p:spPr>
        <p:txBody>
          <a:bodyPr wrap="square" lIns="0" tIns="0" rIns="0" bIns="0" rtlCol="0" anchor="ctr"/>
          <a:lstStyle/>
          <a:p>
            <a:pPr algn="l" indent="0" marL="0">
              <a:buNone/>
            </a:pPr>
            <a:r>
              <a:rPr lang="en-US" sz="940" b="1" spc="160" kern="0" dirty="0">
                <a:solidFill>
                  <a:srgbClr val="002516"/>
                </a:solidFill>
                <a:latin typeface="Arial" pitchFamily="34" charset="0"/>
                <a:ea typeface="Arial" pitchFamily="34" charset="-122"/>
                <a:cs typeface="Arial" pitchFamily="34" charset="-120"/>
              </a:rPr>
              <a:t>C    FERN</a:t>
            </a:r>
            <a:pPr algn="l" indent="0" marL="0">
              <a:buNone/>
            </a:pPr>
            <a:r>
              <a:rPr lang="en-US" sz="760" i="1" dirty="0">
                <a:solidFill>
                  <a:srgbClr val="000000"/>
                </a:solidFill>
                <a:latin typeface="Arial" pitchFamily="34" charset="0"/>
                <a:ea typeface="Arial" pitchFamily="34" charset="-122"/>
                <a:cs typeface="Arial" pitchFamily="34" charset="-120"/>
              </a:rPr>
              <a:t>    A solid frond, and the only option carrying no red. The quietest of the four.</a:t>
            </a:r>
            <a:endParaRPr lang="en-US" sz="940" dirty="0"/>
          </a:p>
        </p:txBody>
      </p:sp>
      <p:sp>
        <p:nvSpPr>
          <p:cNvPr id="39" name="Shape 26"/>
          <p:cNvSpPr/>
          <p:nvPr/>
        </p:nvSpPr>
        <p:spPr>
          <a:xfrm>
            <a:off x="457200" y="6345936"/>
            <a:ext cx="2130552" cy="1316736"/>
          </a:xfrm>
          <a:prstGeom prst="rect">
            <a:avLst/>
          </a:prstGeom>
          <a:solidFill>
            <a:srgbClr val="000000"/>
          </a:solidFill>
          <a:ln/>
        </p:spPr>
      </p:sp>
      <p:pic>
        <p:nvPicPr>
          <p:cNvPr id="40" name="Image 11" descr="preencoded.png">    </p:cNvPr>
          <p:cNvPicPr>
            <a:picLocks noChangeAspect="1"/>
          </p:cNvPicPr>
          <p:nvPr/>
        </p:nvPicPr>
        <p:blipFill>
          <a:blip r:embed="rId12"/>
          <a:stretch>
            <a:fillRect/>
          </a:stretch>
        </p:blipFill>
        <p:spPr>
          <a:xfrm>
            <a:off x="1046988" y="6528816"/>
            <a:ext cx="950976" cy="950976"/>
          </a:xfrm>
          <a:prstGeom prst="rect">
            <a:avLst/>
          </a:prstGeom>
        </p:spPr>
      </p:pic>
      <p:sp>
        <p:nvSpPr>
          <p:cNvPr id="41" name="Shape 27"/>
          <p:cNvSpPr/>
          <p:nvPr/>
        </p:nvSpPr>
        <p:spPr>
          <a:xfrm>
            <a:off x="2715768" y="6345936"/>
            <a:ext cx="2130552" cy="1316736"/>
          </a:xfrm>
          <a:prstGeom prst="rect">
            <a:avLst/>
          </a:prstGeom>
          <a:solidFill>
            <a:srgbClr val="FFFFFF"/>
          </a:solidFill>
          <a:ln w="12700">
            <a:solidFill>
              <a:srgbClr val="CDD2B7"/>
            </a:solidFill>
            <a:prstDash val="solid"/>
          </a:ln>
        </p:spPr>
      </p:sp>
      <p:pic>
        <p:nvPicPr>
          <p:cNvPr id="42" name="Image 12" descr="preencoded.png">    </p:cNvPr>
          <p:cNvPicPr>
            <a:picLocks noChangeAspect="1"/>
          </p:cNvPicPr>
          <p:nvPr/>
        </p:nvPicPr>
        <p:blipFill>
          <a:blip r:embed="rId13"/>
          <a:stretch>
            <a:fillRect/>
          </a:stretch>
        </p:blipFill>
        <p:spPr>
          <a:xfrm>
            <a:off x="2953512" y="6611112"/>
            <a:ext cx="676656" cy="676656"/>
          </a:xfrm>
          <a:prstGeom prst="rect">
            <a:avLst/>
          </a:prstGeom>
        </p:spPr>
      </p:pic>
      <p:pic>
        <p:nvPicPr>
          <p:cNvPr id="43" name="Image 13" descr="preencoded.png">    </p:cNvPr>
          <p:cNvPicPr>
            <a:picLocks noChangeAspect="1"/>
          </p:cNvPicPr>
          <p:nvPr/>
        </p:nvPicPr>
        <p:blipFill>
          <a:blip r:embed="rId14"/>
          <a:stretch>
            <a:fillRect/>
          </a:stretch>
        </p:blipFill>
        <p:spPr>
          <a:xfrm>
            <a:off x="3813048" y="6757416"/>
            <a:ext cx="384048" cy="384048"/>
          </a:xfrm>
          <a:prstGeom prst="rect">
            <a:avLst/>
          </a:prstGeom>
        </p:spPr>
      </p:pic>
      <p:pic>
        <p:nvPicPr>
          <p:cNvPr id="44" name="Image 14" descr="preencoded.png">    </p:cNvPr>
          <p:cNvPicPr>
            <a:picLocks noChangeAspect="1"/>
          </p:cNvPicPr>
          <p:nvPr/>
        </p:nvPicPr>
        <p:blipFill>
          <a:blip r:embed="rId15"/>
          <a:stretch>
            <a:fillRect/>
          </a:stretch>
        </p:blipFill>
        <p:spPr>
          <a:xfrm>
            <a:off x="4379976" y="6848856"/>
            <a:ext cx="201168" cy="201168"/>
          </a:xfrm>
          <a:prstGeom prst="rect">
            <a:avLst/>
          </a:prstGeom>
        </p:spPr>
      </p:pic>
      <p:sp>
        <p:nvSpPr>
          <p:cNvPr id="45" name="Text 28"/>
          <p:cNvSpPr/>
          <p:nvPr/>
        </p:nvSpPr>
        <p:spPr>
          <a:xfrm>
            <a:off x="2715768" y="7406640"/>
            <a:ext cx="2130552" cy="164592"/>
          </a:xfrm>
          <a:prstGeom prst="rect">
            <a:avLst/>
          </a:prstGeom>
          <a:noFill/>
          <a:ln/>
        </p:spPr>
        <p:txBody>
          <a:bodyPr wrap="square" lIns="0" tIns="0" rIns="0" bIns="0" rtlCol="0" anchor="ctr"/>
          <a:lstStyle/>
          <a:p>
            <a:pPr algn="ctr" indent="0" marL="0">
              <a:buNone/>
            </a:pPr>
            <a:r>
              <a:rPr lang="en-US" sz="640" dirty="0">
                <a:solidFill>
                  <a:srgbClr val="7F7F7F"/>
                </a:solidFill>
                <a:latin typeface="Arial" pitchFamily="34" charset="0"/>
                <a:ea typeface="Arial" pitchFamily="34" charset="-122"/>
                <a:cs typeface="Arial" pitchFamily="34" charset="-120"/>
              </a:rPr>
              <a:t>24 mm        14 mm        7 mm</a:t>
            </a:r>
            <a:endParaRPr lang="en-US" sz="640" dirty="0"/>
          </a:p>
        </p:txBody>
      </p:sp>
      <p:sp>
        <p:nvSpPr>
          <p:cNvPr id="46" name="Shape 29"/>
          <p:cNvSpPr/>
          <p:nvPr/>
        </p:nvSpPr>
        <p:spPr>
          <a:xfrm>
            <a:off x="4974336" y="6345936"/>
            <a:ext cx="2130552" cy="1316736"/>
          </a:xfrm>
          <a:prstGeom prst="rect">
            <a:avLst/>
          </a:prstGeom>
          <a:solidFill>
            <a:srgbClr val="002516"/>
          </a:solidFill>
          <a:ln/>
        </p:spPr>
      </p:sp>
      <p:pic>
        <p:nvPicPr>
          <p:cNvPr id="47" name="Image 15" descr="preencoded.png">    </p:cNvPr>
          <p:cNvPicPr>
            <a:picLocks noChangeAspect="1"/>
          </p:cNvPicPr>
          <p:nvPr/>
        </p:nvPicPr>
        <p:blipFill>
          <a:blip r:embed="rId16"/>
          <a:stretch>
            <a:fillRect/>
          </a:stretch>
        </p:blipFill>
        <p:spPr>
          <a:xfrm>
            <a:off x="5157216" y="6684264"/>
            <a:ext cx="640080" cy="640080"/>
          </a:xfrm>
          <a:prstGeom prst="rect">
            <a:avLst/>
          </a:prstGeom>
        </p:spPr>
      </p:pic>
      <p:sp>
        <p:nvSpPr>
          <p:cNvPr id="48" name="Text 30"/>
          <p:cNvSpPr/>
          <p:nvPr/>
        </p:nvSpPr>
        <p:spPr>
          <a:xfrm>
            <a:off x="5870448" y="6775704"/>
            <a:ext cx="1124712" cy="182880"/>
          </a:xfrm>
          <a:prstGeom prst="rect">
            <a:avLst/>
          </a:prstGeom>
          <a:noFill/>
          <a:ln/>
        </p:spPr>
        <p:txBody>
          <a:bodyPr wrap="square" lIns="0" tIns="0" rIns="0" bIns="0" rtlCol="0" anchor="ctr"/>
          <a:lstStyle/>
          <a:p>
            <a:pPr algn="l" indent="0" marL="0">
              <a:buNone/>
            </a:pPr>
            <a:r>
              <a:rPr lang="en-US" sz="1150" b="1" spc="220" kern="0" dirty="0">
                <a:solidFill>
                  <a:srgbClr val="FFFFFF"/>
                </a:solidFill>
                <a:latin typeface="Arial" pitchFamily="34" charset="0"/>
                <a:ea typeface="Arial" pitchFamily="34" charset="-122"/>
                <a:cs typeface="Arial" pitchFamily="34" charset="-120"/>
              </a:rPr>
              <a:t>COMBAT</a:t>
            </a:r>
            <a:endParaRPr lang="en-US" sz="1150" dirty="0"/>
          </a:p>
        </p:txBody>
      </p:sp>
      <p:sp>
        <p:nvSpPr>
          <p:cNvPr id="49" name="Text 31"/>
          <p:cNvSpPr/>
          <p:nvPr/>
        </p:nvSpPr>
        <p:spPr>
          <a:xfrm>
            <a:off x="5870448" y="6958584"/>
            <a:ext cx="1124712" cy="182880"/>
          </a:xfrm>
          <a:prstGeom prst="rect">
            <a:avLst/>
          </a:prstGeom>
          <a:noFill/>
          <a:ln/>
        </p:spPr>
        <p:txBody>
          <a:bodyPr wrap="square" lIns="0" tIns="0" rIns="0" bIns="0" rtlCol="0" anchor="ctr"/>
          <a:lstStyle/>
          <a:p>
            <a:pPr algn="l" indent="0" marL="0">
              <a:buNone/>
            </a:pPr>
            <a:r>
              <a:rPr lang="en-US" sz="1150" b="1" spc="220" kern="0" dirty="0">
                <a:solidFill>
                  <a:srgbClr val="FFFFFF"/>
                </a:solidFill>
                <a:latin typeface="Arial" pitchFamily="34" charset="0"/>
                <a:ea typeface="Arial" pitchFamily="34" charset="-122"/>
                <a:cs typeface="Arial" pitchFamily="34" charset="-120"/>
              </a:rPr>
              <a:t>MINDSET</a:t>
            </a:r>
            <a:endParaRPr lang="en-US" sz="1150" dirty="0"/>
          </a:p>
        </p:txBody>
      </p:sp>
      <p:sp>
        <p:nvSpPr>
          <p:cNvPr id="50" name="Shape 32"/>
          <p:cNvSpPr/>
          <p:nvPr/>
        </p:nvSpPr>
        <p:spPr>
          <a:xfrm>
            <a:off x="5870448" y="7178040"/>
            <a:ext cx="457200" cy="20117"/>
          </a:xfrm>
          <a:prstGeom prst="rect">
            <a:avLst/>
          </a:prstGeom>
          <a:solidFill>
            <a:srgbClr val="C62026"/>
          </a:solidFill>
          <a:ln/>
        </p:spPr>
      </p:sp>
      <p:sp>
        <p:nvSpPr>
          <p:cNvPr id="51" name="Text 33"/>
          <p:cNvSpPr/>
          <p:nvPr/>
        </p:nvSpPr>
        <p:spPr>
          <a:xfrm>
            <a:off x="457200" y="7863840"/>
            <a:ext cx="6647688" cy="274320"/>
          </a:xfrm>
          <a:prstGeom prst="rect">
            <a:avLst/>
          </a:prstGeom>
          <a:noFill/>
          <a:ln/>
        </p:spPr>
        <p:txBody>
          <a:bodyPr wrap="square" lIns="0" tIns="0" rIns="0" bIns="0" rtlCol="0" anchor="ctr"/>
          <a:lstStyle/>
          <a:p>
            <a:pPr algn="l" indent="0" marL="0">
              <a:buNone/>
            </a:pPr>
            <a:r>
              <a:rPr lang="en-US" sz="940" b="1" spc="160" kern="0" dirty="0">
                <a:solidFill>
                  <a:srgbClr val="002516"/>
                </a:solidFill>
                <a:latin typeface="Arial" pitchFamily="34" charset="0"/>
                <a:ea typeface="Arial" pitchFamily="34" charset="-122"/>
                <a:cs typeface="Arial" pitchFamily="34" charset="-120"/>
              </a:rPr>
              <a:t>D    PATCH</a:t>
            </a:r>
            <a:pPr algn="l" indent="0" marL="0">
              <a:buNone/>
            </a:pPr>
            <a:r>
              <a:rPr lang="en-US" sz="760" i="1" dirty="0">
                <a:solidFill>
                  <a:srgbClr val="000000"/>
                </a:solidFill>
                <a:latin typeface="Arial" pitchFamily="34" charset="0"/>
                <a:ea typeface="Arial" pitchFamily="34" charset="-122"/>
                <a:cs typeface="Arial" pitchFamily="34" charset="-120"/>
              </a:rPr>
              <a:t>    Unit-patch geometry. The heaviest of the four and the most at home on cloth.</a:t>
            </a:r>
            <a:endParaRPr lang="en-US" sz="940" dirty="0"/>
          </a:p>
        </p:txBody>
      </p:sp>
      <p:sp>
        <p:nvSpPr>
          <p:cNvPr id="52" name="Shape 34"/>
          <p:cNvSpPr/>
          <p:nvPr/>
        </p:nvSpPr>
        <p:spPr>
          <a:xfrm>
            <a:off x="457200" y="8138160"/>
            <a:ext cx="2130552" cy="1316736"/>
          </a:xfrm>
          <a:prstGeom prst="rect">
            <a:avLst/>
          </a:prstGeom>
          <a:solidFill>
            <a:srgbClr val="000000"/>
          </a:solidFill>
          <a:ln/>
        </p:spPr>
      </p:sp>
      <p:pic>
        <p:nvPicPr>
          <p:cNvPr id="53" name="Image 16" descr="preencoded.png">    </p:cNvPr>
          <p:cNvPicPr>
            <a:picLocks noChangeAspect="1"/>
          </p:cNvPicPr>
          <p:nvPr/>
        </p:nvPicPr>
        <p:blipFill>
          <a:blip r:embed="rId17"/>
          <a:stretch>
            <a:fillRect/>
          </a:stretch>
        </p:blipFill>
        <p:spPr>
          <a:xfrm>
            <a:off x="1046988" y="8321040"/>
            <a:ext cx="950976" cy="950976"/>
          </a:xfrm>
          <a:prstGeom prst="rect">
            <a:avLst/>
          </a:prstGeom>
        </p:spPr>
      </p:pic>
      <p:sp>
        <p:nvSpPr>
          <p:cNvPr id="54" name="Shape 35"/>
          <p:cNvSpPr/>
          <p:nvPr/>
        </p:nvSpPr>
        <p:spPr>
          <a:xfrm>
            <a:off x="2715768" y="8138160"/>
            <a:ext cx="2130552" cy="1316736"/>
          </a:xfrm>
          <a:prstGeom prst="rect">
            <a:avLst/>
          </a:prstGeom>
          <a:solidFill>
            <a:srgbClr val="FFFFFF"/>
          </a:solidFill>
          <a:ln w="12700">
            <a:solidFill>
              <a:srgbClr val="CDD2B7"/>
            </a:solidFill>
            <a:prstDash val="solid"/>
          </a:ln>
        </p:spPr>
      </p:sp>
      <p:pic>
        <p:nvPicPr>
          <p:cNvPr id="55" name="Image 17" descr="preencoded.png">    </p:cNvPr>
          <p:cNvPicPr>
            <a:picLocks noChangeAspect="1"/>
          </p:cNvPicPr>
          <p:nvPr/>
        </p:nvPicPr>
        <p:blipFill>
          <a:blip r:embed="rId18"/>
          <a:stretch>
            <a:fillRect/>
          </a:stretch>
        </p:blipFill>
        <p:spPr>
          <a:xfrm>
            <a:off x="2953512" y="8403336"/>
            <a:ext cx="676656" cy="676656"/>
          </a:xfrm>
          <a:prstGeom prst="rect">
            <a:avLst/>
          </a:prstGeom>
        </p:spPr>
      </p:pic>
      <p:pic>
        <p:nvPicPr>
          <p:cNvPr id="56" name="Image 18" descr="preencoded.png">    </p:cNvPr>
          <p:cNvPicPr>
            <a:picLocks noChangeAspect="1"/>
          </p:cNvPicPr>
          <p:nvPr/>
        </p:nvPicPr>
        <p:blipFill>
          <a:blip r:embed="rId19"/>
          <a:stretch>
            <a:fillRect/>
          </a:stretch>
        </p:blipFill>
        <p:spPr>
          <a:xfrm>
            <a:off x="3813048" y="8549640"/>
            <a:ext cx="384048" cy="384048"/>
          </a:xfrm>
          <a:prstGeom prst="rect">
            <a:avLst/>
          </a:prstGeom>
        </p:spPr>
      </p:pic>
      <p:pic>
        <p:nvPicPr>
          <p:cNvPr id="57" name="Image 19" descr="preencoded.png">    </p:cNvPr>
          <p:cNvPicPr>
            <a:picLocks noChangeAspect="1"/>
          </p:cNvPicPr>
          <p:nvPr/>
        </p:nvPicPr>
        <p:blipFill>
          <a:blip r:embed="rId20"/>
          <a:stretch>
            <a:fillRect/>
          </a:stretch>
        </p:blipFill>
        <p:spPr>
          <a:xfrm>
            <a:off x="4379976" y="8641080"/>
            <a:ext cx="201168" cy="201168"/>
          </a:xfrm>
          <a:prstGeom prst="rect">
            <a:avLst/>
          </a:prstGeom>
        </p:spPr>
      </p:pic>
      <p:sp>
        <p:nvSpPr>
          <p:cNvPr id="58" name="Text 36"/>
          <p:cNvSpPr/>
          <p:nvPr/>
        </p:nvSpPr>
        <p:spPr>
          <a:xfrm>
            <a:off x="2715768" y="9198864"/>
            <a:ext cx="2130552" cy="164592"/>
          </a:xfrm>
          <a:prstGeom prst="rect">
            <a:avLst/>
          </a:prstGeom>
          <a:noFill/>
          <a:ln/>
        </p:spPr>
        <p:txBody>
          <a:bodyPr wrap="square" lIns="0" tIns="0" rIns="0" bIns="0" rtlCol="0" anchor="ctr"/>
          <a:lstStyle/>
          <a:p>
            <a:pPr algn="ctr" indent="0" marL="0">
              <a:buNone/>
            </a:pPr>
            <a:r>
              <a:rPr lang="en-US" sz="640" dirty="0">
                <a:solidFill>
                  <a:srgbClr val="7F7F7F"/>
                </a:solidFill>
                <a:latin typeface="Arial" pitchFamily="34" charset="0"/>
                <a:ea typeface="Arial" pitchFamily="34" charset="-122"/>
                <a:cs typeface="Arial" pitchFamily="34" charset="-120"/>
              </a:rPr>
              <a:t>24 mm        14 mm        7 mm</a:t>
            </a:r>
            <a:endParaRPr lang="en-US" sz="640" dirty="0"/>
          </a:p>
        </p:txBody>
      </p:sp>
      <p:sp>
        <p:nvSpPr>
          <p:cNvPr id="59" name="Shape 37"/>
          <p:cNvSpPr/>
          <p:nvPr/>
        </p:nvSpPr>
        <p:spPr>
          <a:xfrm>
            <a:off x="4974336" y="8138160"/>
            <a:ext cx="2130552" cy="1316736"/>
          </a:xfrm>
          <a:prstGeom prst="rect">
            <a:avLst/>
          </a:prstGeom>
          <a:solidFill>
            <a:srgbClr val="002516"/>
          </a:solidFill>
          <a:ln/>
        </p:spPr>
      </p:sp>
      <p:pic>
        <p:nvPicPr>
          <p:cNvPr id="60" name="Image 20" descr="preencoded.png">    </p:cNvPr>
          <p:cNvPicPr>
            <a:picLocks noChangeAspect="1"/>
          </p:cNvPicPr>
          <p:nvPr/>
        </p:nvPicPr>
        <p:blipFill>
          <a:blip r:embed="rId21"/>
          <a:stretch>
            <a:fillRect/>
          </a:stretch>
        </p:blipFill>
        <p:spPr>
          <a:xfrm>
            <a:off x="5157216" y="8476488"/>
            <a:ext cx="640080" cy="640080"/>
          </a:xfrm>
          <a:prstGeom prst="rect">
            <a:avLst/>
          </a:prstGeom>
        </p:spPr>
      </p:pic>
      <p:sp>
        <p:nvSpPr>
          <p:cNvPr id="61" name="Text 38"/>
          <p:cNvSpPr/>
          <p:nvPr/>
        </p:nvSpPr>
        <p:spPr>
          <a:xfrm>
            <a:off x="5870448" y="8567928"/>
            <a:ext cx="1124712" cy="182880"/>
          </a:xfrm>
          <a:prstGeom prst="rect">
            <a:avLst/>
          </a:prstGeom>
          <a:noFill/>
          <a:ln/>
        </p:spPr>
        <p:txBody>
          <a:bodyPr wrap="square" lIns="0" tIns="0" rIns="0" bIns="0" rtlCol="0" anchor="ctr"/>
          <a:lstStyle/>
          <a:p>
            <a:pPr algn="l" indent="0" marL="0">
              <a:buNone/>
            </a:pPr>
            <a:r>
              <a:rPr lang="en-US" sz="1150" b="1" spc="220" kern="0" dirty="0">
                <a:solidFill>
                  <a:srgbClr val="FFFFFF"/>
                </a:solidFill>
                <a:latin typeface="Arial" pitchFamily="34" charset="0"/>
                <a:ea typeface="Arial" pitchFamily="34" charset="-122"/>
                <a:cs typeface="Arial" pitchFamily="34" charset="-120"/>
              </a:rPr>
              <a:t>COMBAT</a:t>
            </a:r>
            <a:endParaRPr lang="en-US" sz="1150" dirty="0"/>
          </a:p>
        </p:txBody>
      </p:sp>
      <p:sp>
        <p:nvSpPr>
          <p:cNvPr id="62" name="Text 39"/>
          <p:cNvSpPr/>
          <p:nvPr/>
        </p:nvSpPr>
        <p:spPr>
          <a:xfrm>
            <a:off x="5870448" y="8750808"/>
            <a:ext cx="1124712" cy="182880"/>
          </a:xfrm>
          <a:prstGeom prst="rect">
            <a:avLst/>
          </a:prstGeom>
          <a:noFill/>
          <a:ln/>
        </p:spPr>
        <p:txBody>
          <a:bodyPr wrap="square" lIns="0" tIns="0" rIns="0" bIns="0" rtlCol="0" anchor="ctr"/>
          <a:lstStyle/>
          <a:p>
            <a:pPr algn="l" indent="0" marL="0">
              <a:buNone/>
            </a:pPr>
            <a:r>
              <a:rPr lang="en-US" sz="1150" b="1" spc="220" kern="0" dirty="0">
                <a:solidFill>
                  <a:srgbClr val="FFFFFF"/>
                </a:solidFill>
                <a:latin typeface="Arial" pitchFamily="34" charset="0"/>
                <a:ea typeface="Arial" pitchFamily="34" charset="-122"/>
                <a:cs typeface="Arial" pitchFamily="34" charset="-120"/>
              </a:rPr>
              <a:t>MINDSET</a:t>
            </a:r>
            <a:endParaRPr lang="en-US" sz="1150" dirty="0"/>
          </a:p>
        </p:txBody>
      </p:sp>
      <p:sp>
        <p:nvSpPr>
          <p:cNvPr id="63" name="Shape 40"/>
          <p:cNvSpPr/>
          <p:nvPr/>
        </p:nvSpPr>
        <p:spPr>
          <a:xfrm>
            <a:off x="5870448" y="8970264"/>
            <a:ext cx="457200" cy="20117"/>
          </a:xfrm>
          <a:prstGeom prst="rect">
            <a:avLst/>
          </a:prstGeom>
          <a:solidFill>
            <a:srgbClr val="C62026"/>
          </a:solidFill>
          <a:ln/>
        </p:spPr>
      </p:sp>
      <p:sp>
        <p:nvSpPr>
          <p:cNvPr id="64" name="Text 41"/>
          <p:cNvSpPr/>
          <p:nvPr/>
        </p:nvSpPr>
        <p:spPr>
          <a:xfrm>
            <a:off x="457200" y="9692640"/>
            <a:ext cx="6647688" cy="365760"/>
          </a:xfrm>
          <a:prstGeom prst="rect">
            <a:avLst/>
          </a:prstGeom>
          <a:noFill/>
          <a:ln/>
        </p:spPr>
        <p:txBody>
          <a:bodyPr wrap="square" lIns="0" tIns="0" rIns="0" bIns="0" rtlCol="0" anchor="t"/>
          <a:lstStyle/>
          <a:p>
            <a:pPr algn="l" indent="0" marL="0">
              <a:lnSpc>
                <a:spcPct val="110000"/>
              </a:lnSpc>
              <a:buNone/>
            </a:pPr>
            <a:r>
              <a:rPr lang="en-US" sz="800" b="1" dirty="0">
                <a:solidFill>
                  <a:srgbClr val="002516"/>
                </a:solidFill>
                <a:latin typeface="Arial" pitchFamily="34" charset="0"/>
                <a:ea typeface="Arial" pitchFamily="34" charset="-122"/>
                <a:cs typeface="Arial" pitchFamily="34" charset="-120"/>
              </a:rPr>
              <a:t>Note.  </a:t>
            </a:r>
            <a:pPr algn="l" indent="0" marL="0">
              <a:lnSpc>
                <a:spcPct val="110000"/>
              </a:lnSpc>
              <a:buNone/>
            </a:pPr>
            <a:r>
              <a:rPr lang="en-US" sz="800" dirty="0">
                <a:solidFill>
                  <a:srgbClr val="000000"/>
                </a:solidFill>
                <a:latin typeface="Arial" pitchFamily="34" charset="0"/>
                <a:ea typeface="Arial" pitchFamily="34" charset="-122"/>
                <a:cs typeface="Arial" pitchFamily="34" charset="-120"/>
              </a:rPr>
              <a:t>In the three cross options the leading star is struck in red. It is the only colour in the mark, it sits at the point of the cross, and it carries the accent through to the tagline.</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Army Command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Combat Mindset Brandmark Options 2</dc:title>
  <dc:subject>PptxGenJS Presentation</dc:subject>
  <dc:creator>PptxGenJS</dc:creator>
  <cp:lastModifiedBy>PptxGenJS</cp:lastModifiedBy>
  <cp:revision>1</cp:revision>
  <dcterms:created xsi:type="dcterms:W3CDTF">2026-08-05T09:27:51Z</dcterms:created>
  <dcterms:modified xsi:type="dcterms:W3CDTF">2026-08-05T09:27:51Z</dcterms:modified>
</cp:coreProperties>
</file>