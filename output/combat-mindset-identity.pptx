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1.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nz-army-logo.png">    </p:cNvPr>
          <p:cNvPicPr>
            <a:picLocks noChangeAspect="1"/>
          </p:cNvPicPr>
          <p:nvPr/>
        </p:nvPicPr>
        <p:blipFill>
          <a:blip r:embed="rId1"/>
          <a:stretch>
            <a:fillRect/>
          </a:stretch>
        </p:blipFill>
        <p:spPr>
          <a:xfrm>
            <a:off x="457200" y="347472"/>
            <a:ext cx="1481328" cy="338328"/>
          </a:xfrm>
          <a:prstGeom prst="rect">
            <a:avLst/>
          </a:prstGeom>
        </p:spPr>
      </p:pic>
      <p:sp>
        <p:nvSpPr>
          <p:cNvPr id="3" name="Text 0"/>
          <p:cNvSpPr/>
          <p:nvPr/>
        </p:nvSpPr>
        <p:spPr>
          <a:xfrm>
            <a:off x="457200" y="822960"/>
            <a:ext cx="5916168" cy="274320"/>
          </a:xfrm>
          <a:prstGeom prst="rect">
            <a:avLst/>
          </a:prstGeom>
          <a:noFill/>
          <a:ln/>
        </p:spPr>
        <p:txBody>
          <a:bodyPr wrap="square" lIns="0" tIns="0" rIns="0" bIns="0" rtlCol="0" anchor="ctr"/>
          <a:lstStyle/>
          <a:p>
            <a:pPr algn="l" indent="0" marL="0">
              <a:buNone/>
            </a:pPr>
            <a:r>
              <a:rPr lang="en-US" sz="1500" b="1" spc="40" kern="0" dirty="0">
                <a:solidFill>
                  <a:srgbClr val="000000"/>
                </a:solidFill>
                <a:latin typeface="Arial" pitchFamily="34" charset="0"/>
                <a:ea typeface="Arial" pitchFamily="34" charset="-122"/>
                <a:cs typeface="Arial" pitchFamily="34" charset="-120"/>
              </a:rPr>
              <a:t>COMBAT MINDSET VISUAL IDENTITY</a:t>
            </a:r>
            <a:endParaRPr lang="en-US" sz="1500" dirty="0"/>
          </a:p>
        </p:txBody>
      </p:sp>
      <p:sp>
        <p:nvSpPr>
          <p:cNvPr id="4" name="Text 1"/>
          <p:cNvSpPr/>
          <p:nvPr/>
        </p:nvSpPr>
        <p:spPr>
          <a:xfrm>
            <a:off x="457200" y="1097280"/>
            <a:ext cx="5916168" cy="182880"/>
          </a:xfrm>
          <a:prstGeom prst="rect">
            <a:avLst/>
          </a:prstGeom>
          <a:noFill/>
          <a:ln/>
        </p:spPr>
        <p:txBody>
          <a:bodyPr wrap="square" lIns="0" tIns="0" rIns="0" bIns="0" rtlCol="0" anchor="ctr"/>
          <a:lstStyle/>
          <a:p>
            <a:pPr algn="l" indent="0" marL="0">
              <a:buNone/>
            </a:pPr>
            <a:r>
              <a:rPr lang="en-US" sz="850" dirty="0">
                <a:solidFill>
                  <a:srgbClr val="7F7F7F"/>
                </a:solidFill>
                <a:latin typeface="Arial" pitchFamily="34" charset="0"/>
                <a:ea typeface="Arial" pitchFamily="34" charset="-122"/>
                <a:cs typeface="Arial" pitchFamily="34" charset="-120"/>
              </a:rPr>
              <a:t>Reviewed against the NZDF and NZ Army Visual Identity Guidelines, version 1.0, April 2018</a:t>
            </a:r>
            <a:endParaRPr lang="en-US" sz="850" dirty="0"/>
          </a:p>
        </p:txBody>
      </p:sp>
      <p:sp>
        <p:nvSpPr>
          <p:cNvPr id="5" name="Text 2"/>
          <p:cNvSpPr/>
          <p:nvPr/>
        </p:nvSpPr>
        <p:spPr>
          <a:xfrm>
            <a:off x="6373368" y="822960"/>
            <a:ext cx="731520" cy="274320"/>
          </a:xfrm>
          <a:prstGeom prst="rect">
            <a:avLst/>
          </a:prstGeom>
          <a:noFill/>
          <a:ln/>
        </p:spPr>
        <p:txBody>
          <a:bodyPr wrap="square" lIns="0" tIns="0" rIns="0" bIns="0" rtlCol="0" anchor="ctr"/>
          <a:lstStyle/>
          <a:p>
            <a:pPr algn="r" indent="0" marL="0">
              <a:buNone/>
            </a:pPr>
            <a:r>
              <a:rPr lang="en-US" sz="900" b="1" dirty="0">
                <a:solidFill>
                  <a:srgbClr val="D31145"/>
                </a:solidFill>
                <a:latin typeface="Arial" pitchFamily="34" charset="0"/>
                <a:ea typeface="Arial" pitchFamily="34" charset="-122"/>
                <a:cs typeface="Arial" pitchFamily="34" charset="-120"/>
              </a:rPr>
              <a:t>1 / 3</a:t>
            </a:r>
            <a:endParaRPr lang="en-US" sz="900" dirty="0"/>
          </a:p>
        </p:txBody>
      </p:sp>
      <p:sp>
        <p:nvSpPr>
          <p:cNvPr id="6" name="Shape 3"/>
          <p:cNvSpPr/>
          <p:nvPr/>
        </p:nvSpPr>
        <p:spPr>
          <a:xfrm>
            <a:off x="457200" y="1353312"/>
            <a:ext cx="6647688" cy="32004"/>
          </a:xfrm>
          <a:prstGeom prst="rect">
            <a:avLst/>
          </a:prstGeom>
          <a:solidFill>
            <a:srgbClr val="D31145"/>
          </a:solidFill>
          <a:ln/>
        </p:spPr>
      </p:sp>
      <p:sp>
        <p:nvSpPr>
          <p:cNvPr id="7" name="Text 4"/>
          <p:cNvSpPr/>
          <p:nvPr/>
        </p:nvSpPr>
        <p:spPr>
          <a:xfrm>
            <a:off x="457200" y="10277856"/>
            <a:ext cx="2743200" cy="164592"/>
          </a:xfrm>
          <a:prstGeom prst="rect">
            <a:avLst/>
          </a:prstGeom>
          <a:noFill/>
          <a:ln/>
        </p:spPr>
        <p:txBody>
          <a:bodyPr wrap="square" lIns="0" tIns="0" rIns="0" bIns="0" rtlCol="0" anchor="ctr"/>
          <a:lstStyle/>
          <a:p>
            <a:pPr algn="l" indent="0" marL="0">
              <a:buNone/>
            </a:pPr>
            <a:r>
              <a:rPr lang="en-US" sz="650" b="1" spc="80" kern="0" dirty="0">
                <a:solidFill>
                  <a:srgbClr val="000000"/>
                </a:solidFill>
                <a:latin typeface="Arial" pitchFamily="34" charset="0"/>
                <a:ea typeface="Arial" pitchFamily="34" charset="-122"/>
                <a:cs typeface="Arial" pitchFamily="34" charset="-120"/>
              </a:rPr>
              <a:t>A FORCE FOR NEW ZEALAND</a:t>
            </a:r>
            <a:endParaRPr lang="en-US" sz="650" dirty="0"/>
          </a:p>
        </p:txBody>
      </p:sp>
      <p:sp>
        <p:nvSpPr>
          <p:cNvPr id="8" name="Text 5"/>
          <p:cNvSpPr/>
          <p:nvPr/>
        </p:nvSpPr>
        <p:spPr>
          <a:xfrm>
            <a:off x="3995928" y="10277856"/>
            <a:ext cx="3108960" cy="164592"/>
          </a:xfrm>
          <a:prstGeom prst="rect">
            <a:avLst/>
          </a:prstGeom>
          <a:noFill/>
          <a:ln/>
        </p:spPr>
        <p:txBody>
          <a:bodyPr wrap="square" lIns="0" tIns="0" rIns="0" bIns="0" rtlCol="0" anchor="ctr"/>
          <a:lstStyle/>
          <a:p>
            <a:pPr algn="r" indent="0" marL="0">
              <a:buNone/>
            </a:pPr>
            <a:r>
              <a:rPr lang="en-US" sz="650" dirty="0">
                <a:solidFill>
                  <a:srgbClr val="7F7F7F"/>
                </a:solidFill>
                <a:latin typeface="Arial" pitchFamily="34" charset="0"/>
                <a:ea typeface="Arial" pitchFamily="34" charset="-122"/>
                <a:cs typeface="Arial" pitchFamily="34" charset="-120"/>
              </a:rPr>
              <a:t>Army Command School   |   August 2026</a:t>
            </a:r>
            <a:endParaRPr lang="en-US" sz="650" dirty="0"/>
          </a:p>
        </p:txBody>
      </p:sp>
      <p:sp>
        <p:nvSpPr>
          <p:cNvPr id="9" name="Text 6"/>
          <p:cNvSpPr/>
          <p:nvPr/>
        </p:nvSpPr>
        <p:spPr>
          <a:xfrm>
            <a:off x="457200" y="1572768"/>
            <a:ext cx="6647688" cy="182880"/>
          </a:xfrm>
          <a:prstGeom prst="rect">
            <a:avLst/>
          </a:prstGeom>
          <a:noFill/>
          <a:ln/>
        </p:spPr>
        <p:txBody>
          <a:bodyPr wrap="square" lIns="0" tIns="0" rIns="0" bIns="0" rtlCol="0" anchor="ctr"/>
          <a:lstStyle/>
          <a:p>
            <a:pPr algn="l" indent="0" marL="0">
              <a:buNone/>
            </a:pPr>
            <a:r>
              <a:rPr lang="en-US" sz="800" b="1" spc="160" kern="0" dirty="0">
                <a:solidFill>
                  <a:srgbClr val="000000"/>
                </a:solidFill>
                <a:latin typeface="Arial" pitchFamily="34" charset="0"/>
                <a:ea typeface="Arial" pitchFamily="34" charset="-122"/>
                <a:cs typeface="Arial" pitchFamily="34" charset="-120"/>
              </a:rPr>
              <a:t>THE GOVERNING RULE</a:t>
            </a:r>
            <a:endParaRPr lang="en-US" sz="800" dirty="0"/>
          </a:p>
        </p:txBody>
      </p:sp>
      <p:sp>
        <p:nvSpPr>
          <p:cNvPr id="10" name="Shape 7"/>
          <p:cNvSpPr/>
          <p:nvPr/>
        </p:nvSpPr>
        <p:spPr>
          <a:xfrm>
            <a:off x="457200" y="1755648"/>
            <a:ext cx="6647688" cy="7315"/>
          </a:xfrm>
          <a:prstGeom prst="rect">
            <a:avLst/>
          </a:prstGeom>
          <a:solidFill>
            <a:srgbClr val="D8D8D8"/>
          </a:solidFill>
          <a:ln/>
        </p:spPr>
      </p:sp>
      <p:sp>
        <p:nvSpPr>
          <p:cNvPr id="11" name="Shape 8"/>
          <p:cNvSpPr/>
          <p:nvPr/>
        </p:nvSpPr>
        <p:spPr>
          <a:xfrm>
            <a:off x="457200" y="1883664"/>
            <a:ext cx="6647688" cy="1481328"/>
          </a:xfrm>
          <a:prstGeom prst="rect">
            <a:avLst/>
          </a:prstGeom>
          <a:solidFill>
            <a:srgbClr val="000000"/>
          </a:solidFill>
          <a:ln/>
        </p:spPr>
      </p:sp>
      <p:pic>
        <p:nvPicPr>
          <p:cNvPr id="12" name="Image 1" descr="preencoded.png">    </p:cNvPr>
          <p:cNvPicPr>
            <a:picLocks noChangeAspect="1"/>
          </p:cNvPicPr>
          <p:nvPr/>
        </p:nvPicPr>
        <p:blipFill>
          <a:blip r:embed="rId2">
            <a:alphaModFix amt="12000"/>
          </a:blip>
          <a:stretch>
            <a:fillRect/>
          </a:stretch>
        </p:blipFill>
        <p:spPr>
          <a:xfrm>
            <a:off x="457200" y="1883664"/>
            <a:ext cx="6647688" cy="1481328"/>
          </a:xfrm>
          <a:prstGeom prst="rect">
            <a:avLst/>
          </a:prstGeom>
        </p:spPr>
      </p:pic>
      <p:sp>
        <p:nvSpPr>
          <p:cNvPr id="13" name="Text 9"/>
          <p:cNvSpPr/>
          <p:nvPr/>
        </p:nvSpPr>
        <p:spPr>
          <a:xfrm>
            <a:off x="768096" y="2048256"/>
            <a:ext cx="6025896" cy="310896"/>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Programmes and projects should not create new logos.</a:t>
            </a:r>
            <a:endParaRPr lang="en-US" sz="1500" dirty="0"/>
          </a:p>
        </p:txBody>
      </p:sp>
      <p:sp>
        <p:nvSpPr>
          <p:cNvPr id="14" name="Text 10"/>
          <p:cNvSpPr/>
          <p:nvPr/>
        </p:nvSpPr>
        <p:spPr>
          <a:xfrm>
            <a:off x="768096" y="2377440"/>
            <a:ext cx="6025896" cy="420624"/>
          </a:xfrm>
          <a:prstGeom prst="rect">
            <a:avLst/>
          </a:prstGeom>
          <a:noFill/>
          <a:ln/>
        </p:spPr>
        <p:txBody>
          <a:bodyPr wrap="square" lIns="0" tIns="0" rIns="0" bIns="0" rtlCol="0" anchor="t"/>
          <a:lstStyle/>
          <a:p>
            <a:pPr algn="l" indent="0" marL="0">
              <a:lnSpc>
                <a:spcPct val="115000"/>
              </a:lnSpc>
              <a:buNone/>
            </a:pPr>
            <a:r>
              <a:rPr lang="en-US" sz="1150" dirty="0">
                <a:solidFill>
                  <a:srgbClr val="FFFFFF"/>
                </a:solidFill>
                <a:latin typeface="Arial" pitchFamily="34" charset="0"/>
                <a:ea typeface="Arial" pitchFamily="34" charset="-122"/>
                <a:cs typeface="Arial" pitchFamily="34" charset="-120"/>
              </a:rPr>
              <a:t>The official NZDF logo should be used alongside the name of the programme or project in plain text.</a:t>
            </a:r>
            <a:endParaRPr lang="en-US" sz="1150" dirty="0"/>
          </a:p>
        </p:txBody>
      </p:sp>
      <p:sp>
        <p:nvSpPr>
          <p:cNvPr id="15" name="Shape 11"/>
          <p:cNvSpPr/>
          <p:nvPr/>
        </p:nvSpPr>
        <p:spPr>
          <a:xfrm>
            <a:off x="768096" y="2871216"/>
            <a:ext cx="548640" cy="20117"/>
          </a:xfrm>
          <a:prstGeom prst="rect">
            <a:avLst/>
          </a:prstGeom>
          <a:solidFill>
            <a:srgbClr val="D31145"/>
          </a:solidFill>
          <a:ln/>
        </p:spPr>
      </p:sp>
      <p:sp>
        <p:nvSpPr>
          <p:cNvPr id="16" name="Text 12"/>
          <p:cNvSpPr/>
          <p:nvPr/>
        </p:nvSpPr>
        <p:spPr>
          <a:xfrm>
            <a:off x="768096" y="2962656"/>
            <a:ext cx="6025896" cy="182880"/>
          </a:xfrm>
          <a:prstGeom prst="rect">
            <a:avLst/>
          </a:prstGeom>
          <a:noFill/>
          <a:ln/>
        </p:spPr>
        <p:txBody>
          <a:bodyPr wrap="square" lIns="0" tIns="0" rIns="0" bIns="0" rtlCol="0" anchor="ctr"/>
          <a:lstStyle/>
          <a:p>
            <a:pPr algn="l" indent="0" marL="0">
              <a:buNone/>
            </a:pPr>
            <a:r>
              <a:rPr lang="en-US" sz="800" i="1" dirty="0">
                <a:solidFill>
                  <a:srgbClr val="BFBFBF"/>
                </a:solidFill>
                <a:latin typeface="Arial" pitchFamily="34" charset="0"/>
                <a:ea typeface="Arial" pitchFamily="34" charset="-122"/>
                <a:cs typeface="Arial" pitchFamily="34" charset="-120"/>
              </a:rPr>
              <a:t>NZDF Visual Identity Guidelines v1.0, page 34</a:t>
            </a:r>
            <a:endParaRPr lang="en-US" sz="800" dirty="0"/>
          </a:p>
        </p:txBody>
      </p:sp>
      <p:sp>
        <p:nvSpPr>
          <p:cNvPr id="17" name="Text 13"/>
          <p:cNvSpPr/>
          <p:nvPr/>
        </p:nvSpPr>
        <p:spPr>
          <a:xfrm>
            <a:off x="768096" y="3127248"/>
            <a:ext cx="6025896" cy="219456"/>
          </a:xfrm>
          <a:prstGeom prst="rect">
            <a:avLst/>
          </a:prstGeom>
          <a:noFill/>
          <a:ln/>
        </p:spPr>
        <p:txBody>
          <a:bodyPr wrap="square" lIns="0" tIns="0" rIns="0" bIns="0" rtlCol="0" anchor="ctr"/>
          <a:lstStyle/>
          <a:p>
            <a:pPr algn="l" indent="0" marL="0">
              <a:buNone/>
            </a:pPr>
            <a:r>
              <a:rPr lang="en-US" sz="760" dirty="0">
                <a:solidFill>
                  <a:srgbClr val="9C9C9C"/>
                </a:solidFill>
                <a:latin typeface="Arial" pitchFamily="34" charset="0"/>
                <a:ea typeface="Arial" pitchFamily="34" charset="-122"/>
                <a:cs typeface="Arial" pitchFamily="34" charset="-120"/>
              </a:rPr>
              <a:t>Supporting: unit and trade patches “should not be used as a logo in any form of internal or external communication” (p9, p33). Portfolios, Commands and Units “use their name in plain text alongside the NZDF logo” (p9).</a:t>
            </a:r>
            <a:endParaRPr lang="en-US" sz="760" dirty="0"/>
          </a:p>
        </p:txBody>
      </p:sp>
      <p:sp>
        <p:nvSpPr>
          <p:cNvPr id="18" name="Text 14"/>
          <p:cNvSpPr/>
          <p:nvPr/>
        </p:nvSpPr>
        <p:spPr>
          <a:xfrm>
            <a:off x="457200" y="3602736"/>
            <a:ext cx="6647688" cy="182880"/>
          </a:xfrm>
          <a:prstGeom prst="rect">
            <a:avLst/>
          </a:prstGeom>
          <a:noFill/>
          <a:ln/>
        </p:spPr>
        <p:txBody>
          <a:bodyPr wrap="square" lIns="0" tIns="0" rIns="0" bIns="0" rtlCol="0" anchor="ctr"/>
          <a:lstStyle/>
          <a:p>
            <a:pPr algn="l" indent="0" marL="0">
              <a:buNone/>
            </a:pPr>
            <a:r>
              <a:rPr lang="en-US" sz="800" b="1" spc="160" kern="0" dirty="0">
                <a:solidFill>
                  <a:srgbClr val="000000"/>
                </a:solidFill>
                <a:latin typeface="Arial" pitchFamily="34" charset="0"/>
                <a:ea typeface="Arial" pitchFamily="34" charset="-122"/>
                <a:cs typeface="Arial" pitchFamily="34" charset="-120"/>
              </a:rPr>
              <a:t>WHAT THIS MEANS</a:t>
            </a:r>
            <a:endParaRPr lang="en-US" sz="800" dirty="0"/>
          </a:p>
        </p:txBody>
      </p:sp>
      <p:sp>
        <p:nvSpPr>
          <p:cNvPr id="19" name="Shape 15"/>
          <p:cNvSpPr/>
          <p:nvPr/>
        </p:nvSpPr>
        <p:spPr>
          <a:xfrm>
            <a:off x="457200" y="3785616"/>
            <a:ext cx="6647688" cy="7315"/>
          </a:xfrm>
          <a:prstGeom prst="rect">
            <a:avLst/>
          </a:prstGeom>
          <a:solidFill>
            <a:srgbClr val="D8D8D8"/>
          </a:solidFill>
          <a:ln/>
        </p:spPr>
      </p:sp>
      <p:sp>
        <p:nvSpPr>
          <p:cNvPr id="20" name="Shape 16"/>
          <p:cNvSpPr/>
          <p:nvPr/>
        </p:nvSpPr>
        <p:spPr>
          <a:xfrm>
            <a:off x="457200" y="3931920"/>
            <a:ext cx="25603" cy="512064"/>
          </a:xfrm>
          <a:prstGeom prst="rect">
            <a:avLst/>
          </a:prstGeom>
          <a:solidFill>
            <a:srgbClr val="D31145"/>
          </a:solidFill>
          <a:ln/>
        </p:spPr>
      </p:sp>
      <p:sp>
        <p:nvSpPr>
          <p:cNvPr id="21" name="Text 17"/>
          <p:cNvSpPr/>
          <p:nvPr/>
        </p:nvSpPr>
        <p:spPr>
          <a:xfrm>
            <a:off x="640080" y="3931920"/>
            <a:ext cx="6464808" cy="201168"/>
          </a:xfrm>
          <a:prstGeom prst="rect">
            <a:avLst/>
          </a:prstGeom>
          <a:noFill/>
          <a:ln/>
        </p:spPr>
        <p:txBody>
          <a:bodyPr wrap="square" lIns="0" tIns="0" rIns="0" bIns="0" rtlCol="0" anchor="ctr"/>
          <a:lstStyle/>
          <a:p>
            <a:pPr algn="l" indent="0" marL="0">
              <a:buNone/>
            </a:pPr>
            <a:r>
              <a:rPr lang="en-US" sz="1000" b="1" dirty="0">
                <a:solidFill>
                  <a:srgbClr val="000000"/>
                </a:solidFill>
                <a:latin typeface="Arial" pitchFamily="34" charset="0"/>
                <a:ea typeface="Arial" pitchFamily="34" charset="-122"/>
                <a:cs typeface="Arial" pitchFamily="34" charset="-120"/>
              </a:rPr>
              <a:t>Combat Mindset is a programme of work.</a:t>
            </a:r>
            <a:endParaRPr lang="en-US" sz="1000" dirty="0"/>
          </a:p>
        </p:txBody>
      </p:sp>
      <p:sp>
        <p:nvSpPr>
          <p:cNvPr id="22" name="Text 18"/>
          <p:cNvSpPr/>
          <p:nvPr/>
        </p:nvSpPr>
        <p:spPr>
          <a:xfrm>
            <a:off x="640080" y="4123944"/>
            <a:ext cx="6281928" cy="310896"/>
          </a:xfrm>
          <a:prstGeom prst="rect">
            <a:avLst/>
          </a:prstGeom>
          <a:noFill/>
          <a:ln/>
        </p:spPr>
        <p:txBody>
          <a:bodyPr wrap="square" lIns="0" tIns="0" rIns="0" bIns="0" rtlCol="0" anchor="t"/>
          <a:lstStyle/>
          <a:p>
            <a:pPr algn="l" indent="0" marL="0">
              <a:lnSpc>
                <a:spcPct val="112000"/>
              </a:lnSpc>
              <a:buNone/>
            </a:pPr>
            <a:r>
              <a:rPr lang="en-US" sz="880" dirty="0">
                <a:solidFill>
                  <a:srgbClr val="3F3F3F"/>
                </a:solidFill>
                <a:latin typeface="Arial" pitchFamily="34" charset="0"/>
                <a:ea typeface="Arial" pitchFamily="34" charset="-122"/>
                <a:cs typeface="Arial" pitchFamily="34" charset="-120"/>
              </a:rPr>
              <a:t>It does not get a brandmark, a badge or a patch. The earlier symbol explorations cannot be used, however well drawn.</a:t>
            </a:r>
            <a:endParaRPr lang="en-US" sz="880" dirty="0"/>
          </a:p>
        </p:txBody>
      </p:sp>
      <p:sp>
        <p:nvSpPr>
          <p:cNvPr id="23" name="Shape 19"/>
          <p:cNvSpPr/>
          <p:nvPr/>
        </p:nvSpPr>
        <p:spPr>
          <a:xfrm>
            <a:off x="457200" y="4553712"/>
            <a:ext cx="25603" cy="512064"/>
          </a:xfrm>
          <a:prstGeom prst="rect">
            <a:avLst/>
          </a:prstGeom>
          <a:solidFill>
            <a:srgbClr val="D31145"/>
          </a:solidFill>
          <a:ln/>
        </p:spPr>
      </p:sp>
      <p:sp>
        <p:nvSpPr>
          <p:cNvPr id="24" name="Text 20"/>
          <p:cNvSpPr/>
          <p:nvPr/>
        </p:nvSpPr>
        <p:spPr>
          <a:xfrm>
            <a:off x="640080" y="4553712"/>
            <a:ext cx="6464808" cy="201168"/>
          </a:xfrm>
          <a:prstGeom prst="rect">
            <a:avLst/>
          </a:prstGeom>
          <a:noFill/>
          <a:ln/>
        </p:spPr>
        <p:txBody>
          <a:bodyPr wrap="square" lIns="0" tIns="0" rIns="0" bIns="0" rtlCol="0" anchor="ctr"/>
          <a:lstStyle/>
          <a:p>
            <a:pPr algn="l" indent="0" marL="0">
              <a:buNone/>
            </a:pPr>
            <a:r>
              <a:rPr lang="en-US" sz="1000" b="1" dirty="0">
                <a:solidFill>
                  <a:srgbClr val="000000"/>
                </a:solidFill>
                <a:latin typeface="Arial" pitchFamily="34" charset="0"/>
                <a:ea typeface="Arial" pitchFamily="34" charset="-122"/>
                <a:cs typeface="Arial" pitchFamily="34" charset="-120"/>
              </a:rPr>
              <a:t>The identity is therefore typographic.</a:t>
            </a:r>
            <a:endParaRPr lang="en-US" sz="1000" dirty="0"/>
          </a:p>
        </p:txBody>
      </p:sp>
      <p:sp>
        <p:nvSpPr>
          <p:cNvPr id="25" name="Text 21"/>
          <p:cNvSpPr/>
          <p:nvPr/>
        </p:nvSpPr>
        <p:spPr>
          <a:xfrm>
            <a:off x="640080" y="4745736"/>
            <a:ext cx="6281928" cy="310896"/>
          </a:xfrm>
          <a:prstGeom prst="rect">
            <a:avLst/>
          </a:prstGeom>
          <a:noFill/>
          <a:ln/>
        </p:spPr>
        <p:txBody>
          <a:bodyPr wrap="square" lIns="0" tIns="0" rIns="0" bIns="0" rtlCol="0" anchor="t"/>
          <a:lstStyle/>
          <a:p>
            <a:pPr algn="l" indent="0" marL="0">
              <a:lnSpc>
                <a:spcPct val="112000"/>
              </a:lnSpc>
              <a:buNone/>
            </a:pPr>
            <a:r>
              <a:rPr lang="en-US" sz="880" dirty="0">
                <a:solidFill>
                  <a:srgbClr val="3F3F3F"/>
                </a:solidFill>
                <a:latin typeface="Arial" pitchFamily="34" charset="0"/>
                <a:ea typeface="Arial" pitchFamily="34" charset="-122"/>
                <a:cs typeface="Arial" pitchFamily="34" charset="-120"/>
              </a:rPr>
              <a:t>A wordmark, a lockup with the Army logo, and the Army’s own graphic elements. Everything below is drawn from the sanctioned system.</a:t>
            </a:r>
            <a:endParaRPr lang="en-US" sz="880" dirty="0"/>
          </a:p>
        </p:txBody>
      </p:sp>
      <p:sp>
        <p:nvSpPr>
          <p:cNvPr id="26" name="Shape 22"/>
          <p:cNvSpPr/>
          <p:nvPr/>
        </p:nvSpPr>
        <p:spPr>
          <a:xfrm>
            <a:off x="457200" y="5175504"/>
            <a:ext cx="25603" cy="512064"/>
          </a:xfrm>
          <a:prstGeom prst="rect">
            <a:avLst/>
          </a:prstGeom>
          <a:solidFill>
            <a:srgbClr val="D31145"/>
          </a:solidFill>
          <a:ln/>
        </p:spPr>
      </p:sp>
      <p:sp>
        <p:nvSpPr>
          <p:cNvPr id="27" name="Text 23"/>
          <p:cNvSpPr/>
          <p:nvPr/>
        </p:nvSpPr>
        <p:spPr>
          <a:xfrm>
            <a:off x="640080" y="5175504"/>
            <a:ext cx="6464808" cy="201168"/>
          </a:xfrm>
          <a:prstGeom prst="rect">
            <a:avLst/>
          </a:prstGeom>
          <a:noFill/>
          <a:ln/>
        </p:spPr>
        <p:txBody>
          <a:bodyPr wrap="square" lIns="0" tIns="0" rIns="0" bIns="0" rtlCol="0" anchor="ctr"/>
          <a:lstStyle/>
          <a:p>
            <a:pPr algn="l" indent="0" marL="0">
              <a:buNone/>
            </a:pPr>
            <a:r>
              <a:rPr lang="en-US" sz="1000" b="1" dirty="0">
                <a:solidFill>
                  <a:srgbClr val="000000"/>
                </a:solidFill>
                <a:latin typeface="Arial" pitchFamily="34" charset="0"/>
                <a:ea typeface="Arial" pitchFamily="34" charset="-122"/>
                <a:cs typeface="Arial" pitchFamily="34" charset="-120"/>
              </a:rPr>
              <a:t>A bespoke mark is not impossible, but it is not ours to make.</a:t>
            </a:r>
            <a:endParaRPr lang="en-US" sz="1000" dirty="0"/>
          </a:p>
        </p:txBody>
      </p:sp>
      <p:sp>
        <p:nvSpPr>
          <p:cNvPr id="28" name="Text 24"/>
          <p:cNvSpPr/>
          <p:nvPr/>
        </p:nvSpPr>
        <p:spPr>
          <a:xfrm>
            <a:off x="640080" y="5367528"/>
            <a:ext cx="6281928" cy="310896"/>
          </a:xfrm>
          <a:prstGeom prst="rect">
            <a:avLst/>
          </a:prstGeom>
          <a:noFill/>
          <a:ln/>
        </p:spPr>
        <p:txBody>
          <a:bodyPr wrap="square" lIns="0" tIns="0" rIns="0" bIns="0" rtlCol="0" anchor="t"/>
          <a:lstStyle/>
          <a:p>
            <a:pPr algn="l" indent="0" marL="0">
              <a:lnSpc>
                <a:spcPct val="112000"/>
              </a:lnSpc>
              <a:buNone/>
            </a:pPr>
            <a:r>
              <a:rPr lang="en-US" sz="880" dirty="0">
                <a:solidFill>
                  <a:srgbClr val="3F3F3F"/>
                </a:solidFill>
                <a:latin typeface="Arial" pitchFamily="34" charset="0"/>
                <a:ea typeface="Arial" pitchFamily="34" charset="-122"/>
                <a:cs typeface="Arial" pitchFamily="34" charset="-120"/>
              </a:rPr>
              <a:t>It would require the Head of Visual Identity and Design, Defence Public Affairs. A badge would require the Chief of Army.</a:t>
            </a:r>
            <a:endParaRPr lang="en-US" sz="880" dirty="0"/>
          </a:p>
        </p:txBody>
      </p:sp>
      <p:sp>
        <p:nvSpPr>
          <p:cNvPr id="29" name="Text 25"/>
          <p:cNvSpPr/>
          <p:nvPr/>
        </p:nvSpPr>
        <p:spPr>
          <a:xfrm>
            <a:off x="457200" y="5888736"/>
            <a:ext cx="6647688" cy="182880"/>
          </a:xfrm>
          <a:prstGeom prst="rect">
            <a:avLst/>
          </a:prstGeom>
          <a:noFill/>
          <a:ln/>
        </p:spPr>
        <p:txBody>
          <a:bodyPr wrap="square" lIns="0" tIns="0" rIns="0" bIns="0" rtlCol="0" anchor="ctr"/>
          <a:lstStyle/>
          <a:p>
            <a:pPr algn="l" indent="0" marL="0">
              <a:buNone/>
            </a:pPr>
            <a:r>
              <a:rPr lang="en-US" sz="800" b="1" spc="160" kern="0" dirty="0">
                <a:solidFill>
                  <a:srgbClr val="000000"/>
                </a:solidFill>
                <a:latin typeface="Arial" pitchFamily="34" charset="0"/>
                <a:ea typeface="Arial" pitchFamily="34" charset="-122"/>
                <a:cs typeface="Arial" pitchFamily="34" charset="-120"/>
              </a:rPr>
              <a:t>THE THREE COMPONENTS</a:t>
            </a:r>
            <a:endParaRPr lang="en-US" sz="800" dirty="0"/>
          </a:p>
        </p:txBody>
      </p:sp>
      <p:sp>
        <p:nvSpPr>
          <p:cNvPr id="30" name="Shape 26"/>
          <p:cNvSpPr/>
          <p:nvPr/>
        </p:nvSpPr>
        <p:spPr>
          <a:xfrm>
            <a:off x="457200" y="6071616"/>
            <a:ext cx="6647688" cy="7315"/>
          </a:xfrm>
          <a:prstGeom prst="rect">
            <a:avLst/>
          </a:prstGeom>
          <a:solidFill>
            <a:srgbClr val="D8D8D8"/>
          </a:solidFill>
          <a:ln/>
        </p:spPr>
      </p:sp>
      <p:sp>
        <p:nvSpPr>
          <p:cNvPr id="31" name="Shape 27"/>
          <p:cNvSpPr/>
          <p:nvPr/>
        </p:nvSpPr>
        <p:spPr>
          <a:xfrm>
            <a:off x="457200" y="6199632"/>
            <a:ext cx="2130552" cy="1225296"/>
          </a:xfrm>
          <a:prstGeom prst="rect">
            <a:avLst/>
          </a:prstGeom>
          <a:solidFill>
            <a:srgbClr val="F4F4F2"/>
          </a:solidFill>
          <a:ln/>
        </p:spPr>
      </p:sp>
      <p:sp>
        <p:nvSpPr>
          <p:cNvPr id="32" name="Shape 28"/>
          <p:cNvSpPr/>
          <p:nvPr/>
        </p:nvSpPr>
        <p:spPr>
          <a:xfrm>
            <a:off x="457200" y="6199632"/>
            <a:ext cx="2130552" cy="27432"/>
          </a:xfrm>
          <a:prstGeom prst="rect">
            <a:avLst/>
          </a:prstGeom>
          <a:solidFill>
            <a:srgbClr val="D31145"/>
          </a:solidFill>
          <a:ln/>
        </p:spPr>
      </p:sp>
      <p:sp>
        <p:nvSpPr>
          <p:cNvPr id="33" name="Text 29"/>
          <p:cNvSpPr/>
          <p:nvPr/>
        </p:nvSpPr>
        <p:spPr>
          <a:xfrm>
            <a:off x="621792" y="6309360"/>
            <a:ext cx="1801368" cy="201168"/>
          </a:xfrm>
          <a:prstGeom prst="rect">
            <a:avLst/>
          </a:prstGeom>
          <a:noFill/>
          <a:ln/>
        </p:spPr>
        <p:txBody>
          <a:bodyPr wrap="square" lIns="0" tIns="0" rIns="0" bIns="0" rtlCol="0" anchor="ctr"/>
          <a:lstStyle/>
          <a:p>
            <a:pPr algn="l" indent="0" marL="0">
              <a:buNone/>
            </a:pPr>
            <a:r>
              <a:rPr lang="en-US" sz="900" b="1" dirty="0">
                <a:solidFill>
                  <a:srgbClr val="D31145"/>
                </a:solidFill>
                <a:latin typeface="Arial" pitchFamily="34" charset="0"/>
                <a:ea typeface="Arial" pitchFamily="34" charset="-122"/>
                <a:cs typeface="Arial" pitchFamily="34" charset="-120"/>
              </a:rPr>
              <a:t>01</a:t>
            </a:r>
            <a:endParaRPr lang="en-US" sz="900" dirty="0"/>
          </a:p>
        </p:txBody>
      </p:sp>
      <p:sp>
        <p:nvSpPr>
          <p:cNvPr id="34" name="Text 30"/>
          <p:cNvSpPr/>
          <p:nvPr/>
        </p:nvSpPr>
        <p:spPr>
          <a:xfrm>
            <a:off x="621792" y="6510528"/>
            <a:ext cx="1801368" cy="237744"/>
          </a:xfrm>
          <a:prstGeom prst="rect">
            <a:avLst/>
          </a:prstGeom>
          <a:noFill/>
          <a:ln/>
        </p:spPr>
        <p:txBody>
          <a:bodyPr wrap="square" lIns="0" tIns="0" rIns="0" bIns="0" rtlCol="0" anchor="ctr"/>
          <a:lstStyle/>
          <a:p>
            <a:pPr algn="l" indent="0" marL="0">
              <a:buNone/>
            </a:pPr>
            <a:r>
              <a:rPr lang="en-US" sz="1200" b="1" spc="60" kern="0" dirty="0">
                <a:solidFill>
                  <a:srgbClr val="000000"/>
                </a:solidFill>
                <a:latin typeface="Arial" pitchFamily="34" charset="0"/>
                <a:ea typeface="Arial" pitchFamily="34" charset="-122"/>
                <a:cs typeface="Arial" pitchFamily="34" charset="-120"/>
              </a:rPr>
              <a:t>WORDMARK</a:t>
            </a:r>
            <a:endParaRPr lang="en-US" sz="1200" dirty="0"/>
          </a:p>
        </p:txBody>
      </p:sp>
      <p:sp>
        <p:nvSpPr>
          <p:cNvPr id="35" name="Text 31"/>
          <p:cNvSpPr/>
          <p:nvPr/>
        </p:nvSpPr>
        <p:spPr>
          <a:xfrm>
            <a:off x="621792" y="6784848"/>
            <a:ext cx="1801368" cy="548640"/>
          </a:xfrm>
          <a:prstGeom prst="rect">
            <a:avLst/>
          </a:prstGeom>
          <a:noFill/>
          <a:ln/>
        </p:spPr>
        <p:txBody>
          <a:bodyPr wrap="square" lIns="0" tIns="0" rIns="0" bIns="0" rtlCol="0" anchor="t"/>
          <a:lstStyle/>
          <a:p>
            <a:pPr algn="l" indent="0" marL="0">
              <a:lnSpc>
                <a:spcPct val="112000"/>
              </a:lnSpc>
              <a:buNone/>
            </a:pPr>
            <a:r>
              <a:rPr lang="en-US" sz="800" dirty="0">
                <a:solidFill>
                  <a:srgbClr val="3F3F3F"/>
                </a:solidFill>
                <a:latin typeface="Arial" pitchFamily="34" charset="0"/>
                <a:ea typeface="Arial" pitchFamily="34" charset="-122"/>
                <a:cs typeface="Arial" pitchFamily="34" charset="-120"/>
              </a:rPr>
              <a:t>COMBAT MINDSET set in the Army’s own typeface, with the red rule. Used where the programme names itself.</a:t>
            </a:r>
            <a:endParaRPr lang="en-US" sz="800" dirty="0"/>
          </a:p>
        </p:txBody>
      </p:sp>
      <p:sp>
        <p:nvSpPr>
          <p:cNvPr id="36" name="Shape 32"/>
          <p:cNvSpPr/>
          <p:nvPr/>
        </p:nvSpPr>
        <p:spPr>
          <a:xfrm>
            <a:off x="2715768" y="6199632"/>
            <a:ext cx="2130552" cy="1225296"/>
          </a:xfrm>
          <a:prstGeom prst="rect">
            <a:avLst/>
          </a:prstGeom>
          <a:solidFill>
            <a:srgbClr val="F4F4F2"/>
          </a:solidFill>
          <a:ln/>
        </p:spPr>
      </p:sp>
      <p:sp>
        <p:nvSpPr>
          <p:cNvPr id="37" name="Shape 33"/>
          <p:cNvSpPr/>
          <p:nvPr/>
        </p:nvSpPr>
        <p:spPr>
          <a:xfrm>
            <a:off x="2715768" y="6199632"/>
            <a:ext cx="2130552" cy="27432"/>
          </a:xfrm>
          <a:prstGeom prst="rect">
            <a:avLst/>
          </a:prstGeom>
          <a:solidFill>
            <a:srgbClr val="D31145"/>
          </a:solidFill>
          <a:ln/>
        </p:spPr>
      </p:sp>
      <p:sp>
        <p:nvSpPr>
          <p:cNvPr id="38" name="Text 34"/>
          <p:cNvSpPr/>
          <p:nvPr/>
        </p:nvSpPr>
        <p:spPr>
          <a:xfrm>
            <a:off x="2880360" y="6309360"/>
            <a:ext cx="1801368" cy="201168"/>
          </a:xfrm>
          <a:prstGeom prst="rect">
            <a:avLst/>
          </a:prstGeom>
          <a:noFill/>
          <a:ln/>
        </p:spPr>
        <p:txBody>
          <a:bodyPr wrap="square" lIns="0" tIns="0" rIns="0" bIns="0" rtlCol="0" anchor="ctr"/>
          <a:lstStyle/>
          <a:p>
            <a:pPr algn="l" indent="0" marL="0">
              <a:buNone/>
            </a:pPr>
            <a:r>
              <a:rPr lang="en-US" sz="900" b="1" dirty="0">
                <a:solidFill>
                  <a:srgbClr val="D31145"/>
                </a:solidFill>
                <a:latin typeface="Arial" pitchFamily="34" charset="0"/>
                <a:ea typeface="Arial" pitchFamily="34" charset="-122"/>
                <a:cs typeface="Arial" pitchFamily="34" charset="-120"/>
              </a:rPr>
              <a:t>02</a:t>
            </a:r>
            <a:endParaRPr lang="en-US" sz="900" dirty="0"/>
          </a:p>
        </p:txBody>
      </p:sp>
      <p:sp>
        <p:nvSpPr>
          <p:cNvPr id="39" name="Text 35"/>
          <p:cNvSpPr/>
          <p:nvPr/>
        </p:nvSpPr>
        <p:spPr>
          <a:xfrm>
            <a:off x="2880360" y="6510528"/>
            <a:ext cx="1801368" cy="237744"/>
          </a:xfrm>
          <a:prstGeom prst="rect">
            <a:avLst/>
          </a:prstGeom>
          <a:noFill/>
          <a:ln/>
        </p:spPr>
        <p:txBody>
          <a:bodyPr wrap="square" lIns="0" tIns="0" rIns="0" bIns="0" rtlCol="0" anchor="ctr"/>
          <a:lstStyle/>
          <a:p>
            <a:pPr algn="l" indent="0" marL="0">
              <a:buNone/>
            </a:pPr>
            <a:r>
              <a:rPr lang="en-US" sz="1200" b="1" spc="60" kern="0" dirty="0">
                <a:solidFill>
                  <a:srgbClr val="000000"/>
                </a:solidFill>
                <a:latin typeface="Arial" pitchFamily="34" charset="0"/>
                <a:ea typeface="Arial" pitchFamily="34" charset="-122"/>
                <a:cs typeface="Arial" pitchFamily="34" charset="-120"/>
              </a:rPr>
              <a:t>LOCKUP</a:t>
            </a:r>
            <a:endParaRPr lang="en-US" sz="1200" dirty="0"/>
          </a:p>
        </p:txBody>
      </p:sp>
      <p:sp>
        <p:nvSpPr>
          <p:cNvPr id="40" name="Text 36"/>
          <p:cNvSpPr/>
          <p:nvPr/>
        </p:nvSpPr>
        <p:spPr>
          <a:xfrm>
            <a:off x="2880360" y="6784848"/>
            <a:ext cx="1801368" cy="548640"/>
          </a:xfrm>
          <a:prstGeom prst="rect">
            <a:avLst/>
          </a:prstGeom>
          <a:noFill/>
          <a:ln/>
        </p:spPr>
        <p:txBody>
          <a:bodyPr wrap="square" lIns="0" tIns="0" rIns="0" bIns="0" rtlCol="0" anchor="t"/>
          <a:lstStyle/>
          <a:p>
            <a:pPr algn="l" indent="0" marL="0">
              <a:lnSpc>
                <a:spcPct val="112000"/>
              </a:lnSpc>
              <a:buNone/>
            </a:pPr>
            <a:r>
              <a:rPr lang="en-US" sz="800" dirty="0">
                <a:solidFill>
                  <a:srgbClr val="3F3F3F"/>
                </a:solidFill>
                <a:latin typeface="Arial" pitchFamily="34" charset="0"/>
                <a:ea typeface="Arial" pitchFamily="34" charset="-122"/>
                <a:cs typeface="Arial" pitchFamily="34" charset="-120"/>
              </a:rPr>
              <a:t>The Army logo with the programme name in plain text. The form required by the guidelines for all collateral.</a:t>
            </a:r>
            <a:endParaRPr lang="en-US" sz="800" dirty="0"/>
          </a:p>
        </p:txBody>
      </p:sp>
      <p:sp>
        <p:nvSpPr>
          <p:cNvPr id="41" name="Shape 37"/>
          <p:cNvSpPr/>
          <p:nvPr/>
        </p:nvSpPr>
        <p:spPr>
          <a:xfrm>
            <a:off x="4974336" y="6199632"/>
            <a:ext cx="2130552" cy="1225296"/>
          </a:xfrm>
          <a:prstGeom prst="rect">
            <a:avLst/>
          </a:prstGeom>
          <a:solidFill>
            <a:srgbClr val="F4F4F2"/>
          </a:solidFill>
          <a:ln/>
        </p:spPr>
      </p:sp>
      <p:sp>
        <p:nvSpPr>
          <p:cNvPr id="42" name="Shape 38"/>
          <p:cNvSpPr/>
          <p:nvPr/>
        </p:nvSpPr>
        <p:spPr>
          <a:xfrm>
            <a:off x="4974336" y="6199632"/>
            <a:ext cx="2130552" cy="27432"/>
          </a:xfrm>
          <a:prstGeom prst="rect">
            <a:avLst/>
          </a:prstGeom>
          <a:solidFill>
            <a:srgbClr val="D31145"/>
          </a:solidFill>
          <a:ln/>
        </p:spPr>
      </p:sp>
      <p:sp>
        <p:nvSpPr>
          <p:cNvPr id="43" name="Text 39"/>
          <p:cNvSpPr/>
          <p:nvPr/>
        </p:nvSpPr>
        <p:spPr>
          <a:xfrm>
            <a:off x="5138928" y="6309360"/>
            <a:ext cx="1801368" cy="201168"/>
          </a:xfrm>
          <a:prstGeom prst="rect">
            <a:avLst/>
          </a:prstGeom>
          <a:noFill/>
          <a:ln/>
        </p:spPr>
        <p:txBody>
          <a:bodyPr wrap="square" lIns="0" tIns="0" rIns="0" bIns="0" rtlCol="0" anchor="ctr"/>
          <a:lstStyle/>
          <a:p>
            <a:pPr algn="l" indent="0" marL="0">
              <a:buNone/>
            </a:pPr>
            <a:r>
              <a:rPr lang="en-US" sz="900" b="1" dirty="0">
                <a:solidFill>
                  <a:srgbClr val="D31145"/>
                </a:solidFill>
                <a:latin typeface="Arial" pitchFamily="34" charset="0"/>
                <a:ea typeface="Arial" pitchFamily="34" charset="-122"/>
                <a:cs typeface="Arial" pitchFamily="34" charset="-120"/>
              </a:rPr>
              <a:t>03</a:t>
            </a:r>
            <a:endParaRPr lang="en-US" sz="900" dirty="0"/>
          </a:p>
        </p:txBody>
      </p:sp>
      <p:sp>
        <p:nvSpPr>
          <p:cNvPr id="44" name="Text 40"/>
          <p:cNvSpPr/>
          <p:nvPr/>
        </p:nvSpPr>
        <p:spPr>
          <a:xfrm>
            <a:off x="5138928" y="6510528"/>
            <a:ext cx="1801368" cy="237744"/>
          </a:xfrm>
          <a:prstGeom prst="rect">
            <a:avLst/>
          </a:prstGeom>
          <a:noFill/>
          <a:ln/>
        </p:spPr>
        <p:txBody>
          <a:bodyPr wrap="square" lIns="0" tIns="0" rIns="0" bIns="0" rtlCol="0" anchor="ctr"/>
          <a:lstStyle/>
          <a:p>
            <a:pPr algn="l" indent="0" marL="0">
              <a:buNone/>
            </a:pPr>
            <a:r>
              <a:rPr lang="en-US" sz="1200" b="1" spc="60" kern="0" dirty="0">
                <a:solidFill>
                  <a:srgbClr val="000000"/>
                </a:solidFill>
                <a:latin typeface="Arial" pitchFamily="34" charset="0"/>
                <a:ea typeface="Arial" pitchFamily="34" charset="-122"/>
                <a:cs typeface="Arial" pitchFamily="34" charset="-120"/>
              </a:rPr>
              <a:t>ELEMENT</a:t>
            </a:r>
            <a:endParaRPr lang="en-US" sz="1200" dirty="0"/>
          </a:p>
        </p:txBody>
      </p:sp>
      <p:sp>
        <p:nvSpPr>
          <p:cNvPr id="45" name="Text 41"/>
          <p:cNvSpPr/>
          <p:nvPr/>
        </p:nvSpPr>
        <p:spPr>
          <a:xfrm>
            <a:off x="5138928" y="6784848"/>
            <a:ext cx="1801368" cy="548640"/>
          </a:xfrm>
          <a:prstGeom prst="rect">
            <a:avLst/>
          </a:prstGeom>
          <a:noFill/>
          <a:ln/>
        </p:spPr>
        <p:txBody>
          <a:bodyPr wrap="square" lIns="0" tIns="0" rIns="0" bIns="0" rtlCol="0" anchor="t"/>
          <a:lstStyle/>
          <a:p>
            <a:pPr algn="l" indent="0" marL="0">
              <a:lnSpc>
                <a:spcPct val="112000"/>
              </a:lnSpc>
              <a:buNone/>
            </a:pPr>
            <a:r>
              <a:rPr lang="en-US" sz="800" dirty="0">
                <a:solidFill>
                  <a:srgbClr val="3F3F3F"/>
                </a:solidFill>
                <a:latin typeface="Arial" pitchFamily="34" charset="0"/>
                <a:ea typeface="Arial" pitchFamily="34" charset="-122"/>
                <a:cs typeface="Arial" pitchFamily="34" charset="-120"/>
              </a:rPr>
              <a:t>The Army chevron, used as the recurring signal across Combat Mindset material in place of a symbol.</a:t>
            </a:r>
            <a:endParaRPr lang="en-US" sz="800" dirty="0"/>
          </a:p>
        </p:txBody>
      </p:sp>
      <p:sp>
        <p:nvSpPr>
          <p:cNvPr id="46" name="Text 42"/>
          <p:cNvSpPr/>
          <p:nvPr/>
        </p:nvSpPr>
        <p:spPr>
          <a:xfrm>
            <a:off x="457200" y="7644384"/>
            <a:ext cx="6647688" cy="182880"/>
          </a:xfrm>
          <a:prstGeom prst="rect">
            <a:avLst/>
          </a:prstGeom>
          <a:noFill/>
          <a:ln/>
        </p:spPr>
        <p:txBody>
          <a:bodyPr wrap="square" lIns="0" tIns="0" rIns="0" bIns="0" rtlCol="0" anchor="ctr"/>
          <a:lstStyle/>
          <a:p>
            <a:pPr algn="l" indent="0" marL="0">
              <a:buNone/>
            </a:pPr>
            <a:r>
              <a:rPr lang="en-US" sz="800" b="1" spc="160" kern="0" dirty="0">
                <a:solidFill>
                  <a:srgbClr val="000000"/>
                </a:solidFill>
                <a:latin typeface="Arial" pitchFamily="34" charset="0"/>
                <a:ea typeface="Arial" pitchFamily="34" charset="-122"/>
                <a:cs typeface="Arial" pitchFamily="34" charset="-120"/>
              </a:rPr>
              <a:t>THE PROPOSED WORDMARK</a:t>
            </a:r>
            <a:endParaRPr lang="en-US" sz="800" dirty="0"/>
          </a:p>
        </p:txBody>
      </p:sp>
      <p:sp>
        <p:nvSpPr>
          <p:cNvPr id="47" name="Shape 43"/>
          <p:cNvSpPr/>
          <p:nvPr/>
        </p:nvSpPr>
        <p:spPr>
          <a:xfrm>
            <a:off x="457200" y="7827264"/>
            <a:ext cx="6647688" cy="7315"/>
          </a:xfrm>
          <a:prstGeom prst="rect">
            <a:avLst/>
          </a:prstGeom>
          <a:solidFill>
            <a:srgbClr val="D8D8D8"/>
          </a:solidFill>
          <a:ln/>
        </p:spPr>
      </p:sp>
      <p:sp>
        <p:nvSpPr>
          <p:cNvPr id="48" name="Shape 44"/>
          <p:cNvSpPr/>
          <p:nvPr/>
        </p:nvSpPr>
        <p:spPr>
          <a:xfrm>
            <a:off x="457200" y="7955280"/>
            <a:ext cx="6647688" cy="2011680"/>
          </a:xfrm>
          <a:prstGeom prst="rect">
            <a:avLst/>
          </a:prstGeom>
          <a:solidFill>
            <a:srgbClr val="000000"/>
          </a:solidFill>
          <a:ln/>
        </p:spPr>
      </p:sp>
      <p:pic>
        <p:nvPicPr>
          <p:cNvPr id="49" name="Image 2" descr="preencoded.png">    </p:cNvPr>
          <p:cNvPicPr>
            <a:picLocks noChangeAspect="1"/>
          </p:cNvPicPr>
          <p:nvPr/>
        </p:nvPicPr>
        <p:blipFill>
          <a:blip r:embed="rId3">
            <a:alphaModFix amt="14000"/>
          </a:blip>
          <a:stretch>
            <a:fillRect/>
          </a:stretch>
        </p:blipFill>
        <p:spPr>
          <a:xfrm>
            <a:off x="457200" y="7955280"/>
            <a:ext cx="6647688" cy="2011680"/>
          </a:xfrm>
          <a:prstGeom prst="rect">
            <a:avLst/>
          </a:prstGeom>
        </p:spPr>
      </p:pic>
      <p:sp>
        <p:nvSpPr>
          <p:cNvPr id="50" name="Text 45"/>
          <p:cNvSpPr/>
          <p:nvPr/>
        </p:nvSpPr>
        <p:spPr>
          <a:xfrm>
            <a:off x="914400" y="8284464"/>
            <a:ext cx="5733288" cy="475488"/>
          </a:xfrm>
          <a:prstGeom prst="rect">
            <a:avLst/>
          </a:prstGeom>
          <a:noFill/>
          <a:ln/>
        </p:spPr>
        <p:txBody>
          <a:bodyPr wrap="square" lIns="0" tIns="0" rIns="0" bIns="0" rtlCol="0" anchor="ctr"/>
          <a:lstStyle/>
          <a:p>
            <a:pPr algn="l" indent="0" marL="0">
              <a:buNone/>
            </a:pPr>
            <a:r>
              <a:rPr lang="en-US" sz="4000" b="1" spc="120" kern="0" dirty="0">
                <a:solidFill>
                  <a:srgbClr val="FFFFFF"/>
                </a:solidFill>
                <a:latin typeface="Arial" pitchFamily="34" charset="0"/>
                <a:ea typeface="Arial" pitchFamily="34" charset="-122"/>
                <a:cs typeface="Arial" pitchFamily="34" charset="-120"/>
              </a:rPr>
              <a:t>COMBAT</a:t>
            </a:r>
            <a:endParaRPr lang="en-US" sz="4000" dirty="0"/>
          </a:p>
        </p:txBody>
      </p:sp>
      <p:sp>
        <p:nvSpPr>
          <p:cNvPr id="51" name="Text 46"/>
          <p:cNvSpPr/>
          <p:nvPr/>
        </p:nvSpPr>
        <p:spPr>
          <a:xfrm>
            <a:off x="914400" y="8741664"/>
            <a:ext cx="5733288" cy="475488"/>
          </a:xfrm>
          <a:prstGeom prst="rect">
            <a:avLst/>
          </a:prstGeom>
          <a:noFill/>
          <a:ln/>
        </p:spPr>
        <p:txBody>
          <a:bodyPr wrap="square" lIns="0" tIns="0" rIns="0" bIns="0" rtlCol="0" anchor="ctr"/>
          <a:lstStyle/>
          <a:p>
            <a:pPr algn="l" indent="0" marL="0">
              <a:buNone/>
            </a:pPr>
            <a:r>
              <a:rPr lang="en-US" sz="4000" b="1" spc="120" kern="0" dirty="0">
                <a:solidFill>
                  <a:srgbClr val="FFFFFF"/>
                </a:solidFill>
                <a:latin typeface="Arial" pitchFamily="34" charset="0"/>
                <a:ea typeface="Arial" pitchFamily="34" charset="-122"/>
                <a:cs typeface="Arial" pitchFamily="34" charset="-120"/>
              </a:rPr>
              <a:t>MINDSET</a:t>
            </a:r>
            <a:endParaRPr lang="en-US" sz="4000" dirty="0"/>
          </a:p>
        </p:txBody>
      </p:sp>
      <p:sp>
        <p:nvSpPr>
          <p:cNvPr id="52" name="Shape 47"/>
          <p:cNvSpPr/>
          <p:nvPr/>
        </p:nvSpPr>
        <p:spPr>
          <a:xfrm>
            <a:off x="914400" y="9308592"/>
            <a:ext cx="1371600" cy="41148"/>
          </a:xfrm>
          <a:prstGeom prst="rect">
            <a:avLst/>
          </a:prstGeom>
          <a:solidFill>
            <a:srgbClr val="D31145"/>
          </a:solidFill>
          <a:ln/>
        </p:spPr>
      </p:sp>
      <p:sp>
        <p:nvSpPr>
          <p:cNvPr id="53" name="Text 48"/>
          <p:cNvSpPr/>
          <p:nvPr/>
        </p:nvSpPr>
        <p:spPr>
          <a:xfrm>
            <a:off x="914400" y="9400032"/>
            <a:ext cx="5733288" cy="219456"/>
          </a:xfrm>
          <a:prstGeom prst="rect">
            <a:avLst/>
          </a:prstGeom>
          <a:noFill/>
          <a:ln/>
        </p:spPr>
        <p:txBody>
          <a:bodyPr wrap="square" lIns="0" tIns="0" rIns="0" bIns="0" rtlCol="0" anchor="ctr"/>
          <a:lstStyle/>
          <a:p>
            <a:pPr algn="l" indent="0" marL="0">
              <a:buNone/>
            </a:pPr>
            <a:r>
              <a:rPr lang="en-US" sz="1100" dirty="0">
                <a:solidFill>
                  <a:srgbClr val="FFFFFF"/>
                </a:solidFill>
                <a:latin typeface="Arial" pitchFamily="34" charset="0"/>
                <a:ea typeface="Arial" pitchFamily="34" charset="-122"/>
                <a:cs typeface="Arial" pitchFamily="34" charset="-120"/>
              </a:rPr>
              <a:t>Remain effective. Act decisively. Harder to kill.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assets/nz-army-logo.png">    </p:cNvPr>
          <p:cNvPicPr>
            <a:picLocks noChangeAspect="1"/>
          </p:cNvPicPr>
          <p:nvPr/>
        </p:nvPicPr>
        <p:blipFill>
          <a:blip r:embed="rId1"/>
          <a:stretch>
            <a:fillRect/>
          </a:stretch>
        </p:blipFill>
        <p:spPr>
          <a:xfrm>
            <a:off x="457200" y="347472"/>
            <a:ext cx="1481328" cy="338328"/>
          </a:xfrm>
          <a:prstGeom prst="rect">
            <a:avLst/>
          </a:prstGeom>
        </p:spPr>
      </p:pic>
      <p:sp>
        <p:nvSpPr>
          <p:cNvPr id="3" name="Text 0"/>
          <p:cNvSpPr/>
          <p:nvPr/>
        </p:nvSpPr>
        <p:spPr>
          <a:xfrm>
            <a:off x="457200" y="822960"/>
            <a:ext cx="5916168" cy="274320"/>
          </a:xfrm>
          <a:prstGeom prst="rect">
            <a:avLst/>
          </a:prstGeom>
          <a:noFill/>
          <a:ln/>
        </p:spPr>
        <p:txBody>
          <a:bodyPr wrap="square" lIns="0" tIns="0" rIns="0" bIns="0" rtlCol="0" anchor="ctr"/>
          <a:lstStyle/>
          <a:p>
            <a:pPr algn="l" indent="0" marL="0">
              <a:buNone/>
            </a:pPr>
            <a:r>
              <a:rPr lang="en-US" sz="1500" b="1" spc="40" kern="0" dirty="0">
                <a:solidFill>
                  <a:srgbClr val="000000"/>
                </a:solidFill>
                <a:latin typeface="Arial" pitchFamily="34" charset="0"/>
                <a:ea typeface="Arial" pitchFamily="34" charset="-122"/>
                <a:cs typeface="Arial" pitchFamily="34" charset="-120"/>
              </a:rPr>
              <a:t>THE SYSTEM</a:t>
            </a:r>
            <a:endParaRPr lang="en-US" sz="1500" dirty="0"/>
          </a:p>
        </p:txBody>
      </p:sp>
      <p:sp>
        <p:nvSpPr>
          <p:cNvPr id="4" name="Text 1"/>
          <p:cNvSpPr/>
          <p:nvPr/>
        </p:nvSpPr>
        <p:spPr>
          <a:xfrm>
            <a:off x="457200" y="1097280"/>
            <a:ext cx="5916168" cy="182880"/>
          </a:xfrm>
          <a:prstGeom prst="rect">
            <a:avLst/>
          </a:prstGeom>
          <a:noFill/>
          <a:ln/>
        </p:spPr>
        <p:txBody>
          <a:bodyPr wrap="square" lIns="0" tIns="0" rIns="0" bIns="0" rtlCol="0" anchor="ctr"/>
          <a:lstStyle/>
          <a:p>
            <a:pPr algn="l" indent="0" marL="0">
              <a:buNone/>
            </a:pPr>
            <a:r>
              <a:rPr lang="en-US" sz="850" dirty="0">
                <a:solidFill>
                  <a:srgbClr val="7F7F7F"/>
                </a:solidFill>
                <a:latin typeface="Arial" pitchFamily="34" charset="0"/>
                <a:ea typeface="Arial" pitchFamily="34" charset="-122"/>
                <a:cs typeface="Arial" pitchFamily="34" charset="-120"/>
              </a:rPr>
              <a:t>Wordmark, lockup, element, colour and type</a:t>
            </a:r>
            <a:endParaRPr lang="en-US" sz="850" dirty="0"/>
          </a:p>
        </p:txBody>
      </p:sp>
      <p:sp>
        <p:nvSpPr>
          <p:cNvPr id="5" name="Text 2"/>
          <p:cNvSpPr/>
          <p:nvPr/>
        </p:nvSpPr>
        <p:spPr>
          <a:xfrm>
            <a:off x="6373368" y="822960"/>
            <a:ext cx="731520" cy="274320"/>
          </a:xfrm>
          <a:prstGeom prst="rect">
            <a:avLst/>
          </a:prstGeom>
          <a:noFill/>
          <a:ln/>
        </p:spPr>
        <p:txBody>
          <a:bodyPr wrap="square" lIns="0" tIns="0" rIns="0" bIns="0" rtlCol="0" anchor="ctr"/>
          <a:lstStyle/>
          <a:p>
            <a:pPr algn="r" indent="0" marL="0">
              <a:buNone/>
            </a:pPr>
            <a:r>
              <a:rPr lang="en-US" sz="900" b="1" dirty="0">
                <a:solidFill>
                  <a:srgbClr val="D31145"/>
                </a:solidFill>
                <a:latin typeface="Arial" pitchFamily="34" charset="0"/>
                <a:ea typeface="Arial" pitchFamily="34" charset="-122"/>
                <a:cs typeface="Arial" pitchFamily="34" charset="-120"/>
              </a:rPr>
              <a:t>2 / 3</a:t>
            </a:r>
            <a:endParaRPr lang="en-US" sz="900" dirty="0"/>
          </a:p>
        </p:txBody>
      </p:sp>
      <p:sp>
        <p:nvSpPr>
          <p:cNvPr id="6" name="Shape 3"/>
          <p:cNvSpPr/>
          <p:nvPr/>
        </p:nvSpPr>
        <p:spPr>
          <a:xfrm>
            <a:off x="457200" y="1353312"/>
            <a:ext cx="6647688" cy="32004"/>
          </a:xfrm>
          <a:prstGeom prst="rect">
            <a:avLst/>
          </a:prstGeom>
          <a:solidFill>
            <a:srgbClr val="D31145"/>
          </a:solidFill>
          <a:ln/>
        </p:spPr>
      </p:sp>
      <p:sp>
        <p:nvSpPr>
          <p:cNvPr id="7" name="Text 4"/>
          <p:cNvSpPr/>
          <p:nvPr/>
        </p:nvSpPr>
        <p:spPr>
          <a:xfrm>
            <a:off x="457200" y="10277856"/>
            <a:ext cx="2743200" cy="164592"/>
          </a:xfrm>
          <a:prstGeom prst="rect">
            <a:avLst/>
          </a:prstGeom>
          <a:noFill/>
          <a:ln/>
        </p:spPr>
        <p:txBody>
          <a:bodyPr wrap="square" lIns="0" tIns="0" rIns="0" bIns="0" rtlCol="0" anchor="ctr"/>
          <a:lstStyle/>
          <a:p>
            <a:pPr algn="l" indent="0" marL="0">
              <a:buNone/>
            </a:pPr>
            <a:r>
              <a:rPr lang="en-US" sz="650" b="1" spc="80" kern="0" dirty="0">
                <a:solidFill>
                  <a:srgbClr val="000000"/>
                </a:solidFill>
                <a:latin typeface="Arial" pitchFamily="34" charset="0"/>
                <a:ea typeface="Arial" pitchFamily="34" charset="-122"/>
                <a:cs typeface="Arial" pitchFamily="34" charset="-120"/>
              </a:rPr>
              <a:t>A FORCE FOR NEW ZEALAND</a:t>
            </a:r>
            <a:endParaRPr lang="en-US" sz="650" dirty="0"/>
          </a:p>
        </p:txBody>
      </p:sp>
      <p:sp>
        <p:nvSpPr>
          <p:cNvPr id="8" name="Text 5"/>
          <p:cNvSpPr/>
          <p:nvPr/>
        </p:nvSpPr>
        <p:spPr>
          <a:xfrm>
            <a:off x="3995928" y="10277856"/>
            <a:ext cx="3108960" cy="164592"/>
          </a:xfrm>
          <a:prstGeom prst="rect">
            <a:avLst/>
          </a:prstGeom>
          <a:noFill/>
          <a:ln/>
        </p:spPr>
        <p:txBody>
          <a:bodyPr wrap="square" lIns="0" tIns="0" rIns="0" bIns="0" rtlCol="0" anchor="ctr"/>
          <a:lstStyle/>
          <a:p>
            <a:pPr algn="r" indent="0" marL="0">
              <a:buNone/>
            </a:pPr>
            <a:r>
              <a:rPr lang="en-US" sz="650" dirty="0">
                <a:solidFill>
                  <a:srgbClr val="7F7F7F"/>
                </a:solidFill>
                <a:latin typeface="Arial" pitchFamily="34" charset="0"/>
                <a:ea typeface="Arial" pitchFamily="34" charset="-122"/>
                <a:cs typeface="Arial" pitchFamily="34" charset="-120"/>
              </a:rPr>
              <a:t>Army Command School   |   August 2026</a:t>
            </a:r>
            <a:endParaRPr lang="en-US" sz="650" dirty="0"/>
          </a:p>
        </p:txBody>
      </p:sp>
      <p:sp>
        <p:nvSpPr>
          <p:cNvPr id="9" name="Text 6"/>
          <p:cNvSpPr/>
          <p:nvPr/>
        </p:nvSpPr>
        <p:spPr>
          <a:xfrm>
            <a:off x="457200" y="1572768"/>
            <a:ext cx="6647688" cy="182880"/>
          </a:xfrm>
          <a:prstGeom prst="rect">
            <a:avLst/>
          </a:prstGeom>
          <a:noFill/>
          <a:ln/>
        </p:spPr>
        <p:txBody>
          <a:bodyPr wrap="square" lIns="0" tIns="0" rIns="0" bIns="0" rtlCol="0" anchor="ctr"/>
          <a:lstStyle/>
          <a:p>
            <a:pPr algn="l" indent="0" marL="0">
              <a:buNone/>
            </a:pPr>
            <a:r>
              <a:rPr lang="en-US" sz="800" b="1" spc="160" kern="0" dirty="0">
                <a:solidFill>
                  <a:srgbClr val="000000"/>
                </a:solidFill>
                <a:latin typeface="Arial" pitchFamily="34" charset="0"/>
                <a:ea typeface="Arial" pitchFamily="34" charset="-122"/>
                <a:cs typeface="Arial" pitchFamily="34" charset="-120"/>
              </a:rPr>
              <a:t>WORDMARK  —  THREE PERMITTED RENDERINGS</a:t>
            </a:r>
            <a:endParaRPr lang="en-US" sz="800" dirty="0"/>
          </a:p>
        </p:txBody>
      </p:sp>
      <p:sp>
        <p:nvSpPr>
          <p:cNvPr id="10" name="Shape 7"/>
          <p:cNvSpPr/>
          <p:nvPr/>
        </p:nvSpPr>
        <p:spPr>
          <a:xfrm>
            <a:off x="457200" y="1755648"/>
            <a:ext cx="6647688" cy="7315"/>
          </a:xfrm>
          <a:prstGeom prst="rect">
            <a:avLst/>
          </a:prstGeom>
          <a:solidFill>
            <a:srgbClr val="D8D8D8"/>
          </a:solidFill>
          <a:ln/>
        </p:spPr>
      </p:sp>
      <p:sp>
        <p:nvSpPr>
          <p:cNvPr id="11" name="Shape 8"/>
          <p:cNvSpPr/>
          <p:nvPr/>
        </p:nvSpPr>
        <p:spPr>
          <a:xfrm>
            <a:off x="457200" y="1883664"/>
            <a:ext cx="2130552" cy="1371600"/>
          </a:xfrm>
          <a:prstGeom prst="rect">
            <a:avLst/>
          </a:prstGeom>
          <a:solidFill>
            <a:srgbClr val="FFFFFF"/>
          </a:solidFill>
          <a:ln w="12700">
            <a:solidFill>
              <a:srgbClr val="D8D8D8"/>
            </a:solidFill>
            <a:prstDash val="solid"/>
          </a:ln>
        </p:spPr>
      </p:sp>
      <p:sp>
        <p:nvSpPr>
          <p:cNvPr id="12" name="Text 9"/>
          <p:cNvSpPr/>
          <p:nvPr/>
        </p:nvSpPr>
        <p:spPr>
          <a:xfrm>
            <a:off x="658368" y="2212848"/>
            <a:ext cx="1728216" cy="256032"/>
          </a:xfrm>
          <a:prstGeom prst="rect">
            <a:avLst/>
          </a:prstGeom>
          <a:noFill/>
          <a:ln/>
        </p:spPr>
        <p:txBody>
          <a:bodyPr wrap="square" lIns="0" tIns="0" rIns="0" bIns="0" rtlCol="0" anchor="ctr"/>
          <a:lstStyle/>
          <a:p>
            <a:pPr algn="l" indent="0" marL="0">
              <a:buNone/>
            </a:pPr>
            <a:r>
              <a:rPr lang="en-US" sz="1700" b="1" spc="60" kern="0" dirty="0">
                <a:solidFill>
                  <a:srgbClr val="000000"/>
                </a:solidFill>
                <a:latin typeface="Arial" pitchFamily="34" charset="0"/>
                <a:ea typeface="Arial" pitchFamily="34" charset="-122"/>
                <a:cs typeface="Arial" pitchFamily="34" charset="-120"/>
              </a:rPr>
              <a:t>COMBAT</a:t>
            </a:r>
            <a:endParaRPr lang="en-US" sz="1700" dirty="0"/>
          </a:p>
        </p:txBody>
      </p:sp>
      <p:sp>
        <p:nvSpPr>
          <p:cNvPr id="13" name="Text 10"/>
          <p:cNvSpPr/>
          <p:nvPr/>
        </p:nvSpPr>
        <p:spPr>
          <a:xfrm>
            <a:off x="658368" y="2450592"/>
            <a:ext cx="1728216" cy="256032"/>
          </a:xfrm>
          <a:prstGeom prst="rect">
            <a:avLst/>
          </a:prstGeom>
          <a:noFill/>
          <a:ln/>
        </p:spPr>
        <p:txBody>
          <a:bodyPr wrap="square" lIns="0" tIns="0" rIns="0" bIns="0" rtlCol="0" anchor="ctr"/>
          <a:lstStyle/>
          <a:p>
            <a:pPr algn="l" indent="0" marL="0">
              <a:buNone/>
            </a:pPr>
            <a:r>
              <a:rPr lang="en-US" sz="1700" b="1" spc="60" kern="0" dirty="0">
                <a:solidFill>
                  <a:srgbClr val="000000"/>
                </a:solidFill>
                <a:latin typeface="Arial" pitchFamily="34" charset="0"/>
                <a:ea typeface="Arial" pitchFamily="34" charset="-122"/>
                <a:cs typeface="Arial" pitchFamily="34" charset="-120"/>
              </a:rPr>
              <a:t>MINDSET</a:t>
            </a:r>
            <a:endParaRPr lang="en-US" sz="1700" dirty="0"/>
          </a:p>
        </p:txBody>
      </p:sp>
      <p:sp>
        <p:nvSpPr>
          <p:cNvPr id="14" name="Shape 11"/>
          <p:cNvSpPr/>
          <p:nvPr/>
        </p:nvSpPr>
        <p:spPr>
          <a:xfrm>
            <a:off x="658368" y="2743200"/>
            <a:ext cx="566928" cy="25603"/>
          </a:xfrm>
          <a:prstGeom prst="rect">
            <a:avLst/>
          </a:prstGeom>
          <a:solidFill>
            <a:srgbClr val="D31145"/>
          </a:solidFill>
          <a:ln/>
        </p:spPr>
      </p:sp>
      <p:sp>
        <p:nvSpPr>
          <p:cNvPr id="15" name="Text 12"/>
          <p:cNvSpPr/>
          <p:nvPr/>
        </p:nvSpPr>
        <p:spPr>
          <a:xfrm>
            <a:off x="658368" y="2871216"/>
            <a:ext cx="1728216" cy="182880"/>
          </a:xfrm>
          <a:prstGeom prst="rect">
            <a:avLst/>
          </a:prstGeom>
          <a:noFill/>
          <a:ln/>
        </p:spPr>
        <p:txBody>
          <a:bodyPr wrap="square" lIns="0" tIns="0" rIns="0" bIns="0" rtlCol="0" anchor="ctr"/>
          <a:lstStyle/>
          <a:p>
            <a:pPr algn="l" indent="0" marL="0">
              <a:buNone/>
            </a:pPr>
            <a:r>
              <a:rPr lang="en-US" sz="760" i="1" dirty="0">
                <a:solidFill>
                  <a:srgbClr val="7F7F7F"/>
                </a:solidFill>
                <a:latin typeface="Arial" pitchFamily="34" charset="0"/>
                <a:ea typeface="Arial" pitchFamily="34" charset="-122"/>
                <a:cs typeface="Arial" pitchFamily="34" charset="-120"/>
              </a:rPr>
              <a:t>Primary</a:t>
            </a:r>
            <a:endParaRPr lang="en-US" sz="760" dirty="0"/>
          </a:p>
        </p:txBody>
      </p:sp>
      <p:sp>
        <p:nvSpPr>
          <p:cNvPr id="16" name="Shape 13"/>
          <p:cNvSpPr/>
          <p:nvPr/>
        </p:nvSpPr>
        <p:spPr>
          <a:xfrm>
            <a:off x="2715768" y="1883664"/>
            <a:ext cx="2130552" cy="1371600"/>
          </a:xfrm>
          <a:prstGeom prst="rect">
            <a:avLst/>
          </a:prstGeom>
          <a:solidFill>
            <a:srgbClr val="000000"/>
          </a:solidFill>
          <a:ln/>
        </p:spPr>
      </p:sp>
      <p:sp>
        <p:nvSpPr>
          <p:cNvPr id="17" name="Text 14"/>
          <p:cNvSpPr/>
          <p:nvPr/>
        </p:nvSpPr>
        <p:spPr>
          <a:xfrm>
            <a:off x="2916936" y="2212848"/>
            <a:ext cx="1728216" cy="256032"/>
          </a:xfrm>
          <a:prstGeom prst="rect">
            <a:avLst/>
          </a:prstGeom>
          <a:noFill/>
          <a:ln/>
        </p:spPr>
        <p:txBody>
          <a:bodyPr wrap="square" lIns="0" tIns="0" rIns="0" bIns="0" rtlCol="0" anchor="ctr"/>
          <a:lstStyle/>
          <a:p>
            <a:pPr algn="l" indent="0" marL="0">
              <a:buNone/>
            </a:pPr>
            <a:r>
              <a:rPr lang="en-US" sz="1700" b="1" spc="60" kern="0" dirty="0">
                <a:solidFill>
                  <a:srgbClr val="FFFFFF"/>
                </a:solidFill>
                <a:latin typeface="Arial" pitchFamily="34" charset="0"/>
                <a:ea typeface="Arial" pitchFamily="34" charset="-122"/>
                <a:cs typeface="Arial" pitchFamily="34" charset="-120"/>
              </a:rPr>
              <a:t>COMBAT</a:t>
            </a:r>
            <a:endParaRPr lang="en-US" sz="1700" dirty="0"/>
          </a:p>
        </p:txBody>
      </p:sp>
      <p:sp>
        <p:nvSpPr>
          <p:cNvPr id="18" name="Text 15"/>
          <p:cNvSpPr/>
          <p:nvPr/>
        </p:nvSpPr>
        <p:spPr>
          <a:xfrm>
            <a:off x="2916936" y="2450592"/>
            <a:ext cx="1728216" cy="256032"/>
          </a:xfrm>
          <a:prstGeom prst="rect">
            <a:avLst/>
          </a:prstGeom>
          <a:noFill/>
          <a:ln/>
        </p:spPr>
        <p:txBody>
          <a:bodyPr wrap="square" lIns="0" tIns="0" rIns="0" bIns="0" rtlCol="0" anchor="ctr"/>
          <a:lstStyle/>
          <a:p>
            <a:pPr algn="l" indent="0" marL="0">
              <a:buNone/>
            </a:pPr>
            <a:r>
              <a:rPr lang="en-US" sz="1700" b="1" spc="60" kern="0" dirty="0">
                <a:solidFill>
                  <a:srgbClr val="FFFFFF"/>
                </a:solidFill>
                <a:latin typeface="Arial" pitchFamily="34" charset="0"/>
                <a:ea typeface="Arial" pitchFamily="34" charset="-122"/>
                <a:cs typeface="Arial" pitchFamily="34" charset="-120"/>
              </a:rPr>
              <a:t>MINDSET</a:t>
            </a:r>
            <a:endParaRPr lang="en-US" sz="1700" dirty="0"/>
          </a:p>
        </p:txBody>
      </p:sp>
      <p:sp>
        <p:nvSpPr>
          <p:cNvPr id="19" name="Shape 16"/>
          <p:cNvSpPr/>
          <p:nvPr/>
        </p:nvSpPr>
        <p:spPr>
          <a:xfrm>
            <a:off x="2916936" y="2743200"/>
            <a:ext cx="566928" cy="25603"/>
          </a:xfrm>
          <a:prstGeom prst="rect">
            <a:avLst/>
          </a:prstGeom>
          <a:solidFill>
            <a:srgbClr val="D31145"/>
          </a:solidFill>
          <a:ln/>
        </p:spPr>
      </p:sp>
      <p:sp>
        <p:nvSpPr>
          <p:cNvPr id="20" name="Text 17"/>
          <p:cNvSpPr/>
          <p:nvPr/>
        </p:nvSpPr>
        <p:spPr>
          <a:xfrm>
            <a:off x="2916936" y="2871216"/>
            <a:ext cx="1728216" cy="182880"/>
          </a:xfrm>
          <a:prstGeom prst="rect">
            <a:avLst/>
          </a:prstGeom>
          <a:noFill/>
          <a:ln/>
        </p:spPr>
        <p:txBody>
          <a:bodyPr wrap="square" lIns="0" tIns="0" rIns="0" bIns="0" rtlCol="0" anchor="ctr"/>
          <a:lstStyle/>
          <a:p>
            <a:pPr algn="l" indent="0" marL="0">
              <a:buNone/>
            </a:pPr>
            <a:r>
              <a:rPr lang="en-US" sz="760" i="1" dirty="0">
                <a:solidFill>
                  <a:srgbClr val="BFBFBF"/>
                </a:solidFill>
                <a:latin typeface="Arial" pitchFamily="34" charset="0"/>
                <a:ea typeface="Arial" pitchFamily="34" charset="-122"/>
                <a:cs typeface="Arial" pitchFamily="34" charset="-120"/>
              </a:rPr>
              <a:t>Reverse</a:t>
            </a:r>
            <a:endParaRPr lang="en-US" sz="760" dirty="0"/>
          </a:p>
        </p:txBody>
      </p:sp>
      <p:sp>
        <p:nvSpPr>
          <p:cNvPr id="21" name="Shape 18"/>
          <p:cNvSpPr/>
          <p:nvPr/>
        </p:nvSpPr>
        <p:spPr>
          <a:xfrm>
            <a:off x="4974336" y="1883664"/>
            <a:ext cx="2130552" cy="1371600"/>
          </a:xfrm>
          <a:prstGeom prst="rect">
            <a:avLst/>
          </a:prstGeom>
          <a:solidFill>
            <a:srgbClr val="FFFFFF"/>
          </a:solidFill>
          <a:ln w="12700">
            <a:solidFill>
              <a:srgbClr val="D8D8D8"/>
            </a:solidFill>
            <a:prstDash val="solid"/>
          </a:ln>
        </p:spPr>
      </p:sp>
      <p:sp>
        <p:nvSpPr>
          <p:cNvPr id="22" name="Text 19"/>
          <p:cNvSpPr/>
          <p:nvPr/>
        </p:nvSpPr>
        <p:spPr>
          <a:xfrm>
            <a:off x="5175504" y="2212848"/>
            <a:ext cx="1728216" cy="256032"/>
          </a:xfrm>
          <a:prstGeom prst="rect">
            <a:avLst/>
          </a:prstGeom>
          <a:noFill/>
          <a:ln/>
        </p:spPr>
        <p:txBody>
          <a:bodyPr wrap="square" lIns="0" tIns="0" rIns="0" bIns="0" rtlCol="0" anchor="ctr"/>
          <a:lstStyle/>
          <a:p>
            <a:pPr algn="l" indent="0" marL="0">
              <a:buNone/>
            </a:pPr>
            <a:r>
              <a:rPr lang="en-US" sz="1700" b="1" spc="60" kern="0" dirty="0">
                <a:solidFill>
                  <a:srgbClr val="000000"/>
                </a:solidFill>
                <a:latin typeface="Arial" pitchFamily="34" charset="0"/>
                <a:ea typeface="Arial" pitchFamily="34" charset="-122"/>
                <a:cs typeface="Arial" pitchFamily="34" charset="-120"/>
              </a:rPr>
              <a:t>COMBAT</a:t>
            </a:r>
            <a:endParaRPr lang="en-US" sz="1700" dirty="0"/>
          </a:p>
        </p:txBody>
      </p:sp>
      <p:sp>
        <p:nvSpPr>
          <p:cNvPr id="23" name="Text 20"/>
          <p:cNvSpPr/>
          <p:nvPr/>
        </p:nvSpPr>
        <p:spPr>
          <a:xfrm>
            <a:off x="5175504" y="2450592"/>
            <a:ext cx="1728216" cy="256032"/>
          </a:xfrm>
          <a:prstGeom prst="rect">
            <a:avLst/>
          </a:prstGeom>
          <a:noFill/>
          <a:ln/>
        </p:spPr>
        <p:txBody>
          <a:bodyPr wrap="square" lIns="0" tIns="0" rIns="0" bIns="0" rtlCol="0" anchor="ctr"/>
          <a:lstStyle/>
          <a:p>
            <a:pPr algn="l" indent="0" marL="0">
              <a:buNone/>
            </a:pPr>
            <a:r>
              <a:rPr lang="en-US" sz="1700" b="1" spc="60" kern="0" dirty="0">
                <a:solidFill>
                  <a:srgbClr val="000000"/>
                </a:solidFill>
                <a:latin typeface="Arial" pitchFamily="34" charset="0"/>
                <a:ea typeface="Arial" pitchFamily="34" charset="-122"/>
                <a:cs typeface="Arial" pitchFamily="34" charset="-120"/>
              </a:rPr>
              <a:t>MINDSET</a:t>
            </a:r>
            <a:endParaRPr lang="en-US" sz="1700" dirty="0"/>
          </a:p>
        </p:txBody>
      </p:sp>
      <p:sp>
        <p:nvSpPr>
          <p:cNvPr id="24" name="Shape 21"/>
          <p:cNvSpPr/>
          <p:nvPr/>
        </p:nvSpPr>
        <p:spPr>
          <a:xfrm>
            <a:off x="5175504" y="2743200"/>
            <a:ext cx="566928" cy="25603"/>
          </a:xfrm>
          <a:prstGeom prst="rect">
            <a:avLst/>
          </a:prstGeom>
          <a:solidFill>
            <a:srgbClr val="000000"/>
          </a:solidFill>
          <a:ln/>
        </p:spPr>
      </p:sp>
      <p:sp>
        <p:nvSpPr>
          <p:cNvPr id="25" name="Text 22"/>
          <p:cNvSpPr/>
          <p:nvPr/>
        </p:nvSpPr>
        <p:spPr>
          <a:xfrm>
            <a:off x="5175504" y="2871216"/>
            <a:ext cx="1728216" cy="182880"/>
          </a:xfrm>
          <a:prstGeom prst="rect">
            <a:avLst/>
          </a:prstGeom>
          <a:noFill/>
          <a:ln/>
        </p:spPr>
        <p:txBody>
          <a:bodyPr wrap="square" lIns="0" tIns="0" rIns="0" bIns="0" rtlCol="0" anchor="ctr"/>
          <a:lstStyle/>
          <a:p>
            <a:pPr algn="l" indent="0" marL="0">
              <a:buNone/>
            </a:pPr>
            <a:r>
              <a:rPr lang="en-US" sz="760" i="1" dirty="0">
                <a:solidFill>
                  <a:srgbClr val="7F7F7F"/>
                </a:solidFill>
                <a:latin typeface="Arial" pitchFamily="34" charset="0"/>
                <a:ea typeface="Arial" pitchFamily="34" charset="-122"/>
                <a:cs typeface="Arial" pitchFamily="34" charset="-120"/>
              </a:rPr>
              <a:t>One colour</a:t>
            </a:r>
            <a:endParaRPr lang="en-US" sz="760" dirty="0"/>
          </a:p>
        </p:txBody>
      </p:sp>
      <p:sp>
        <p:nvSpPr>
          <p:cNvPr id="26" name="Text 23"/>
          <p:cNvSpPr/>
          <p:nvPr/>
        </p:nvSpPr>
        <p:spPr>
          <a:xfrm>
            <a:off x="457200" y="3310128"/>
            <a:ext cx="6647688" cy="274320"/>
          </a:xfrm>
          <a:prstGeom prst="rect">
            <a:avLst/>
          </a:prstGeom>
          <a:noFill/>
          <a:ln/>
        </p:spPr>
        <p:txBody>
          <a:bodyPr wrap="square" lIns="0" tIns="0" rIns="0" bIns="0" rtlCol="0" anchor="t"/>
          <a:lstStyle/>
          <a:p>
            <a:pPr algn="l" indent="0" marL="0">
              <a:lnSpc>
                <a:spcPct val="112000"/>
              </a:lnSpc>
              <a:buNone/>
            </a:pPr>
            <a:r>
              <a:rPr lang="en-US" sz="780" dirty="0">
                <a:solidFill>
                  <a:srgbClr val="3F3F3F"/>
                </a:solidFill>
                <a:latin typeface="Arial" pitchFamily="34" charset="0"/>
                <a:ea typeface="Arial" pitchFamily="34" charset="-122"/>
                <a:cs typeface="Arial" pitchFamily="34" charset="-120"/>
              </a:rPr>
              <a:t>The rule is set to the cap height of the M and always sits beneath the second line. Red on light and dark grounds; black in one-colour work. Never coloured type, never outlined, never set in any face other than the Army’s.</a:t>
            </a:r>
            <a:endParaRPr lang="en-US" sz="780" dirty="0"/>
          </a:p>
        </p:txBody>
      </p:sp>
      <p:sp>
        <p:nvSpPr>
          <p:cNvPr id="27" name="Text 24"/>
          <p:cNvSpPr/>
          <p:nvPr/>
        </p:nvSpPr>
        <p:spPr>
          <a:xfrm>
            <a:off x="457200" y="3657600"/>
            <a:ext cx="6647688" cy="182880"/>
          </a:xfrm>
          <a:prstGeom prst="rect">
            <a:avLst/>
          </a:prstGeom>
          <a:noFill/>
          <a:ln/>
        </p:spPr>
        <p:txBody>
          <a:bodyPr wrap="square" lIns="0" tIns="0" rIns="0" bIns="0" rtlCol="0" anchor="ctr"/>
          <a:lstStyle/>
          <a:p>
            <a:pPr algn="l" indent="0" marL="0">
              <a:buNone/>
            </a:pPr>
            <a:r>
              <a:rPr lang="en-US" sz="800" b="1" spc="160" kern="0" dirty="0">
                <a:solidFill>
                  <a:srgbClr val="000000"/>
                </a:solidFill>
                <a:latin typeface="Arial" pitchFamily="34" charset="0"/>
                <a:ea typeface="Arial" pitchFamily="34" charset="-122"/>
                <a:cs typeface="Arial" pitchFamily="34" charset="-120"/>
              </a:rPr>
              <a:t>LOCKUP  —  THE REQUIRED FORM ON ALL COLLATERAL</a:t>
            </a:r>
            <a:endParaRPr lang="en-US" sz="800" dirty="0"/>
          </a:p>
        </p:txBody>
      </p:sp>
      <p:sp>
        <p:nvSpPr>
          <p:cNvPr id="28" name="Shape 25"/>
          <p:cNvSpPr/>
          <p:nvPr/>
        </p:nvSpPr>
        <p:spPr>
          <a:xfrm>
            <a:off x="457200" y="3840480"/>
            <a:ext cx="6647688" cy="7315"/>
          </a:xfrm>
          <a:prstGeom prst="rect">
            <a:avLst/>
          </a:prstGeom>
          <a:solidFill>
            <a:srgbClr val="D8D8D8"/>
          </a:solidFill>
          <a:ln/>
        </p:spPr>
      </p:sp>
      <p:sp>
        <p:nvSpPr>
          <p:cNvPr id="29" name="Shape 26"/>
          <p:cNvSpPr/>
          <p:nvPr/>
        </p:nvSpPr>
        <p:spPr>
          <a:xfrm>
            <a:off x="457200" y="3968496"/>
            <a:ext cx="6647688" cy="1517904"/>
          </a:xfrm>
          <a:prstGeom prst="rect">
            <a:avLst/>
          </a:prstGeom>
          <a:solidFill>
            <a:srgbClr val="F4F4F2"/>
          </a:solidFill>
          <a:ln/>
        </p:spPr>
      </p:sp>
      <p:pic>
        <p:nvPicPr>
          <p:cNvPr id="30" name="Image 1" descr="assets/nz-army-logo.png">    </p:cNvPr>
          <p:cNvPicPr>
            <a:picLocks noChangeAspect="1"/>
          </p:cNvPicPr>
          <p:nvPr/>
        </p:nvPicPr>
        <p:blipFill>
          <a:blip r:embed="rId2"/>
          <a:stretch>
            <a:fillRect/>
          </a:stretch>
        </p:blipFill>
        <p:spPr>
          <a:xfrm>
            <a:off x="731520" y="4261104"/>
            <a:ext cx="1481328" cy="338328"/>
          </a:xfrm>
          <a:prstGeom prst="rect">
            <a:avLst/>
          </a:prstGeom>
        </p:spPr>
      </p:pic>
      <p:sp>
        <p:nvSpPr>
          <p:cNvPr id="31" name="Shape 27"/>
          <p:cNvSpPr/>
          <p:nvPr/>
        </p:nvSpPr>
        <p:spPr>
          <a:xfrm>
            <a:off x="2395728" y="4206240"/>
            <a:ext cx="12802" cy="475488"/>
          </a:xfrm>
          <a:prstGeom prst="rect">
            <a:avLst/>
          </a:prstGeom>
          <a:solidFill>
            <a:srgbClr val="C8C8C8"/>
          </a:solidFill>
          <a:ln/>
        </p:spPr>
      </p:sp>
      <p:sp>
        <p:nvSpPr>
          <p:cNvPr id="32" name="Text 28"/>
          <p:cNvSpPr/>
          <p:nvPr/>
        </p:nvSpPr>
        <p:spPr>
          <a:xfrm>
            <a:off x="2596896" y="4206240"/>
            <a:ext cx="2926080" cy="237744"/>
          </a:xfrm>
          <a:prstGeom prst="rect">
            <a:avLst/>
          </a:prstGeom>
          <a:noFill/>
          <a:ln/>
        </p:spPr>
        <p:txBody>
          <a:bodyPr wrap="square" lIns="0" tIns="0" rIns="0" bIns="0" rtlCol="0" anchor="ctr"/>
          <a:lstStyle/>
          <a:p>
            <a:pPr algn="l" indent="0" marL="0">
              <a:buNone/>
            </a:pPr>
            <a:r>
              <a:rPr lang="en-US" sz="1300" b="1" dirty="0">
                <a:solidFill>
                  <a:srgbClr val="000000"/>
                </a:solidFill>
                <a:latin typeface="Arial" pitchFamily="34" charset="0"/>
                <a:ea typeface="Arial" pitchFamily="34" charset="-122"/>
                <a:cs typeface="Arial" pitchFamily="34" charset="-120"/>
              </a:rPr>
              <a:t>Combat Mindset</a:t>
            </a:r>
            <a:endParaRPr lang="en-US" sz="1300" dirty="0"/>
          </a:p>
        </p:txBody>
      </p:sp>
      <p:sp>
        <p:nvSpPr>
          <p:cNvPr id="33" name="Text 29"/>
          <p:cNvSpPr/>
          <p:nvPr/>
        </p:nvSpPr>
        <p:spPr>
          <a:xfrm>
            <a:off x="2596896" y="4443984"/>
            <a:ext cx="2926080" cy="237744"/>
          </a:xfrm>
          <a:prstGeom prst="rect">
            <a:avLst/>
          </a:prstGeom>
          <a:noFill/>
          <a:ln/>
        </p:spPr>
        <p:txBody>
          <a:bodyPr wrap="square" lIns="0" tIns="0" rIns="0" bIns="0" rtlCol="0" anchor="ctr"/>
          <a:lstStyle/>
          <a:p>
            <a:pPr algn="l" indent="0" marL="0">
              <a:buNone/>
            </a:pPr>
            <a:r>
              <a:rPr lang="en-US" sz="1300" b="1" dirty="0">
                <a:solidFill>
                  <a:srgbClr val="000000"/>
                </a:solidFill>
                <a:latin typeface="Arial" pitchFamily="34" charset="0"/>
                <a:ea typeface="Arial" pitchFamily="34" charset="-122"/>
                <a:cs typeface="Arial" pitchFamily="34" charset="-120"/>
              </a:rPr>
              <a:t>Framework Proposal</a:t>
            </a:r>
            <a:endParaRPr lang="en-US" sz="1300" dirty="0"/>
          </a:p>
        </p:txBody>
      </p:sp>
      <p:sp>
        <p:nvSpPr>
          <p:cNvPr id="34" name="Text 30"/>
          <p:cNvSpPr/>
          <p:nvPr/>
        </p:nvSpPr>
        <p:spPr>
          <a:xfrm>
            <a:off x="731520" y="4718304"/>
            <a:ext cx="1828800" cy="164592"/>
          </a:xfrm>
          <a:prstGeom prst="rect">
            <a:avLst/>
          </a:prstGeom>
          <a:noFill/>
          <a:ln/>
        </p:spPr>
        <p:txBody>
          <a:bodyPr wrap="square" lIns="0" tIns="0" rIns="0" bIns="0" rtlCol="0" anchor="ctr"/>
          <a:lstStyle/>
          <a:p>
            <a:pPr algn="l" indent="0" marL="0">
              <a:buNone/>
            </a:pPr>
            <a:r>
              <a:rPr lang="en-US" sz="760" i="1" dirty="0">
                <a:solidFill>
                  <a:srgbClr val="7F7F7F"/>
                </a:solidFill>
                <a:latin typeface="Arial" pitchFamily="34" charset="0"/>
                <a:ea typeface="Arial" pitchFamily="34" charset="-122"/>
                <a:cs typeface="Arial" pitchFamily="34" charset="-120"/>
              </a:rPr>
              <a:t>Horizontal</a:t>
            </a:r>
            <a:endParaRPr lang="en-US" sz="760" dirty="0"/>
          </a:p>
        </p:txBody>
      </p:sp>
      <p:pic>
        <p:nvPicPr>
          <p:cNvPr id="35" name="Image 2" descr="assets/nz-army-logo.png">    </p:cNvPr>
          <p:cNvPicPr>
            <a:picLocks noChangeAspect="1"/>
          </p:cNvPicPr>
          <p:nvPr/>
        </p:nvPicPr>
        <p:blipFill>
          <a:blip r:embed="rId3"/>
          <a:stretch>
            <a:fillRect/>
          </a:stretch>
        </p:blipFill>
        <p:spPr>
          <a:xfrm>
            <a:off x="4754880" y="4169664"/>
            <a:ext cx="1225296" cy="279806"/>
          </a:xfrm>
          <a:prstGeom prst="rect">
            <a:avLst/>
          </a:prstGeom>
        </p:spPr>
      </p:pic>
      <p:sp>
        <p:nvSpPr>
          <p:cNvPr id="36" name="Shape 31"/>
          <p:cNvSpPr/>
          <p:nvPr/>
        </p:nvSpPr>
        <p:spPr>
          <a:xfrm>
            <a:off x="4754880" y="4535424"/>
            <a:ext cx="457200" cy="20117"/>
          </a:xfrm>
          <a:prstGeom prst="rect">
            <a:avLst/>
          </a:prstGeom>
          <a:solidFill>
            <a:srgbClr val="D31145"/>
          </a:solidFill>
          <a:ln/>
        </p:spPr>
      </p:sp>
      <p:sp>
        <p:nvSpPr>
          <p:cNvPr id="37" name="Text 32"/>
          <p:cNvSpPr/>
          <p:nvPr/>
        </p:nvSpPr>
        <p:spPr>
          <a:xfrm>
            <a:off x="4754880" y="4608576"/>
            <a:ext cx="2103120" cy="219456"/>
          </a:xfrm>
          <a:prstGeom prst="rect">
            <a:avLst/>
          </a:prstGeom>
          <a:noFill/>
          <a:ln/>
        </p:spPr>
        <p:txBody>
          <a:bodyPr wrap="square" lIns="0" tIns="0" rIns="0" bIns="0" rtlCol="0" anchor="ctr"/>
          <a:lstStyle/>
          <a:p>
            <a:pPr algn="l" indent="0" marL="0">
              <a:buNone/>
            </a:pPr>
            <a:r>
              <a:rPr lang="en-US" sz="1200" b="1" dirty="0">
                <a:solidFill>
                  <a:srgbClr val="000000"/>
                </a:solidFill>
                <a:latin typeface="Arial" pitchFamily="34" charset="0"/>
                <a:ea typeface="Arial" pitchFamily="34" charset="-122"/>
                <a:cs typeface="Arial" pitchFamily="34" charset="-120"/>
              </a:rPr>
              <a:t>Combat Mindset</a:t>
            </a:r>
            <a:endParaRPr lang="en-US" sz="1200" dirty="0"/>
          </a:p>
        </p:txBody>
      </p:sp>
      <p:sp>
        <p:nvSpPr>
          <p:cNvPr id="38" name="Text 33"/>
          <p:cNvSpPr/>
          <p:nvPr/>
        </p:nvSpPr>
        <p:spPr>
          <a:xfrm>
            <a:off x="4754880" y="4846320"/>
            <a:ext cx="1828800" cy="164592"/>
          </a:xfrm>
          <a:prstGeom prst="rect">
            <a:avLst/>
          </a:prstGeom>
          <a:noFill/>
          <a:ln/>
        </p:spPr>
        <p:txBody>
          <a:bodyPr wrap="square" lIns="0" tIns="0" rIns="0" bIns="0" rtlCol="0" anchor="ctr"/>
          <a:lstStyle/>
          <a:p>
            <a:pPr algn="l" indent="0" marL="0">
              <a:buNone/>
            </a:pPr>
            <a:r>
              <a:rPr lang="en-US" sz="760" i="1" dirty="0">
                <a:solidFill>
                  <a:srgbClr val="7F7F7F"/>
                </a:solidFill>
                <a:latin typeface="Arial" pitchFamily="34" charset="0"/>
                <a:ea typeface="Arial" pitchFamily="34" charset="-122"/>
                <a:cs typeface="Arial" pitchFamily="34" charset="-120"/>
              </a:rPr>
              <a:t>Stacked</a:t>
            </a:r>
            <a:endParaRPr lang="en-US" sz="760" dirty="0"/>
          </a:p>
        </p:txBody>
      </p:sp>
      <p:sp>
        <p:nvSpPr>
          <p:cNvPr id="39" name="Text 34"/>
          <p:cNvSpPr/>
          <p:nvPr/>
        </p:nvSpPr>
        <p:spPr>
          <a:xfrm>
            <a:off x="731520" y="5084064"/>
            <a:ext cx="6099048" cy="310896"/>
          </a:xfrm>
          <a:prstGeom prst="rect">
            <a:avLst/>
          </a:prstGeom>
          <a:noFill/>
          <a:ln/>
        </p:spPr>
        <p:txBody>
          <a:bodyPr wrap="square" lIns="0" tIns="0" rIns="0" bIns="0" rtlCol="0" anchor="t"/>
          <a:lstStyle/>
          <a:p>
            <a:pPr algn="l" indent="0" marL="0">
              <a:lnSpc>
                <a:spcPct val="112000"/>
              </a:lnSpc>
              <a:buNone/>
            </a:pPr>
            <a:r>
              <a:rPr lang="en-US" sz="780" dirty="0">
                <a:solidFill>
                  <a:srgbClr val="3F3F3F"/>
                </a:solidFill>
                <a:latin typeface="Arial" pitchFamily="34" charset="0"/>
                <a:ea typeface="Arial" pitchFamily="34" charset="-122"/>
                <a:cs typeface="Arial" pitchFamily="34" charset="-120"/>
              </a:rPr>
              <a:t>Name in plain text, title case, Neue Haas Grotesk Bold (Arial Bold substitute), never inside a shape and never set as a device. Clear space each side is the height of the N in NZ. Minimum logo width 35 mm.</a:t>
            </a:r>
            <a:endParaRPr lang="en-US" sz="780" dirty="0"/>
          </a:p>
        </p:txBody>
      </p:sp>
      <p:sp>
        <p:nvSpPr>
          <p:cNvPr id="40" name="Text 35"/>
          <p:cNvSpPr/>
          <p:nvPr/>
        </p:nvSpPr>
        <p:spPr>
          <a:xfrm>
            <a:off x="457200" y="5577840"/>
            <a:ext cx="6647688" cy="182880"/>
          </a:xfrm>
          <a:prstGeom prst="rect">
            <a:avLst/>
          </a:prstGeom>
          <a:noFill/>
          <a:ln/>
        </p:spPr>
        <p:txBody>
          <a:bodyPr wrap="square" lIns="0" tIns="0" rIns="0" bIns="0" rtlCol="0" anchor="ctr"/>
          <a:lstStyle/>
          <a:p>
            <a:pPr algn="l" indent="0" marL="0">
              <a:buNone/>
            </a:pPr>
            <a:r>
              <a:rPr lang="en-US" sz="800" b="1" spc="160" kern="0" dirty="0">
                <a:solidFill>
                  <a:srgbClr val="000000"/>
                </a:solidFill>
                <a:latin typeface="Arial" pitchFamily="34" charset="0"/>
                <a:ea typeface="Arial" pitchFamily="34" charset="-122"/>
                <a:cs typeface="Arial" pitchFamily="34" charset="-120"/>
              </a:rPr>
              <a:t>ELEMENT  —  THE ARMY CHEVRON, IN PLACE OF A SYMBOL</a:t>
            </a:r>
            <a:endParaRPr lang="en-US" sz="800" dirty="0"/>
          </a:p>
        </p:txBody>
      </p:sp>
      <p:sp>
        <p:nvSpPr>
          <p:cNvPr id="41" name="Shape 36"/>
          <p:cNvSpPr/>
          <p:nvPr/>
        </p:nvSpPr>
        <p:spPr>
          <a:xfrm>
            <a:off x="457200" y="5760720"/>
            <a:ext cx="6647688" cy="7315"/>
          </a:xfrm>
          <a:prstGeom prst="rect">
            <a:avLst/>
          </a:prstGeom>
          <a:solidFill>
            <a:srgbClr val="D8D8D8"/>
          </a:solidFill>
          <a:ln/>
        </p:spPr>
      </p:sp>
      <p:sp>
        <p:nvSpPr>
          <p:cNvPr id="42" name="Shape 37"/>
          <p:cNvSpPr/>
          <p:nvPr/>
        </p:nvSpPr>
        <p:spPr>
          <a:xfrm>
            <a:off x="457200" y="5888736"/>
            <a:ext cx="2103120" cy="1371600"/>
          </a:xfrm>
          <a:prstGeom prst="rect">
            <a:avLst/>
          </a:prstGeom>
          <a:solidFill>
            <a:srgbClr val="FFFFFF"/>
          </a:solidFill>
          <a:ln w="12700">
            <a:solidFill>
              <a:srgbClr val="D8D8D8"/>
            </a:solidFill>
            <a:prstDash val="solid"/>
          </a:ln>
        </p:spPr>
      </p:sp>
      <p:pic>
        <p:nvPicPr>
          <p:cNvPr id="43" name="Image 3" descr="preencoded.png">    </p:cNvPr>
          <p:cNvPicPr>
            <a:picLocks noChangeAspect="1"/>
          </p:cNvPicPr>
          <p:nvPr/>
        </p:nvPicPr>
        <p:blipFill>
          <a:blip r:embed="rId4"/>
          <a:stretch>
            <a:fillRect/>
          </a:stretch>
        </p:blipFill>
        <p:spPr>
          <a:xfrm>
            <a:off x="1115568" y="6035040"/>
            <a:ext cx="786384" cy="865022"/>
          </a:xfrm>
          <a:prstGeom prst="rect">
            <a:avLst/>
          </a:prstGeom>
        </p:spPr>
      </p:pic>
      <p:sp>
        <p:nvSpPr>
          <p:cNvPr id="44" name="Text 38"/>
          <p:cNvSpPr/>
          <p:nvPr/>
        </p:nvSpPr>
        <p:spPr>
          <a:xfrm>
            <a:off x="457200" y="6967728"/>
            <a:ext cx="2103120" cy="164592"/>
          </a:xfrm>
          <a:prstGeom prst="rect">
            <a:avLst/>
          </a:prstGeom>
          <a:noFill/>
          <a:ln/>
        </p:spPr>
        <p:txBody>
          <a:bodyPr wrap="square" lIns="0" tIns="0" rIns="0" bIns="0" rtlCol="0" anchor="ctr"/>
          <a:lstStyle/>
          <a:p>
            <a:pPr algn="ctr" indent="0" marL="0">
              <a:buNone/>
            </a:pPr>
            <a:r>
              <a:rPr lang="en-US" sz="760" i="1" dirty="0">
                <a:solidFill>
                  <a:srgbClr val="7F7F7F"/>
                </a:solidFill>
                <a:latin typeface="Arial" pitchFamily="34" charset="0"/>
                <a:ea typeface="Arial" pitchFamily="34" charset="-122"/>
                <a:cs typeface="Arial" pitchFamily="34" charset="-120"/>
              </a:rPr>
              <a:t>Pennant</a:t>
            </a:r>
            <a:endParaRPr lang="en-US" sz="760" dirty="0"/>
          </a:p>
        </p:txBody>
      </p:sp>
      <p:sp>
        <p:nvSpPr>
          <p:cNvPr id="45" name="Shape 39"/>
          <p:cNvSpPr/>
          <p:nvPr/>
        </p:nvSpPr>
        <p:spPr>
          <a:xfrm>
            <a:off x="2688336" y="5888736"/>
            <a:ext cx="4416552" cy="1371600"/>
          </a:xfrm>
          <a:prstGeom prst="rect">
            <a:avLst/>
          </a:prstGeom>
          <a:solidFill>
            <a:srgbClr val="FFFFFF"/>
          </a:solidFill>
          <a:ln w="12700">
            <a:solidFill>
              <a:srgbClr val="D8D8D8"/>
            </a:solidFill>
            <a:prstDash val="solid"/>
          </a:ln>
        </p:spPr>
      </p:sp>
      <p:pic>
        <p:nvPicPr>
          <p:cNvPr id="46" name="Image 4" descr="preencoded.png">    </p:cNvPr>
          <p:cNvPicPr>
            <a:picLocks noChangeAspect="1"/>
          </p:cNvPicPr>
          <p:nvPr/>
        </p:nvPicPr>
        <p:blipFill>
          <a:blip r:embed="rId5"/>
          <a:stretch>
            <a:fillRect/>
          </a:stretch>
        </p:blipFill>
        <p:spPr>
          <a:xfrm>
            <a:off x="2889504" y="6053328"/>
            <a:ext cx="4023360" cy="402336"/>
          </a:xfrm>
          <a:prstGeom prst="rect">
            <a:avLst/>
          </a:prstGeom>
        </p:spPr>
      </p:pic>
      <p:pic>
        <p:nvPicPr>
          <p:cNvPr id="47" name="Image 5" descr="preencoded.png">    </p:cNvPr>
          <p:cNvPicPr>
            <a:picLocks noChangeAspect="1"/>
          </p:cNvPicPr>
          <p:nvPr/>
        </p:nvPicPr>
        <p:blipFill>
          <a:blip r:embed="rId6"/>
          <a:stretch>
            <a:fillRect/>
          </a:stretch>
        </p:blipFill>
        <p:spPr>
          <a:xfrm>
            <a:off x="2889504" y="6510528"/>
            <a:ext cx="4023360" cy="301752"/>
          </a:xfrm>
          <a:prstGeom prst="rect">
            <a:avLst/>
          </a:prstGeom>
        </p:spPr>
      </p:pic>
      <p:sp>
        <p:nvSpPr>
          <p:cNvPr id="48" name="Text 40"/>
          <p:cNvSpPr/>
          <p:nvPr/>
        </p:nvSpPr>
        <p:spPr>
          <a:xfrm>
            <a:off x="2889504" y="6912864"/>
            <a:ext cx="4014216" cy="256032"/>
          </a:xfrm>
          <a:prstGeom prst="rect">
            <a:avLst/>
          </a:prstGeom>
          <a:noFill/>
          <a:ln/>
        </p:spPr>
        <p:txBody>
          <a:bodyPr wrap="square" lIns="0" tIns="0" rIns="0" bIns="0" rtlCol="0" anchor="t"/>
          <a:lstStyle/>
          <a:p>
            <a:pPr algn="l" indent="0" marL="0">
              <a:buNone/>
            </a:pPr>
            <a:r>
              <a:rPr lang="en-US" sz="760" dirty="0">
                <a:solidFill>
                  <a:srgbClr val="3F3F3F"/>
                </a:solidFill>
                <a:latin typeface="Arial" pitchFamily="34" charset="0"/>
                <a:ea typeface="Arial" pitchFamily="34" charset="-122"/>
                <a:cs typeface="Arial" pitchFamily="34" charset="-120"/>
              </a:rPr>
              <a:t>Chevron rule and graduated dot rule, both from the Army element set (guidelines p61).</a:t>
            </a:r>
            <a:endParaRPr lang="en-US" sz="760" dirty="0"/>
          </a:p>
        </p:txBody>
      </p:sp>
      <p:sp>
        <p:nvSpPr>
          <p:cNvPr id="49" name="Text 41"/>
          <p:cNvSpPr/>
          <p:nvPr/>
        </p:nvSpPr>
        <p:spPr>
          <a:xfrm>
            <a:off x="457200" y="7370064"/>
            <a:ext cx="6647688" cy="182880"/>
          </a:xfrm>
          <a:prstGeom prst="rect">
            <a:avLst/>
          </a:prstGeom>
          <a:noFill/>
          <a:ln/>
        </p:spPr>
        <p:txBody>
          <a:bodyPr wrap="square" lIns="0" tIns="0" rIns="0" bIns="0" rtlCol="0" anchor="ctr"/>
          <a:lstStyle/>
          <a:p>
            <a:pPr algn="l" indent="0" marL="0">
              <a:buNone/>
            </a:pPr>
            <a:r>
              <a:rPr lang="en-US" sz="800" b="1" spc="160" kern="0" dirty="0">
                <a:solidFill>
                  <a:srgbClr val="000000"/>
                </a:solidFill>
                <a:latin typeface="Arial" pitchFamily="34" charset="0"/>
                <a:ea typeface="Arial" pitchFamily="34" charset="-122"/>
                <a:cs typeface="Arial" pitchFamily="34" charset="-120"/>
              </a:rPr>
              <a:t>COLOUR  —  AS PUBLISHED, NOT AS PREVIOUSLY USED</a:t>
            </a:r>
            <a:endParaRPr lang="en-US" sz="800" dirty="0"/>
          </a:p>
        </p:txBody>
      </p:sp>
      <p:sp>
        <p:nvSpPr>
          <p:cNvPr id="50" name="Shape 42"/>
          <p:cNvSpPr/>
          <p:nvPr/>
        </p:nvSpPr>
        <p:spPr>
          <a:xfrm>
            <a:off x="457200" y="7552944"/>
            <a:ext cx="6647688" cy="7315"/>
          </a:xfrm>
          <a:prstGeom prst="rect">
            <a:avLst/>
          </a:prstGeom>
          <a:solidFill>
            <a:srgbClr val="D8D8D8"/>
          </a:solidFill>
          <a:ln/>
        </p:spPr>
      </p:sp>
      <p:sp>
        <p:nvSpPr>
          <p:cNvPr id="51" name="Shape 43"/>
          <p:cNvSpPr/>
          <p:nvPr/>
        </p:nvSpPr>
        <p:spPr>
          <a:xfrm>
            <a:off x="457200" y="7680960"/>
            <a:ext cx="886968" cy="786384"/>
          </a:xfrm>
          <a:prstGeom prst="rect">
            <a:avLst/>
          </a:prstGeom>
          <a:solidFill>
            <a:srgbClr val="000000"/>
          </a:solidFill>
          <a:ln/>
        </p:spPr>
      </p:sp>
      <p:sp>
        <p:nvSpPr>
          <p:cNvPr id="52" name="Text 44"/>
          <p:cNvSpPr/>
          <p:nvPr/>
        </p:nvSpPr>
        <p:spPr>
          <a:xfrm>
            <a:off x="512064" y="7735824"/>
            <a:ext cx="777240" cy="164592"/>
          </a:xfrm>
          <a:prstGeom prst="rect">
            <a:avLst/>
          </a:prstGeom>
          <a:noFill/>
          <a:ln/>
        </p:spPr>
        <p:txBody>
          <a:bodyPr wrap="square" lIns="0" tIns="0" rIns="0" bIns="0" rtlCol="0" anchor="ctr"/>
          <a:lstStyle/>
          <a:p>
            <a:pPr algn="l" indent="0" marL="0">
              <a:buNone/>
            </a:pPr>
            <a:r>
              <a:rPr lang="en-US" sz="700" b="1" dirty="0">
                <a:solidFill>
                  <a:srgbClr val="FFFFFF"/>
                </a:solidFill>
                <a:latin typeface="Arial" pitchFamily="34" charset="0"/>
                <a:ea typeface="Arial" pitchFamily="34" charset="-122"/>
                <a:cs typeface="Arial" pitchFamily="34" charset="-120"/>
              </a:rPr>
              <a:t>Black</a:t>
            </a:r>
            <a:endParaRPr lang="en-US" sz="700" dirty="0"/>
          </a:p>
        </p:txBody>
      </p:sp>
      <p:sp>
        <p:nvSpPr>
          <p:cNvPr id="53" name="Text 45"/>
          <p:cNvSpPr/>
          <p:nvPr/>
        </p:nvSpPr>
        <p:spPr>
          <a:xfrm>
            <a:off x="512064" y="8229600"/>
            <a:ext cx="777240" cy="164592"/>
          </a:xfrm>
          <a:prstGeom prst="rect">
            <a:avLst/>
          </a:prstGeom>
          <a:noFill/>
          <a:ln/>
        </p:spPr>
        <p:txBody>
          <a:bodyPr wrap="square" lIns="0" tIns="0" rIns="0" bIns="0" rtlCol="0" anchor="ctr"/>
          <a:lstStyle/>
          <a:p>
            <a:pPr algn="l" indent="0" marL="0">
              <a:buNone/>
            </a:pPr>
            <a:r>
              <a:rPr lang="en-US" sz="600" dirty="0">
                <a:solidFill>
                  <a:srgbClr val="FFFFFF"/>
                </a:solidFill>
                <a:latin typeface="Arial" pitchFamily="34" charset="0"/>
                <a:ea typeface="Arial" pitchFamily="34" charset="-122"/>
                <a:cs typeface="Arial" pitchFamily="34" charset="-120"/>
              </a:rPr>
              <a:t>#000000</a:t>
            </a:r>
            <a:endParaRPr lang="en-US" sz="600" dirty="0"/>
          </a:p>
        </p:txBody>
      </p:sp>
      <p:sp>
        <p:nvSpPr>
          <p:cNvPr id="54" name="Text 46"/>
          <p:cNvSpPr/>
          <p:nvPr/>
        </p:nvSpPr>
        <p:spPr>
          <a:xfrm>
            <a:off x="457200" y="8485632"/>
            <a:ext cx="886968" cy="146304"/>
          </a:xfrm>
          <a:prstGeom prst="rect">
            <a:avLst/>
          </a:prstGeom>
          <a:noFill/>
          <a:ln/>
        </p:spPr>
        <p:txBody>
          <a:bodyPr wrap="square" lIns="0" tIns="0" rIns="0" bIns="0" rtlCol="0" anchor="ctr"/>
          <a:lstStyle/>
          <a:p>
            <a:pPr algn="l" indent="0" marL="0">
              <a:buNone/>
            </a:pPr>
            <a:r>
              <a:rPr lang="en-US" sz="580" dirty="0">
                <a:solidFill>
                  <a:srgbClr val="7F7F7F"/>
                </a:solidFill>
                <a:latin typeface="Arial" pitchFamily="34" charset="0"/>
                <a:ea typeface="Arial" pitchFamily="34" charset="-122"/>
                <a:cs typeface="Arial" pitchFamily="34" charset="-120"/>
              </a:rPr>
              <a:t>0 0 0</a:t>
            </a:r>
            <a:endParaRPr lang="en-US" sz="580" dirty="0"/>
          </a:p>
        </p:txBody>
      </p:sp>
      <p:sp>
        <p:nvSpPr>
          <p:cNvPr id="55" name="Shape 47"/>
          <p:cNvSpPr/>
          <p:nvPr/>
        </p:nvSpPr>
        <p:spPr>
          <a:xfrm>
            <a:off x="1417320" y="7680960"/>
            <a:ext cx="886968" cy="786384"/>
          </a:xfrm>
          <a:prstGeom prst="rect">
            <a:avLst/>
          </a:prstGeom>
          <a:solidFill>
            <a:srgbClr val="D31145"/>
          </a:solidFill>
          <a:ln/>
        </p:spPr>
      </p:sp>
      <p:sp>
        <p:nvSpPr>
          <p:cNvPr id="56" name="Text 48"/>
          <p:cNvSpPr/>
          <p:nvPr/>
        </p:nvSpPr>
        <p:spPr>
          <a:xfrm>
            <a:off x="1472184" y="7735824"/>
            <a:ext cx="777240" cy="164592"/>
          </a:xfrm>
          <a:prstGeom prst="rect">
            <a:avLst/>
          </a:prstGeom>
          <a:noFill/>
          <a:ln/>
        </p:spPr>
        <p:txBody>
          <a:bodyPr wrap="square" lIns="0" tIns="0" rIns="0" bIns="0" rtlCol="0" anchor="ctr"/>
          <a:lstStyle/>
          <a:p>
            <a:pPr algn="l" indent="0" marL="0">
              <a:buNone/>
            </a:pPr>
            <a:r>
              <a:rPr lang="en-US" sz="700" b="1" dirty="0">
                <a:solidFill>
                  <a:srgbClr val="FFFFFF"/>
                </a:solidFill>
                <a:latin typeface="Arial" pitchFamily="34" charset="0"/>
                <a:ea typeface="Arial" pitchFamily="34" charset="-122"/>
                <a:cs typeface="Arial" pitchFamily="34" charset="-120"/>
              </a:rPr>
              <a:t>Army Red</a:t>
            </a:r>
            <a:endParaRPr lang="en-US" sz="700" dirty="0"/>
          </a:p>
        </p:txBody>
      </p:sp>
      <p:sp>
        <p:nvSpPr>
          <p:cNvPr id="57" name="Text 49"/>
          <p:cNvSpPr/>
          <p:nvPr/>
        </p:nvSpPr>
        <p:spPr>
          <a:xfrm>
            <a:off x="1472184" y="8229600"/>
            <a:ext cx="777240" cy="164592"/>
          </a:xfrm>
          <a:prstGeom prst="rect">
            <a:avLst/>
          </a:prstGeom>
          <a:noFill/>
          <a:ln/>
        </p:spPr>
        <p:txBody>
          <a:bodyPr wrap="square" lIns="0" tIns="0" rIns="0" bIns="0" rtlCol="0" anchor="ctr"/>
          <a:lstStyle/>
          <a:p>
            <a:pPr algn="l" indent="0" marL="0">
              <a:buNone/>
            </a:pPr>
            <a:r>
              <a:rPr lang="en-US" sz="600" dirty="0">
                <a:solidFill>
                  <a:srgbClr val="FFFFFF"/>
                </a:solidFill>
                <a:latin typeface="Arial" pitchFamily="34" charset="0"/>
                <a:ea typeface="Arial" pitchFamily="34" charset="-122"/>
                <a:cs typeface="Arial" pitchFamily="34" charset="-120"/>
              </a:rPr>
              <a:t>#D31145</a:t>
            </a:r>
            <a:endParaRPr lang="en-US" sz="600" dirty="0"/>
          </a:p>
        </p:txBody>
      </p:sp>
      <p:sp>
        <p:nvSpPr>
          <p:cNvPr id="58" name="Text 50"/>
          <p:cNvSpPr/>
          <p:nvPr/>
        </p:nvSpPr>
        <p:spPr>
          <a:xfrm>
            <a:off x="1417320" y="8485632"/>
            <a:ext cx="886968" cy="146304"/>
          </a:xfrm>
          <a:prstGeom prst="rect">
            <a:avLst/>
          </a:prstGeom>
          <a:noFill/>
          <a:ln/>
        </p:spPr>
        <p:txBody>
          <a:bodyPr wrap="square" lIns="0" tIns="0" rIns="0" bIns="0" rtlCol="0" anchor="ctr"/>
          <a:lstStyle/>
          <a:p>
            <a:pPr algn="l" indent="0" marL="0">
              <a:buNone/>
            </a:pPr>
            <a:r>
              <a:rPr lang="en-US" sz="580" dirty="0">
                <a:solidFill>
                  <a:srgbClr val="7F7F7F"/>
                </a:solidFill>
                <a:latin typeface="Arial" pitchFamily="34" charset="0"/>
                <a:ea typeface="Arial" pitchFamily="34" charset="-122"/>
                <a:cs typeface="Arial" pitchFamily="34" charset="-120"/>
              </a:rPr>
              <a:t>211 17 69</a:t>
            </a:r>
            <a:endParaRPr lang="en-US" sz="580" dirty="0"/>
          </a:p>
        </p:txBody>
      </p:sp>
      <p:sp>
        <p:nvSpPr>
          <p:cNvPr id="59" name="Shape 51"/>
          <p:cNvSpPr/>
          <p:nvPr/>
        </p:nvSpPr>
        <p:spPr>
          <a:xfrm>
            <a:off x="2377440" y="7680960"/>
            <a:ext cx="886968" cy="786384"/>
          </a:xfrm>
          <a:prstGeom prst="rect">
            <a:avLst/>
          </a:prstGeom>
          <a:solidFill>
            <a:srgbClr val="FFFFFF"/>
          </a:solidFill>
          <a:ln w="12700">
            <a:solidFill>
              <a:srgbClr val="D8D8D8"/>
            </a:solidFill>
            <a:prstDash val="solid"/>
          </a:ln>
        </p:spPr>
      </p:sp>
      <p:sp>
        <p:nvSpPr>
          <p:cNvPr id="60" name="Text 52"/>
          <p:cNvSpPr/>
          <p:nvPr/>
        </p:nvSpPr>
        <p:spPr>
          <a:xfrm>
            <a:off x="2432304" y="7735824"/>
            <a:ext cx="777240" cy="164592"/>
          </a:xfrm>
          <a:prstGeom prst="rect">
            <a:avLst/>
          </a:prstGeom>
          <a:noFill/>
          <a:ln/>
        </p:spPr>
        <p:txBody>
          <a:bodyPr wrap="square" lIns="0" tIns="0" rIns="0" bIns="0" rtlCol="0" anchor="ctr"/>
          <a:lstStyle/>
          <a:p>
            <a:pPr algn="l" indent="0" marL="0">
              <a:buNone/>
            </a:pPr>
            <a:r>
              <a:rPr lang="en-US" sz="700" b="1" dirty="0">
                <a:solidFill>
                  <a:srgbClr val="000000"/>
                </a:solidFill>
                <a:latin typeface="Arial" pitchFamily="34" charset="0"/>
                <a:ea typeface="Arial" pitchFamily="34" charset="-122"/>
                <a:cs typeface="Arial" pitchFamily="34" charset="-120"/>
              </a:rPr>
              <a:t>White</a:t>
            </a:r>
            <a:endParaRPr lang="en-US" sz="700" dirty="0"/>
          </a:p>
        </p:txBody>
      </p:sp>
      <p:sp>
        <p:nvSpPr>
          <p:cNvPr id="61" name="Text 53"/>
          <p:cNvSpPr/>
          <p:nvPr/>
        </p:nvSpPr>
        <p:spPr>
          <a:xfrm>
            <a:off x="2432304" y="8229600"/>
            <a:ext cx="777240" cy="164592"/>
          </a:xfrm>
          <a:prstGeom prst="rect">
            <a:avLst/>
          </a:prstGeom>
          <a:noFill/>
          <a:ln/>
        </p:spPr>
        <p:txBody>
          <a:bodyPr wrap="square" lIns="0" tIns="0" rIns="0" bIns="0" rtlCol="0" anchor="ctr"/>
          <a:lstStyle/>
          <a:p>
            <a:pPr algn="l" indent="0" marL="0">
              <a:buNone/>
            </a:pPr>
            <a:r>
              <a:rPr lang="en-US" sz="600" dirty="0">
                <a:solidFill>
                  <a:srgbClr val="000000"/>
                </a:solidFill>
                <a:latin typeface="Arial" pitchFamily="34" charset="0"/>
                <a:ea typeface="Arial" pitchFamily="34" charset="-122"/>
                <a:cs typeface="Arial" pitchFamily="34" charset="-120"/>
              </a:rPr>
              <a:t>#FFFFFF</a:t>
            </a:r>
            <a:endParaRPr lang="en-US" sz="600" dirty="0"/>
          </a:p>
        </p:txBody>
      </p:sp>
      <p:sp>
        <p:nvSpPr>
          <p:cNvPr id="62" name="Text 54"/>
          <p:cNvSpPr/>
          <p:nvPr/>
        </p:nvSpPr>
        <p:spPr>
          <a:xfrm>
            <a:off x="2377440" y="8485632"/>
            <a:ext cx="886968" cy="146304"/>
          </a:xfrm>
          <a:prstGeom prst="rect">
            <a:avLst/>
          </a:prstGeom>
          <a:noFill/>
          <a:ln/>
        </p:spPr>
        <p:txBody>
          <a:bodyPr wrap="square" lIns="0" tIns="0" rIns="0" bIns="0" rtlCol="0" anchor="ctr"/>
          <a:lstStyle/>
          <a:p>
            <a:pPr algn="l" indent="0" marL="0">
              <a:buNone/>
            </a:pPr>
            <a:r>
              <a:rPr lang="en-US" sz="580" dirty="0">
                <a:solidFill>
                  <a:srgbClr val="7F7F7F"/>
                </a:solidFill>
                <a:latin typeface="Arial" pitchFamily="34" charset="0"/>
                <a:ea typeface="Arial" pitchFamily="34" charset="-122"/>
                <a:cs typeface="Arial" pitchFamily="34" charset="-120"/>
              </a:rPr>
              <a:t>255 255 255</a:t>
            </a:r>
            <a:endParaRPr lang="en-US" sz="580" dirty="0"/>
          </a:p>
        </p:txBody>
      </p:sp>
      <p:sp>
        <p:nvSpPr>
          <p:cNvPr id="63" name="Shape 55"/>
          <p:cNvSpPr/>
          <p:nvPr/>
        </p:nvSpPr>
        <p:spPr>
          <a:xfrm>
            <a:off x="3337560" y="7680960"/>
            <a:ext cx="886968" cy="786384"/>
          </a:xfrm>
          <a:prstGeom prst="rect">
            <a:avLst/>
          </a:prstGeom>
          <a:solidFill>
            <a:srgbClr val="DFD8AD"/>
          </a:solidFill>
          <a:ln/>
        </p:spPr>
      </p:sp>
      <p:sp>
        <p:nvSpPr>
          <p:cNvPr id="64" name="Text 56"/>
          <p:cNvSpPr/>
          <p:nvPr/>
        </p:nvSpPr>
        <p:spPr>
          <a:xfrm>
            <a:off x="3392424" y="7735824"/>
            <a:ext cx="777240" cy="164592"/>
          </a:xfrm>
          <a:prstGeom prst="rect">
            <a:avLst/>
          </a:prstGeom>
          <a:noFill/>
          <a:ln/>
        </p:spPr>
        <p:txBody>
          <a:bodyPr wrap="square" lIns="0" tIns="0" rIns="0" bIns="0" rtlCol="0" anchor="ctr"/>
          <a:lstStyle/>
          <a:p>
            <a:pPr algn="l" indent="0" marL="0">
              <a:buNone/>
            </a:pPr>
            <a:r>
              <a:rPr lang="en-US" sz="700" b="1" dirty="0">
                <a:solidFill>
                  <a:srgbClr val="000000"/>
                </a:solidFill>
                <a:latin typeface="Arial" pitchFamily="34" charset="0"/>
                <a:ea typeface="Arial" pitchFamily="34" charset="-122"/>
                <a:cs typeface="Arial" pitchFamily="34" charset="-120"/>
              </a:rPr>
              <a:t>5855 C</a:t>
            </a:r>
            <a:endParaRPr lang="en-US" sz="700" dirty="0"/>
          </a:p>
        </p:txBody>
      </p:sp>
      <p:sp>
        <p:nvSpPr>
          <p:cNvPr id="65" name="Text 57"/>
          <p:cNvSpPr/>
          <p:nvPr/>
        </p:nvSpPr>
        <p:spPr>
          <a:xfrm>
            <a:off x="3392424" y="8229600"/>
            <a:ext cx="777240" cy="164592"/>
          </a:xfrm>
          <a:prstGeom prst="rect">
            <a:avLst/>
          </a:prstGeom>
          <a:noFill/>
          <a:ln/>
        </p:spPr>
        <p:txBody>
          <a:bodyPr wrap="square" lIns="0" tIns="0" rIns="0" bIns="0" rtlCol="0" anchor="ctr"/>
          <a:lstStyle/>
          <a:p>
            <a:pPr algn="l" indent="0" marL="0">
              <a:buNone/>
            </a:pPr>
            <a:r>
              <a:rPr lang="en-US" sz="600" dirty="0">
                <a:solidFill>
                  <a:srgbClr val="000000"/>
                </a:solidFill>
                <a:latin typeface="Arial" pitchFamily="34" charset="0"/>
                <a:ea typeface="Arial" pitchFamily="34" charset="-122"/>
                <a:cs typeface="Arial" pitchFamily="34" charset="-120"/>
              </a:rPr>
              <a:t>#DFD8AD</a:t>
            </a:r>
            <a:endParaRPr lang="en-US" sz="600" dirty="0"/>
          </a:p>
        </p:txBody>
      </p:sp>
      <p:sp>
        <p:nvSpPr>
          <p:cNvPr id="66" name="Text 58"/>
          <p:cNvSpPr/>
          <p:nvPr/>
        </p:nvSpPr>
        <p:spPr>
          <a:xfrm>
            <a:off x="3337560" y="8485632"/>
            <a:ext cx="886968" cy="146304"/>
          </a:xfrm>
          <a:prstGeom prst="rect">
            <a:avLst/>
          </a:prstGeom>
          <a:noFill/>
          <a:ln/>
        </p:spPr>
        <p:txBody>
          <a:bodyPr wrap="square" lIns="0" tIns="0" rIns="0" bIns="0" rtlCol="0" anchor="ctr"/>
          <a:lstStyle/>
          <a:p>
            <a:pPr algn="l" indent="0" marL="0">
              <a:buNone/>
            </a:pPr>
            <a:r>
              <a:rPr lang="en-US" sz="580" dirty="0">
                <a:solidFill>
                  <a:srgbClr val="7F7F7F"/>
                </a:solidFill>
                <a:latin typeface="Arial" pitchFamily="34" charset="0"/>
                <a:ea typeface="Arial" pitchFamily="34" charset="-122"/>
                <a:cs typeface="Arial" pitchFamily="34" charset="-120"/>
              </a:rPr>
              <a:t>223 216 173</a:t>
            </a:r>
            <a:endParaRPr lang="en-US" sz="580" dirty="0"/>
          </a:p>
        </p:txBody>
      </p:sp>
      <p:sp>
        <p:nvSpPr>
          <p:cNvPr id="67" name="Shape 59"/>
          <p:cNvSpPr/>
          <p:nvPr/>
        </p:nvSpPr>
        <p:spPr>
          <a:xfrm>
            <a:off x="4297680" y="7680960"/>
            <a:ext cx="886968" cy="786384"/>
          </a:xfrm>
          <a:prstGeom prst="rect">
            <a:avLst/>
          </a:prstGeom>
          <a:solidFill>
            <a:srgbClr val="B3A650"/>
          </a:solidFill>
          <a:ln/>
        </p:spPr>
      </p:sp>
      <p:sp>
        <p:nvSpPr>
          <p:cNvPr id="68" name="Text 60"/>
          <p:cNvSpPr/>
          <p:nvPr/>
        </p:nvSpPr>
        <p:spPr>
          <a:xfrm>
            <a:off x="4352544" y="7735824"/>
            <a:ext cx="777240" cy="164592"/>
          </a:xfrm>
          <a:prstGeom prst="rect">
            <a:avLst/>
          </a:prstGeom>
          <a:noFill/>
          <a:ln/>
        </p:spPr>
        <p:txBody>
          <a:bodyPr wrap="square" lIns="0" tIns="0" rIns="0" bIns="0" rtlCol="0" anchor="ctr"/>
          <a:lstStyle/>
          <a:p>
            <a:pPr algn="l" indent="0" marL="0">
              <a:buNone/>
            </a:pPr>
            <a:r>
              <a:rPr lang="en-US" sz="700" b="1" dirty="0">
                <a:solidFill>
                  <a:srgbClr val="000000"/>
                </a:solidFill>
                <a:latin typeface="Arial" pitchFamily="34" charset="0"/>
                <a:ea typeface="Arial" pitchFamily="34" charset="-122"/>
                <a:cs typeface="Arial" pitchFamily="34" charset="-120"/>
              </a:rPr>
              <a:t>5853 C</a:t>
            </a:r>
            <a:endParaRPr lang="en-US" sz="700" dirty="0"/>
          </a:p>
        </p:txBody>
      </p:sp>
      <p:sp>
        <p:nvSpPr>
          <p:cNvPr id="69" name="Text 61"/>
          <p:cNvSpPr/>
          <p:nvPr/>
        </p:nvSpPr>
        <p:spPr>
          <a:xfrm>
            <a:off x="4352544" y="8229600"/>
            <a:ext cx="777240" cy="164592"/>
          </a:xfrm>
          <a:prstGeom prst="rect">
            <a:avLst/>
          </a:prstGeom>
          <a:noFill/>
          <a:ln/>
        </p:spPr>
        <p:txBody>
          <a:bodyPr wrap="square" lIns="0" tIns="0" rIns="0" bIns="0" rtlCol="0" anchor="ctr"/>
          <a:lstStyle/>
          <a:p>
            <a:pPr algn="l" indent="0" marL="0">
              <a:buNone/>
            </a:pPr>
            <a:r>
              <a:rPr lang="en-US" sz="600" dirty="0">
                <a:solidFill>
                  <a:srgbClr val="000000"/>
                </a:solidFill>
                <a:latin typeface="Arial" pitchFamily="34" charset="0"/>
                <a:ea typeface="Arial" pitchFamily="34" charset="-122"/>
                <a:cs typeface="Arial" pitchFamily="34" charset="-120"/>
              </a:rPr>
              <a:t>#B3A650</a:t>
            </a:r>
            <a:endParaRPr lang="en-US" sz="600" dirty="0"/>
          </a:p>
        </p:txBody>
      </p:sp>
      <p:sp>
        <p:nvSpPr>
          <p:cNvPr id="70" name="Text 62"/>
          <p:cNvSpPr/>
          <p:nvPr/>
        </p:nvSpPr>
        <p:spPr>
          <a:xfrm>
            <a:off x="4297680" y="8485632"/>
            <a:ext cx="886968" cy="146304"/>
          </a:xfrm>
          <a:prstGeom prst="rect">
            <a:avLst/>
          </a:prstGeom>
          <a:noFill/>
          <a:ln/>
        </p:spPr>
        <p:txBody>
          <a:bodyPr wrap="square" lIns="0" tIns="0" rIns="0" bIns="0" rtlCol="0" anchor="ctr"/>
          <a:lstStyle/>
          <a:p>
            <a:pPr algn="l" indent="0" marL="0">
              <a:buNone/>
            </a:pPr>
            <a:r>
              <a:rPr lang="en-US" sz="580" dirty="0">
                <a:solidFill>
                  <a:srgbClr val="7F7F7F"/>
                </a:solidFill>
                <a:latin typeface="Arial" pitchFamily="34" charset="0"/>
                <a:ea typeface="Arial" pitchFamily="34" charset="-122"/>
                <a:cs typeface="Arial" pitchFamily="34" charset="-120"/>
              </a:rPr>
              <a:t>179 166 80</a:t>
            </a:r>
            <a:endParaRPr lang="en-US" sz="580" dirty="0"/>
          </a:p>
        </p:txBody>
      </p:sp>
      <p:sp>
        <p:nvSpPr>
          <p:cNvPr id="71" name="Shape 63"/>
          <p:cNvSpPr/>
          <p:nvPr/>
        </p:nvSpPr>
        <p:spPr>
          <a:xfrm>
            <a:off x="5257800" y="7680960"/>
            <a:ext cx="886968" cy="786384"/>
          </a:xfrm>
          <a:prstGeom prst="rect">
            <a:avLst/>
          </a:prstGeom>
          <a:solidFill>
            <a:srgbClr val="444D06"/>
          </a:solidFill>
          <a:ln/>
        </p:spPr>
      </p:sp>
      <p:sp>
        <p:nvSpPr>
          <p:cNvPr id="72" name="Text 64"/>
          <p:cNvSpPr/>
          <p:nvPr/>
        </p:nvSpPr>
        <p:spPr>
          <a:xfrm>
            <a:off x="5312664" y="7735824"/>
            <a:ext cx="777240" cy="164592"/>
          </a:xfrm>
          <a:prstGeom prst="rect">
            <a:avLst/>
          </a:prstGeom>
          <a:noFill/>
          <a:ln/>
        </p:spPr>
        <p:txBody>
          <a:bodyPr wrap="square" lIns="0" tIns="0" rIns="0" bIns="0" rtlCol="0" anchor="ctr"/>
          <a:lstStyle/>
          <a:p>
            <a:pPr algn="l" indent="0" marL="0">
              <a:buNone/>
            </a:pPr>
            <a:r>
              <a:rPr lang="en-US" sz="700" b="1" dirty="0">
                <a:solidFill>
                  <a:srgbClr val="FFFFFF"/>
                </a:solidFill>
                <a:latin typeface="Arial" pitchFamily="34" charset="0"/>
                <a:ea typeface="Arial" pitchFamily="34" charset="-122"/>
                <a:cs typeface="Arial" pitchFamily="34" charset="-120"/>
              </a:rPr>
              <a:t>5747 C</a:t>
            </a:r>
            <a:endParaRPr lang="en-US" sz="700" dirty="0"/>
          </a:p>
        </p:txBody>
      </p:sp>
      <p:sp>
        <p:nvSpPr>
          <p:cNvPr id="73" name="Text 65"/>
          <p:cNvSpPr/>
          <p:nvPr/>
        </p:nvSpPr>
        <p:spPr>
          <a:xfrm>
            <a:off x="5312664" y="8229600"/>
            <a:ext cx="777240" cy="164592"/>
          </a:xfrm>
          <a:prstGeom prst="rect">
            <a:avLst/>
          </a:prstGeom>
          <a:noFill/>
          <a:ln/>
        </p:spPr>
        <p:txBody>
          <a:bodyPr wrap="square" lIns="0" tIns="0" rIns="0" bIns="0" rtlCol="0" anchor="ctr"/>
          <a:lstStyle/>
          <a:p>
            <a:pPr algn="l" indent="0" marL="0">
              <a:buNone/>
            </a:pPr>
            <a:r>
              <a:rPr lang="en-US" sz="600" dirty="0">
                <a:solidFill>
                  <a:srgbClr val="FFFFFF"/>
                </a:solidFill>
                <a:latin typeface="Arial" pitchFamily="34" charset="0"/>
                <a:ea typeface="Arial" pitchFamily="34" charset="-122"/>
                <a:cs typeface="Arial" pitchFamily="34" charset="-120"/>
              </a:rPr>
              <a:t>#444D06</a:t>
            </a:r>
            <a:endParaRPr lang="en-US" sz="600" dirty="0"/>
          </a:p>
        </p:txBody>
      </p:sp>
      <p:sp>
        <p:nvSpPr>
          <p:cNvPr id="74" name="Text 66"/>
          <p:cNvSpPr/>
          <p:nvPr/>
        </p:nvSpPr>
        <p:spPr>
          <a:xfrm>
            <a:off x="5257800" y="8485632"/>
            <a:ext cx="886968" cy="146304"/>
          </a:xfrm>
          <a:prstGeom prst="rect">
            <a:avLst/>
          </a:prstGeom>
          <a:noFill/>
          <a:ln/>
        </p:spPr>
        <p:txBody>
          <a:bodyPr wrap="square" lIns="0" tIns="0" rIns="0" bIns="0" rtlCol="0" anchor="ctr"/>
          <a:lstStyle/>
          <a:p>
            <a:pPr algn="l" indent="0" marL="0">
              <a:buNone/>
            </a:pPr>
            <a:r>
              <a:rPr lang="en-US" sz="580" dirty="0">
                <a:solidFill>
                  <a:srgbClr val="7F7F7F"/>
                </a:solidFill>
                <a:latin typeface="Arial" pitchFamily="34" charset="0"/>
                <a:ea typeface="Arial" pitchFamily="34" charset="-122"/>
                <a:cs typeface="Arial" pitchFamily="34" charset="-120"/>
              </a:rPr>
              <a:t>68 77 6</a:t>
            </a:r>
            <a:endParaRPr lang="en-US" sz="580" dirty="0"/>
          </a:p>
        </p:txBody>
      </p:sp>
      <p:sp>
        <p:nvSpPr>
          <p:cNvPr id="75" name="Shape 67"/>
          <p:cNvSpPr/>
          <p:nvPr/>
        </p:nvSpPr>
        <p:spPr>
          <a:xfrm>
            <a:off x="6217920" y="7680960"/>
            <a:ext cx="886968" cy="786384"/>
          </a:xfrm>
          <a:prstGeom prst="rect">
            <a:avLst/>
          </a:prstGeom>
          <a:solidFill>
            <a:srgbClr val="00261B"/>
          </a:solidFill>
          <a:ln/>
        </p:spPr>
      </p:sp>
      <p:sp>
        <p:nvSpPr>
          <p:cNvPr id="76" name="Text 68"/>
          <p:cNvSpPr/>
          <p:nvPr/>
        </p:nvSpPr>
        <p:spPr>
          <a:xfrm>
            <a:off x="6272784" y="7735824"/>
            <a:ext cx="777240" cy="164592"/>
          </a:xfrm>
          <a:prstGeom prst="rect">
            <a:avLst/>
          </a:prstGeom>
          <a:noFill/>
          <a:ln/>
        </p:spPr>
        <p:txBody>
          <a:bodyPr wrap="square" lIns="0" tIns="0" rIns="0" bIns="0" rtlCol="0" anchor="ctr"/>
          <a:lstStyle/>
          <a:p>
            <a:pPr algn="l" indent="0" marL="0">
              <a:buNone/>
            </a:pPr>
            <a:r>
              <a:rPr lang="en-US" sz="700" b="1" dirty="0">
                <a:solidFill>
                  <a:srgbClr val="FFFFFF"/>
                </a:solidFill>
                <a:latin typeface="Arial" pitchFamily="34" charset="0"/>
                <a:ea typeface="Arial" pitchFamily="34" charset="-122"/>
                <a:cs typeface="Arial" pitchFamily="34" charset="-120"/>
              </a:rPr>
              <a:t>5605 C</a:t>
            </a:r>
            <a:endParaRPr lang="en-US" sz="700" dirty="0"/>
          </a:p>
        </p:txBody>
      </p:sp>
      <p:sp>
        <p:nvSpPr>
          <p:cNvPr id="77" name="Text 69"/>
          <p:cNvSpPr/>
          <p:nvPr/>
        </p:nvSpPr>
        <p:spPr>
          <a:xfrm>
            <a:off x="6272784" y="8229600"/>
            <a:ext cx="777240" cy="164592"/>
          </a:xfrm>
          <a:prstGeom prst="rect">
            <a:avLst/>
          </a:prstGeom>
          <a:noFill/>
          <a:ln/>
        </p:spPr>
        <p:txBody>
          <a:bodyPr wrap="square" lIns="0" tIns="0" rIns="0" bIns="0" rtlCol="0" anchor="ctr"/>
          <a:lstStyle/>
          <a:p>
            <a:pPr algn="l" indent="0" marL="0">
              <a:buNone/>
            </a:pPr>
            <a:r>
              <a:rPr lang="en-US" sz="600" dirty="0">
                <a:solidFill>
                  <a:srgbClr val="FFFFFF"/>
                </a:solidFill>
                <a:latin typeface="Arial" pitchFamily="34" charset="0"/>
                <a:ea typeface="Arial" pitchFamily="34" charset="-122"/>
                <a:cs typeface="Arial" pitchFamily="34" charset="-120"/>
              </a:rPr>
              <a:t>#00261B</a:t>
            </a:r>
            <a:endParaRPr lang="en-US" sz="600" dirty="0"/>
          </a:p>
        </p:txBody>
      </p:sp>
      <p:sp>
        <p:nvSpPr>
          <p:cNvPr id="78" name="Text 70"/>
          <p:cNvSpPr/>
          <p:nvPr/>
        </p:nvSpPr>
        <p:spPr>
          <a:xfrm>
            <a:off x="6217920" y="8485632"/>
            <a:ext cx="886968" cy="146304"/>
          </a:xfrm>
          <a:prstGeom prst="rect">
            <a:avLst/>
          </a:prstGeom>
          <a:noFill/>
          <a:ln/>
        </p:spPr>
        <p:txBody>
          <a:bodyPr wrap="square" lIns="0" tIns="0" rIns="0" bIns="0" rtlCol="0" anchor="ctr"/>
          <a:lstStyle/>
          <a:p>
            <a:pPr algn="l" indent="0" marL="0">
              <a:buNone/>
            </a:pPr>
            <a:r>
              <a:rPr lang="en-US" sz="580" dirty="0">
                <a:solidFill>
                  <a:srgbClr val="7F7F7F"/>
                </a:solidFill>
                <a:latin typeface="Arial" pitchFamily="34" charset="0"/>
                <a:ea typeface="Arial" pitchFamily="34" charset="-122"/>
                <a:cs typeface="Arial" pitchFamily="34" charset="-120"/>
              </a:rPr>
              <a:t>0 38 27</a:t>
            </a:r>
            <a:endParaRPr lang="en-US" sz="580" dirty="0"/>
          </a:p>
        </p:txBody>
      </p:sp>
      <p:sp>
        <p:nvSpPr>
          <p:cNvPr id="79" name="Text 71"/>
          <p:cNvSpPr/>
          <p:nvPr/>
        </p:nvSpPr>
        <p:spPr>
          <a:xfrm>
            <a:off x="457200" y="8686800"/>
            <a:ext cx="6647688" cy="274320"/>
          </a:xfrm>
          <a:prstGeom prst="rect">
            <a:avLst/>
          </a:prstGeom>
          <a:noFill/>
          <a:ln/>
        </p:spPr>
        <p:txBody>
          <a:bodyPr wrap="square" lIns="0" tIns="0" rIns="0" bIns="0" rtlCol="0" anchor="t"/>
          <a:lstStyle/>
          <a:p>
            <a:pPr algn="l" indent="0" marL="0">
              <a:lnSpc>
                <a:spcPct val="112000"/>
              </a:lnSpc>
              <a:buNone/>
            </a:pPr>
            <a:r>
              <a:rPr lang="en-US" sz="780" dirty="0">
                <a:solidFill>
                  <a:srgbClr val="3F3F3F"/>
                </a:solidFill>
                <a:latin typeface="Arial" pitchFamily="34" charset="0"/>
                <a:ea typeface="Arial" pitchFamily="34" charset="-122"/>
                <a:cs typeface="Arial" pitchFamily="34" charset="-120"/>
              </a:rPr>
              <a:t>Correction. Earlier Combat Mindset material used red C62026 and four approximated greens. The published Army values are above; the red in particular is materially different and should be replaced everywhere.</a:t>
            </a:r>
            <a:endParaRPr lang="en-US" sz="780" dirty="0"/>
          </a:p>
        </p:txBody>
      </p:sp>
      <p:sp>
        <p:nvSpPr>
          <p:cNvPr id="80" name="Text 72"/>
          <p:cNvSpPr/>
          <p:nvPr/>
        </p:nvSpPr>
        <p:spPr>
          <a:xfrm>
            <a:off x="457200" y="9052560"/>
            <a:ext cx="6647688" cy="182880"/>
          </a:xfrm>
          <a:prstGeom prst="rect">
            <a:avLst/>
          </a:prstGeom>
          <a:noFill/>
          <a:ln/>
        </p:spPr>
        <p:txBody>
          <a:bodyPr wrap="square" lIns="0" tIns="0" rIns="0" bIns="0" rtlCol="0" anchor="ctr"/>
          <a:lstStyle/>
          <a:p>
            <a:pPr algn="l" indent="0" marL="0">
              <a:buNone/>
            </a:pPr>
            <a:r>
              <a:rPr lang="en-US" sz="800" b="1" spc="160" kern="0" dirty="0">
                <a:solidFill>
                  <a:srgbClr val="000000"/>
                </a:solidFill>
                <a:latin typeface="Arial" pitchFamily="34" charset="0"/>
                <a:ea typeface="Arial" pitchFamily="34" charset="-122"/>
                <a:cs typeface="Arial" pitchFamily="34" charset="-120"/>
              </a:rPr>
              <a:t>TYPE</a:t>
            </a:r>
            <a:endParaRPr lang="en-US" sz="800" dirty="0"/>
          </a:p>
        </p:txBody>
      </p:sp>
      <p:sp>
        <p:nvSpPr>
          <p:cNvPr id="81" name="Shape 73"/>
          <p:cNvSpPr/>
          <p:nvPr/>
        </p:nvSpPr>
        <p:spPr>
          <a:xfrm>
            <a:off x="457200" y="9235440"/>
            <a:ext cx="6647688" cy="7315"/>
          </a:xfrm>
          <a:prstGeom prst="rect">
            <a:avLst/>
          </a:prstGeom>
          <a:solidFill>
            <a:srgbClr val="D8D8D8"/>
          </a:solidFill>
          <a:ln/>
        </p:spPr>
      </p:sp>
      <p:sp>
        <p:nvSpPr>
          <p:cNvPr id="82" name="Shape 74"/>
          <p:cNvSpPr/>
          <p:nvPr/>
        </p:nvSpPr>
        <p:spPr>
          <a:xfrm>
            <a:off x="457200" y="9363456"/>
            <a:ext cx="6647688" cy="786384"/>
          </a:xfrm>
          <a:prstGeom prst="rect">
            <a:avLst/>
          </a:prstGeom>
          <a:solidFill>
            <a:srgbClr val="F4F4F2"/>
          </a:solidFill>
          <a:ln/>
        </p:spPr>
      </p:sp>
      <p:sp>
        <p:nvSpPr>
          <p:cNvPr id="83" name="Text 75"/>
          <p:cNvSpPr/>
          <p:nvPr/>
        </p:nvSpPr>
        <p:spPr>
          <a:xfrm>
            <a:off x="676656" y="9454896"/>
            <a:ext cx="6208776" cy="219456"/>
          </a:xfrm>
          <a:prstGeom prst="rect">
            <a:avLst/>
          </a:prstGeom>
          <a:noFill/>
          <a:ln/>
        </p:spPr>
        <p:txBody>
          <a:bodyPr wrap="square" lIns="0" tIns="0" rIns="0" bIns="0" rtlCol="0" anchor="ctr"/>
          <a:lstStyle/>
          <a:p>
            <a:pPr algn="l" indent="0" marL="0">
              <a:buNone/>
            </a:pPr>
            <a:r>
              <a:rPr lang="en-US" sz="1200" b="1" dirty="0">
                <a:solidFill>
                  <a:srgbClr val="000000"/>
                </a:solidFill>
                <a:latin typeface="Arial" pitchFamily="34" charset="0"/>
                <a:ea typeface="Arial" pitchFamily="34" charset="-122"/>
                <a:cs typeface="Arial" pitchFamily="34" charset="-120"/>
              </a:rPr>
              <a:t>Neue Haas Grotesk</a:t>
            </a:r>
            <a:pPr algn="l" indent="0" marL="0">
              <a:buNone/>
            </a:pPr>
            <a:r>
              <a:rPr lang="en-US" sz="850" dirty="0">
                <a:solidFill>
                  <a:srgbClr val="3F3F3F"/>
                </a:solidFill>
                <a:latin typeface="Arial" pitchFamily="34" charset="0"/>
                <a:ea typeface="Arial" pitchFamily="34" charset="-122"/>
                <a:cs typeface="Arial" pitchFamily="34" charset="-120"/>
              </a:rPr>
              <a:t>   primary, all headings and the wordmark</a:t>
            </a:r>
            <a:endParaRPr lang="en-US" sz="1200" dirty="0"/>
          </a:p>
        </p:txBody>
      </p:sp>
      <p:sp>
        <p:nvSpPr>
          <p:cNvPr id="84" name="Text 76"/>
          <p:cNvSpPr/>
          <p:nvPr/>
        </p:nvSpPr>
        <p:spPr>
          <a:xfrm>
            <a:off x="676656" y="9674352"/>
            <a:ext cx="6208776" cy="219456"/>
          </a:xfrm>
          <a:prstGeom prst="rect">
            <a:avLst/>
          </a:prstGeom>
          <a:noFill/>
          <a:ln/>
        </p:spPr>
        <p:txBody>
          <a:bodyPr wrap="square" lIns="0" tIns="0" rIns="0" bIns="0" rtlCol="0" anchor="ctr"/>
          <a:lstStyle/>
          <a:p>
            <a:pPr algn="l" indent="0" marL="0">
              <a:buNone/>
            </a:pPr>
            <a:r>
              <a:rPr lang="en-US" sz="1200" b="1" dirty="0">
                <a:solidFill>
                  <a:srgbClr val="000000"/>
                </a:solidFill>
                <a:latin typeface="Arial" pitchFamily="34" charset="0"/>
                <a:ea typeface="Arial" pitchFamily="34" charset="-122"/>
                <a:cs typeface="Arial" pitchFamily="34" charset="-120"/>
              </a:rPr>
              <a:t>Publico</a:t>
            </a:r>
            <a:pPr algn="l" indent="0" marL="0">
              <a:buNone/>
            </a:pPr>
            <a:r>
              <a:rPr lang="en-US" sz="850" dirty="0">
                <a:solidFill>
                  <a:srgbClr val="3F3F3F"/>
                </a:solidFill>
                <a:latin typeface="Arial" pitchFamily="34" charset="0"/>
                <a:ea typeface="Arial" pitchFamily="34" charset="-122"/>
                <a:cs typeface="Arial" pitchFamily="34" charset="-120"/>
              </a:rPr>
              <a:t>   secondary, used sparingly for pull quotes and captions</a:t>
            </a:r>
            <a:endParaRPr lang="en-US" sz="1200" dirty="0"/>
          </a:p>
        </p:txBody>
      </p:sp>
      <p:sp>
        <p:nvSpPr>
          <p:cNvPr id="85" name="Text 77"/>
          <p:cNvSpPr/>
          <p:nvPr/>
        </p:nvSpPr>
        <p:spPr>
          <a:xfrm>
            <a:off x="676656" y="9893808"/>
            <a:ext cx="6208776" cy="201168"/>
          </a:xfrm>
          <a:prstGeom prst="rect">
            <a:avLst/>
          </a:prstGeom>
          <a:noFill/>
          <a:ln/>
        </p:spPr>
        <p:txBody>
          <a:bodyPr wrap="square" lIns="0" tIns="0" rIns="0" bIns="0" rtlCol="0" anchor="ctr"/>
          <a:lstStyle/>
          <a:p>
            <a:pPr algn="l" indent="0" marL="0">
              <a:buNone/>
            </a:pPr>
            <a:r>
              <a:rPr lang="en-US" sz="760" i="1" dirty="0">
                <a:solidFill>
                  <a:srgbClr val="7F7F7F"/>
                </a:solidFill>
                <a:latin typeface="Arial" pitchFamily="34" charset="0"/>
                <a:ea typeface="Arial" pitchFamily="34" charset="-122"/>
                <a:cs typeface="Arial" pitchFamily="34" charset="-120"/>
              </a:rPr>
              <a:t>Everyday PC substitutes, per the guidelines: Arial Black for bold headings, Calibri for body copy, Book Antiqua for Publico. The guidelines state no other fonts are acceptable.</a:t>
            </a:r>
            <a:endParaRPr lang="en-US" sz="7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assets/nz-army-logo.png">    </p:cNvPr>
          <p:cNvPicPr>
            <a:picLocks noChangeAspect="1"/>
          </p:cNvPicPr>
          <p:nvPr/>
        </p:nvPicPr>
        <p:blipFill>
          <a:blip r:embed="rId1"/>
          <a:stretch>
            <a:fillRect/>
          </a:stretch>
        </p:blipFill>
        <p:spPr>
          <a:xfrm>
            <a:off x="457200" y="347472"/>
            <a:ext cx="1481328" cy="338328"/>
          </a:xfrm>
          <a:prstGeom prst="rect">
            <a:avLst/>
          </a:prstGeom>
        </p:spPr>
      </p:pic>
      <p:sp>
        <p:nvSpPr>
          <p:cNvPr id="3" name="Text 0"/>
          <p:cNvSpPr/>
          <p:nvPr/>
        </p:nvSpPr>
        <p:spPr>
          <a:xfrm>
            <a:off x="457200" y="822960"/>
            <a:ext cx="5916168" cy="274320"/>
          </a:xfrm>
          <a:prstGeom prst="rect">
            <a:avLst/>
          </a:prstGeom>
          <a:noFill/>
          <a:ln/>
        </p:spPr>
        <p:txBody>
          <a:bodyPr wrap="square" lIns="0" tIns="0" rIns="0" bIns="0" rtlCol="0" anchor="ctr"/>
          <a:lstStyle/>
          <a:p>
            <a:pPr algn="l" indent="0" marL="0">
              <a:buNone/>
            </a:pPr>
            <a:r>
              <a:rPr lang="en-US" sz="1500" b="1" spc="40" kern="0" dirty="0">
                <a:solidFill>
                  <a:srgbClr val="000000"/>
                </a:solidFill>
                <a:latin typeface="Arial" pitchFamily="34" charset="0"/>
                <a:ea typeface="Arial" pitchFamily="34" charset="-122"/>
                <a:cs typeface="Arial" pitchFamily="34" charset="-120"/>
              </a:rPr>
              <a:t>APPLIED</a:t>
            </a:r>
            <a:endParaRPr lang="en-US" sz="1500" dirty="0"/>
          </a:p>
        </p:txBody>
      </p:sp>
      <p:sp>
        <p:nvSpPr>
          <p:cNvPr id="4" name="Text 1"/>
          <p:cNvSpPr/>
          <p:nvPr/>
        </p:nvSpPr>
        <p:spPr>
          <a:xfrm>
            <a:off x="457200" y="1097280"/>
            <a:ext cx="5916168" cy="182880"/>
          </a:xfrm>
          <a:prstGeom prst="rect">
            <a:avLst/>
          </a:prstGeom>
          <a:noFill/>
          <a:ln/>
        </p:spPr>
        <p:txBody>
          <a:bodyPr wrap="square" lIns="0" tIns="0" rIns="0" bIns="0" rtlCol="0" anchor="ctr"/>
          <a:lstStyle/>
          <a:p>
            <a:pPr algn="l" indent="0" marL="0">
              <a:buNone/>
            </a:pPr>
            <a:r>
              <a:rPr lang="en-US" sz="850" dirty="0">
                <a:solidFill>
                  <a:srgbClr val="7F7F7F"/>
                </a:solidFill>
                <a:latin typeface="Arial" pitchFamily="34" charset="0"/>
                <a:ea typeface="Arial" pitchFamily="34" charset="-122"/>
                <a:cs typeface="Arial" pitchFamily="34" charset="-120"/>
              </a:rPr>
              <a:t>The identity in use, and the uses the guidelines rule out</a:t>
            </a:r>
            <a:endParaRPr lang="en-US" sz="850" dirty="0"/>
          </a:p>
        </p:txBody>
      </p:sp>
      <p:sp>
        <p:nvSpPr>
          <p:cNvPr id="5" name="Text 2"/>
          <p:cNvSpPr/>
          <p:nvPr/>
        </p:nvSpPr>
        <p:spPr>
          <a:xfrm>
            <a:off x="6373368" y="822960"/>
            <a:ext cx="731520" cy="274320"/>
          </a:xfrm>
          <a:prstGeom prst="rect">
            <a:avLst/>
          </a:prstGeom>
          <a:noFill/>
          <a:ln/>
        </p:spPr>
        <p:txBody>
          <a:bodyPr wrap="square" lIns="0" tIns="0" rIns="0" bIns="0" rtlCol="0" anchor="ctr"/>
          <a:lstStyle/>
          <a:p>
            <a:pPr algn="r" indent="0" marL="0">
              <a:buNone/>
            </a:pPr>
            <a:r>
              <a:rPr lang="en-US" sz="900" b="1" dirty="0">
                <a:solidFill>
                  <a:srgbClr val="D31145"/>
                </a:solidFill>
                <a:latin typeface="Arial" pitchFamily="34" charset="0"/>
                <a:ea typeface="Arial" pitchFamily="34" charset="-122"/>
                <a:cs typeface="Arial" pitchFamily="34" charset="-120"/>
              </a:rPr>
              <a:t>3 / 3</a:t>
            </a:r>
            <a:endParaRPr lang="en-US" sz="900" dirty="0"/>
          </a:p>
        </p:txBody>
      </p:sp>
      <p:sp>
        <p:nvSpPr>
          <p:cNvPr id="6" name="Shape 3"/>
          <p:cNvSpPr/>
          <p:nvPr/>
        </p:nvSpPr>
        <p:spPr>
          <a:xfrm>
            <a:off x="457200" y="1353312"/>
            <a:ext cx="6647688" cy="32004"/>
          </a:xfrm>
          <a:prstGeom prst="rect">
            <a:avLst/>
          </a:prstGeom>
          <a:solidFill>
            <a:srgbClr val="D31145"/>
          </a:solidFill>
          <a:ln/>
        </p:spPr>
      </p:sp>
      <p:sp>
        <p:nvSpPr>
          <p:cNvPr id="7" name="Text 4"/>
          <p:cNvSpPr/>
          <p:nvPr/>
        </p:nvSpPr>
        <p:spPr>
          <a:xfrm>
            <a:off x="457200" y="10277856"/>
            <a:ext cx="2743200" cy="164592"/>
          </a:xfrm>
          <a:prstGeom prst="rect">
            <a:avLst/>
          </a:prstGeom>
          <a:noFill/>
          <a:ln/>
        </p:spPr>
        <p:txBody>
          <a:bodyPr wrap="square" lIns="0" tIns="0" rIns="0" bIns="0" rtlCol="0" anchor="ctr"/>
          <a:lstStyle/>
          <a:p>
            <a:pPr algn="l" indent="0" marL="0">
              <a:buNone/>
            </a:pPr>
            <a:r>
              <a:rPr lang="en-US" sz="650" b="1" spc="80" kern="0" dirty="0">
                <a:solidFill>
                  <a:srgbClr val="000000"/>
                </a:solidFill>
                <a:latin typeface="Arial" pitchFamily="34" charset="0"/>
                <a:ea typeface="Arial" pitchFamily="34" charset="-122"/>
                <a:cs typeface="Arial" pitchFamily="34" charset="-120"/>
              </a:rPr>
              <a:t>A FORCE FOR NEW ZEALAND</a:t>
            </a:r>
            <a:endParaRPr lang="en-US" sz="650" dirty="0"/>
          </a:p>
        </p:txBody>
      </p:sp>
      <p:sp>
        <p:nvSpPr>
          <p:cNvPr id="8" name="Text 5"/>
          <p:cNvSpPr/>
          <p:nvPr/>
        </p:nvSpPr>
        <p:spPr>
          <a:xfrm>
            <a:off x="3995928" y="10277856"/>
            <a:ext cx="3108960" cy="164592"/>
          </a:xfrm>
          <a:prstGeom prst="rect">
            <a:avLst/>
          </a:prstGeom>
          <a:noFill/>
          <a:ln/>
        </p:spPr>
        <p:txBody>
          <a:bodyPr wrap="square" lIns="0" tIns="0" rIns="0" bIns="0" rtlCol="0" anchor="ctr"/>
          <a:lstStyle/>
          <a:p>
            <a:pPr algn="r" indent="0" marL="0">
              <a:buNone/>
            </a:pPr>
            <a:r>
              <a:rPr lang="en-US" sz="650" dirty="0">
                <a:solidFill>
                  <a:srgbClr val="7F7F7F"/>
                </a:solidFill>
                <a:latin typeface="Arial" pitchFamily="34" charset="0"/>
                <a:ea typeface="Arial" pitchFamily="34" charset="-122"/>
                <a:cs typeface="Arial" pitchFamily="34" charset="-120"/>
              </a:rPr>
              <a:t>Army Command School   |   August 2026</a:t>
            </a:r>
            <a:endParaRPr lang="en-US" sz="650" dirty="0"/>
          </a:p>
        </p:txBody>
      </p:sp>
      <p:sp>
        <p:nvSpPr>
          <p:cNvPr id="9" name="Text 6"/>
          <p:cNvSpPr/>
          <p:nvPr/>
        </p:nvSpPr>
        <p:spPr>
          <a:xfrm>
            <a:off x="457200" y="1572768"/>
            <a:ext cx="6647688" cy="182880"/>
          </a:xfrm>
          <a:prstGeom prst="rect">
            <a:avLst/>
          </a:prstGeom>
          <a:noFill/>
          <a:ln/>
        </p:spPr>
        <p:txBody>
          <a:bodyPr wrap="square" lIns="0" tIns="0" rIns="0" bIns="0" rtlCol="0" anchor="ctr"/>
          <a:lstStyle/>
          <a:p>
            <a:pPr algn="l" indent="0" marL="0">
              <a:buNone/>
            </a:pPr>
            <a:r>
              <a:rPr lang="en-US" sz="800" b="1" spc="160" kern="0" dirty="0">
                <a:solidFill>
                  <a:srgbClr val="000000"/>
                </a:solidFill>
                <a:latin typeface="Arial" pitchFamily="34" charset="0"/>
                <a:ea typeface="Arial" pitchFamily="34" charset="-122"/>
                <a:cs typeface="Arial" pitchFamily="34" charset="-120"/>
              </a:rPr>
              <a:t>DOCUMENT COVER</a:t>
            </a:r>
            <a:endParaRPr lang="en-US" sz="800" dirty="0"/>
          </a:p>
        </p:txBody>
      </p:sp>
      <p:sp>
        <p:nvSpPr>
          <p:cNvPr id="10" name="Shape 7"/>
          <p:cNvSpPr/>
          <p:nvPr/>
        </p:nvSpPr>
        <p:spPr>
          <a:xfrm>
            <a:off x="457200" y="1755648"/>
            <a:ext cx="6647688" cy="7315"/>
          </a:xfrm>
          <a:prstGeom prst="rect">
            <a:avLst/>
          </a:prstGeom>
          <a:solidFill>
            <a:srgbClr val="D8D8D8"/>
          </a:solidFill>
          <a:ln/>
        </p:spPr>
      </p:sp>
      <p:sp>
        <p:nvSpPr>
          <p:cNvPr id="11" name="Shape 8"/>
          <p:cNvSpPr/>
          <p:nvPr/>
        </p:nvSpPr>
        <p:spPr>
          <a:xfrm>
            <a:off x="457200" y="1883664"/>
            <a:ext cx="2286000" cy="3236976"/>
          </a:xfrm>
          <a:prstGeom prst="rect">
            <a:avLst/>
          </a:prstGeom>
          <a:solidFill>
            <a:srgbClr val="FFFFFF"/>
          </a:solidFill>
          <a:ln w="12700">
            <a:solidFill>
              <a:srgbClr val="D8D8D8"/>
            </a:solidFill>
            <a:prstDash val="solid"/>
          </a:ln>
        </p:spPr>
      </p:sp>
      <p:pic>
        <p:nvPicPr>
          <p:cNvPr id="12" name="Image 1" descr="assets/nz-army-logo.png">    </p:cNvPr>
          <p:cNvPicPr>
            <a:picLocks noChangeAspect="1"/>
          </p:cNvPicPr>
          <p:nvPr/>
        </p:nvPicPr>
        <p:blipFill>
          <a:blip r:embed="rId2"/>
          <a:stretch>
            <a:fillRect/>
          </a:stretch>
        </p:blipFill>
        <p:spPr>
          <a:xfrm>
            <a:off x="640080" y="2084832"/>
            <a:ext cx="859536" cy="196596"/>
          </a:xfrm>
          <a:prstGeom prst="rect">
            <a:avLst/>
          </a:prstGeom>
        </p:spPr>
      </p:pic>
      <p:sp>
        <p:nvSpPr>
          <p:cNvPr id="13" name="Text 9"/>
          <p:cNvSpPr/>
          <p:nvPr/>
        </p:nvSpPr>
        <p:spPr>
          <a:xfrm>
            <a:off x="640080" y="2980944"/>
            <a:ext cx="1920240" cy="566928"/>
          </a:xfrm>
          <a:prstGeom prst="rect">
            <a:avLst/>
          </a:prstGeom>
          <a:noFill/>
          <a:ln/>
        </p:spPr>
        <p:txBody>
          <a:bodyPr wrap="square" lIns="0" tIns="0" rIns="0" bIns="0" rtlCol="0" anchor="t"/>
          <a:lstStyle/>
          <a:p>
            <a:pPr algn="l" indent="0" marL="0">
              <a:lnSpc>
                <a:spcPct val="95000"/>
              </a:lnSpc>
              <a:buNone/>
            </a:pPr>
            <a:r>
              <a:rPr lang="en-US" sz="1500" b="1" dirty="0">
                <a:solidFill>
                  <a:srgbClr val="000000"/>
                </a:solidFill>
                <a:latin typeface="Arial" pitchFamily="34" charset="0"/>
                <a:ea typeface="Arial" pitchFamily="34" charset="-122"/>
                <a:cs typeface="Arial" pitchFamily="34" charset="-120"/>
              </a:rPr>
              <a:t>COMBAT</a:t>
            </a:r>
            <a:endParaRPr lang="en-US" sz="1500" dirty="0"/>
          </a:p>
          <a:p>
            <a:pPr algn="l" indent="0" marL="0">
              <a:lnSpc>
                <a:spcPct val="95000"/>
              </a:lnSpc>
              <a:buNone/>
            </a:pPr>
            <a:r>
              <a:rPr lang="en-US" sz="1500" b="1" dirty="0">
                <a:solidFill>
                  <a:srgbClr val="000000"/>
                </a:solidFill>
                <a:latin typeface="Arial" pitchFamily="34" charset="0"/>
                <a:ea typeface="Arial" pitchFamily="34" charset="-122"/>
                <a:cs typeface="Arial" pitchFamily="34" charset="-120"/>
              </a:rPr>
              <a:t>MINDSET</a:t>
            </a:r>
            <a:endParaRPr lang="en-US" sz="1500" dirty="0"/>
          </a:p>
        </p:txBody>
      </p:sp>
      <p:sp>
        <p:nvSpPr>
          <p:cNvPr id="14" name="Shape 10"/>
          <p:cNvSpPr/>
          <p:nvPr/>
        </p:nvSpPr>
        <p:spPr>
          <a:xfrm>
            <a:off x="640080" y="3584448"/>
            <a:ext cx="457200" cy="21946"/>
          </a:xfrm>
          <a:prstGeom prst="rect">
            <a:avLst/>
          </a:prstGeom>
          <a:solidFill>
            <a:srgbClr val="D31145"/>
          </a:solidFill>
          <a:ln/>
        </p:spPr>
      </p:sp>
      <p:sp>
        <p:nvSpPr>
          <p:cNvPr id="15" name="Text 11"/>
          <p:cNvSpPr/>
          <p:nvPr/>
        </p:nvSpPr>
        <p:spPr>
          <a:xfrm>
            <a:off x="640080" y="3657600"/>
            <a:ext cx="1920240" cy="182880"/>
          </a:xfrm>
          <a:prstGeom prst="rect">
            <a:avLst/>
          </a:prstGeom>
          <a:noFill/>
          <a:ln/>
        </p:spPr>
        <p:txBody>
          <a:bodyPr wrap="square" lIns="0" tIns="0" rIns="0" bIns="0" rtlCol="0" anchor="ctr"/>
          <a:lstStyle/>
          <a:p>
            <a:pPr algn="l" indent="0" marL="0">
              <a:buNone/>
            </a:pPr>
            <a:r>
              <a:rPr lang="en-US" sz="750" dirty="0">
                <a:solidFill>
                  <a:srgbClr val="3F3F3F"/>
                </a:solidFill>
                <a:latin typeface="Arial" pitchFamily="34" charset="0"/>
                <a:ea typeface="Arial" pitchFamily="34" charset="-122"/>
                <a:cs typeface="Arial" pitchFamily="34" charset="-120"/>
              </a:rPr>
              <a:t>Framework Proposal</a:t>
            </a:r>
            <a:endParaRPr lang="en-US" sz="750" dirty="0"/>
          </a:p>
        </p:txBody>
      </p:sp>
      <p:pic>
        <p:nvPicPr>
          <p:cNvPr id="16" name="Image 2" descr="preencoded.png">    </p:cNvPr>
          <p:cNvPicPr>
            <a:picLocks noChangeAspect="1"/>
          </p:cNvPicPr>
          <p:nvPr/>
        </p:nvPicPr>
        <p:blipFill>
          <a:blip r:embed="rId3">
            <a:alphaModFix amt="75000"/>
          </a:blip>
          <a:stretch>
            <a:fillRect/>
          </a:stretch>
        </p:blipFill>
        <p:spPr>
          <a:xfrm>
            <a:off x="457200" y="3986784"/>
            <a:ext cx="2286000" cy="1133856"/>
          </a:xfrm>
          <a:prstGeom prst="rect">
            <a:avLst/>
          </a:prstGeom>
        </p:spPr>
      </p:pic>
      <p:sp>
        <p:nvSpPr>
          <p:cNvPr id="17" name="Text 12"/>
          <p:cNvSpPr/>
          <p:nvPr/>
        </p:nvSpPr>
        <p:spPr>
          <a:xfrm>
            <a:off x="640080" y="4846320"/>
            <a:ext cx="1920240" cy="146304"/>
          </a:xfrm>
          <a:prstGeom prst="rect">
            <a:avLst/>
          </a:prstGeom>
          <a:noFill/>
          <a:ln/>
        </p:spPr>
        <p:txBody>
          <a:bodyPr wrap="square" lIns="0" tIns="0" rIns="0" bIns="0" rtlCol="0" anchor="ctr"/>
          <a:lstStyle/>
          <a:p>
            <a:pPr algn="l" indent="0" marL="0">
              <a:buNone/>
            </a:pPr>
            <a:r>
              <a:rPr lang="en-US" sz="500" b="1" spc="50" kern="0" dirty="0">
                <a:solidFill>
                  <a:srgbClr val="000000"/>
                </a:solidFill>
                <a:latin typeface="Arial" pitchFamily="34" charset="0"/>
                <a:ea typeface="Arial" pitchFamily="34" charset="-122"/>
                <a:cs typeface="Arial" pitchFamily="34" charset="-120"/>
              </a:rPr>
              <a:t>A FORCE FOR NEW ZEALAND</a:t>
            </a:r>
            <a:endParaRPr lang="en-US" sz="500" dirty="0"/>
          </a:p>
        </p:txBody>
      </p:sp>
      <p:sp>
        <p:nvSpPr>
          <p:cNvPr id="18" name="Shape 13"/>
          <p:cNvSpPr/>
          <p:nvPr/>
        </p:nvSpPr>
        <p:spPr>
          <a:xfrm>
            <a:off x="457200" y="5065776"/>
            <a:ext cx="2286000" cy="41148"/>
          </a:xfrm>
          <a:prstGeom prst="rect">
            <a:avLst/>
          </a:prstGeom>
          <a:solidFill>
            <a:srgbClr val="D31145"/>
          </a:solidFill>
          <a:ln/>
        </p:spPr>
      </p:sp>
      <p:sp>
        <p:nvSpPr>
          <p:cNvPr id="19" name="Shape 14"/>
          <p:cNvSpPr/>
          <p:nvPr/>
        </p:nvSpPr>
        <p:spPr>
          <a:xfrm>
            <a:off x="2889504" y="1883664"/>
            <a:ext cx="4215384" cy="1828800"/>
          </a:xfrm>
          <a:prstGeom prst="rect">
            <a:avLst/>
          </a:prstGeom>
          <a:solidFill>
            <a:srgbClr val="D31145"/>
          </a:solidFill>
          <a:ln/>
        </p:spPr>
      </p:sp>
      <p:pic>
        <p:nvPicPr>
          <p:cNvPr id="20" name="Image 3" descr="preencoded.png">    </p:cNvPr>
          <p:cNvPicPr>
            <a:picLocks noChangeAspect="1"/>
          </p:cNvPicPr>
          <p:nvPr/>
        </p:nvPicPr>
        <p:blipFill>
          <a:blip r:embed="rId4">
            <a:alphaModFix amt="60000"/>
          </a:blip>
          <a:stretch>
            <a:fillRect/>
          </a:stretch>
        </p:blipFill>
        <p:spPr>
          <a:xfrm>
            <a:off x="2889504" y="1883664"/>
            <a:ext cx="4215384" cy="1828800"/>
          </a:xfrm>
          <a:prstGeom prst="rect">
            <a:avLst/>
          </a:prstGeom>
        </p:spPr>
      </p:pic>
      <p:pic>
        <p:nvPicPr>
          <p:cNvPr id="21" name="Image 4" descr="assets/nz-army-logo.png">    </p:cNvPr>
          <p:cNvPicPr>
            <a:picLocks noChangeAspect="1"/>
          </p:cNvPicPr>
          <p:nvPr/>
        </p:nvPicPr>
        <p:blipFill>
          <a:blip r:embed="rId5"/>
          <a:stretch>
            <a:fillRect/>
          </a:stretch>
        </p:blipFill>
        <p:spPr>
          <a:xfrm>
            <a:off x="3108960" y="2066544"/>
            <a:ext cx="969264" cy="221285"/>
          </a:xfrm>
          <a:prstGeom prst="rect">
            <a:avLst/>
          </a:prstGeom>
        </p:spPr>
      </p:pic>
      <p:sp>
        <p:nvSpPr>
          <p:cNvPr id="22" name="Text 15"/>
          <p:cNvSpPr/>
          <p:nvPr/>
        </p:nvSpPr>
        <p:spPr>
          <a:xfrm>
            <a:off x="3108960" y="2560320"/>
            <a:ext cx="3776472" cy="329184"/>
          </a:xfrm>
          <a:prstGeom prst="rect">
            <a:avLst/>
          </a:prstGeom>
          <a:noFill/>
          <a:ln/>
        </p:spPr>
        <p:txBody>
          <a:bodyPr wrap="square" lIns="0" tIns="0" rIns="0" bIns="0" rtlCol="0" anchor="ctr"/>
          <a:lstStyle/>
          <a:p>
            <a:pPr algn="l" indent="0" marL="0">
              <a:buNone/>
            </a:pPr>
            <a:r>
              <a:rPr lang="en-US" sz="2000" b="1" spc="60" kern="0" dirty="0">
                <a:solidFill>
                  <a:srgbClr val="FFFFFF"/>
                </a:solidFill>
                <a:latin typeface="Arial" pitchFamily="34" charset="0"/>
                <a:ea typeface="Arial" pitchFamily="34" charset="-122"/>
                <a:cs typeface="Arial" pitchFamily="34" charset="-120"/>
              </a:rPr>
              <a:t>COMBAT MINDSET</a:t>
            </a:r>
            <a:endParaRPr lang="en-US" sz="2000" dirty="0"/>
          </a:p>
        </p:txBody>
      </p:sp>
      <p:sp>
        <p:nvSpPr>
          <p:cNvPr id="23" name="Text 16"/>
          <p:cNvSpPr/>
          <p:nvPr/>
        </p:nvSpPr>
        <p:spPr>
          <a:xfrm>
            <a:off x="3108960" y="2907792"/>
            <a:ext cx="3776472" cy="201168"/>
          </a:xfrm>
          <a:prstGeom prst="rect">
            <a:avLst/>
          </a:prstGeom>
          <a:noFill/>
          <a:ln/>
        </p:spPr>
        <p:txBody>
          <a:bodyPr wrap="square" lIns="0" tIns="0" rIns="0" bIns="0" rtlCol="0" anchor="ctr"/>
          <a:lstStyle/>
          <a:p>
            <a:pPr algn="l" indent="0" marL="0">
              <a:buNone/>
            </a:pPr>
            <a:r>
              <a:rPr lang="en-US" sz="900" dirty="0">
                <a:solidFill>
                  <a:srgbClr val="FFFFFF"/>
                </a:solidFill>
                <a:latin typeface="Arial" pitchFamily="34" charset="0"/>
                <a:ea typeface="Arial" pitchFamily="34" charset="-122"/>
                <a:cs typeface="Arial" pitchFamily="34" charset="-120"/>
              </a:rPr>
              <a:t>Remain effective. Act decisively. Harder to kill.</a:t>
            </a:r>
            <a:endParaRPr lang="en-US" sz="900" dirty="0"/>
          </a:p>
        </p:txBody>
      </p:sp>
      <p:sp>
        <p:nvSpPr>
          <p:cNvPr id="24" name="Text 17"/>
          <p:cNvSpPr/>
          <p:nvPr/>
        </p:nvSpPr>
        <p:spPr>
          <a:xfrm>
            <a:off x="3108960" y="3401568"/>
            <a:ext cx="1828800" cy="146304"/>
          </a:xfrm>
          <a:prstGeom prst="rect">
            <a:avLst/>
          </a:prstGeom>
          <a:noFill/>
          <a:ln/>
        </p:spPr>
        <p:txBody>
          <a:bodyPr wrap="square" lIns="0" tIns="0" rIns="0" bIns="0" rtlCol="0" anchor="ctr"/>
          <a:lstStyle/>
          <a:p>
            <a:pPr algn="l" indent="0" marL="0">
              <a:buNone/>
            </a:pPr>
            <a:r>
              <a:rPr lang="en-US" sz="550" b="1" spc="50" kern="0" dirty="0">
                <a:solidFill>
                  <a:srgbClr val="FFFFFF"/>
                </a:solidFill>
                <a:latin typeface="Arial" pitchFamily="34" charset="0"/>
                <a:ea typeface="Arial" pitchFamily="34" charset="-122"/>
                <a:cs typeface="Arial" pitchFamily="34" charset="-120"/>
              </a:rPr>
              <a:t>A FORCE FOR NEW ZEALAND</a:t>
            </a:r>
            <a:endParaRPr lang="en-US" sz="550" dirty="0"/>
          </a:p>
        </p:txBody>
      </p:sp>
      <p:sp>
        <p:nvSpPr>
          <p:cNvPr id="25" name="Shape 18"/>
          <p:cNvSpPr/>
          <p:nvPr/>
        </p:nvSpPr>
        <p:spPr>
          <a:xfrm>
            <a:off x="2889504" y="3858768"/>
            <a:ext cx="4215384" cy="1261872"/>
          </a:xfrm>
          <a:prstGeom prst="rect">
            <a:avLst/>
          </a:prstGeom>
          <a:solidFill>
            <a:srgbClr val="00261B"/>
          </a:solidFill>
          <a:ln/>
        </p:spPr>
      </p:sp>
      <p:pic>
        <p:nvPicPr>
          <p:cNvPr id="26" name="Image 5" descr="preencoded.png">    </p:cNvPr>
          <p:cNvPicPr>
            <a:picLocks noChangeAspect="1"/>
          </p:cNvPicPr>
          <p:nvPr/>
        </p:nvPicPr>
        <p:blipFill>
          <a:blip r:embed="rId6"/>
          <a:stretch>
            <a:fillRect/>
          </a:stretch>
        </p:blipFill>
        <p:spPr>
          <a:xfrm>
            <a:off x="3108960" y="4078224"/>
            <a:ext cx="1463040" cy="146304"/>
          </a:xfrm>
          <a:prstGeom prst="rect">
            <a:avLst/>
          </a:prstGeom>
        </p:spPr>
      </p:pic>
      <p:sp>
        <p:nvSpPr>
          <p:cNvPr id="27" name="Text 19"/>
          <p:cNvSpPr/>
          <p:nvPr/>
        </p:nvSpPr>
        <p:spPr>
          <a:xfrm>
            <a:off x="3108960" y="4315968"/>
            <a:ext cx="3776472" cy="457200"/>
          </a:xfrm>
          <a:prstGeom prst="rect">
            <a:avLst/>
          </a:prstGeom>
          <a:noFill/>
          <a:ln/>
        </p:spPr>
        <p:txBody>
          <a:bodyPr wrap="square" lIns="0" tIns="0" rIns="0" bIns="0" rtlCol="0" anchor="t"/>
          <a:lstStyle/>
          <a:p>
            <a:pPr algn="l" indent="0" marL="0">
              <a:lnSpc>
                <a:spcPct val="98000"/>
              </a:lnSpc>
              <a:buNone/>
            </a:pPr>
            <a:r>
              <a:rPr lang="en-US" sz="1300" b="1" dirty="0">
                <a:solidFill>
                  <a:srgbClr val="FFFFFF"/>
                </a:solidFill>
                <a:latin typeface="Arial" pitchFamily="34" charset="0"/>
                <a:ea typeface="Arial" pitchFamily="34" charset="-122"/>
                <a:cs typeface="Arial" pitchFamily="34" charset="-120"/>
              </a:rPr>
              <a:t>PERFORMANCE</a:t>
            </a:r>
            <a:endParaRPr lang="en-US" sz="1300" dirty="0"/>
          </a:p>
          <a:p>
            <a:pPr algn="l" indent="0" marL="0">
              <a:lnSpc>
                <a:spcPct val="98000"/>
              </a:lnSpc>
              <a:buNone/>
            </a:pPr>
            <a:r>
              <a:rPr lang="en-US" sz="1300" b="1" dirty="0">
                <a:solidFill>
                  <a:srgbClr val="FFFFFF"/>
                </a:solidFill>
                <a:latin typeface="Arial" pitchFamily="34" charset="0"/>
                <a:ea typeface="Arial" pitchFamily="34" charset="-122"/>
                <a:cs typeface="Arial" pitchFamily="34" charset="-120"/>
              </a:rPr>
              <a:t>UNDER PRESSURE</a:t>
            </a:r>
            <a:endParaRPr lang="en-US" sz="1300" dirty="0"/>
          </a:p>
        </p:txBody>
      </p:sp>
      <p:sp>
        <p:nvSpPr>
          <p:cNvPr id="28" name="Text 20"/>
          <p:cNvSpPr/>
          <p:nvPr/>
        </p:nvSpPr>
        <p:spPr>
          <a:xfrm>
            <a:off x="3108960" y="4791456"/>
            <a:ext cx="3776472" cy="182880"/>
          </a:xfrm>
          <a:prstGeom prst="rect">
            <a:avLst/>
          </a:prstGeom>
          <a:noFill/>
          <a:ln/>
        </p:spPr>
        <p:txBody>
          <a:bodyPr wrap="square" lIns="0" tIns="0" rIns="0" bIns="0" rtlCol="0" anchor="ctr"/>
          <a:lstStyle/>
          <a:p>
            <a:pPr algn="l" indent="0" marL="0">
              <a:buNone/>
            </a:pPr>
            <a:r>
              <a:rPr lang="en-US" sz="800" dirty="0">
                <a:solidFill>
                  <a:srgbClr val="DFD8AD"/>
                </a:solidFill>
                <a:latin typeface="Arial" pitchFamily="34" charset="0"/>
                <a:ea typeface="Arial" pitchFamily="34" charset="-122"/>
                <a:cs typeface="Arial" pitchFamily="34" charset="-120"/>
              </a:rPr>
              <a:t>The enabling capability</a:t>
            </a:r>
            <a:endParaRPr lang="en-US" sz="800" dirty="0"/>
          </a:p>
        </p:txBody>
      </p:sp>
      <p:sp>
        <p:nvSpPr>
          <p:cNvPr id="29" name="Text 21"/>
          <p:cNvSpPr/>
          <p:nvPr/>
        </p:nvSpPr>
        <p:spPr>
          <a:xfrm>
            <a:off x="457200" y="5358384"/>
            <a:ext cx="6647688" cy="182880"/>
          </a:xfrm>
          <a:prstGeom prst="rect">
            <a:avLst/>
          </a:prstGeom>
          <a:noFill/>
          <a:ln/>
        </p:spPr>
        <p:txBody>
          <a:bodyPr wrap="square" lIns="0" tIns="0" rIns="0" bIns="0" rtlCol="0" anchor="ctr"/>
          <a:lstStyle/>
          <a:p>
            <a:pPr algn="l" indent="0" marL="0">
              <a:buNone/>
            </a:pPr>
            <a:r>
              <a:rPr lang="en-US" sz="800" b="1" spc="160" kern="0" dirty="0">
                <a:solidFill>
                  <a:srgbClr val="000000"/>
                </a:solidFill>
                <a:latin typeface="Arial" pitchFamily="34" charset="0"/>
                <a:ea typeface="Arial" pitchFamily="34" charset="-122"/>
                <a:cs typeface="Arial" pitchFamily="34" charset="-120"/>
              </a:rPr>
              <a:t>INCORRECT USE  —  RULED OUT BY THE GUIDELINES</a:t>
            </a:r>
            <a:endParaRPr lang="en-US" sz="800" dirty="0"/>
          </a:p>
        </p:txBody>
      </p:sp>
      <p:sp>
        <p:nvSpPr>
          <p:cNvPr id="30" name="Shape 22"/>
          <p:cNvSpPr/>
          <p:nvPr/>
        </p:nvSpPr>
        <p:spPr>
          <a:xfrm>
            <a:off x="457200" y="5541264"/>
            <a:ext cx="6647688" cy="7315"/>
          </a:xfrm>
          <a:prstGeom prst="rect">
            <a:avLst/>
          </a:prstGeom>
          <a:solidFill>
            <a:srgbClr val="D8D8D8"/>
          </a:solidFill>
          <a:ln/>
        </p:spPr>
      </p:sp>
      <p:sp>
        <p:nvSpPr>
          <p:cNvPr id="31" name="Shape 23"/>
          <p:cNvSpPr/>
          <p:nvPr/>
        </p:nvSpPr>
        <p:spPr>
          <a:xfrm>
            <a:off x="457200" y="5669280"/>
            <a:ext cx="1579626" cy="969264"/>
          </a:xfrm>
          <a:prstGeom prst="rect">
            <a:avLst/>
          </a:prstGeom>
          <a:solidFill>
            <a:srgbClr val="F4F4F2"/>
          </a:solidFill>
          <a:ln/>
        </p:spPr>
      </p:sp>
      <p:pic>
        <p:nvPicPr>
          <p:cNvPr id="32" name="Image 6" descr="preencoded.png">    </p:cNvPr>
          <p:cNvPicPr>
            <a:picLocks noChangeAspect="1"/>
          </p:cNvPicPr>
          <p:nvPr/>
        </p:nvPicPr>
        <p:blipFill>
          <a:blip r:embed="rId7"/>
          <a:stretch>
            <a:fillRect/>
          </a:stretch>
        </p:blipFill>
        <p:spPr>
          <a:xfrm>
            <a:off x="954405" y="5797296"/>
            <a:ext cx="585216" cy="448056"/>
          </a:xfrm>
          <a:prstGeom prst="rect">
            <a:avLst/>
          </a:prstGeom>
        </p:spPr>
      </p:pic>
      <p:pic>
        <p:nvPicPr>
          <p:cNvPr id="33" name="Image 7" descr="preencoded.png">    </p:cNvPr>
          <p:cNvPicPr>
            <a:picLocks noChangeAspect="1"/>
          </p:cNvPicPr>
          <p:nvPr/>
        </p:nvPicPr>
        <p:blipFill>
          <a:blip r:embed="rId8"/>
          <a:stretch>
            <a:fillRect/>
          </a:stretch>
        </p:blipFill>
        <p:spPr>
          <a:xfrm>
            <a:off x="548640" y="5742432"/>
            <a:ext cx="1396746" cy="838048"/>
          </a:xfrm>
          <a:prstGeom prst="rect">
            <a:avLst/>
          </a:prstGeom>
        </p:spPr>
      </p:pic>
      <p:sp>
        <p:nvSpPr>
          <p:cNvPr id="34" name="Text 24"/>
          <p:cNvSpPr/>
          <p:nvPr/>
        </p:nvSpPr>
        <p:spPr>
          <a:xfrm>
            <a:off x="475488" y="6675120"/>
            <a:ext cx="1543050" cy="182880"/>
          </a:xfrm>
          <a:prstGeom prst="rect">
            <a:avLst/>
          </a:prstGeom>
          <a:noFill/>
          <a:ln/>
        </p:spPr>
        <p:txBody>
          <a:bodyPr wrap="square" lIns="0" tIns="0" rIns="0" bIns="0" rtlCol="0" anchor="ctr"/>
          <a:lstStyle/>
          <a:p>
            <a:pPr algn="l" indent="0" marL="0">
              <a:buNone/>
            </a:pPr>
            <a:r>
              <a:rPr lang="en-US" sz="800" b="1" dirty="0">
                <a:solidFill>
                  <a:srgbClr val="000000"/>
                </a:solidFill>
                <a:latin typeface="Arial" pitchFamily="34" charset="0"/>
                <a:ea typeface="Arial" pitchFamily="34" charset="-122"/>
                <a:cs typeface="Arial" pitchFamily="34" charset="-120"/>
              </a:rPr>
              <a:t>A bespoke symbol</a:t>
            </a:r>
            <a:endParaRPr lang="en-US" sz="800" dirty="0"/>
          </a:p>
        </p:txBody>
      </p:sp>
      <p:sp>
        <p:nvSpPr>
          <p:cNvPr id="35" name="Text 25"/>
          <p:cNvSpPr/>
          <p:nvPr/>
        </p:nvSpPr>
        <p:spPr>
          <a:xfrm>
            <a:off x="475488" y="6839712"/>
            <a:ext cx="1543050" cy="457200"/>
          </a:xfrm>
          <a:prstGeom prst="rect">
            <a:avLst/>
          </a:prstGeom>
          <a:noFill/>
          <a:ln/>
        </p:spPr>
        <p:txBody>
          <a:bodyPr wrap="square" lIns="0" tIns="0" rIns="0" bIns="0" rtlCol="0" anchor="t"/>
          <a:lstStyle/>
          <a:p>
            <a:pPr algn="l" indent="0" marL="0">
              <a:lnSpc>
                <a:spcPct val="110000"/>
              </a:lnSpc>
              <a:buNone/>
            </a:pPr>
            <a:r>
              <a:rPr lang="en-US" sz="700" dirty="0">
                <a:solidFill>
                  <a:srgbClr val="3F3F3F"/>
                </a:solidFill>
                <a:latin typeface="Arial" pitchFamily="34" charset="0"/>
                <a:ea typeface="Arial" pitchFamily="34" charset="-122"/>
                <a:cs typeface="Arial" pitchFamily="34" charset="-120"/>
              </a:rPr>
              <a:t>Any invented mark, however well drawn. Programmes do not create logos.</a:t>
            </a:r>
            <a:endParaRPr lang="en-US" sz="700" dirty="0"/>
          </a:p>
        </p:txBody>
      </p:sp>
      <p:sp>
        <p:nvSpPr>
          <p:cNvPr id="36" name="Shape 26"/>
          <p:cNvSpPr/>
          <p:nvPr/>
        </p:nvSpPr>
        <p:spPr>
          <a:xfrm>
            <a:off x="2146554" y="5669280"/>
            <a:ext cx="1579626" cy="969264"/>
          </a:xfrm>
          <a:prstGeom prst="rect">
            <a:avLst/>
          </a:prstGeom>
          <a:solidFill>
            <a:srgbClr val="F4F4F2"/>
          </a:solidFill>
          <a:ln/>
        </p:spPr>
      </p:sp>
      <p:pic>
        <p:nvPicPr>
          <p:cNvPr id="37" name="Image 8" descr="preencoded.png">    </p:cNvPr>
          <p:cNvPicPr>
            <a:picLocks noChangeAspect="1"/>
          </p:cNvPicPr>
          <p:nvPr/>
        </p:nvPicPr>
        <p:blipFill>
          <a:blip r:embed="rId9"/>
          <a:stretch>
            <a:fillRect/>
          </a:stretch>
        </p:blipFill>
        <p:spPr>
          <a:xfrm>
            <a:off x="2643759" y="5797296"/>
            <a:ext cx="585216" cy="448056"/>
          </a:xfrm>
          <a:prstGeom prst="rect">
            <a:avLst/>
          </a:prstGeom>
        </p:spPr>
      </p:pic>
      <p:pic>
        <p:nvPicPr>
          <p:cNvPr id="38" name="Image 9" descr="preencoded.png">    </p:cNvPr>
          <p:cNvPicPr>
            <a:picLocks noChangeAspect="1"/>
          </p:cNvPicPr>
          <p:nvPr/>
        </p:nvPicPr>
        <p:blipFill>
          <a:blip r:embed="rId10"/>
          <a:stretch>
            <a:fillRect/>
          </a:stretch>
        </p:blipFill>
        <p:spPr>
          <a:xfrm>
            <a:off x="2237994" y="5742432"/>
            <a:ext cx="1396746" cy="838048"/>
          </a:xfrm>
          <a:prstGeom prst="rect">
            <a:avLst/>
          </a:prstGeom>
        </p:spPr>
      </p:pic>
      <p:sp>
        <p:nvSpPr>
          <p:cNvPr id="39" name="Text 27"/>
          <p:cNvSpPr/>
          <p:nvPr/>
        </p:nvSpPr>
        <p:spPr>
          <a:xfrm>
            <a:off x="2164842" y="6675120"/>
            <a:ext cx="1543050" cy="182880"/>
          </a:xfrm>
          <a:prstGeom prst="rect">
            <a:avLst/>
          </a:prstGeom>
          <a:noFill/>
          <a:ln/>
        </p:spPr>
        <p:txBody>
          <a:bodyPr wrap="square" lIns="0" tIns="0" rIns="0" bIns="0" rtlCol="0" anchor="ctr"/>
          <a:lstStyle/>
          <a:p>
            <a:pPr algn="l" indent="0" marL="0">
              <a:buNone/>
            </a:pPr>
            <a:r>
              <a:rPr lang="en-US" sz="800" b="1" dirty="0">
                <a:solidFill>
                  <a:srgbClr val="000000"/>
                </a:solidFill>
                <a:latin typeface="Arial" pitchFamily="34" charset="0"/>
                <a:ea typeface="Arial" pitchFamily="34" charset="-122"/>
                <a:cs typeface="Arial" pitchFamily="34" charset="-120"/>
              </a:rPr>
              <a:t>A badge or patch</a:t>
            </a:r>
            <a:endParaRPr lang="en-US" sz="800" dirty="0"/>
          </a:p>
        </p:txBody>
      </p:sp>
      <p:sp>
        <p:nvSpPr>
          <p:cNvPr id="40" name="Text 28"/>
          <p:cNvSpPr/>
          <p:nvPr/>
        </p:nvSpPr>
        <p:spPr>
          <a:xfrm>
            <a:off x="2164842" y="6839712"/>
            <a:ext cx="1543050" cy="457200"/>
          </a:xfrm>
          <a:prstGeom prst="rect">
            <a:avLst/>
          </a:prstGeom>
          <a:noFill/>
          <a:ln/>
        </p:spPr>
        <p:txBody>
          <a:bodyPr wrap="square" lIns="0" tIns="0" rIns="0" bIns="0" rtlCol="0" anchor="t"/>
          <a:lstStyle/>
          <a:p>
            <a:pPr algn="l" indent="0" marL="0">
              <a:lnSpc>
                <a:spcPct val="110000"/>
              </a:lnSpc>
              <a:buNone/>
            </a:pPr>
            <a:r>
              <a:rPr lang="en-US" sz="700" dirty="0">
                <a:solidFill>
                  <a:srgbClr val="3F3F3F"/>
                </a:solidFill>
                <a:latin typeface="Arial" pitchFamily="34" charset="0"/>
                <a:ea typeface="Arial" pitchFamily="34" charset="-122"/>
                <a:cs typeface="Arial" pitchFamily="34" charset="-120"/>
              </a:rPr>
              <a:t>Patches are heritage items for uniforms. They are not communication assets.</a:t>
            </a:r>
            <a:endParaRPr lang="en-US" sz="700" dirty="0"/>
          </a:p>
        </p:txBody>
      </p:sp>
      <p:sp>
        <p:nvSpPr>
          <p:cNvPr id="41" name="Shape 29"/>
          <p:cNvSpPr/>
          <p:nvPr/>
        </p:nvSpPr>
        <p:spPr>
          <a:xfrm>
            <a:off x="3835908" y="5669280"/>
            <a:ext cx="1579626" cy="969264"/>
          </a:xfrm>
          <a:prstGeom prst="rect">
            <a:avLst/>
          </a:prstGeom>
          <a:solidFill>
            <a:srgbClr val="F4F4F2"/>
          </a:solidFill>
          <a:ln/>
        </p:spPr>
      </p:sp>
      <p:sp>
        <p:nvSpPr>
          <p:cNvPr id="42" name="Shape 30"/>
          <p:cNvSpPr/>
          <p:nvPr/>
        </p:nvSpPr>
        <p:spPr>
          <a:xfrm>
            <a:off x="4113657" y="5852160"/>
            <a:ext cx="1024128" cy="347472"/>
          </a:xfrm>
          <a:prstGeom prst="rect">
            <a:avLst/>
          </a:prstGeom>
          <a:solidFill>
            <a:srgbClr val="B3A650"/>
          </a:solidFill>
          <a:ln/>
        </p:spPr>
      </p:sp>
      <p:pic>
        <p:nvPicPr>
          <p:cNvPr id="43" name="Image 10" descr="assets/nz-army-logo.png">    </p:cNvPr>
          <p:cNvPicPr>
            <a:picLocks noChangeAspect="1"/>
          </p:cNvPicPr>
          <p:nvPr/>
        </p:nvPicPr>
        <p:blipFill>
          <a:blip r:embed="rId11"/>
          <a:stretch>
            <a:fillRect/>
          </a:stretch>
        </p:blipFill>
        <p:spPr>
          <a:xfrm>
            <a:off x="4223385" y="5916168"/>
            <a:ext cx="804672" cy="183794"/>
          </a:xfrm>
          <a:prstGeom prst="rect">
            <a:avLst/>
          </a:prstGeom>
        </p:spPr>
      </p:pic>
      <p:pic>
        <p:nvPicPr>
          <p:cNvPr id="44" name="Image 11" descr="preencoded.png">    </p:cNvPr>
          <p:cNvPicPr>
            <a:picLocks noChangeAspect="1"/>
          </p:cNvPicPr>
          <p:nvPr/>
        </p:nvPicPr>
        <p:blipFill>
          <a:blip r:embed="rId12"/>
          <a:stretch>
            <a:fillRect/>
          </a:stretch>
        </p:blipFill>
        <p:spPr>
          <a:xfrm>
            <a:off x="3927348" y="5742432"/>
            <a:ext cx="1396746" cy="838048"/>
          </a:xfrm>
          <a:prstGeom prst="rect">
            <a:avLst/>
          </a:prstGeom>
        </p:spPr>
      </p:pic>
      <p:sp>
        <p:nvSpPr>
          <p:cNvPr id="45" name="Text 31"/>
          <p:cNvSpPr/>
          <p:nvPr/>
        </p:nvSpPr>
        <p:spPr>
          <a:xfrm>
            <a:off x="3854196" y="6675120"/>
            <a:ext cx="1543050" cy="182880"/>
          </a:xfrm>
          <a:prstGeom prst="rect">
            <a:avLst/>
          </a:prstGeom>
          <a:noFill/>
          <a:ln/>
        </p:spPr>
        <p:txBody>
          <a:bodyPr wrap="square" lIns="0" tIns="0" rIns="0" bIns="0" rtlCol="0" anchor="ctr"/>
          <a:lstStyle/>
          <a:p>
            <a:pPr algn="l" indent="0" marL="0">
              <a:buNone/>
            </a:pPr>
            <a:r>
              <a:rPr lang="en-US" sz="800" b="1" dirty="0">
                <a:solidFill>
                  <a:srgbClr val="000000"/>
                </a:solidFill>
                <a:latin typeface="Arial" pitchFamily="34" charset="0"/>
                <a:ea typeface="Arial" pitchFamily="34" charset="-122"/>
                <a:cs typeface="Arial" pitchFamily="34" charset="-120"/>
              </a:rPr>
              <a:t>An altered Army logo</a:t>
            </a:r>
            <a:endParaRPr lang="en-US" sz="800" dirty="0"/>
          </a:p>
        </p:txBody>
      </p:sp>
      <p:sp>
        <p:nvSpPr>
          <p:cNvPr id="46" name="Text 32"/>
          <p:cNvSpPr/>
          <p:nvPr/>
        </p:nvSpPr>
        <p:spPr>
          <a:xfrm>
            <a:off x="3854196" y="6839712"/>
            <a:ext cx="1543050" cy="457200"/>
          </a:xfrm>
          <a:prstGeom prst="rect">
            <a:avLst/>
          </a:prstGeom>
          <a:noFill/>
          <a:ln/>
        </p:spPr>
        <p:txBody>
          <a:bodyPr wrap="square" lIns="0" tIns="0" rIns="0" bIns="0" rtlCol="0" anchor="t"/>
          <a:lstStyle/>
          <a:p>
            <a:pPr algn="l" indent="0" marL="0">
              <a:lnSpc>
                <a:spcPct val="110000"/>
              </a:lnSpc>
              <a:buNone/>
            </a:pPr>
            <a:r>
              <a:rPr lang="en-US" sz="700" dirty="0">
                <a:solidFill>
                  <a:srgbClr val="3F3F3F"/>
                </a:solidFill>
                <a:latin typeface="Arial" pitchFamily="34" charset="0"/>
                <a:ea typeface="Arial" pitchFamily="34" charset="-122"/>
                <a:cs typeface="Arial" pitchFamily="34" charset="-120"/>
              </a:rPr>
              <a:t>The logo’s colours, proportions and background are fixed.</a:t>
            </a:r>
            <a:endParaRPr lang="en-US" sz="700" dirty="0"/>
          </a:p>
        </p:txBody>
      </p:sp>
      <p:sp>
        <p:nvSpPr>
          <p:cNvPr id="47" name="Shape 33"/>
          <p:cNvSpPr/>
          <p:nvPr/>
        </p:nvSpPr>
        <p:spPr>
          <a:xfrm>
            <a:off x="5525262" y="5669280"/>
            <a:ext cx="1579626" cy="969264"/>
          </a:xfrm>
          <a:prstGeom prst="rect">
            <a:avLst/>
          </a:prstGeom>
          <a:solidFill>
            <a:srgbClr val="F4F4F2"/>
          </a:solidFill>
          <a:ln/>
        </p:spPr>
      </p:sp>
      <p:sp>
        <p:nvSpPr>
          <p:cNvPr id="48" name="Text 34"/>
          <p:cNvSpPr/>
          <p:nvPr/>
        </p:nvSpPr>
        <p:spPr>
          <a:xfrm>
            <a:off x="5525262" y="5833872"/>
            <a:ext cx="1579626" cy="201168"/>
          </a:xfrm>
          <a:prstGeom prst="rect">
            <a:avLst/>
          </a:prstGeom>
          <a:noFill/>
          <a:ln/>
        </p:spPr>
        <p:txBody>
          <a:bodyPr wrap="square" lIns="0" tIns="0" rIns="0" bIns="0" rtlCol="0" anchor="ctr"/>
          <a:lstStyle/>
          <a:p>
            <a:pPr algn="ctr" indent="0" marL="0">
              <a:buNone/>
            </a:pPr>
            <a:r>
              <a:rPr lang="en-US" sz="1100" b="1" dirty="0">
                <a:solidFill>
                  <a:srgbClr val="D31145"/>
                </a:solidFill>
                <a:latin typeface="Arial" pitchFamily="34" charset="0"/>
                <a:ea typeface="Arial" pitchFamily="34" charset="-122"/>
                <a:cs typeface="Arial" pitchFamily="34" charset="-120"/>
              </a:rPr>
              <a:t>COMBAT</a:t>
            </a:r>
            <a:endParaRPr lang="en-US" sz="1100" dirty="0"/>
          </a:p>
        </p:txBody>
      </p:sp>
      <p:sp>
        <p:nvSpPr>
          <p:cNvPr id="49" name="Text 35"/>
          <p:cNvSpPr/>
          <p:nvPr/>
        </p:nvSpPr>
        <p:spPr>
          <a:xfrm>
            <a:off x="5525262" y="6016752"/>
            <a:ext cx="1579626" cy="201168"/>
          </a:xfrm>
          <a:prstGeom prst="rect">
            <a:avLst/>
          </a:prstGeom>
          <a:noFill/>
          <a:ln/>
        </p:spPr>
        <p:txBody>
          <a:bodyPr wrap="square" lIns="0" tIns="0" rIns="0" bIns="0" rtlCol="0" anchor="ctr"/>
          <a:lstStyle/>
          <a:p>
            <a:pPr algn="ctr" indent="0" marL="0">
              <a:buNone/>
            </a:pPr>
            <a:r>
              <a:rPr lang="en-US" sz="1100" b="1" dirty="0">
                <a:solidFill>
                  <a:srgbClr val="D31145"/>
                </a:solidFill>
                <a:latin typeface="Arial" pitchFamily="34" charset="0"/>
                <a:ea typeface="Arial" pitchFamily="34" charset="-122"/>
                <a:cs typeface="Arial" pitchFamily="34" charset="-120"/>
              </a:rPr>
              <a:t>MINDSET</a:t>
            </a:r>
            <a:endParaRPr lang="en-US" sz="1100" dirty="0"/>
          </a:p>
        </p:txBody>
      </p:sp>
      <p:pic>
        <p:nvPicPr>
          <p:cNvPr id="50" name="Image 12" descr="preencoded.png">    </p:cNvPr>
          <p:cNvPicPr>
            <a:picLocks noChangeAspect="1"/>
          </p:cNvPicPr>
          <p:nvPr/>
        </p:nvPicPr>
        <p:blipFill>
          <a:blip r:embed="rId13"/>
          <a:stretch>
            <a:fillRect/>
          </a:stretch>
        </p:blipFill>
        <p:spPr>
          <a:xfrm>
            <a:off x="5616702" y="5742432"/>
            <a:ext cx="1396746" cy="838048"/>
          </a:xfrm>
          <a:prstGeom prst="rect">
            <a:avLst/>
          </a:prstGeom>
        </p:spPr>
      </p:pic>
      <p:sp>
        <p:nvSpPr>
          <p:cNvPr id="51" name="Text 36"/>
          <p:cNvSpPr/>
          <p:nvPr/>
        </p:nvSpPr>
        <p:spPr>
          <a:xfrm>
            <a:off x="5543550" y="6675120"/>
            <a:ext cx="1543050" cy="182880"/>
          </a:xfrm>
          <a:prstGeom prst="rect">
            <a:avLst/>
          </a:prstGeom>
          <a:noFill/>
          <a:ln/>
        </p:spPr>
        <p:txBody>
          <a:bodyPr wrap="square" lIns="0" tIns="0" rIns="0" bIns="0" rtlCol="0" anchor="ctr"/>
          <a:lstStyle/>
          <a:p>
            <a:pPr algn="l" indent="0" marL="0">
              <a:buNone/>
            </a:pPr>
            <a:r>
              <a:rPr lang="en-US" sz="800" b="1" dirty="0">
                <a:solidFill>
                  <a:srgbClr val="000000"/>
                </a:solidFill>
                <a:latin typeface="Arial" pitchFamily="34" charset="0"/>
                <a:ea typeface="Arial" pitchFamily="34" charset="-122"/>
                <a:cs typeface="Arial" pitchFamily="34" charset="-120"/>
              </a:rPr>
              <a:t>A coloured wordmark</a:t>
            </a:r>
            <a:endParaRPr lang="en-US" sz="800" dirty="0"/>
          </a:p>
        </p:txBody>
      </p:sp>
      <p:sp>
        <p:nvSpPr>
          <p:cNvPr id="52" name="Text 37"/>
          <p:cNvSpPr/>
          <p:nvPr/>
        </p:nvSpPr>
        <p:spPr>
          <a:xfrm>
            <a:off x="5543550" y="6839712"/>
            <a:ext cx="1543050" cy="457200"/>
          </a:xfrm>
          <a:prstGeom prst="rect">
            <a:avLst/>
          </a:prstGeom>
          <a:noFill/>
          <a:ln/>
        </p:spPr>
        <p:txBody>
          <a:bodyPr wrap="square" lIns="0" tIns="0" rIns="0" bIns="0" rtlCol="0" anchor="t"/>
          <a:lstStyle/>
          <a:p>
            <a:pPr algn="l" indent="0" marL="0">
              <a:lnSpc>
                <a:spcPct val="110000"/>
              </a:lnSpc>
              <a:buNone/>
            </a:pPr>
            <a:r>
              <a:rPr lang="en-US" sz="700" dirty="0">
                <a:solidFill>
                  <a:srgbClr val="3F3F3F"/>
                </a:solidFill>
                <a:latin typeface="Arial" pitchFamily="34" charset="0"/>
                <a:ea typeface="Arial" pitchFamily="34" charset="-122"/>
                <a:cs typeface="Arial" pitchFamily="34" charset="-120"/>
              </a:rPr>
              <a:t>The wordmark is black, white or reversed. Red is the rule, not the type.</a:t>
            </a:r>
            <a:endParaRPr lang="en-US" sz="700" dirty="0"/>
          </a:p>
        </p:txBody>
      </p:sp>
      <p:sp>
        <p:nvSpPr>
          <p:cNvPr id="53" name="Text 38"/>
          <p:cNvSpPr/>
          <p:nvPr/>
        </p:nvSpPr>
        <p:spPr>
          <a:xfrm>
            <a:off x="457200" y="7443216"/>
            <a:ext cx="6647688" cy="182880"/>
          </a:xfrm>
          <a:prstGeom prst="rect">
            <a:avLst/>
          </a:prstGeom>
          <a:noFill/>
          <a:ln/>
        </p:spPr>
        <p:txBody>
          <a:bodyPr wrap="square" lIns="0" tIns="0" rIns="0" bIns="0" rtlCol="0" anchor="ctr"/>
          <a:lstStyle/>
          <a:p>
            <a:pPr algn="l" indent="0" marL="0">
              <a:buNone/>
            </a:pPr>
            <a:r>
              <a:rPr lang="en-US" sz="800" b="1" spc="160" kern="0" dirty="0">
                <a:solidFill>
                  <a:srgbClr val="000000"/>
                </a:solidFill>
                <a:latin typeface="Arial" pitchFamily="34" charset="0"/>
                <a:ea typeface="Arial" pitchFamily="34" charset="-122"/>
                <a:cs typeface="Arial" pitchFamily="34" charset="-120"/>
              </a:rPr>
              <a:t>WHAT TO DO NEXT</a:t>
            </a:r>
            <a:endParaRPr lang="en-US" sz="800" dirty="0"/>
          </a:p>
        </p:txBody>
      </p:sp>
      <p:sp>
        <p:nvSpPr>
          <p:cNvPr id="54" name="Shape 39"/>
          <p:cNvSpPr/>
          <p:nvPr/>
        </p:nvSpPr>
        <p:spPr>
          <a:xfrm>
            <a:off x="457200" y="7626096"/>
            <a:ext cx="6647688" cy="7315"/>
          </a:xfrm>
          <a:prstGeom prst="rect">
            <a:avLst/>
          </a:prstGeom>
          <a:solidFill>
            <a:srgbClr val="D8D8D8"/>
          </a:solidFill>
          <a:ln/>
        </p:spPr>
      </p:sp>
      <p:sp>
        <p:nvSpPr>
          <p:cNvPr id="55" name="Shape 40"/>
          <p:cNvSpPr/>
          <p:nvPr/>
        </p:nvSpPr>
        <p:spPr>
          <a:xfrm>
            <a:off x="457200" y="7772400"/>
            <a:ext cx="256032" cy="256032"/>
          </a:xfrm>
          <a:prstGeom prst="ellipse">
            <a:avLst/>
          </a:prstGeom>
          <a:solidFill>
            <a:srgbClr val="D31145"/>
          </a:solidFill>
          <a:ln/>
        </p:spPr>
      </p:sp>
      <p:sp>
        <p:nvSpPr>
          <p:cNvPr id="56" name="Text 41"/>
          <p:cNvSpPr/>
          <p:nvPr/>
        </p:nvSpPr>
        <p:spPr>
          <a:xfrm>
            <a:off x="457200" y="77724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57" name="Text 42"/>
          <p:cNvSpPr/>
          <p:nvPr/>
        </p:nvSpPr>
        <p:spPr>
          <a:xfrm>
            <a:off x="841248" y="7754112"/>
            <a:ext cx="6263640" cy="201168"/>
          </a:xfrm>
          <a:prstGeom prst="rect">
            <a:avLst/>
          </a:prstGeom>
          <a:noFill/>
          <a:ln/>
        </p:spPr>
        <p:txBody>
          <a:bodyPr wrap="square" lIns="0" tIns="0" rIns="0" bIns="0" rtlCol="0" anchor="ctr"/>
          <a:lstStyle/>
          <a:p>
            <a:pPr algn="l" indent="0" marL="0">
              <a:buNone/>
            </a:pPr>
            <a:r>
              <a:rPr lang="en-US" sz="960" b="1" dirty="0">
                <a:solidFill>
                  <a:srgbClr val="000000"/>
                </a:solidFill>
                <a:latin typeface="Arial" pitchFamily="34" charset="0"/>
                <a:ea typeface="Arial" pitchFamily="34" charset="-122"/>
                <a:cs typeface="Arial" pitchFamily="34" charset="-120"/>
              </a:rPr>
              <a:t>Adopt the typographic identity now.</a:t>
            </a:r>
            <a:endParaRPr lang="en-US" sz="960" dirty="0"/>
          </a:p>
        </p:txBody>
      </p:sp>
      <p:sp>
        <p:nvSpPr>
          <p:cNvPr id="58" name="Text 43"/>
          <p:cNvSpPr/>
          <p:nvPr/>
        </p:nvSpPr>
        <p:spPr>
          <a:xfrm>
            <a:off x="841248" y="7946136"/>
            <a:ext cx="6080760" cy="329184"/>
          </a:xfrm>
          <a:prstGeom prst="rect">
            <a:avLst/>
          </a:prstGeom>
          <a:noFill/>
          <a:ln/>
        </p:spPr>
        <p:txBody>
          <a:bodyPr wrap="square" lIns="0" tIns="0" rIns="0" bIns="0" rtlCol="0" anchor="t"/>
          <a:lstStyle/>
          <a:p>
            <a:pPr algn="l" indent="0" marL="0">
              <a:lnSpc>
                <a:spcPct val="112000"/>
              </a:lnSpc>
              <a:buNone/>
            </a:pPr>
            <a:r>
              <a:rPr lang="en-US" sz="840" dirty="0">
                <a:solidFill>
                  <a:srgbClr val="3F3F3F"/>
                </a:solidFill>
                <a:latin typeface="Arial" pitchFamily="34" charset="0"/>
                <a:ea typeface="Arial" pitchFamily="34" charset="-122"/>
                <a:cs typeface="Arial" pitchFamily="34" charset="-120"/>
              </a:rPr>
              <a:t>It is compliant, it needs no approval, and it can be applied to the framework proposal and the ELDA one pager immediately.</a:t>
            </a:r>
            <a:endParaRPr lang="en-US" sz="840" dirty="0"/>
          </a:p>
        </p:txBody>
      </p:sp>
      <p:sp>
        <p:nvSpPr>
          <p:cNvPr id="59" name="Shape 44"/>
          <p:cNvSpPr/>
          <p:nvPr/>
        </p:nvSpPr>
        <p:spPr>
          <a:xfrm>
            <a:off x="457200" y="8375904"/>
            <a:ext cx="256032" cy="256032"/>
          </a:xfrm>
          <a:prstGeom prst="ellipse">
            <a:avLst/>
          </a:prstGeom>
          <a:solidFill>
            <a:srgbClr val="D31145"/>
          </a:solidFill>
          <a:ln/>
        </p:spPr>
      </p:sp>
      <p:sp>
        <p:nvSpPr>
          <p:cNvPr id="60" name="Text 45"/>
          <p:cNvSpPr/>
          <p:nvPr/>
        </p:nvSpPr>
        <p:spPr>
          <a:xfrm>
            <a:off x="457200" y="837590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61" name="Text 46"/>
          <p:cNvSpPr/>
          <p:nvPr/>
        </p:nvSpPr>
        <p:spPr>
          <a:xfrm>
            <a:off x="841248" y="8357616"/>
            <a:ext cx="6263640" cy="201168"/>
          </a:xfrm>
          <a:prstGeom prst="rect">
            <a:avLst/>
          </a:prstGeom>
          <a:noFill/>
          <a:ln/>
        </p:spPr>
        <p:txBody>
          <a:bodyPr wrap="square" lIns="0" tIns="0" rIns="0" bIns="0" rtlCol="0" anchor="ctr"/>
          <a:lstStyle/>
          <a:p>
            <a:pPr algn="l" indent="0" marL="0">
              <a:buNone/>
            </a:pPr>
            <a:r>
              <a:rPr lang="en-US" sz="960" b="1" dirty="0">
                <a:solidFill>
                  <a:srgbClr val="000000"/>
                </a:solidFill>
                <a:latin typeface="Arial" pitchFamily="34" charset="0"/>
                <a:ea typeface="Arial" pitchFamily="34" charset="-122"/>
                <a:cs typeface="Arial" pitchFamily="34" charset="-120"/>
              </a:rPr>
              <a:t>Correct the colour across existing material.</a:t>
            </a:r>
            <a:endParaRPr lang="en-US" sz="960" dirty="0"/>
          </a:p>
        </p:txBody>
      </p:sp>
      <p:sp>
        <p:nvSpPr>
          <p:cNvPr id="62" name="Text 47"/>
          <p:cNvSpPr/>
          <p:nvPr/>
        </p:nvSpPr>
        <p:spPr>
          <a:xfrm>
            <a:off x="841248" y="8549640"/>
            <a:ext cx="6080760" cy="329184"/>
          </a:xfrm>
          <a:prstGeom prst="rect">
            <a:avLst/>
          </a:prstGeom>
          <a:noFill/>
          <a:ln/>
        </p:spPr>
        <p:txBody>
          <a:bodyPr wrap="square" lIns="0" tIns="0" rIns="0" bIns="0" rtlCol="0" anchor="t"/>
          <a:lstStyle/>
          <a:p>
            <a:pPr algn="l" indent="0" marL="0">
              <a:lnSpc>
                <a:spcPct val="112000"/>
              </a:lnSpc>
              <a:buNone/>
            </a:pPr>
            <a:r>
              <a:rPr lang="en-US" sz="840" dirty="0">
                <a:solidFill>
                  <a:srgbClr val="3F3F3F"/>
                </a:solidFill>
                <a:latin typeface="Arial" pitchFamily="34" charset="0"/>
                <a:ea typeface="Arial" pitchFamily="34" charset="-122"/>
                <a:cs typeface="Arial" pitchFamily="34" charset="-120"/>
              </a:rPr>
              <a:t>Replace C62026 with D31145 and the four approximated greens with the published values.</a:t>
            </a:r>
            <a:endParaRPr lang="en-US" sz="840" dirty="0"/>
          </a:p>
        </p:txBody>
      </p:sp>
      <p:sp>
        <p:nvSpPr>
          <p:cNvPr id="63" name="Shape 48"/>
          <p:cNvSpPr/>
          <p:nvPr/>
        </p:nvSpPr>
        <p:spPr>
          <a:xfrm>
            <a:off x="457200" y="8979408"/>
            <a:ext cx="256032" cy="256032"/>
          </a:xfrm>
          <a:prstGeom prst="ellipse">
            <a:avLst/>
          </a:prstGeom>
          <a:solidFill>
            <a:srgbClr val="D31145"/>
          </a:solidFill>
          <a:ln/>
        </p:spPr>
      </p:sp>
      <p:sp>
        <p:nvSpPr>
          <p:cNvPr id="64" name="Text 49"/>
          <p:cNvSpPr/>
          <p:nvPr/>
        </p:nvSpPr>
        <p:spPr>
          <a:xfrm>
            <a:off x="457200" y="897940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65" name="Text 50"/>
          <p:cNvSpPr/>
          <p:nvPr/>
        </p:nvSpPr>
        <p:spPr>
          <a:xfrm>
            <a:off x="841248" y="8961120"/>
            <a:ext cx="6263640" cy="201168"/>
          </a:xfrm>
          <a:prstGeom prst="rect">
            <a:avLst/>
          </a:prstGeom>
          <a:noFill/>
          <a:ln/>
        </p:spPr>
        <p:txBody>
          <a:bodyPr wrap="square" lIns="0" tIns="0" rIns="0" bIns="0" rtlCol="0" anchor="ctr"/>
          <a:lstStyle/>
          <a:p>
            <a:pPr algn="l" indent="0" marL="0">
              <a:buNone/>
            </a:pPr>
            <a:r>
              <a:rPr lang="en-US" sz="960" b="1" dirty="0">
                <a:solidFill>
                  <a:srgbClr val="000000"/>
                </a:solidFill>
                <a:latin typeface="Arial" pitchFamily="34" charset="0"/>
                <a:ea typeface="Arial" pitchFamily="34" charset="-122"/>
                <a:cs typeface="Arial" pitchFamily="34" charset="-120"/>
              </a:rPr>
              <a:t>If a mark is genuinely wanted, ask properly.</a:t>
            </a:r>
            <a:endParaRPr lang="en-US" sz="960" dirty="0"/>
          </a:p>
        </p:txBody>
      </p:sp>
      <p:sp>
        <p:nvSpPr>
          <p:cNvPr id="66" name="Text 51"/>
          <p:cNvSpPr/>
          <p:nvPr/>
        </p:nvSpPr>
        <p:spPr>
          <a:xfrm>
            <a:off x="841248" y="9153144"/>
            <a:ext cx="6080760" cy="329184"/>
          </a:xfrm>
          <a:prstGeom prst="rect">
            <a:avLst/>
          </a:prstGeom>
          <a:noFill/>
          <a:ln/>
        </p:spPr>
        <p:txBody>
          <a:bodyPr wrap="square" lIns="0" tIns="0" rIns="0" bIns="0" rtlCol="0" anchor="t"/>
          <a:lstStyle/>
          <a:p>
            <a:pPr algn="l" indent="0" marL="0">
              <a:lnSpc>
                <a:spcPct val="112000"/>
              </a:lnSpc>
              <a:buNone/>
            </a:pPr>
            <a:r>
              <a:rPr lang="en-US" sz="840" dirty="0">
                <a:solidFill>
                  <a:srgbClr val="3F3F3F"/>
                </a:solidFill>
                <a:latin typeface="Arial" pitchFamily="34" charset="0"/>
                <a:ea typeface="Arial" pitchFamily="34" charset="-122"/>
                <a:cs typeface="Arial" pitchFamily="34" charset="-120"/>
              </a:rPr>
              <a:t>Head of Visual Identity and Design, Defence Public Affairs, 04 496 0297. Expect the answer to be no, and expect that to be the right answer.</a:t>
            </a:r>
            <a:endParaRPr lang="en-US" sz="840" dirty="0"/>
          </a:p>
        </p:txBody>
      </p:sp>
      <p:sp>
        <p:nvSpPr>
          <p:cNvPr id="67" name="Shape 52"/>
          <p:cNvSpPr/>
          <p:nvPr/>
        </p:nvSpPr>
        <p:spPr>
          <a:xfrm>
            <a:off x="457200" y="9710928"/>
            <a:ext cx="6647688" cy="384048"/>
          </a:xfrm>
          <a:prstGeom prst="rect">
            <a:avLst/>
          </a:prstGeom>
          <a:solidFill>
            <a:srgbClr val="F4F4F2"/>
          </a:solidFill>
          <a:ln/>
        </p:spPr>
      </p:sp>
      <p:sp>
        <p:nvSpPr>
          <p:cNvPr id="68" name="Text 53"/>
          <p:cNvSpPr/>
          <p:nvPr/>
        </p:nvSpPr>
        <p:spPr>
          <a:xfrm>
            <a:off x="640080" y="9710928"/>
            <a:ext cx="6281928" cy="384048"/>
          </a:xfrm>
          <a:prstGeom prst="rect">
            <a:avLst/>
          </a:prstGeom>
          <a:noFill/>
          <a:ln/>
        </p:spPr>
        <p:txBody>
          <a:bodyPr wrap="square" lIns="0" tIns="0" rIns="0" bIns="0" rtlCol="0" anchor="ctr"/>
          <a:lstStyle/>
          <a:p>
            <a:pPr algn="l" indent="0" marL="0">
              <a:buNone/>
            </a:pPr>
            <a:r>
              <a:rPr lang="en-US" sz="760" i="1" dirty="0">
                <a:solidFill>
                  <a:srgbClr val="7F7F7F"/>
                </a:solidFill>
                <a:latin typeface="Arial" pitchFamily="34" charset="0"/>
                <a:ea typeface="Arial" pitchFamily="34" charset="-122"/>
                <a:cs typeface="Arial" pitchFamily="34" charset="-120"/>
              </a:rPr>
              <a:t>Note. This board is set in Arial so it renders identically on any machine. Production artwork should be set in Neue Haas Grotesk, or Arial Black where that face is not held.</a:t>
            </a:r>
            <a:endParaRPr lang="en-US" sz="7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Army Command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NZ Army Combat Mindset Visual Identity</dc:title>
  <dc:subject>Visual identity proposal, reviewed against NZDF and NZ Army Visual Identity Guidelines v1.0</dc:subject>
  <dc:creator>PptxGenJS</dc:creator>
  <cp:lastModifiedBy>PptxGenJS</cp:lastModifiedBy>
  <cp:revision>1</cp:revision>
  <dcterms:created xsi:type="dcterms:W3CDTF">2026-08-06T03:09:49Z</dcterms:created>
  <dcterms:modified xsi:type="dcterms:W3CDTF">2026-08-06T03:09:49Z</dcterms:modified>
</cp:coreProperties>
</file>