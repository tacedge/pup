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nz-ar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65760"/>
            <a:ext cx="1371600" cy="3131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51960" y="3840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 Army Leadership Centre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251960" y="5669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centre 43311</a:t>
            </a:r>
            <a:endParaRPr lang="en-US" sz="760" dirty="0"/>
          </a:p>
        </p:txBody>
      </p:sp>
      <p:sp>
        <p:nvSpPr>
          <p:cNvPr id="5" name="Text 2"/>
          <p:cNvSpPr/>
          <p:nvPr/>
        </p:nvSpPr>
        <p:spPr>
          <a:xfrm>
            <a:off x="566928" y="841248"/>
            <a:ext cx="6428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 against budget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66928" y="1133856"/>
            <a:ext cx="6153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2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 of FY26/27. Source: SAP financial management report 43311, July 26, and the NZALC FY26/27 Budget Summary.</a:t>
            </a:r>
            <a:endParaRPr lang="en-US" sz="920" dirty="0"/>
          </a:p>
        </p:txBody>
      </p:sp>
      <p:sp>
        <p:nvSpPr>
          <p:cNvPr id="7" name="Shape 4"/>
          <p:cNvSpPr/>
          <p:nvPr/>
        </p:nvSpPr>
        <p:spPr>
          <a:xfrm>
            <a:off x="566928" y="1572768"/>
            <a:ext cx="6428232" cy="1645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1020470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spc="6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FY26/27 MONTH 1 BUDGET ANALYSIS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4251960" y="102047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spc="6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   |   PAGE 1 OF 2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566928" y="1773936"/>
            <a:ext cx="1511046" cy="987552"/>
          </a:xfrm>
          <a:prstGeom prst="rect">
            <a:avLst/>
          </a:prstGeom>
          <a:solidFill>
            <a:srgbClr val="F5F5F3"/>
          </a:solidFill>
          <a:ln/>
        </p:spPr>
      </p:sp>
      <p:sp>
        <p:nvSpPr>
          <p:cNvPr id="11" name="Shape 8"/>
          <p:cNvSpPr/>
          <p:nvPr/>
        </p:nvSpPr>
        <p:spPr>
          <a:xfrm>
            <a:off x="566928" y="1773936"/>
            <a:ext cx="1511046" cy="2743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694944" y="1883664"/>
            <a:ext cx="12550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" b="1" spc="8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JULY BUDGET</a:t>
            </a:r>
            <a:endParaRPr lang="en-US" sz="640" dirty="0"/>
          </a:p>
        </p:txBody>
      </p:sp>
      <p:sp>
        <p:nvSpPr>
          <p:cNvPr id="13" name="Text 10"/>
          <p:cNvSpPr/>
          <p:nvPr/>
        </p:nvSpPr>
        <p:spPr>
          <a:xfrm>
            <a:off x="694944" y="2084832"/>
            <a:ext cx="12550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$23,015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94944" y="2414016"/>
            <a:ext cx="1255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phased, no courses in July</a:t>
            </a:r>
            <a:endParaRPr lang="en-US" sz="680" dirty="0"/>
          </a:p>
        </p:txBody>
      </p:sp>
      <p:sp>
        <p:nvSpPr>
          <p:cNvPr id="15" name="Shape 12"/>
          <p:cNvSpPr/>
          <p:nvPr/>
        </p:nvSpPr>
        <p:spPr>
          <a:xfrm>
            <a:off x="2205990" y="1773936"/>
            <a:ext cx="1511046" cy="987552"/>
          </a:xfrm>
          <a:prstGeom prst="rect">
            <a:avLst/>
          </a:prstGeom>
          <a:solidFill>
            <a:srgbClr val="F5F5F3"/>
          </a:solidFill>
          <a:ln/>
        </p:spPr>
      </p:sp>
      <p:sp>
        <p:nvSpPr>
          <p:cNvPr id="16" name="Shape 13"/>
          <p:cNvSpPr/>
          <p:nvPr/>
        </p:nvSpPr>
        <p:spPr>
          <a:xfrm>
            <a:off x="2205990" y="1773936"/>
            <a:ext cx="1511046" cy="27432"/>
          </a:xfrm>
          <a:prstGeom prst="rect">
            <a:avLst/>
          </a:prstGeom>
          <a:solidFill>
            <a:srgbClr val="D31145"/>
          </a:solidFill>
          <a:ln/>
        </p:spPr>
      </p:sp>
      <p:sp>
        <p:nvSpPr>
          <p:cNvPr id="17" name="Text 14"/>
          <p:cNvSpPr/>
          <p:nvPr/>
        </p:nvSpPr>
        <p:spPr>
          <a:xfrm>
            <a:off x="2334006" y="1883664"/>
            <a:ext cx="12550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" b="1" spc="8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ACTUAL</a:t>
            </a:r>
            <a:endParaRPr lang="en-US" sz="640" dirty="0"/>
          </a:p>
        </p:txBody>
      </p:sp>
      <p:sp>
        <p:nvSpPr>
          <p:cNvPr id="18" name="Text 15"/>
          <p:cNvSpPr/>
          <p:nvPr/>
        </p:nvSpPr>
        <p:spPr>
          <a:xfrm>
            <a:off x="2334006" y="2084832"/>
            <a:ext cx="12550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$40,535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2334006" y="2414016"/>
            <a:ext cx="1255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176% of the phased budget</a:t>
            </a:r>
            <a:endParaRPr lang="en-US" sz="680" dirty="0"/>
          </a:p>
        </p:txBody>
      </p:sp>
      <p:sp>
        <p:nvSpPr>
          <p:cNvPr id="20" name="Shape 17"/>
          <p:cNvSpPr/>
          <p:nvPr/>
        </p:nvSpPr>
        <p:spPr>
          <a:xfrm>
            <a:off x="3845052" y="1773936"/>
            <a:ext cx="1511046" cy="987552"/>
          </a:xfrm>
          <a:prstGeom prst="rect">
            <a:avLst/>
          </a:prstGeom>
          <a:solidFill>
            <a:srgbClr val="F5F5F3"/>
          </a:solidFill>
          <a:ln/>
        </p:spPr>
      </p:sp>
      <p:sp>
        <p:nvSpPr>
          <p:cNvPr id="21" name="Shape 18"/>
          <p:cNvSpPr/>
          <p:nvPr/>
        </p:nvSpPr>
        <p:spPr>
          <a:xfrm>
            <a:off x="3845052" y="1773936"/>
            <a:ext cx="1511046" cy="27432"/>
          </a:xfrm>
          <a:prstGeom prst="rect">
            <a:avLst/>
          </a:prstGeom>
          <a:solidFill>
            <a:srgbClr val="D31145"/>
          </a:solidFill>
          <a:ln/>
        </p:spPr>
      </p:sp>
      <p:sp>
        <p:nvSpPr>
          <p:cNvPr id="22" name="Text 19"/>
          <p:cNvSpPr/>
          <p:nvPr/>
        </p:nvSpPr>
        <p:spPr>
          <a:xfrm>
            <a:off x="3973068" y="1883664"/>
            <a:ext cx="12550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" b="1" spc="8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</a:t>
            </a:r>
            <a:endParaRPr lang="en-US" sz="640" dirty="0"/>
          </a:p>
        </p:txBody>
      </p:sp>
      <p:sp>
        <p:nvSpPr>
          <p:cNvPr id="23" name="Text 20"/>
          <p:cNvSpPr/>
          <p:nvPr/>
        </p:nvSpPr>
        <p:spPr>
          <a:xfrm>
            <a:off x="3973068" y="2084832"/>
            <a:ext cx="12550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-$17,520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3973068" y="2414016"/>
            <a:ext cx="1255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adverse</a:t>
            </a:r>
            <a:endParaRPr lang="en-US" sz="680" dirty="0"/>
          </a:p>
        </p:txBody>
      </p:sp>
      <p:sp>
        <p:nvSpPr>
          <p:cNvPr id="25" name="Shape 22"/>
          <p:cNvSpPr/>
          <p:nvPr/>
        </p:nvSpPr>
        <p:spPr>
          <a:xfrm>
            <a:off x="5484114" y="1773936"/>
            <a:ext cx="1511046" cy="987552"/>
          </a:xfrm>
          <a:prstGeom prst="rect">
            <a:avLst/>
          </a:prstGeom>
          <a:solidFill>
            <a:srgbClr val="F5F5F3"/>
          </a:solidFill>
          <a:ln/>
        </p:spPr>
      </p:sp>
      <p:sp>
        <p:nvSpPr>
          <p:cNvPr id="26" name="Shape 23"/>
          <p:cNvSpPr/>
          <p:nvPr/>
        </p:nvSpPr>
        <p:spPr>
          <a:xfrm>
            <a:off x="5484114" y="1773936"/>
            <a:ext cx="1511046" cy="2743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4"/>
          <p:cNvSpPr/>
          <p:nvPr/>
        </p:nvSpPr>
        <p:spPr>
          <a:xfrm>
            <a:off x="5612130" y="1883664"/>
            <a:ext cx="12550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" b="1" spc="8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ANNUAL PLAN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5612130" y="2084832"/>
            <a:ext cx="12550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5612130" y="2414016"/>
            <a:ext cx="1255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straight twelfth is 8.3%</a:t>
            </a:r>
            <a:endParaRPr lang="en-US" sz="680" dirty="0"/>
          </a:p>
        </p:txBody>
      </p:sp>
      <p:sp>
        <p:nvSpPr>
          <p:cNvPr id="30" name="Text 27"/>
          <p:cNvSpPr/>
          <p:nvPr/>
        </p:nvSpPr>
        <p:spPr>
          <a:xfrm>
            <a:off x="566928" y="2962656"/>
            <a:ext cx="6428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FINDING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566928" y="3136392"/>
            <a:ext cx="6428232" cy="7315"/>
          </a:xfrm>
          <a:prstGeom prst="rect">
            <a:avLst/>
          </a:prstGeom>
          <a:solidFill>
            <a:srgbClr val="C8C8C8"/>
          </a:solidFill>
          <a:ln/>
        </p:spPr>
      </p:sp>
      <p:sp>
        <p:nvSpPr>
          <p:cNvPr id="32" name="Text 29"/>
          <p:cNvSpPr/>
          <p:nvPr/>
        </p:nvSpPr>
        <p:spPr>
          <a:xfrm>
            <a:off x="566928" y="3255264"/>
            <a:ext cx="6428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delivered no training. The first activity of the year, Ser 01 LSYS NCO Advanced, begins in August. The phased budget recognises this: July carries 2.8 per cent of the annual plan, well under a straight twelfth. Actual spend was 5.0 per cent of the annual plan, so the centre consumed roughly two months of budget in a month with no course output.</a:t>
            </a:r>
            <a:endParaRPr lang="en-US" sz="920" dirty="0"/>
          </a:p>
        </p:txBody>
      </p:sp>
      <p:sp>
        <p:nvSpPr>
          <p:cNvPr id="33" name="Text 30"/>
          <p:cNvSpPr/>
          <p:nvPr/>
        </p:nvSpPr>
        <p:spPr>
          <a:xfrm>
            <a:off x="566928" y="3858768"/>
            <a:ext cx="6428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VARIANCE BY COST ELEMENT</a:t>
            </a:r>
            <a:endParaRPr lang="en-US" sz="740" dirty="0"/>
          </a:p>
        </p:txBody>
      </p:sp>
      <p:sp>
        <p:nvSpPr>
          <p:cNvPr id="34" name="Shape 31"/>
          <p:cNvSpPr/>
          <p:nvPr/>
        </p:nvSpPr>
        <p:spPr>
          <a:xfrm>
            <a:off x="566928" y="4032504"/>
            <a:ext cx="6428232" cy="7315"/>
          </a:xfrm>
          <a:prstGeom prst="rect">
            <a:avLst/>
          </a:prstGeom>
          <a:solidFill>
            <a:srgbClr val="C8C8C8"/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151376"/>
            <a:ext cx="6428232" cy="3831226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66928" y="8128906"/>
            <a:ext cx="6428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8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less actual. Bars left of the datum are overspends. The right-hand columns show the full year plan and the share of it already spent in month one; a straight twelfth would be 8 per cent.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nz-ar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65760"/>
            <a:ext cx="1371600" cy="3131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51960" y="3840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 Army Leadership Centre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251960" y="5669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centre 43311</a:t>
            </a:r>
            <a:endParaRPr lang="en-US" sz="760" dirty="0"/>
          </a:p>
        </p:txBody>
      </p:sp>
      <p:sp>
        <p:nvSpPr>
          <p:cNvPr id="5" name="Text 2"/>
          <p:cNvSpPr/>
          <p:nvPr/>
        </p:nvSpPr>
        <p:spPr>
          <a:xfrm>
            <a:off x="566928" y="841248"/>
            <a:ext cx="6428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year, and what July implies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66928" y="1133856"/>
            <a:ext cx="6153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2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of the SAP full year plan to the NZALC budget, the exposures July has surfaced, and what needs a decision.</a:t>
            </a:r>
            <a:endParaRPr lang="en-US" sz="920" dirty="0"/>
          </a:p>
        </p:txBody>
      </p:sp>
      <p:sp>
        <p:nvSpPr>
          <p:cNvPr id="7" name="Shape 4"/>
          <p:cNvSpPr/>
          <p:nvPr/>
        </p:nvSpPr>
        <p:spPr>
          <a:xfrm>
            <a:off x="566928" y="1572768"/>
            <a:ext cx="6428232" cy="1645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1020470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spc="6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FY26/27 MONTH 1 BUDGET ANALYSIS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4251960" y="102047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spc="6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   |   PAGE 2 OF 2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566928" y="1773936"/>
            <a:ext cx="6428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 —  THE TWO PLANS AGREE</a:t>
            </a:r>
            <a:endParaRPr lang="en-US" sz="740" dirty="0"/>
          </a:p>
        </p:txBody>
      </p:sp>
      <p:sp>
        <p:nvSpPr>
          <p:cNvPr id="11" name="Shape 8"/>
          <p:cNvSpPr/>
          <p:nvPr/>
        </p:nvSpPr>
        <p:spPr>
          <a:xfrm>
            <a:off x="566928" y="1947672"/>
            <a:ext cx="6428232" cy="7315"/>
          </a:xfrm>
          <a:prstGeom prst="rect">
            <a:avLst/>
          </a:prstGeom>
          <a:solidFill>
            <a:srgbClr val="C8C8C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66544"/>
            <a:ext cx="6428232" cy="128564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" y="3443630"/>
            <a:ext cx="6428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plans differ by $50,151. The $50,000 Winsborough uplift accounts for almost all of it, loaded correctly to CE 7290 Professional Fees, which carries $56,551 in SAP against $6,350 in the budget. The rest is line reallocation, chiefly travel down $3,770 offset by training fees up $3,414. Note that the budget summary is internally inconsistent by $150: its cover states variable costs of $502,584, its cost element table $502,434. Against the cover figure the two plans reconcile to $1.</a:t>
            </a:r>
            <a:endParaRPr lang="en-US" sz="880" dirty="0"/>
          </a:p>
        </p:txBody>
      </p:sp>
      <p:sp>
        <p:nvSpPr>
          <p:cNvPr id="14" name="Text 10"/>
          <p:cNvSpPr/>
          <p:nvPr/>
        </p:nvSpPr>
        <p:spPr>
          <a:xfrm>
            <a:off x="566928" y="4284878"/>
            <a:ext cx="6428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EXPOSURES JULY HAS SURFACED</a:t>
            </a:r>
            <a:endParaRPr lang="en-US" sz="740" dirty="0"/>
          </a:p>
        </p:txBody>
      </p:sp>
      <p:sp>
        <p:nvSpPr>
          <p:cNvPr id="15" name="Shape 11"/>
          <p:cNvSpPr/>
          <p:nvPr/>
        </p:nvSpPr>
        <p:spPr>
          <a:xfrm>
            <a:off x="566928" y="4458614"/>
            <a:ext cx="6428232" cy="7315"/>
          </a:xfrm>
          <a:prstGeom prst="rect">
            <a:avLst/>
          </a:prstGeom>
          <a:solidFill>
            <a:srgbClr val="C8C8C8"/>
          </a:solidFill>
          <a:ln/>
        </p:spPr>
      </p:sp>
      <p:sp>
        <p:nvSpPr>
          <p:cNvPr id="16" name="Shape 12"/>
          <p:cNvSpPr/>
          <p:nvPr/>
        </p:nvSpPr>
        <p:spPr>
          <a:xfrm>
            <a:off x="566928" y="4577486"/>
            <a:ext cx="36576" cy="804672"/>
          </a:xfrm>
          <a:prstGeom prst="rect">
            <a:avLst/>
          </a:prstGeom>
          <a:solidFill>
            <a:srgbClr val="D31145"/>
          </a:solidFill>
          <a:ln/>
        </p:spPr>
      </p:sp>
      <p:sp>
        <p:nvSpPr>
          <p:cNvPr id="17" name="Text 13"/>
          <p:cNvSpPr/>
          <p:nvPr/>
        </p:nvSpPr>
        <p:spPr>
          <a:xfrm>
            <a:off x="731520" y="4577486"/>
            <a:ext cx="4965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Spending against cost elements with no budget</a:t>
            </a:r>
            <a:endParaRPr lang="en-US" sz="960" dirty="0"/>
          </a:p>
        </p:txBody>
      </p:sp>
      <p:sp>
        <p:nvSpPr>
          <p:cNvPr id="18" name="Text 14"/>
          <p:cNvSpPr/>
          <p:nvPr/>
        </p:nvSpPr>
        <p:spPr>
          <a:xfrm>
            <a:off x="5623560" y="457748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4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$6,065</a:t>
            </a:r>
            <a:endParaRPr lang="en-US" sz="1040" dirty="0"/>
          </a:p>
        </p:txBody>
      </p:sp>
      <p:sp>
        <p:nvSpPr>
          <p:cNvPr id="19" name="Text 15"/>
          <p:cNvSpPr/>
          <p:nvPr/>
        </p:nvSpPr>
        <p:spPr>
          <a:xfrm>
            <a:off x="731520" y="4796942"/>
            <a:ext cx="6172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40" dirty="0">
                <a:solidFill>
                  <a:srgbClr val="3E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Civilian overtime $2,847 and sundry expenses $3,217 were incurred against lines that carry zero for the year. These are not phasing differences; there is no budget behind them at any point in FY26/27. If they continue at anything like July's rate the annual exposure is material.</a:t>
            </a:r>
            <a:endParaRPr lang="en-US" sz="840" dirty="0"/>
          </a:p>
        </p:txBody>
      </p:sp>
      <p:sp>
        <p:nvSpPr>
          <p:cNvPr id="20" name="Shape 16"/>
          <p:cNvSpPr/>
          <p:nvPr/>
        </p:nvSpPr>
        <p:spPr>
          <a:xfrm>
            <a:off x="566928" y="5464454"/>
            <a:ext cx="36576" cy="804672"/>
          </a:xfrm>
          <a:prstGeom prst="rect">
            <a:avLst/>
          </a:prstGeom>
          <a:solidFill>
            <a:srgbClr val="D31145"/>
          </a:solidFill>
          <a:ln/>
        </p:spPr>
      </p:sp>
      <p:sp>
        <p:nvSpPr>
          <p:cNvPr id="21" name="Text 17"/>
          <p:cNvSpPr/>
          <p:nvPr/>
        </p:nvSpPr>
        <p:spPr>
          <a:xfrm>
            <a:off x="731520" y="5464454"/>
            <a:ext cx="4965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lines largely consumed in month 1</a:t>
            </a:r>
            <a:endParaRPr lang="en-US" sz="960" dirty="0"/>
          </a:p>
        </p:txBody>
      </p:sp>
      <p:sp>
        <p:nvSpPr>
          <p:cNvPr id="22" name="Text 18"/>
          <p:cNvSpPr/>
          <p:nvPr/>
        </p:nvSpPr>
        <p:spPr>
          <a:xfrm>
            <a:off x="5623560" y="546445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4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$6,949</a:t>
            </a:r>
            <a:endParaRPr lang="en-US" sz="1040" dirty="0"/>
          </a:p>
        </p:txBody>
      </p:sp>
      <p:sp>
        <p:nvSpPr>
          <p:cNvPr id="23" name="Text 19"/>
          <p:cNvSpPr/>
          <p:nvPr/>
        </p:nvSpPr>
        <p:spPr>
          <a:xfrm>
            <a:off x="731520" y="5683910"/>
            <a:ext cx="6172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40" dirty="0">
                <a:solidFill>
                  <a:srgbClr val="3E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Civilian allowances at 53 per cent of the annual line, computer hardware at 58 per cent and vehicle licences at 41 per cent. Some of this is legitimately front-loaded, licences and hardware are typically annual purchases, but civilian allowances at over half the year in month one is a run-rate question, not a timing one.</a:t>
            </a:r>
            <a:endParaRPr lang="en-US" sz="840" dirty="0"/>
          </a:p>
        </p:txBody>
      </p:sp>
      <p:sp>
        <p:nvSpPr>
          <p:cNvPr id="24" name="Shape 20"/>
          <p:cNvSpPr/>
          <p:nvPr/>
        </p:nvSpPr>
        <p:spPr>
          <a:xfrm>
            <a:off x="566928" y="6351422"/>
            <a:ext cx="36576" cy="8046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Text 21"/>
          <p:cNvSpPr/>
          <p:nvPr/>
        </p:nvSpPr>
        <p:spPr>
          <a:xfrm>
            <a:off x="731520" y="6351422"/>
            <a:ext cx="4965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forecast is arithmetic, not judgement</a:t>
            </a:r>
            <a:endParaRPr lang="en-US" sz="960" dirty="0"/>
          </a:p>
        </p:txBody>
      </p:sp>
      <p:sp>
        <p:nvSpPr>
          <p:cNvPr id="26" name="Text 22"/>
          <p:cNvSpPr/>
          <p:nvPr/>
        </p:nvSpPr>
        <p:spPr>
          <a:xfrm>
            <a:off x="5623560" y="635142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4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$17,521</a:t>
            </a:r>
            <a:endParaRPr lang="en-US" sz="1040" dirty="0"/>
          </a:p>
        </p:txBody>
      </p:sp>
      <p:sp>
        <p:nvSpPr>
          <p:cNvPr id="27" name="Text 23"/>
          <p:cNvSpPr/>
          <p:nvPr/>
        </p:nvSpPr>
        <p:spPr>
          <a:xfrm>
            <a:off x="731520" y="6570878"/>
            <a:ext cx="6172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40" dirty="0">
                <a:solidFill>
                  <a:srgbClr val="3E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year forecast outturn of $829,147 is simply the July variance added to the remaining phased budget. It assumes every future month lands exactly on plan. It is not a re-forecast and should not be read as one.</a:t>
            </a:r>
            <a:endParaRPr lang="en-US" sz="840" dirty="0"/>
          </a:p>
        </p:txBody>
      </p:sp>
      <p:sp>
        <p:nvSpPr>
          <p:cNvPr id="28" name="Text 24"/>
          <p:cNvSpPr/>
          <p:nvPr/>
        </p:nvSpPr>
        <p:spPr>
          <a:xfrm>
            <a:off x="566928" y="7238390"/>
            <a:ext cx="6428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NEEDS A DECISION</a:t>
            </a:r>
            <a:endParaRPr lang="en-US" sz="740" dirty="0"/>
          </a:p>
        </p:txBody>
      </p:sp>
      <p:sp>
        <p:nvSpPr>
          <p:cNvPr id="29" name="Shape 25"/>
          <p:cNvSpPr/>
          <p:nvPr/>
        </p:nvSpPr>
        <p:spPr>
          <a:xfrm>
            <a:off x="566928" y="7412126"/>
            <a:ext cx="6428232" cy="7315"/>
          </a:xfrm>
          <a:prstGeom prst="rect">
            <a:avLst/>
          </a:prstGeom>
          <a:solidFill>
            <a:srgbClr val="C8C8C8"/>
          </a:solidFill>
          <a:ln/>
        </p:spPr>
      </p:sp>
      <p:sp>
        <p:nvSpPr>
          <p:cNvPr id="30" name="Shape 26"/>
          <p:cNvSpPr/>
          <p:nvPr/>
        </p:nvSpPr>
        <p:spPr>
          <a:xfrm>
            <a:off x="566928" y="7549286"/>
            <a:ext cx="237744" cy="237744"/>
          </a:xfrm>
          <a:prstGeom prst="ellipse">
            <a:avLst/>
          </a:prstGeom>
          <a:solidFill>
            <a:srgbClr val="D31145"/>
          </a:solidFill>
          <a:ln/>
        </p:spPr>
      </p:sp>
      <p:sp>
        <p:nvSpPr>
          <p:cNvPr id="31" name="Text 27"/>
          <p:cNvSpPr/>
          <p:nvPr/>
        </p:nvSpPr>
        <p:spPr>
          <a:xfrm>
            <a:off x="566928" y="754928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60" dirty="0"/>
          </a:p>
        </p:txBody>
      </p:sp>
      <p:sp>
        <p:nvSpPr>
          <p:cNvPr id="32" name="Text 28"/>
          <p:cNvSpPr/>
          <p:nvPr/>
        </p:nvSpPr>
        <p:spPr>
          <a:xfrm>
            <a:off x="932688" y="7530998"/>
            <a:ext cx="6062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where overtime and sundry spend belongs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932688" y="771387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20" dirty="0">
                <a:solidFill>
                  <a:srgbClr val="3E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a budget line is created for CE 6020 and CE 7395, or the spend is reallocated to the cost elements that should carry it. Running a year against zero-budget lines will distort every month's variance from here.</a:t>
            </a:r>
            <a:endParaRPr lang="en-US" sz="820" dirty="0"/>
          </a:p>
        </p:txBody>
      </p:sp>
      <p:sp>
        <p:nvSpPr>
          <p:cNvPr id="34" name="Shape 30"/>
          <p:cNvSpPr/>
          <p:nvPr/>
        </p:nvSpPr>
        <p:spPr>
          <a:xfrm>
            <a:off x="566928" y="8125358"/>
            <a:ext cx="237744" cy="237744"/>
          </a:xfrm>
          <a:prstGeom prst="ellipse">
            <a:avLst/>
          </a:prstGeom>
          <a:solidFill>
            <a:srgbClr val="D31145"/>
          </a:solidFill>
          <a:ln/>
        </p:spPr>
      </p:sp>
      <p:sp>
        <p:nvSpPr>
          <p:cNvPr id="35" name="Text 31"/>
          <p:cNvSpPr/>
          <p:nvPr/>
        </p:nvSpPr>
        <p:spPr>
          <a:xfrm>
            <a:off x="566928" y="812535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60" dirty="0"/>
          </a:p>
        </p:txBody>
      </p:sp>
      <p:sp>
        <p:nvSpPr>
          <p:cNvPr id="36" name="Text 32"/>
          <p:cNvSpPr/>
          <p:nvPr/>
        </p:nvSpPr>
        <p:spPr>
          <a:xfrm>
            <a:off x="932688" y="8107070"/>
            <a:ext cx="6062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whether the civilian allowance rate is correct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932688" y="8289950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20" dirty="0">
                <a:solidFill>
                  <a:srgbClr val="3E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July's rate the $5,260 annual line is exhausted by September. Either the rate is wrong or the budget is.</a:t>
            </a:r>
            <a:endParaRPr lang="en-US" sz="820" dirty="0"/>
          </a:p>
        </p:txBody>
      </p:sp>
      <p:sp>
        <p:nvSpPr>
          <p:cNvPr id="38" name="Shape 34"/>
          <p:cNvSpPr/>
          <p:nvPr/>
        </p:nvSpPr>
        <p:spPr>
          <a:xfrm>
            <a:off x="566928" y="8701430"/>
            <a:ext cx="237744" cy="237744"/>
          </a:xfrm>
          <a:prstGeom prst="ellipse">
            <a:avLst/>
          </a:prstGeom>
          <a:solidFill>
            <a:srgbClr val="D31145"/>
          </a:solidFill>
          <a:ln/>
        </p:spPr>
      </p:sp>
      <p:sp>
        <p:nvSpPr>
          <p:cNvPr id="39" name="Text 35"/>
          <p:cNvSpPr/>
          <p:nvPr/>
        </p:nvSpPr>
        <p:spPr>
          <a:xfrm>
            <a:off x="566928" y="870143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60" dirty="0"/>
          </a:p>
        </p:txBody>
      </p:sp>
      <p:sp>
        <p:nvSpPr>
          <p:cNvPr id="40" name="Text 36"/>
          <p:cNvSpPr/>
          <p:nvPr/>
        </p:nvSpPr>
        <p:spPr>
          <a:xfrm>
            <a:off x="932688" y="8683142"/>
            <a:ext cx="6062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Populate the report narrative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932688" y="8866022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20" dirty="0">
                <a:solidFill>
                  <a:srgbClr val="3E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activities conducted, risks, reprioritisation account and CO's comment fields are all blank, and there is no commentary against any variance. A month 1 report with a 76 per cent overspend and no explanation invites the wrong questions.</a:t>
            </a:r>
            <a:endParaRPr lang="en-US" sz="820" dirty="0"/>
          </a:p>
        </p:txBody>
      </p:sp>
      <p:sp>
        <p:nvSpPr>
          <p:cNvPr id="42" name="Shape 38"/>
          <p:cNvSpPr/>
          <p:nvPr/>
        </p:nvSpPr>
        <p:spPr>
          <a:xfrm>
            <a:off x="566928" y="9277502"/>
            <a:ext cx="237744" cy="237744"/>
          </a:xfrm>
          <a:prstGeom prst="ellipse">
            <a:avLst/>
          </a:prstGeom>
          <a:solidFill>
            <a:srgbClr val="D31145"/>
          </a:solidFill>
          <a:ln/>
        </p:spPr>
      </p:sp>
      <p:sp>
        <p:nvSpPr>
          <p:cNvPr id="43" name="Text 39"/>
          <p:cNvSpPr/>
          <p:nvPr/>
        </p:nvSpPr>
        <p:spPr>
          <a:xfrm>
            <a:off x="566928" y="927750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60" dirty="0"/>
          </a:p>
        </p:txBody>
      </p:sp>
      <p:sp>
        <p:nvSpPr>
          <p:cNvPr id="44" name="Text 40"/>
          <p:cNvSpPr/>
          <p:nvPr/>
        </p:nvSpPr>
        <p:spPr>
          <a:xfrm>
            <a:off x="932688" y="9259214"/>
            <a:ext cx="6062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Re-forecast after the first courses complete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932688" y="9442094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20" dirty="0">
                <a:solidFill>
                  <a:srgbClr val="3E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and September carry seven activities. Actual course costs against the per-course budget will be the first real test of the variable-cost assumptions, and the point at which a genuine re-forecast becomes possible.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NZ Army Leadership Centre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NZALC FY26/27 Month 1 Budget Analysis</dc:title>
  <dc:subject>PptxGenJS Presentation</dc:subject>
  <dc:creator>PptxGenJS</dc:creator>
  <cp:lastModifiedBy>PptxGenJS</cp:lastModifiedBy>
  <cp:revision>1</cp:revision>
  <dcterms:created xsi:type="dcterms:W3CDTF">2026-08-09T22:48:30Z</dcterms:created>
  <dcterms:modified xsi:type="dcterms:W3CDTF">2026-08-09T22:48:30Z</dcterms:modified>
</cp:coreProperties>
</file>