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 — BRANDMARK CONCEPTS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 board for discussion. No mark is endorsed; the NZ Army wordmark remains the sole official logo.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987552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332" y="1188720"/>
            <a:ext cx="1133856" cy="11338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241401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THE RETICLE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6883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5316" y="2670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300" dirty="0"/>
          </a:p>
          <a:p>
            <a:pPr algn="l" indent="0" marL="0">
              <a:buNone/>
            </a:pPr>
            <a:r>
              <a:rPr lang="en-US" sz="6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" y="321868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under threat. Extends the crosshair motif already used across the Way Forward suite.</a:t>
            </a:r>
            <a:endParaRPr lang="en-US" sz="740" dirty="0"/>
          </a:p>
        </p:txBody>
      </p:sp>
      <p:sp>
        <p:nvSpPr>
          <p:cNvPr id="18" name="Shape 13"/>
          <p:cNvSpPr/>
          <p:nvPr/>
        </p:nvSpPr>
        <p:spPr>
          <a:xfrm>
            <a:off x="3858768" y="987552"/>
            <a:ext cx="3246120" cy="2944368"/>
          </a:xfrm>
          <a:prstGeom prst="rect">
            <a:avLst/>
          </a:prstGeom>
          <a:solidFill>
            <a:srgbClr val="002516"/>
          </a:solidFill>
          <a:ln w="9525">
            <a:solidFill>
              <a:srgbClr val="002516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1188720"/>
            <a:ext cx="1133856" cy="11338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95928" y="2414016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TWO STATES, ONE MIND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1396" y="268833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786884" y="2670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300" dirty="0"/>
          </a:p>
          <a:p>
            <a:pPr algn="l" indent="0" marL="0">
              <a:buNone/>
            </a:pPr>
            <a:r>
              <a:rPr lang="en-US" sz="64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023360" y="3218688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head–blue head heritage: arousal mastered, not suppressed. One mind holding both states.</a:t>
            </a:r>
            <a:endParaRPr lang="en-US" sz="740" dirty="0"/>
          </a:p>
        </p:txBody>
      </p:sp>
      <p:sp>
        <p:nvSpPr>
          <p:cNvPr id="24" name="Shape 17"/>
          <p:cNvSpPr/>
          <p:nvPr/>
        </p:nvSpPr>
        <p:spPr>
          <a:xfrm>
            <a:off x="457200" y="4087368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332" y="4288536"/>
            <a:ext cx="1133856" cy="11338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94360" y="55138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THE CORE HOLDS</a:t>
            </a:r>
            <a:endParaRPr lang="en-US" sz="9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" y="5788152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385316" y="5769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300" dirty="0"/>
          </a:p>
          <a:p>
            <a:pPr algn="l" indent="0" marL="0">
              <a:buNone/>
            </a:pPr>
            <a:r>
              <a:rPr lang="en-US" sz="6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21792" y="631850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bears down in waves; the core remains intact. Direct read of Performance Under Pressure.</a:t>
            </a:r>
            <a:endParaRPr lang="en-US" sz="740" dirty="0"/>
          </a:p>
        </p:txBody>
      </p:sp>
      <p:sp>
        <p:nvSpPr>
          <p:cNvPr id="30" name="Shape 21"/>
          <p:cNvSpPr/>
          <p:nvPr/>
        </p:nvSpPr>
        <p:spPr>
          <a:xfrm>
            <a:off x="3858768" y="4087368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4900" y="4288536"/>
            <a:ext cx="1133856" cy="11338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3995928" y="5513832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STEADY UNDER FIRE</a:t>
            </a:r>
            <a:endParaRPr lang="en-US" sz="9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1396" y="5788152"/>
            <a:ext cx="384048" cy="38404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4786884" y="57698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300" dirty="0"/>
          </a:p>
          <a:p>
            <a:pPr algn="l" indent="0" marL="0">
              <a:buNone/>
            </a:pPr>
            <a:r>
              <a:rPr lang="en-US" sz="6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4023360" y="6318504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Interference settles into effective action: performance = potential − interference, drawn as a line.</a:t>
            </a:r>
            <a:endParaRPr lang="en-US" sz="740" dirty="0"/>
          </a:p>
        </p:txBody>
      </p:sp>
      <p:sp>
        <p:nvSpPr>
          <p:cNvPr id="36" name="Shape 25"/>
          <p:cNvSpPr/>
          <p:nvPr/>
        </p:nvSpPr>
        <p:spPr>
          <a:xfrm>
            <a:off x="457200" y="7187184"/>
            <a:ext cx="3246120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13332" y="7388352"/>
            <a:ext cx="1133856" cy="1133856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94360" y="86136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THE KORU COIL</a:t>
            </a:r>
            <a:endParaRPr lang="en-US" sz="95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28" y="8887968"/>
            <a:ext cx="384048" cy="38404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385316" y="88696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300" dirty="0"/>
          </a:p>
          <a:p>
            <a:pPr algn="l" indent="0" marL="0">
              <a:buNone/>
            </a:pPr>
            <a:r>
              <a:rPr lang="en-US" sz="6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300" dirty="0"/>
          </a:p>
        </p:txBody>
      </p:sp>
      <p:sp>
        <p:nvSpPr>
          <p:cNvPr id="41" name="Text 28"/>
          <p:cNvSpPr/>
          <p:nvPr/>
        </p:nvSpPr>
        <p:spPr>
          <a:xfrm>
            <a:off x="621792" y="9418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identity: a koru wound like a spring under load — strength and growth through pressure.</a:t>
            </a:r>
            <a:endParaRPr lang="en-US" sz="740" dirty="0"/>
          </a:p>
        </p:txBody>
      </p:sp>
      <p:sp>
        <p:nvSpPr>
          <p:cNvPr id="42" name="Shape 29"/>
          <p:cNvSpPr/>
          <p:nvPr/>
        </p:nvSpPr>
        <p:spPr>
          <a:xfrm>
            <a:off x="3858768" y="7187184"/>
            <a:ext cx="3246120" cy="2944368"/>
          </a:xfrm>
          <a:prstGeom prst="rect">
            <a:avLst/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14900" y="7388352"/>
            <a:ext cx="1133856" cy="1133856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3995928" y="8613648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CM STENCIL ROUNDEL</a:t>
            </a:r>
            <a:endParaRPr lang="en-US" sz="95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1396" y="8887968"/>
            <a:ext cx="384048" cy="384048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4786884" y="88696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MINDSET</a:t>
            </a:r>
            <a:endParaRPr lang="en-US" sz="1300" dirty="0"/>
          </a:p>
          <a:p>
            <a:pPr algn="l" indent="0" marL="0">
              <a:buNone/>
            </a:pPr>
            <a:r>
              <a:rPr lang="en-US" sz="640" i="1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 effective. Act decisively.</a:t>
            </a:r>
            <a:endParaRPr lang="en-US" sz="1300" dirty="0"/>
          </a:p>
        </p:txBody>
      </p:sp>
      <p:sp>
        <p:nvSpPr>
          <p:cNvPr id="47" name="Text 32"/>
          <p:cNvSpPr/>
          <p:nvPr/>
        </p:nvSpPr>
        <p:spPr>
          <a:xfrm>
            <a:off x="4023360" y="9418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4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Utilitarian military stencil for patches, course materials and slides. Reads at any size.</a:t>
            </a:r>
            <a:endParaRPr lang="en-US" sz="740" dirty="0"/>
          </a:p>
        </p:txBody>
      </p:sp>
      <p:sp>
        <p:nvSpPr>
          <p:cNvPr id="48" name="Text 33"/>
          <p:cNvSpPr/>
          <p:nvPr/>
        </p:nvSpPr>
        <p:spPr>
          <a:xfrm>
            <a:off x="457200" y="10186416"/>
            <a:ext cx="6647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criteria: reads at patch size · monochrome-safe · consistent with NZDF Visual Identity Standards palette · distinct from existing NZDF unit insignia [verify against Defence heraldry before adoption].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2026-07-27T08:10:56Z</dcterms:created>
  <dcterms:modified xsi:type="dcterms:W3CDTF">2026-07-27T08:10:56Z</dcterms:modified>
</cp:coreProperties>
</file>