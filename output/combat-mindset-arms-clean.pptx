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1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524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  ·  ACS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212080" y="105247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board 6  ·  July 2026</a:t>
            </a:r>
            <a:endParaRPr lang="en-US" sz="600" dirty="0"/>
          </a:p>
        </p:txBody>
      </p:sp>
      <p:pic>
        <p:nvPicPr>
          <p:cNvPr id="8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"/>
            <a:ext cx="1005840" cy="2432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74320"/>
            <a:ext cx="5413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SWORD AND TAIAHA — CLEAN MARKS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91640" y="530352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crossed arms rendered in the clean brandmark language: dark green on white, red reserved for the tauri. Exploration only.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822960"/>
            <a:ext cx="66476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005840"/>
            <a:ext cx="211226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1207008"/>
            <a:ext cx="1737360" cy="1737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60120" y="3090672"/>
            <a:ext cx="1106424" cy="0"/>
          </a:xfrm>
          <a:prstGeom prst="line">
            <a:avLst/>
          </a:prstGeom>
          <a:noFill/>
          <a:ln w="12700">
            <a:solidFill>
              <a:srgbClr val="A8966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3182112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8A  FOCUS POINT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3401568"/>
            <a:ext cx="1837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broken ring holds the arms loosely — focus gathering around the profession of arms.</a:t>
            </a:r>
            <a:endParaRPr lang="en-US" sz="720" dirty="0"/>
          </a:p>
        </p:txBody>
      </p:sp>
      <p:sp>
        <p:nvSpPr>
          <p:cNvPr id="17" name="Shape 13"/>
          <p:cNvSpPr/>
          <p:nvPr/>
        </p:nvSpPr>
        <p:spPr>
          <a:xfrm>
            <a:off x="2724912" y="1005840"/>
            <a:ext cx="211226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364" y="1207008"/>
            <a:ext cx="1737360" cy="17373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27832" y="3090672"/>
            <a:ext cx="1106424" cy="0"/>
          </a:xfrm>
          <a:prstGeom prst="line">
            <a:avLst/>
          </a:prstGeom>
          <a:noFill/>
          <a:ln w="12700">
            <a:solidFill>
              <a:srgbClr val="A8966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816352" y="3182112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  OBJECTIVE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862072" y="3401568"/>
            <a:ext cx="1837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Sight ticks cross the ring: the crossed arms as the objective. Strongest reticle read.</a:t>
            </a:r>
            <a:endParaRPr lang="en-US" sz="720" dirty="0"/>
          </a:p>
        </p:txBody>
      </p:sp>
      <p:sp>
        <p:nvSpPr>
          <p:cNvPr id="22" name="Shape 17"/>
          <p:cNvSpPr/>
          <p:nvPr/>
        </p:nvSpPr>
        <p:spPr>
          <a:xfrm>
            <a:off x="4992624" y="1005840"/>
            <a:ext cx="2112264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076" y="1207008"/>
            <a:ext cx="1737360" cy="173736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495544" y="3090672"/>
            <a:ext cx="1106424" cy="0"/>
          </a:xfrm>
          <a:prstGeom prst="line">
            <a:avLst/>
          </a:prstGeom>
          <a:noFill/>
          <a:ln w="12700">
            <a:solidFill>
              <a:srgbClr val="A8966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84064" y="3182112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8C  ENDURING CENTRE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129784" y="3401568"/>
            <a:ext cx="1837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heavy unbroken ring: pressure surrounds, the arms remain. Simplest and boldest.</a:t>
            </a:r>
            <a:endParaRPr lang="en-US" sz="720" dirty="0"/>
          </a:p>
        </p:txBody>
      </p:sp>
      <p:sp>
        <p:nvSpPr>
          <p:cNvPr id="27" name="Shape 21"/>
          <p:cNvSpPr/>
          <p:nvPr/>
        </p:nvSpPr>
        <p:spPr>
          <a:xfrm>
            <a:off x="457200" y="4270248"/>
            <a:ext cx="66476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A8966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4270248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PROMISE:  </a:t>
            </a:r>
            <a:pPr algn="ctr" indent="0" marL="0">
              <a:buNone/>
            </a:pPr>
            <a:r>
              <a:rPr lang="en-US" sz="1000" b="1" spc="150" kern="0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 IN COMBAT.</a:t>
            </a:r>
            <a:pPr algn="ctr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ACT DECISIVELY.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4727448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EXAMPLES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457200" y="4965192"/>
            <a:ext cx="32461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40080" y="5193792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A89662"/>
            </a:solidFill>
            <a:prstDash val="solid"/>
          </a:ln>
        </p:spPr>
      </p:sp>
      <p:pic>
        <p:nvPicPr>
          <p:cNvPr id="32" name="Image 4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385816"/>
            <a:ext cx="658368" cy="159106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536192" y="5285232"/>
            <a:ext cx="0" cy="384048"/>
          </a:xfrm>
          <a:prstGeom prst="line">
            <a:avLst/>
          </a:prstGeom>
          <a:noFill/>
          <a:ln w="9525">
            <a:solidFill>
              <a:srgbClr val="A89662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0" y="5294376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103120" y="519379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950" dirty="0"/>
          </a:p>
          <a:p>
            <a:pPr algn="l" indent="0" marL="0">
              <a:buNone/>
            </a:pPr>
            <a:r>
              <a:rPr lang="en-US" sz="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ACT DECISIVELY.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640080" y="580644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master header</a:t>
            </a:r>
            <a:endParaRPr lang="en-US" sz="6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6245352"/>
            <a:ext cx="603504" cy="603504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1627632" y="6263640"/>
            <a:ext cx="0" cy="566928"/>
          </a:xfrm>
          <a:prstGeom prst="line">
            <a:avLst/>
          </a:prstGeom>
          <a:noFill/>
          <a:ln w="12700">
            <a:solidFill>
              <a:srgbClr val="A8966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755648" y="622706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40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ACT DECISIVELY.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640080" y="699516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horizontal lockup</a:t>
            </a:r>
            <a:endParaRPr lang="en-US" sz="650" dirty="0"/>
          </a:p>
        </p:txBody>
      </p:sp>
      <p:sp>
        <p:nvSpPr>
          <p:cNvPr id="41" name="Shape 32"/>
          <p:cNvSpPr/>
          <p:nvPr/>
        </p:nvSpPr>
        <p:spPr>
          <a:xfrm>
            <a:off x="3858768" y="4965192"/>
            <a:ext cx="32461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4636008" y="5129784"/>
            <a:ext cx="1691640" cy="2011680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7780" y="5294376"/>
            <a:ext cx="768096" cy="76809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636008" y="61356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4636008" y="63185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DECISIVELY.</a:t>
            </a:r>
            <a:endParaRPr lang="en-US" sz="660" dirty="0"/>
          </a:p>
        </p:txBody>
      </p:sp>
      <p:sp>
        <p:nvSpPr>
          <p:cNvPr id="46" name="Shape 36"/>
          <p:cNvSpPr/>
          <p:nvPr/>
        </p:nvSpPr>
        <p:spPr>
          <a:xfrm>
            <a:off x="5001768" y="6684264"/>
            <a:ext cx="960120" cy="0"/>
          </a:xfrm>
          <a:prstGeom prst="line">
            <a:avLst/>
          </a:prstGeom>
          <a:noFill/>
          <a:ln w="9525">
            <a:solidFill>
              <a:srgbClr val="A8966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4636008" y="67574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HANDBOOK</a:t>
            </a:r>
            <a:endParaRPr lang="en-US" sz="650" dirty="0"/>
          </a:p>
        </p:txBody>
      </p:sp>
      <p:sp>
        <p:nvSpPr>
          <p:cNvPr id="48" name="Text 38"/>
          <p:cNvSpPr/>
          <p:nvPr/>
        </p:nvSpPr>
        <p:spPr>
          <a:xfrm>
            <a:off x="4041648" y="721461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handbook cover</a:t>
            </a:r>
            <a:endParaRPr lang="en-US" sz="650" dirty="0"/>
          </a:p>
        </p:txBody>
      </p:sp>
      <p:sp>
        <p:nvSpPr>
          <p:cNvPr id="49" name="Text 39"/>
          <p:cNvSpPr/>
          <p:nvPr/>
        </p:nvSpPr>
        <p:spPr>
          <a:xfrm>
            <a:off x="914400" y="7680960"/>
            <a:ext cx="5733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NZ Army wordmark remains the sole official logo; these marks are exploration only.</a:t>
            </a:r>
            <a:endParaRPr lang="en-US" sz="72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Weapons are simplified redrawings from the Badge of the New Zealand Army — Defence heraldry approval and cultural consultation (taiaha) required before adoption.</a:t>
            </a:r>
            <a:endParaRPr lang="en-US" sz="72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option's tagline reads “Act decisively” (per the clean exploration board) — final wording still to be confirmed.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2026-07-27T08:52:51Z</dcterms:created>
  <dcterms:modified xsi:type="dcterms:W3CDTF">2026-07-27T08:52:51Z</dcterms:modified>
</cp:coreProperties>
</file>