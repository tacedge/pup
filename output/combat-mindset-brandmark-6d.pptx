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1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1052474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5212080" y="10524744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board 3  ·  July 2026</a:t>
            </a:r>
            <a:endParaRPr lang="en-US" sz="600" dirty="0"/>
          </a:p>
        </p:txBody>
      </p:sp>
      <p:pic>
        <p:nvPicPr>
          <p:cNvPr id="8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10896"/>
            <a:ext cx="1005840" cy="243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74320"/>
            <a:ext cx="5413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 RETICLE ROUNDEL — LOCKUP SYSTEM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691640" y="530352"/>
            <a:ext cx="5413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Brandmark, wordmark and tagline. Exploration only; no mark is endorsed. NZ Army wordmark remains the sole official logo.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822960"/>
            <a:ext cx="664768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969264"/>
            <a:ext cx="66476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280160"/>
            <a:ext cx="1005840" cy="10058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194560" y="13167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spc="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2900" dirty="0"/>
          </a:p>
        </p:txBody>
      </p:sp>
      <p:sp>
        <p:nvSpPr>
          <p:cNvPr id="15" name="Shape 11"/>
          <p:cNvSpPr/>
          <p:nvPr/>
        </p:nvSpPr>
        <p:spPr>
          <a:xfrm>
            <a:off x="2249424" y="1847088"/>
            <a:ext cx="3794760" cy="0"/>
          </a:xfrm>
          <a:prstGeom prst="line">
            <a:avLst/>
          </a:prstGeom>
          <a:noFill/>
          <a:ln w="12700">
            <a:solidFill>
              <a:srgbClr val="A8966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194560" y="19202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 ACT DECISIVE.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7200" y="2523744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LOCKUP — HORIZONTAL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57200" y="2926080"/>
            <a:ext cx="32461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3127248"/>
            <a:ext cx="1005840" cy="10058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48640" y="42245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spc="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548640" y="453542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150" kern="0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 ACT DECISIVE.</a:t>
            </a:r>
            <a:endParaRPr lang="en-US" sz="760" dirty="0"/>
          </a:p>
        </p:txBody>
      </p:sp>
      <p:sp>
        <p:nvSpPr>
          <p:cNvPr id="22" name="Text 17"/>
          <p:cNvSpPr/>
          <p:nvPr/>
        </p:nvSpPr>
        <p:spPr>
          <a:xfrm>
            <a:off x="457200" y="4956048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STACKED — CENTRED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3858768" y="2926080"/>
            <a:ext cx="3246120" cy="22860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127248"/>
            <a:ext cx="1005840" cy="10058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950208" y="42245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1750" dirty="0"/>
          </a:p>
        </p:txBody>
      </p:sp>
      <p:sp>
        <p:nvSpPr>
          <p:cNvPr id="26" name="Text 20"/>
          <p:cNvSpPr/>
          <p:nvPr/>
        </p:nvSpPr>
        <p:spPr>
          <a:xfrm>
            <a:off x="3950208" y="453542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150" kern="0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 ACT DECISIVE.</a:t>
            </a:r>
            <a:endParaRPr lang="en-US" sz="760" dirty="0"/>
          </a:p>
        </p:txBody>
      </p:sp>
      <p:sp>
        <p:nvSpPr>
          <p:cNvPr id="27" name="Text 21"/>
          <p:cNvSpPr/>
          <p:nvPr/>
        </p:nvSpPr>
        <p:spPr>
          <a:xfrm>
            <a:off x="3858768" y="4956048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57200" y="5367528"/>
            <a:ext cx="32461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5532120"/>
            <a:ext cx="1737360" cy="173736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7200" y="7397496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CREST — PATCH AND COLOURS</a:t>
            </a:r>
            <a:endParaRPr lang="en-US" sz="800" dirty="0"/>
          </a:p>
        </p:txBody>
      </p:sp>
      <p:sp>
        <p:nvSpPr>
          <p:cNvPr id="31" name="Shape 24"/>
          <p:cNvSpPr/>
          <p:nvPr/>
        </p:nvSpPr>
        <p:spPr>
          <a:xfrm>
            <a:off x="3858768" y="5367528"/>
            <a:ext cx="32461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041648" y="5687568"/>
            <a:ext cx="2880360" cy="310896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3088" y="5724144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425696" y="56875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pPr algn="l" indent="0" marL="0">
              <a:buNone/>
            </a:pPr>
            <a:r>
              <a:rPr lang="en-US" sz="580" b="1" spc="5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REMAIN EFFECTIVE. ACT DECISIVE.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4041648" y="6208776"/>
            <a:ext cx="28803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A8966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3088" y="6245352"/>
            <a:ext cx="237744" cy="23774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425696" y="62087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900" dirty="0"/>
          </a:p>
        </p:txBody>
      </p:sp>
      <p:sp>
        <p:nvSpPr>
          <p:cNvPr id="38" name="Text 29"/>
          <p:cNvSpPr/>
          <p:nvPr/>
        </p:nvSpPr>
        <p:spPr>
          <a:xfrm>
            <a:off x="4425696" y="6208776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handbook</a:t>
            </a:r>
            <a:endParaRPr lang="en-US" sz="650" dirty="0"/>
          </a:p>
        </p:txBody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1648" y="6739128"/>
            <a:ext cx="502920" cy="50292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4681728" y="67391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Roundel stands alone once the association is established — slide corners, coins, signage.</a:t>
            </a:r>
            <a:endParaRPr lang="en-US" sz="720" dirty="0"/>
          </a:p>
        </p:txBody>
      </p:sp>
      <p:sp>
        <p:nvSpPr>
          <p:cNvPr id="41" name="Text 31"/>
          <p:cNvSpPr/>
          <p:nvPr/>
        </p:nvSpPr>
        <p:spPr>
          <a:xfrm>
            <a:off x="3858768" y="7397496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IN-LINE</a:t>
            </a:r>
            <a:endParaRPr lang="en-US" sz="800" dirty="0"/>
          </a:p>
        </p:txBody>
      </p:sp>
      <p:sp>
        <p:nvSpPr>
          <p:cNvPr id="42" name="Shape 32"/>
          <p:cNvSpPr/>
          <p:nvPr/>
        </p:nvSpPr>
        <p:spPr>
          <a:xfrm>
            <a:off x="457200" y="7808976"/>
            <a:ext cx="137160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43" name="Image 8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7918704"/>
            <a:ext cx="411480" cy="99670"/>
          </a:xfrm>
          <a:prstGeom prst="rect">
            <a:avLst/>
          </a:prstGeom>
        </p:spPr>
      </p:pic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8266176"/>
            <a:ext cx="365760" cy="36576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566928" y="866851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</a:t>
            </a:r>
            <a:endParaRPr lang="en-US" sz="1050" dirty="0"/>
          </a:p>
        </p:txBody>
      </p:sp>
      <p:sp>
        <p:nvSpPr>
          <p:cNvPr id="46" name="Text 34"/>
          <p:cNvSpPr/>
          <p:nvPr/>
        </p:nvSpPr>
        <p:spPr>
          <a:xfrm>
            <a:off x="566928" y="90525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" b="1" spc="50" kern="0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 ACT DECISIVE.</a:t>
            </a:r>
            <a:endParaRPr lang="en-US" sz="460" dirty="0"/>
          </a:p>
        </p:txBody>
      </p:sp>
      <p:sp>
        <p:nvSpPr>
          <p:cNvPr id="47" name="Shape 35"/>
          <p:cNvSpPr/>
          <p:nvPr/>
        </p:nvSpPr>
        <p:spPr>
          <a:xfrm>
            <a:off x="566928" y="9381744"/>
            <a:ext cx="822960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48" name="Shape 36"/>
          <p:cNvSpPr/>
          <p:nvPr/>
        </p:nvSpPr>
        <p:spPr>
          <a:xfrm>
            <a:off x="566928" y="9491472"/>
            <a:ext cx="1005840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457200" y="976579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680" dirty="0"/>
          </a:p>
        </p:txBody>
      </p:sp>
      <p:sp>
        <p:nvSpPr>
          <p:cNvPr id="50" name="Shape 38"/>
          <p:cNvSpPr/>
          <p:nvPr/>
        </p:nvSpPr>
        <p:spPr>
          <a:xfrm>
            <a:off x="2011680" y="8083296"/>
            <a:ext cx="2103120" cy="1188720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8840" y="8220456"/>
            <a:ext cx="310896" cy="310896"/>
          </a:xfrm>
          <a:prstGeom prst="rect">
            <a:avLst/>
          </a:prstGeom>
        </p:spPr>
      </p:pic>
      <p:sp>
        <p:nvSpPr>
          <p:cNvPr id="52" name="Text 39"/>
          <p:cNvSpPr/>
          <p:nvPr/>
        </p:nvSpPr>
        <p:spPr>
          <a:xfrm>
            <a:off x="2542032" y="82204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950" dirty="0"/>
          </a:p>
        </p:txBody>
      </p:sp>
      <p:sp>
        <p:nvSpPr>
          <p:cNvPr id="53" name="Shape 40"/>
          <p:cNvSpPr/>
          <p:nvPr/>
        </p:nvSpPr>
        <p:spPr>
          <a:xfrm>
            <a:off x="2148840" y="8650224"/>
            <a:ext cx="1828800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sp>
        <p:nvSpPr>
          <p:cNvPr id="54" name="Shape 41"/>
          <p:cNvSpPr/>
          <p:nvPr/>
        </p:nvSpPr>
        <p:spPr>
          <a:xfrm>
            <a:off x="2148840" y="8796528"/>
            <a:ext cx="1554480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sp>
        <p:nvSpPr>
          <p:cNvPr id="55" name="Shape 42"/>
          <p:cNvSpPr/>
          <p:nvPr/>
        </p:nvSpPr>
        <p:spPr>
          <a:xfrm>
            <a:off x="2148840" y="8942832"/>
            <a:ext cx="1691640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sp>
        <p:nvSpPr>
          <p:cNvPr id="56" name="Text 43"/>
          <p:cNvSpPr/>
          <p:nvPr/>
        </p:nvSpPr>
        <p:spPr>
          <a:xfrm>
            <a:off x="2011680" y="9326880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master</a:t>
            </a:r>
            <a:endParaRPr lang="en-US" sz="680" dirty="0"/>
          </a:p>
        </p:txBody>
      </p:sp>
      <p:sp>
        <p:nvSpPr>
          <p:cNvPr id="57" name="Text 44"/>
          <p:cNvSpPr/>
          <p:nvPr/>
        </p:nvSpPr>
        <p:spPr>
          <a:xfrm>
            <a:off x="4343400" y="7854696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sizes: roundel alone 8 mm; horizontal lockup 40 mm wide; crest 25 mm.</a:t>
            </a:r>
            <a:endParaRPr lang="en-US" sz="72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space around the mark equals one tick length on all sides.</a:t>
            </a:r>
            <a:endParaRPr lang="en-US" sz="72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Tagline always set in Army Red, capitals, letterspaced; never reworded or split.</a:t>
            </a:r>
            <a:endParaRPr lang="en-US" sz="72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Tagline as directed: “Remain Effective. Act Decisive.” The Way Forward suite currently uses “Act decisively” — confirm final form before rollout.</a:t>
            </a:r>
            <a:endParaRPr lang="en-US" sz="72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Mark, wordmark and tagline remain subject to sponsor endorsement and Defence heraldry check.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2026-07-27T08:27:44Z</dcterms:created>
  <dcterms:modified xsi:type="dcterms:W3CDTF">2026-07-27T08:27:44Z</dcterms:modified>
</cp:coreProperties>
</file>