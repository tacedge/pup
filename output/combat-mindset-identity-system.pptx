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1A1A1A"/>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Developed by</a:t>
            </a:r>
            <a:endParaRPr lang="en-US" sz="800" dirty="0"/>
          </a:p>
        </p:txBody>
      </p:sp>
      <p:sp>
        <p:nvSpPr>
          <p:cNvPr id="11" name="Text 7"/>
          <p:cNvSpPr/>
          <p:nvPr/>
        </p:nvSpPr>
        <p:spPr>
          <a:xfrm>
            <a:off x="2157984" y="885139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for internal consideration</a:t>
            </a:r>
            <a:endParaRPr lang="en-US" sz="800" dirty="0"/>
          </a:p>
        </p:txBody>
      </p:sp>
      <p:sp>
        <p:nvSpPr>
          <p:cNvPr id="12" name="Text 8"/>
          <p:cNvSpPr/>
          <p:nvPr/>
        </p:nvSpPr>
        <p:spPr>
          <a:xfrm>
            <a:off x="566928" y="9180576"/>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Proposed reviewers</a:t>
            </a:r>
            <a:endParaRPr lang="en-US" sz="800" dirty="0"/>
          </a:p>
        </p:txBody>
      </p:sp>
      <p:sp>
        <p:nvSpPr>
          <p:cNvPr id="13" name="Text 9"/>
          <p:cNvSpPr/>
          <p:nvPr/>
        </p:nvSpPr>
        <p:spPr>
          <a:xfrm>
            <a:off x="2157984" y="9180576"/>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COMDT ACS; HPC; Head of Visual Identity and Design, Defence Public Affairs</a:t>
            </a:r>
            <a:endParaRPr lang="en-US" sz="800" dirty="0"/>
          </a:p>
        </p:txBody>
      </p:sp>
      <p:sp>
        <p:nvSpPr>
          <p:cNvPr id="14" name="Text 10"/>
          <p:cNvSpPr/>
          <p:nvPr/>
        </p:nvSpPr>
        <p:spPr>
          <a:xfrm>
            <a:off x="566928" y="940003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157984" y="940003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Governing concept selected. Draft for review; not an approved standard.</a:t>
            </a:r>
            <a:endParaRPr lang="en-US" sz="800" dirty="0"/>
          </a:p>
        </p:txBody>
      </p:sp>
      <p:sp>
        <p:nvSpPr>
          <p:cNvPr id="16" name="Text 12"/>
          <p:cNvSpPr/>
          <p:nvPr/>
        </p:nvSpPr>
        <p:spPr>
          <a:xfrm>
            <a:off x="566928" y="9619488"/>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157984" y="9619488"/>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V0.6,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and controlled military information systems than to a branded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Selected concept: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Considered: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Considered: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decision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Title treatment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Title treatment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DOCTRINE AS PRECEDENT</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position</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borrows doctrine's enduring qualities without claiming doctrinal status. What the framework becomes is decided through the programme, not by its identity.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FOLLOWS FROM TAKING DOCTRINE AS THE PRECEDENT</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freestanding brand mark, badge, patch or symbol. The identity is carried by typography, structure and functional notation.</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complete formal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controlled identifier on every governed content item.</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Visible novelty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fades. Institutional systems endure.</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SELECTED CONCEPT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237744"/>
          </a:xfrm>
          <a:prstGeom prst="rect">
            <a:avLst/>
          </a:prstGeom>
          <a:solidFill>
            <a:srgbClr val="1A1A1A"/>
          </a:solidFill>
          <a:ln/>
        </p:spPr>
      </p:sp>
      <p:sp>
        <p:nvSpPr>
          <p:cNvPr id="11" name="Shape 8"/>
          <p:cNvSpPr/>
          <p:nvPr/>
        </p:nvSpPr>
        <p:spPr>
          <a:xfrm>
            <a:off x="566928" y="3144114"/>
            <a:ext cx="45720" cy="237744"/>
          </a:xfrm>
          <a:prstGeom prst="rect">
            <a:avLst/>
          </a:prstGeom>
          <a:solidFill>
            <a:srgbClr val="D31145"/>
          </a:solidFill>
          <a:ln/>
        </p:spPr>
      </p:sp>
      <p:sp>
        <p:nvSpPr>
          <p:cNvPr id="12" name="Text 9"/>
          <p:cNvSpPr/>
          <p:nvPr/>
        </p:nvSpPr>
        <p:spPr>
          <a:xfrm>
            <a:off x="749808" y="3144114"/>
            <a:ext cx="6062472" cy="237744"/>
          </a:xfrm>
          <a:prstGeom prst="rect">
            <a:avLst/>
          </a:prstGeom>
          <a:noFill/>
          <a:ln/>
        </p:spPr>
        <p:txBody>
          <a:bodyPr wrap="square" lIns="0" tIns="0" rIns="0" bIns="0" rtlCol="0" anchor="ctr"/>
          <a:lstStyle/>
          <a:p>
            <a:pPr algn="l" indent="0" marL="0">
              <a:buNone/>
            </a:pPr>
            <a:r>
              <a:rPr lang="en-US" sz="820" b="1" spc="60" kern="0" dirty="0">
                <a:solidFill>
                  <a:srgbClr val="FFFFFF"/>
                </a:solidFill>
                <a:latin typeface="Arial" pitchFamily="34" charset="0"/>
                <a:ea typeface="Arial" pitchFamily="34" charset="-122"/>
                <a:cs typeface="Arial" pitchFamily="34" charset="-120"/>
              </a:rPr>
              <a:t>SELECTED.  Datum is the governing system for Combat Mindset.</a:t>
            </a:r>
            <a:endParaRPr lang="en-US" sz="820" dirty="0"/>
          </a:p>
        </p:txBody>
      </p:sp>
      <p:sp>
        <p:nvSpPr>
          <p:cNvPr id="13" name="Text 10"/>
          <p:cNvSpPr/>
          <p:nvPr/>
        </p:nvSpPr>
        <p:spPr>
          <a:xfrm>
            <a:off x="566928" y="346415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4" name="Shape 11"/>
          <p:cNvSpPr/>
          <p:nvPr/>
        </p:nvSpPr>
        <p:spPr>
          <a:xfrm>
            <a:off x="566928" y="3647034"/>
            <a:ext cx="6428232" cy="7315"/>
          </a:xfrm>
          <a:prstGeom prst="rect">
            <a:avLst/>
          </a:prstGeom>
          <a:solidFill>
            <a:srgbClr val="D2D2D2"/>
          </a:solidFill>
          <a:ln/>
        </p:spPr>
      </p:sp>
      <p:sp>
        <p:nvSpPr>
          <p:cNvPr id="15" name="Text 12"/>
          <p:cNvSpPr/>
          <p:nvPr/>
        </p:nvSpPr>
        <p:spPr>
          <a:xfrm>
            <a:off x="566928" y="3756762"/>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6" name="Text 13"/>
          <p:cNvSpPr/>
          <p:nvPr/>
        </p:nvSpPr>
        <p:spPr>
          <a:xfrm>
            <a:off x="566928" y="450657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7" name="Shape 14"/>
          <p:cNvSpPr/>
          <p:nvPr/>
        </p:nvSpPr>
        <p:spPr>
          <a:xfrm>
            <a:off x="566928" y="4689450"/>
            <a:ext cx="6428232" cy="7315"/>
          </a:xfrm>
          <a:prstGeom prst="rect">
            <a:avLst/>
          </a:prstGeom>
          <a:solidFill>
            <a:srgbClr val="D2D2D2"/>
          </a:solidFill>
          <a:ln/>
        </p:spPr>
      </p:sp>
      <p:sp>
        <p:nvSpPr>
          <p:cNvPr id="18" name="Shape 15"/>
          <p:cNvSpPr/>
          <p:nvPr/>
        </p:nvSpPr>
        <p:spPr>
          <a:xfrm>
            <a:off x="566928" y="4799178"/>
            <a:ext cx="36576" cy="566928"/>
          </a:xfrm>
          <a:prstGeom prst="rect">
            <a:avLst/>
          </a:prstGeom>
          <a:solidFill>
            <a:srgbClr val="D31145"/>
          </a:solidFill>
          <a:ln/>
        </p:spPr>
      </p:sp>
      <p:sp>
        <p:nvSpPr>
          <p:cNvPr id="19" name="Text 16"/>
          <p:cNvSpPr/>
          <p:nvPr/>
        </p:nvSpPr>
        <p:spPr>
          <a:xfrm>
            <a:off x="749808" y="4799178"/>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Under pressure, access to trained capability can be displaced or degraded, and the system exists to preserve effectiveness and shorten the return to true.</a:t>
            </a:r>
            <a:endParaRPr lang="en-US" sz="1020" dirty="0"/>
          </a:p>
        </p:txBody>
      </p:sp>
      <p:sp>
        <p:nvSpPr>
          <p:cNvPr id="20" name="Text 17"/>
          <p:cNvSpPr/>
          <p:nvPr/>
        </p:nvSpPr>
        <p:spPr>
          <a:xfrm>
            <a:off x="566928" y="551241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21" name="Shape 18"/>
          <p:cNvSpPr/>
          <p:nvPr/>
        </p:nvSpPr>
        <p:spPr>
          <a:xfrm>
            <a:off x="566928" y="5695290"/>
            <a:ext cx="6428232" cy="7315"/>
          </a:xfrm>
          <a:prstGeom prst="rect">
            <a:avLst/>
          </a:prstGeom>
          <a:solidFill>
            <a:srgbClr val="D2D2D2"/>
          </a:solidFill>
          <a:ln/>
        </p:spPr>
      </p:sp>
      <p:sp>
        <p:nvSpPr>
          <p:cNvPr id="22" name="Text 19"/>
          <p:cNvSpPr/>
          <p:nvPr/>
        </p:nvSpPr>
        <p:spPr>
          <a:xfrm>
            <a:off x="3909060" y="5512410"/>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3" name="Text 20"/>
          <p:cNvSpPr/>
          <p:nvPr/>
        </p:nvSpPr>
        <p:spPr>
          <a:xfrm>
            <a:off x="566928"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4" name="Text 21"/>
          <p:cNvSpPr/>
          <p:nvPr/>
        </p:nvSpPr>
        <p:spPr>
          <a:xfrm>
            <a:off x="3909060"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5" name="Text 22"/>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6" name="Shape 23"/>
          <p:cNvSpPr/>
          <p:nvPr/>
        </p:nvSpPr>
        <p:spPr>
          <a:xfrm>
            <a:off x="566928" y="8467344"/>
            <a:ext cx="6428232" cy="7315"/>
          </a:xfrm>
          <a:prstGeom prst="rect">
            <a:avLst/>
          </a:prstGeom>
          <a:solidFill>
            <a:srgbClr val="D2D2D2"/>
          </a:solidFill>
          <a:ln/>
        </p:spPr>
      </p:sp>
      <p:sp>
        <p:nvSpPr>
          <p:cNvPr id="27" name="Shape 24"/>
          <p:cNvSpPr/>
          <p:nvPr/>
        </p:nvSpPr>
        <p:spPr>
          <a:xfrm>
            <a:off x="566928" y="8577072"/>
            <a:ext cx="2743200" cy="841248"/>
          </a:xfrm>
          <a:prstGeom prst="rect">
            <a:avLst/>
          </a:prstGeom>
          <a:solidFill>
            <a:srgbClr val="FFFFFF"/>
          </a:solidFill>
          <a:ln w="12700">
            <a:solidFill>
              <a:srgbClr val="D2D2D2"/>
            </a:solidFill>
            <a:prstDash val="solid"/>
          </a:ln>
        </p:spPr>
      </p:sp>
      <p:pic>
        <p:nvPicPr>
          <p:cNvPr id="28"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9" name="Text 25"/>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30" name="Shape 26"/>
          <p:cNvSpPr/>
          <p:nvPr/>
        </p:nvSpPr>
        <p:spPr>
          <a:xfrm>
            <a:off x="3438144" y="8577072"/>
            <a:ext cx="1691640" cy="841248"/>
          </a:xfrm>
          <a:prstGeom prst="rect">
            <a:avLst/>
          </a:prstGeom>
          <a:solidFill>
            <a:srgbClr val="FFFFFF"/>
          </a:solidFill>
          <a:ln w="12700">
            <a:solidFill>
              <a:srgbClr val="D2D2D2"/>
            </a:solidFill>
            <a:prstDash val="solid"/>
          </a:ln>
        </p:spPr>
      </p:sp>
      <p:pic>
        <p:nvPicPr>
          <p:cNvPr id="31"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2" name="Text 27"/>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3" name="Shape 28"/>
          <p:cNvSpPr/>
          <p:nvPr/>
        </p:nvSpPr>
        <p:spPr>
          <a:xfrm>
            <a:off x="5257800" y="8577072"/>
            <a:ext cx="914400" cy="841248"/>
          </a:xfrm>
          <a:prstGeom prst="rect">
            <a:avLst/>
          </a:prstGeom>
          <a:solidFill>
            <a:srgbClr val="FFFFFF"/>
          </a:solidFill>
          <a:ln w="12700">
            <a:solidFill>
              <a:srgbClr val="D2D2D2"/>
            </a:solidFill>
            <a:prstDash val="solid"/>
          </a:ln>
        </p:spPr>
      </p:sp>
      <p:pic>
        <p:nvPicPr>
          <p:cNvPr id="34"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5" name="Text 29"/>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6" name="Text 30"/>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CONSIDERED</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237744"/>
          </a:xfrm>
          <a:prstGeom prst="rect">
            <a:avLst/>
          </a:prstGeom>
          <a:solidFill>
            <a:srgbClr val="F5F5F3"/>
          </a:solidFill>
          <a:ln/>
        </p:spPr>
      </p:sp>
      <p:sp>
        <p:nvSpPr>
          <p:cNvPr id="11" name="Text 8"/>
          <p:cNvSpPr/>
          <p:nvPr/>
        </p:nvSpPr>
        <p:spPr>
          <a:xfrm>
            <a:off x="749808" y="3144114"/>
            <a:ext cx="6062472" cy="237744"/>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NOT ADOPTED.  The density field is retained as rationed texture only.</a:t>
            </a:r>
            <a:endParaRPr lang="en-US" sz="820" dirty="0"/>
          </a:p>
        </p:txBody>
      </p:sp>
      <p:sp>
        <p:nvSpPr>
          <p:cNvPr id="12" name="Text 9"/>
          <p:cNvSpPr/>
          <p:nvPr/>
        </p:nvSpPr>
        <p:spPr>
          <a:xfrm>
            <a:off x="566928" y="346415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3" name="Shape 10"/>
          <p:cNvSpPr/>
          <p:nvPr/>
        </p:nvSpPr>
        <p:spPr>
          <a:xfrm>
            <a:off x="566928" y="3647034"/>
            <a:ext cx="6428232" cy="7315"/>
          </a:xfrm>
          <a:prstGeom prst="rect">
            <a:avLst/>
          </a:prstGeom>
          <a:solidFill>
            <a:srgbClr val="D2D2D2"/>
          </a:solidFill>
          <a:ln/>
        </p:spPr>
      </p:sp>
      <p:sp>
        <p:nvSpPr>
          <p:cNvPr id="14" name="Text 11"/>
          <p:cNvSpPr/>
          <p:nvPr/>
        </p:nvSpPr>
        <p:spPr>
          <a:xfrm>
            <a:off x="566928" y="3756762"/>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5" name="Text 12"/>
          <p:cNvSpPr/>
          <p:nvPr/>
        </p:nvSpPr>
        <p:spPr>
          <a:xfrm>
            <a:off x="566928" y="450657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6" name="Shape 13"/>
          <p:cNvSpPr/>
          <p:nvPr/>
        </p:nvSpPr>
        <p:spPr>
          <a:xfrm>
            <a:off x="566928" y="4689450"/>
            <a:ext cx="6428232" cy="7315"/>
          </a:xfrm>
          <a:prstGeom prst="rect">
            <a:avLst/>
          </a:prstGeom>
          <a:solidFill>
            <a:srgbClr val="D2D2D2"/>
          </a:solidFill>
          <a:ln/>
        </p:spPr>
      </p:sp>
      <p:sp>
        <p:nvSpPr>
          <p:cNvPr id="17" name="Shape 14"/>
          <p:cNvSpPr/>
          <p:nvPr/>
        </p:nvSpPr>
        <p:spPr>
          <a:xfrm>
            <a:off x="566928" y="4799178"/>
            <a:ext cx="36576" cy="566928"/>
          </a:xfrm>
          <a:prstGeom prst="rect">
            <a:avLst/>
          </a:prstGeom>
          <a:solidFill>
            <a:srgbClr val="D31145"/>
          </a:solidFill>
          <a:ln/>
        </p:spPr>
      </p:sp>
      <p:sp>
        <p:nvSpPr>
          <p:cNvPr id="18" name="Text 15"/>
          <p:cNvSpPr/>
          <p:nvPr/>
        </p:nvSpPr>
        <p:spPr>
          <a:xfrm>
            <a:off x="749808" y="4799178"/>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9" name="Text 16"/>
          <p:cNvSpPr/>
          <p:nvPr/>
        </p:nvSpPr>
        <p:spPr>
          <a:xfrm>
            <a:off x="566928" y="551241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20" name="Shape 17"/>
          <p:cNvSpPr/>
          <p:nvPr/>
        </p:nvSpPr>
        <p:spPr>
          <a:xfrm>
            <a:off x="566928" y="5695290"/>
            <a:ext cx="6428232" cy="7315"/>
          </a:xfrm>
          <a:prstGeom prst="rect">
            <a:avLst/>
          </a:prstGeom>
          <a:solidFill>
            <a:srgbClr val="D2D2D2"/>
          </a:solidFill>
          <a:ln/>
        </p:spPr>
      </p:sp>
      <p:sp>
        <p:nvSpPr>
          <p:cNvPr id="21" name="Text 18"/>
          <p:cNvSpPr/>
          <p:nvPr/>
        </p:nvSpPr>
        <p:spPr>
          <a:xfrm>
            <a:off x="3909060" y="5512410"/>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2" name="Text 19"/>
          <p:cNvSpPr/>
          <p:nvPr/>
        </p:nvSpPr>
        <p:spPr>
          <a:xfrm>
            <a:off x="566928"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3" name="Text 20"/>
          <p:cNvSpPr/>
          <p:nvPr/>
        </p:nvSpPr>
        <p:spPr>
          <a:xfrm>
            <a:off x="3909060"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4" name="Text 21"/>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5" name="Shape 22"/>
          <p:cNvSpPr/>
          <p:nvPr/>
        </p:nvSpPr>
        <p:spPr>
          <a:xfrm>
            <a:off x="566928" y="8467344"/>
            <a:ext cx="6428232" cy="7315"/>
          </a:xfrm>
          <a:prstGeom prst="rect">
            <a:avLst/>
          </a:prstGeom>
          <a:solidFill>
            <a:srgbClr val="D2D2D2"/>
          </a:solidFill>
          <a:ln/>
        </p:spPr>
      </p:sp>
      <p:sp>
        <p:nvSpPr>
          <p:cNvPr id="26" name="Shape 23"/>
          <p:cNvSpPr/>
          <p:nvPr/>
        </p:nvSpPr>
        <p:spPr>
          <a:xfrm>
            <a:off x="566928" y="8577072"/>
            <a:ext cx="2743200" cy="841248"/>
          </a:xfrm>
          <a:prstGeom prst="rect">
            <a:avLst/>
          </a:prstGeom>
          <a:solidFill>
            <a:srgbClr val="FFFFFF"/>
          </a:solidFill>
          <a:ln w="12700">
            <a:solidFill>
              <a:srgbClr val="D2D2D2"/>
            </a:solidFill>
            <a:prstDash val="solid"/>
          </a:ln>
        </p:spPr>
      </p:sp>
      <p:pic>
        <p:nvPicPr>
          <p:cNvPr id="27"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8" name="Text 24"/>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9" name="Shape 25"/>
          <p:cNvSpPr/>
          <p:nvPr/>
        </p:nvSpPr>
        <p:spPr>
          <a:xfrm>
            <a:off x="3438144" y="8577072"/>
            <a:ext cx="1691640" cy="841248"/>
          </a:xfrm>
          <a:prstGeom prst="rect">
            <a:avLst/>
          </a:prstGeom>
          <a:solidFill>
            <a:srgbClr val="FFFFFF"/>
          </a:solidFill>
          <a:ln w="12700">
            <a:solidFill>
              <a:srgbClr val="D2D2D2"/>
            </a:solidFill>
            <a:prstDash val="solid"/>
          </a:ln>
        </p:spPr>
      </p:sp>
      <p:pic>
        <p:nvPicPr>
          <p:cNvPr id="30"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1" name="Text 26"/>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2" name="Shape 27"/>
          <p:cNvSpPr/>
          <p:nvPr/>
        </p:nvSpPr>
        <p:spPr>
          <a:xfrm>
            <a:off x="5257800" y="8577072"/>
            <a:ext cx="914400" cy="841248"/>
          </a:xfrm>
          <a:prstGeom prst="rect">
            <a:avLst/>
          </a:prstGeom>
          <a:solidFill>
            <a:srgbClr val="FFFFFF"/>
          </a:solidFill>
          <a:ln w="12700">
            <a:solidFill>
              <a:srgbClr val="D2D2D2"/>
            </a:solidFill>
            <a:prstDash val="solid"/>
          </a:ln>
        </p:spPr>
      </p:sp>
      <p:pic>
        <p:nvPicPr>
          <p:cNvPr id="33"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4" name="Text 28"/>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5" name="Text 29"/>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CONSIDERED</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237744"/>
          </a:xfrm>
          <a:prstGeom prst="rect">
            <a:avLst/>
          </a:prstGeom>
          <a:solidFill>
            <a:srgbClr val="F5F5F3"/>
          </a:solidFill>
          <a:ln/>
        </p:spPr>
      </p:sp>
      <p:sp>
        <p:nvSpPr>
          <p:cNvPr id="11" name="Text 8"/>
          <p:cNvSpPr/>
          <p:nvPr/>
        </p:nvSpPr>
        <p:spPr>
          <a:xfrm>
            <a:off x="749808" y="3144114"/>
            <a:ext cx="6062472" cy="237744"/>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NOT ADOPTED.  The node and departure are retained to mark decision.</a:t>
            </a:r>
            <a:endParaRPr lang="en-US" sz="820" dirty="0"/>
          </a:p>
        </p:txBody>
      </p:sp>
      <p:sp>
        <p:nvSpPr>
          <p:cNvPr id="12" name="Text 9"/>
          <p:cNvSpPr/>
          <p:nvPr/>
        </p:nvSpPr>
        <p:spPr>
          <a:xfrm>
            <a:off x="566928" y="346415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3" name="Shape 10"/>
          <p:cNvSpPr/>
          <p:nvPr/>
        </p:nvSpPr>
        <p:spPr>
          <a:xfrm>
            <a:off x="566928" y="3647034"/>
            <a:ext cx="6428232" cy="7315"/>
          </a:xfrm>
          <a:prstGeom prst="rect">
            <a:avLst/>
          </a:prstGeom>
          <a:solidFill>
            <a:srgbClr val="D2D2D2"/>
          </a:solidFill>
          <a:ln/>
        </p:spPr>
      </p:sp>
      <p:sp>
        <p:nvSpPr>
          <p:cNvPr id="14" name="Text 11"/>
          <p:cNvSpPr/>
          <p:nvPr/>
        </p:nvSpPr>
        <p:spPr>
          <a:xfrm>
            <a:off x="566928" y="3756762"/>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5" name="Text 12"/>
          <p:cNvSpPr/>
          <p:nvPr/>
        </p:nvSpPr>
        <p:spPr>
          <a:xfrm>
            <a:off x="566928" y="450657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6" name="Shape 13"/>
          <p:cNvSpPr/>
          <p:nvPr/>
        </p:nvSpPr>
        <p:spPr>
          <a:xfrm>
            <a:off x="566928" y="4689450"/>
            <a:ext cx="6428232" cy="7315"/>
          </a:xfrm>
          <a:prstGeom prst="rect">
            <a:avLst/>
          </a:prstGeom>
          <a:solidFill>
            <a:srgbClr val="D2D2D2"/>
          </a:solidFill>
          <a:ln/>
        </p:spPr>
      </p:sp>
      <p:sp>
        <p:nvSpPr>
          <p:cNvPr id="17" name="Shape 14"/>
          <p:cNvSpPr/>
          <p:nvPr/>
        </p:nvSpPr>
        <p:spPr>
          <a:xfrm>
            <a:off x="566928" y="4799178"/>
            <a:ext cx="36576" cy="566928"/>
          </a:xfrm>
          <a:prstGeom prst="rect">
            <a:avLst/>
          </a:prstGeom>
          <a:solidFill>
            <a:srgbClr val="D31145"/>
          </a:solidFill>
          <a:ln/>
        </p:spPr>
      </p:sp>
      <p:sp>
        <p:nvSpPr>
          <p:cNvPr id="18" name="Text 15"/>
          <p:cNvSpPr/>
          <p:nvPr/>
        </p:nvSpPr>
        <p:spPr>
          <a:xfrm>
            <a:off x="749808" y="4799178"/>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9" name="Text 16"/>
          <p:cNvSpPr/>
          <p:nvPr/>
        </p:nvSpPr>
        <p:spPr>
          <a:xfrm>
            <a:off x="566928" y="551241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20" name="Shape 17"/>
          <p:cNvSpPr/>
          <p:nvPr/>
        </p:nvSpPr>
        <p:spPr>
          <a:xfrm>
            <a:off x="566928" y="5695290"/>
            <a:ext cx="6428232" cy="7315"/>
          </a:xfrm>
          <a:prstGeom prst="rect">
            <a:avLst/>
          </a:prstGeom>
          <a:solidFill>
            <a:srgbClr val="D2D2D2"/>
          </a:solidFill>
          <a:ln/>
        </p:spPr>
      </p:sp>
      <p:sp>
        <p:nvSpPr>
          <p:cNvPr id="21" name="Text 18"/>
          <p:cNvSpPr/>
          <p:nvPr/>
        </p:nvSpPr>
        <p:spPr>
          <a:xfrm>
            <a:off x="3909060" y="5512410"/>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2" name="Text 19"/>
          <p:cNvSpPr/>
          <p:nvPr/>
        </p:nvSpPr>
        <p:spPr>
          <a:xfrm>
            <a:off x="566928"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3" name="Text 20"/>
          <p:cNvSpPr/>
          <p:nvPr/>
        </p:nvSpPr>
        <p:spPr>
          <a:xfrm>
            <a:off x="3909060" y="5805018"/>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4" name="Text 21"/>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5" name="Shape 22"/>
          <p:cNvSpPr/>
          <p:nvPr/>
        </p:nvSpPr>
        <p:spPr>
          <a:xfrm>
            <a:off x="566928" y="8467344"/>
            <a:ext cx="6428232" cy="7315"/>
          </a:xfrm>
          <a:prstGeom prst="rect">
            <a:avLst/>
          </a:prstGeom>
          <a:solidFill>
            <a:srgbClr val="D2D2D2"/>
          </a:solidFill>
          <a:ln/>
        </p:spPr>
      </p:sp>
      <p:sp>
        <p:nvSpPr>
          <p:cNvPr id="26" name="Shape 23"/>
          <p:cNvSpPr/>
          <p:nvPr/>
        </p:nvSpPr>
        <p:spPr>
          <a:xfrm>
            <a:off x="566928" y="8577072"/>
            <a:ext cx="2743200" cy="841248"/>
          </a:xfrm>
          <a:prstGeom prst="rect">
            <a:avLst/>
          </a:prstGeom>
          <a:solidFill>
            <a:srgbClr val="FFFFFF"/>
          </a:solidFill>
          <a:ln w="12700">
            <a:solidFill>
              <a:srgbClr val="D2D2D2"/>
            </a:solidFill>
            <a:prstDash val="solid"/>
          </a:ln>
        </p:spPr>
      </p:sp>
      <p:pic>
        <p:nvPicPr>
          <p:cNvPr id="27"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8" name="Text 24"/>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9" name="Shape 25"/>
          <p:cNvSpPr/>
          <p:nvPr/>
        </p:nvSpPr>
        <p:spPr>
          <a:xfrm>
            <a:off x="3438144" y="8577072"/>
            <a:ext cx="1691640" cy="841248"/>
          </a:xfrm>
          <a:prstGeom prst="rect">
            <a:avLst/>
          </a:prstGeom>
          <a:solidFill>
            <a:srgbClr val="FFFFFF"/>
          </a:solidFill>
          <a:ln w="12700">
            <a:solidFill>
              <a:srgbClr val="D2D2D2"/>
            </a:solidFill>
            <a:prstDash val="solid"/>
          </a:ln>
        </p:spPr>
      </p:sp>
      <p:pic>
        <p:nvPicPr>
          <p:cNvPr id="30"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1" name="Text 26"/>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2" name="Shape 27"/>
          <p:cNvSpPr/>
          <p:nvPr/>
        </p:nvSpPr>
        <p:spPr>
          <a:xfrm>
            <a:off x="5257800" y="8577072"/>
            <a:ext cx="914400" cy="841248"/>
          </a:xfrm>
          <a:prstGeom prst="rect">
            <a:avLst/>
          </a:prstGeom>
          <a:solidFill>
            <a:srgbClr val="FFFFFF"/>
          </a:solidFill>
          <a:ln w="12700">
            <a:solidFill>
              <a:srgbClr val="D2D2D2"/>
            </a:solidFill>
            <a:prstDash val="solid"/>
          </a:ln>
        </p:spPr>
      </p:sp>
      <p:pic>
        <p:nvPicPr>
          <p:cNvPr id="33"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4" name="Text 28"/>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5" name="Text 29"/>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DECISION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decision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 The decision below is taken; it is the constraint the specification is built on, not an option left open for review.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DECISION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Shape 119"/>
          <p:cNvSpPr/>
          <p:nvPr/>
        </p:nvSpPr>
        <p:spPr>
          <a:xfrm>
            <a:off x="566928" y="4681728"/>
            <a:ext cx="54864" cy="1225296"/>
          </a:xfrm>
          <a:prstGeom prst="rect">
            <a:avLst/>
          </a:prstGeom>
          <a:solidFill>
            <a:srgbClr val="D31145"/>
          </a:solidFill>
          <a:ln/>
        </p:spPr>
      </p:sp>
      <p:sp>
        <p:nvSpPr>
          <p:cNvPr id="122" name="Text 120"/>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Datum is adopted as the governing system.</a:t>
            </a:r>
            <a:endParaRPr lang="en-US" sz="1500" dirty="0"/>
          </a:p>
        </p:txBody>
      </p:sp>
      <p:sp>
        <p:nvSpPr>
          <p:cNvPr id="123" name="Text 121"/>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The node and departure from Concept C are retained as its only dynamic element, used solely to mark decision. The density field from Concept B is retained as texture, rationed to divider surfaces and never behind text. Threshold and Trace are not adopted, and are recorded so the reasons survive the people who rejected them.</a:t>
            </a:r>
            <a:endParaRPr lang="en-US" sz="940" dirty="0"/>
          </a:p>
        </p:txBody>
      </p:sp>
      <p:sp>
        <p:nvSpPr>
          <p:cNvPr id="124" name="Text 122"/>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AND WHAT WAS GIVEN UP</a:t>
            </a:r>
            <a:endParaRPr lang="en-US" sz="740" dirty="0"/>
          </a:p>
        </p:txBody>
      </p:sp>
      <p:sp>
        <p:nvSpPr>
          <p:cNvPr id="125" name="Shape 123"/>
          <p:cNvSpPr/>
          <p:nvPr/>
        </p:nvSpPr>
        <p:spPr>
          <a:xfrm>
            <a:off x="566928" y="6236208"/>
            <a:ext cx="6428232" cy="7315"/>
          </a:xfrm>
          <a:prstGeom prst="rect">
            <a:avLst/>
          </a:prstGeom>
          <a:solidFill>
            <a:srgbClr val="D2D2D2"/>
          </a:solidFill>
          <a:ln/>
        </p:spPr>
      </p:sp>
      <p:sp>
        <p:nvSpPr>
          <p:cNvPr id="126" name="Text 124"/>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7" name="Text 125"/>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was given up is immediate emotional impact. Threshold is the stronger first impression and it was deliberately declined, because the objective stated in the brief is trust rather than recognition, and trust is built by the twentieth artefact rather than the first. Trace is the sharpest expression of decision, which is why its node was retained rather than the whole concept: adopted wholesale it would have pulled the system toward a data-visualisation aesthetic that will age badly.</a:t>
            </a:r>
            <a:endParaRPr lang="en-US" sz="920" dirty="0"/>
          </a:p>
        </p:txBody>
      </p:sp>
      <p:pic>
        <p:nvPicPr>
          <p:cNvPr id="128"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9" name="Text 126"/>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adopted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to presenting the Combat Mindset title. None is a logo and none is a freestanding asset: these are repeatable heading constructions. Set in Arial; production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COMBAT MINDSET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Draws on doctrine-publication conventions of numbering and hierarchy.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1A1A1A"/>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CM-FWK-001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title treatment and 04 as the formal variant on covers, title pages and formal framework publications.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 Deliberately not called a wordmark: this is a heading construction inside Army collateral, not a brand asset.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 TITLE TREATMENT</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COMBAT MINDSET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treatment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third of the title size, letterspaced 1.6. Wording settled at endorsement; until then, NZ Army Combat Mindset Framework. Omit where context establishes it; never reword locally.</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treatment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Appears on every complete formal artefact, at greater visual weight. It need not repeat inside every internal component or screen. The treatment stays outside the logo's clear space and off its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676656"/>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60" dirty="0"/>
          </a:p>
        </p:txBody>
      </p:sp>
      <p:sp>
        <p:nvSpPr>
          <p:cNvPr id="15" name="Shape 13"/>
          <p:cNvSpPr/>
          <p:nvPr/>
        </p:nvSpPr>
        <p:spPr>
          <a:xfrm>
            <a:off x="566928" y="2743200"/>
            <a:ext cx="27432" cy="676656"/>
          </a:xfrm>
          <a:prstGeom prst="rect">
            <a:avLst/>
          </a:prstGeom>
          <a:solidFill>
            <a:srgbClr val="1A1A1A"/>
          </a:solidFill>
          <a:ln/>
        </p:spPr>
      </p:sp>
      <p:sp>
        <p:nvSpPr>
          <p:cNvPr id="16" name="Text 14"/>
          <p:cNvSpPr/>
          <p:nvPr/>
        </p:nvSpPr>
        <p:spPr>
          <a:xfrm>
            <a:off x="731520" y="274320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294436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743200"/>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60" dirty="0"/>
          </a:p>
        </p:txBody>
      </p:sp>
      <p:sp>
        <p:nvSpPr>
          <p:cNvPr id="19" name="Shape 17"/>
          <p:cNvSpPr/>
          <p:nvPr/>
        </p:nvSpPr>
        <p:spPr>
          <a:xfrm>
            <a:off x="566928" y="3493008"/>
            <a:ext cx="27432" cy="676656"/>
          </a:xfrm>
          <a:prstGeom prst="rect">
            <a:avLst/>
          </a:prstGeom>
          <a:solidFill>
            <a:srgbClr val="D31145"/>
          </a:solidFill>
          <a:ln/>
        </p:spPr>
      </p:sp>
      <p:sp>
        <p:nvSpPr>
          <p:cNvPr id="20" name="Text 18"/>
          <p:cNvSpPr/>
          <p:nvPr/>
        </p:nvSpPr>
        <p:spPr>
          <a:xfrm>
            <a:off x="731520" y="349300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69417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493008"/>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60" dirty="0"/>
          </a:p>
        </p:txBody>
      </p:sp>
      <p:sp>
        <p:nvSpPr>
          <p:cNvPr id="23" name="Shape 21"/>
          <p:cNvSpPr/>
          <p:nvPr/>
        </p:nvSpPr>
        <p:spPr>
          <a:xfrm>
            <a:off x="566928" y="4242816"/>
            <a:ext cx="27432" cy="676656"/>
          </a:xfrm>
          <a:prstGeom prst="rect">
            <a:avLst/>
          </a:prstGeom>
          <a:solidFill>
            <a:srgbClr val="D31145"/>
          </a:solidFill>
          <a:ln/>
        </p:spPr>
      </p:sp>
      <p:sp>
        <p:nvSpPr>
          <p:cNvPr id="24" name="Text 22"/>
          <p:cNvSpPr/>
          <p:nvPr/>
        </p:nvSpPr>
        <p:spPr>
          <a:xfrm>
            <a:off x="731520" y="42428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4439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242816"/>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60" dirty="0"/>
          </a:p>
        </p:txBody>
      </p:sp>
      <p:sp>
        <p:nvSpPr>
          <p:cNvPr id="27" name="Shape 25"/>
          <p:cNvSpPr/>
          <p:nvPr/>
        </p:nvSpPr>
        <p:spPr>
          <a:xfrm>
            <a:off x="566928" y="4992624"/>
            <a:ext cx="27432" cy="676656"/>
          </a:xfrm>
          <a:prstGeom prst="rect">
            <a:avLst/>
          </a:prstGeom>
          <a:solidFill>
            <a:srgbClr val="1A1A1A"/>
          </a:solidFill>
          <a:ln/>
        </p:spPr>
      </p:sp>
      <p:sp>
        <p:nvSpPr>
          <p:cNvPr id="28" name="Text 26"/>
          <p:cNvSpPr/>
          <p:nvPr/>
        </p:nvSpPr>
        <p:spPr>
          <a:xfrm>
            <a:off x="731520" y="499262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19379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4992624"/>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60" dirty="0"/>
          </a:p>
        </p:txBody>
      </p:sp>
      <p:sp>
        <p:nvSpPr>
          <p:cNvPr id="31" name="Shape 29"/>
          <p:cNvSpPr/>
          <p:nvPr/>
        </p:nvSpPr>
        <p:spPr>
          <a:xfrm>
            <a:off x="566928" y="5742432"/>
            <a:ext cx="27432" cy="676656"/>
          </a:xfrm>
          <a:prstGeom prst="rect">
            <a:avLst/>
          </a:prstGeom>
          <a:solidFill>
            <a:srgbClr val="1A1A1A"/>
          </a:solidFill>
          <a:ln/>
        </p:spPr>
      </p:sp>
      <p:sp>
        <p:nvSpPr>
          <p:cNvPr id="32" name="Text 30"/>
          <p:cNvSpPr/>
          <p:nvPr/>
        </p:nvSpPr>
        <p:spPr>
          <a:xfrm>
            <a:off x="731520" y="574243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DISPLACEMENT TRACE</a:t>
            </a:r>
            <a:endParaRPr lang="en-US" sz="920" dirty="0"/>
          </a:p>
        </p:txBody>
      </p:sp>
      <p:sp>
        <p:nvSpPr>
          <p:cNvPr id="33" name="Text 31"/>
          <p:cNvSpPr/>
          <p:nvPr/>
        </p:nvSpPr>
        <p:spPr>
          <a:xfrm>
            <a:off x="731520" y="594360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curved deviation from the datum, black, at the datum's weight.</a:t>
            </a:r>
            <a:endParaRPr lang="en-US" sz="740" dirty="0"/>
          </a:p>
        </p:txBody>
      </p:sp>
      <p:sp>
        <p:nvSpPr>
          <p:cNvPr id="34" name="Text 32"/>
          <p:cNvSpPr/>
          <p:nvPr/>
        </p:nvSpPr>
        <p:spPr>
          <a:xfrm>
            <a:off x="2852928" y="574243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load, interference and recovery. The only curve in the system, defined so the Datum concept can be drawn without breaking its own rules. It always returns to the datum, is never red, and is never decorative.</a:t>
            </a:r>
            <a:endParaRPr lang="en-US" sz="860" dirty="0"/>
          </a:p>
        </p:txBody>
      </p:sp>
      <p:sp>
        <p:nvSpPr>
          <p:cNvPr id="35" name="Text 33"/>
          <p:cNvSpPr/>
          <p:nvPr/>
        </p:nvSpPr>
        <p:spPr>
          <a:xfrm>
            <a:off x="566928" y="652881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6" name="Shape 34"/>
          <p:cNvSpPr/>
          <p:nvPr/>
        </p:nvSpPr>
        <p:spPr>
          <a:xfrm>
            <a:off x="566928" y="6711696"/>
            <a:ext cx="6428232" cy="7315"/>
          </a:xfrm>
          <a:prstGeom prst="rect">
            <a:avLst/>
          </a:prstGeom>
          <a:solidFill>
            <a:srgbClr val="D2D2D2"/>
          </a:solidFill>
          <a:ln/>
        </p:spPr>
      </p:sp>
      <p:sp>
        <p:nvSpPr>
          <p:cNvPr id="37" name="Shape 35"/>
          <p:cNvSpPr/>
          <p:nvPr/>
        </p:nvSpPr>
        <p:spPr>
          <a:xfrm>
            <a:off x="566928" y="6821424"/>
            <a:ext cx="6428232" cy="1060704"/>
          </a:xfrm>
          <a:prstGeom prst="rect">
            <a:avLst/>
          </a:prstGeom>
          <a:solidFill>
            <a:srgbClr val="F5F5F3"/>
          </a:solidFill>
          <a:ln/>
        </p:spPr>
      </p:sp>
      <p:sp>
        <p:nvSpPr>
          <p:cNvPr id="38" name="Text 36"/>
          <p:cNvSpPr/>
          <p:nvPr/>
        </p:nvSpPr>
        <p:spPr>
          <a:xfrm>
            <a:off x="768096" y="7644384"/>
            <a:ext cx="6025896" cy="182880"/>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Visual conventions for reading Combat Mindset surfaces, not definitions of the concepts they mark.</a:t>
            </a:r>
            <a:endParaRPr lang="en-US" sz="740" dirty="0"/>
          </a:p>
        </p:txBody>
      </p:sp>
      <p:sp>
        <p:nvSpPr>
          <p:cNvPr id="39" name="Text 37"/>
          <p:cNvSpPr/>
          <p:nvPr/>
        </p:nvSpPr>
        <p:spPr>
          <a:xfrm>
            <a:off x="768096"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40" name="Text 38"/>
          <p:cNvSpPr/>
          <p:nvPr/>
        </p:nvSpPr>
        <p:spPr>
          <a:xfrm>
            <a:off x="768096"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41" name="Text 39"/>
          <p:cNvSpPr/>
          <p:nvPr/>
        </p:nvSpPr>
        <p:spPr>
          <a:xfrm>
            <a:off x="1973275"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42" name="Text 40"/>
          <p:cNvSpPr/>
          <p:nvPr/>
        </p:nvSpPr>
        <p:spPr>
          <a:xfrm>
            <a:off x="1973275"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43" name="Text 41"/>
          <p:cNvSpPr/>
          <p:nvPr/>
        </p:nvSpPr>
        <p:spPr>
          <a:xfrm>
            <a:off x="317845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44" name="Text 42"/>
          <p:cNvSpPr/>
          <p:nvPr/>
        </p:nvSpPr>
        <p:spPr>
          <a:xfrm>
            <a:off x="317845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5" name="Text 43"/>
          <p:cNvSpPr/>
          <p:nvPr/>
        </p:nvSpPr>
        <p:spPr>
          <a:xfrm>
            <a:off x="438363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6" name="Text 44"/>
          <p:cNvSpPr/>
          <p:nvPr/>
        </p:nvSpPr>
        <p:spPr>
          <a:xfrm>
            <a:off x="438363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7" name="Text 45"/>
          <p:cNvSpPr/>
          <p:nvPr/>
        </p:nvSpPr>
        <p:spPr>
          <a:xfrm>
            <a:off x="5588813"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8" name="Text 46"/>
          <p:cNvSpPr/>
          <p:nvPr/>
        </p:nvSpPr>
        <p:spPr>
          <a:xfrm>
            <a:off x="5588813"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9" name="Text 47"/>
          <p:cNvSpPr/>
          <p:nvPr/>
        </p:nvSpPr>
        <p:spPr>
          <a:xfrm>
            <a:off x="566928" y="80101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50" name="Shape 48"/>
          <p:cNvSpPr/>
          <p:nvPr/>
        </p:nvSpPr>
        <p:spPr>
          <a:xfrm>
            <a:off x="566928" y="8193024"/>
            <a:ext cx="6428232" cy="7315"/>
          </a:xfrm>
          <a:prstGeom prst="rect">
            <a:avLst/>
          </a:prstGeom>
          <a:solidFill>
            <a:srgbClr val="D2D2D2"/>
          </a:solidFill>
          <a:ln/>
        </p:spPr>
      </p:sp>
      <p:sp>
        <p:nvSpPr>
          <p:cNvPr id="51" name="Text 49"/>
          <p:cNvSpPr/>
          <p:nvPr/>
        </p:nvSpPr>
        <p:spPr>
          <a:xfrm>
            <a:off x="566928" y="8302752"/>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outside the displacement trace. The datum itself is always straight, and no other element bends.</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nodes and defined threshold states; risk is otherwise carried structurally by the broken datum.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896112"/>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 Six marks form the pilot set: Framework, Governance, Evidence, Assessment, Product and Decision, the minimum spread across the four families. Doctrine and the other marks are drafted to prove the grammar extends, and join when authority arrangements and repository content warrant them.</a:t>
            </a:r>
            <a:endParaRPr lang="en-US" sz="900" dirty="0"/>
          </a:p>
        </p:txBody>
      </p:sp>
      <p:sp>
        <p:nvSpPr>
          <p:cNvPr id="12" name="Text 10"/>
          <p:cNvSpPr/>
          <p:nvPr/>
        </p:nvSpPr>
        <p:spPr>
          <a:xfrm>
            <a:off x="566928" y="3127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3310128"/>
            <a:ext cx="6428232" cy="7315"/>
          </a:xfrm>
          <a:prstGeom prst="rect">
            <a:avLst/>
          </a:prstGeom>
          <a:solidFill>
            <a:srgbClr val="D2D2D2"/>
          </a:solidFill>
          <a:ln/>
        </p:spPr>
      </p:sp>
      <p:sp>
        <p:nvSpPr>
          <p:cNvPr id="14" name="Shape 12"/>
          <p:cNvSpPr/>
          <p:nvPr/>
        </p:nvSpPr>
        <p:spPr>
          <a:xfrm>
            <a:off x="566928" y="3419856"/>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419856"/>
            <a:ext cx="1524762" cy="36576"/>
          </a:xfrm>
          <a:prstGeom prst="rect">
            <a:avLst/>
          </a:prstGeom>
          <a:solidFill>
            <a:srgbClr val="000000"/>
          </a:solidFill>
          <a:ln/>
        </p:spPr>
      </p:sp>
      <p:sp>
        <p:nvSpPr>
          <p:cNvPr id="16" name="Text 14"/>
          <p:cNvSpPr/>
          <p:nvPr/>
        </p:nvSpPr>
        <p:spPr>
          <a:xfrm>
            <a:off x="67665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419856"/>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419856"/>
            <a:ext cx="1524762" cy="36576"/>
          </a:xfrm>
          <a:prstGeom prst="rect">
            <a:avLst/>
          </a:prstGeom>
          <a:solidFill>
            <a:srgbClr val="00261B"/>
          </a:solidFill>
          <a:ln/>
        </p:spPr>
      </p:sp>
      <p:sp>
        <p:nvSpPr>
          <p:cNvPr id="20" name="Text 18"/>
          <p:cNvSpPr/>
          <p:nvPr/>
        </p:nvSpPr>
        <p:spPr>
          <a:xfrm>
            <a:off x="231114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419856"/>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419856"/>
            <a:ext cx="1524762" cy="36576"/>
          </a:xfrm>
          <a:prstGeom prst="rect">
            <a:avLst/>
          </a:prstGeom>
          <a:solidFill>
            <a:srgbClr val="444D06"/>
          </a:solidFill>
          <a:ln/>
        </p:spPr>
      </p:sp>
      <p:sp>
        <p:nvSpPr>
          <p:cNvPr id="24" name="Text 22"/>
          <p:cNvSpPr/>
          <p:nvPr/>
        </p:nvSpPr>
        <p:spPr>
          <a:xfrm>
            <a:off x="394563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419856"/>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419856"/>
            <a:ext cx="1524762" cy="36576"/>
          </a:xfrm>
          <a:prstGeom prst="rect">
            <a:avLst/>
          </a:prstGeom>
          <a:solidFill>
            <a:srgbClr val="D31145"/>
          </a:solidFill>
          <a:ln/>
        </p:spPr>
      </p:sp>
      <p:sp>
        <p:nvSpPr>
          <p:cNvPr id="28" name="Text 26"/>
          <p:cNvSpPr/>
          <p:nvPr/>
        </p:nvSpPr>
        <p:spPr>
          <a:xfrm>
            <a:off x="558012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42062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4389120"/>
            <a:ext cx="6428232" cy="7315"/>
          </a:xfrm>
          <a:prstGeom prst="rect">
            <a:avLst/>
          </a:prstGeom>
          <a:solidFill>
            <a:srgbClr val="D2D2D2"/>
          </a:solidFill>
          <a:ln/>
        </p:spPr>
      </p:sp>
      <p:sp>
        <p:nvSpPr>
          <p:cNvPr id="32" name="Shape 30"/>
          <p:cNvSpPr/>
          <p:nvPr/>
        </p:nvSpPr>
        <p:spPr>
          <a:xfrm>
            <a:off x="566928" y="4498848"/>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626864"/>
            <a:ext cx="402336" cy="402336"/>
          </a:xfrm>
          <a:prstGeom prst="rect">
            <a:avLst/>
          </a:prstGeom>
        </p:spPr>
      </p:pic>
      <p:sp>
        <p:nvSpPr>
          <p:cNvPr id="34" name="Text 31"/>
          <p:cNvSpPr/>
          <p:nvPr/>
        </p:nvSpPr>
        <p:spPr>
          <a:xfrm>
            <a:off x="1170432"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529334"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36" name="Text 33"/>
          <p:cNvSpPr/>
          <p:nvPr/>
        </p:nvSpPr>
        <p:spPr>
          <a:xfrm>
            <a:off x="1170432"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7" name="Text 34"/>
          <p:cNvSpPr/>
          <p:nvPr/>
        </p:nvSpPr>
        <p:spPr>
          <a:xfrm>
            <a:off x="694944"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8" name="Shape 35"/>
          <p:cNvSpPr/>
          <p:nvPr/>
        </p:nvSpPr>
        <p:spPr>
          <a:xfrm>
            <a:off x="2205990" y="4498848"/>
            <a:ext cx="1511046" cy="1207008"/>
          </a:xfrm>
          <a:prstGeom prst="rect">
            <a:avLst/>
          </a:prstGeom>
          <a:solidFill>
            <a:srgbClr val="FFFFFF"/>
          </a:solidFill>
          <a:ln w="12700">
            <a:solidFill>
              <a:srgbClr val="D2D2D2"/>
            </a:solidFill>
            <a:prstDash val="solid"/>
          </a:ln>
        </p:spPr>
      </p:sp>
      <p:pic>
        <p:nvPicPr>
          <p:cNvPr id="39" name="Image 1" descr="preencoded.png">    </p:cNvPr>
          <p:cNvPicPr>
            <a:picLocks noChangeAspect="1"/>
          </p:cNvPicPr>
          <p:nvPr/>
        </p:nvPicPr>
        <p:blipFill>
          <a:blip r:embed="rId2"/>
          <a:stretch>
            <a:fillRect/>
          </a:stretch>
        </p:blipFill>
        <p:spPr>
          <a:xfrm>
            <a:off x="2334006" y="4626864"/>
            <a:ext cx="402336" cy="402336"/>
          </a:xfrm>
          <a:prstGeom prst="rect">
            <a:avLst/>
          </a:prstGeom>
        </p:spPr>
      </p:pic>
      <p:sp>
        <p:nvSpPr>
          <p:cNvPr id="40" name="Text 36"/>
          <p:cNvSpPr/>
          <p:nvPr/>
        </p:nvSpPr>
        <p:spPr>
          <a:xfrm>
            <a:off x="2809494"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1" name="Text 37"/>
          <p:cNvSpPr/>
          <p:nvPr/>
        </p:nvSpPr>
        <p:spPr>
          <a:xfrm>
            <a:off x="2809494"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2" name="Text 38"/>
          <p:cNvSpPr/>
          <p:nvPr/>
        </p:nvSpPr>
        <p:spPr>
          <a:xfrm>
            <a:off x="2334006"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solid bar: endorsed institutional guidance rather than open inquiry.</a:t>
            </a:r>
            <a:endParaRPr lang="en-US" sz="690" dirty="0"/>
          </a:p>
        </p:txBody>
      </p:sp>
      <p:sp>
        <p:nvSpPr>
          <p:cNvPr id="43" name="Shape 39"/>
          <p:cNvSpPr/>
          <p:nvPr/>
        </p:nvSpPr>
        <p:spPr>
          <a:xfrm>
            <a:off x="3845052" y="4498848"/>
            <a:ext cx="1511046" cy="1207008"/>
          </a:xfrm>
          <a:prstGeom prst="rect">
            <a:avLst/>
          </a:prstGeom>
          <a:solidFill>
            <a:srgbClr val="FFFFFF"/>
          </a:solidFill>
          <a:ln w="12700">
            <a:solidFill>
              <a:srgbClr val="D2D2D2"/>
            </a:solidFill>
            <a:prstDash val="solid"/>
          </a:ln>
        </p:spPr>
      </p:sp>
      <p:pic>
        <p:nvPicPr>
          <p:cNvPr id="44" name="Image 2" descr="preencoded.png">    </p:cNvPr>
          <p:cNvPicPr>
            <a:picLocks noChangeAspect="1"/>
          </p:cNvPicPr>
          <p:nvPr/>
        </p:nvPicPr>
        <p:blipFill>
          <a:blip r:embed="rId3"/>
          <a:stretch>
            <a:fillRect/>
          </a:stretch>
        </p:blipFill>
        <p:spPr>
          <a:xfrm>
            <a:off x="3973068" y="4626864"/>
            <a:ext cx="402336" cy="402336"/>
          </a:xfrm>
          <a:prstGeom prst="rect">
            <a:avLst/>
          </a:prstGeom>
        </p:spPr>
      </p:pic>
      <p:sp>
        <p:nvSpPr>
          <p:cNvPr id="45" name="Text 40"/>
          <p:cNvSpPr/>
          <p:nvPr/>
        </p:nvSpPr>
        <p:spPr>
          <a:xfrm>
            <a:off x="4448556"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6" name="Text 41"/>
          <p:cNvSpPr/>
          <p:nvPr/>
        </p:nvSpPr>
        <p:spPr>
          <a:xfrm>
            <a:off x="4448556"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7" name="Text 42"/>
          <p:cNvSpPr/>
          <p:nvPr/>
        </p:nvSpPr>
        <p:spPr>
          <a:xfrm>
            <a:off x="3973068"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the convention for rules that carry limits.</a:t>
            </a:r>
            <a:endParaRPr lang="en-US" sz="690" dirty="0"/>
          </a:p>
        </p:txBody>
      </p:sp>
      <p:sp>
        <p:nvSpPr>
          <p:cNvPr id="48" name="Shape 43"/>
          <p:cNvSpPr/>
          <p:nvPr/>
        </p:nvSpPr>
        <p:spPr>
          <a:xfrm>
            <a:off x="5484114" y="4498848"/>
            <a:ext cx="1511046" cy="1207008"/>
          </a:xfrm>
          <a:prstGeom prst="rect">
            <a:avLst/>
          </a:prstGeom>
          <a:solidFill>
            <a:srgbClr val="FFFFFF"/>
          </a:solidFill>
          <a:ln w="12700">
            <a:solidFill>
              <a:srgbClr val="D2D2D2"/>
            </a:solidFill>
            <a:prstDash val="solid"/>
          </a:ln>
        </p:spPr>
      </p:sp>
      <p:pic>
        <p:nvPicPr>
          <p:cNvPr id="49" name="Image 3" descr="preencoded.png">    </p:cNvPr>
          <p:cNvPicPr>
            <a:picLocks noChangeAspect="1"/>
          </p:cNvPicPr>
          <p:nvPr/>
        </p:nvPicPr>
        <p:blipFill>
          <a:blip r:embed="rId4"/>
          <a:stretch>
            <a:fillRect/>
          </a:stretch>
        </p:blipFill>
        <p:spPr>
          <a:xfrm>
            <a:off x="5612130" y="4626864"/>
            <a:ext cx="402336" cy="402336"/>
          </a:xfrm>
          <a:prstGeom prst="rect">
            <a:avLst/>
          </a:prstGeom>
        </p:spPr>
      </p:pic>
      <p:sp>
        <p:nvSpPr>
          <p:cNvPr id="50" name="Text 44"/>
          <p:cNvSpPr/>
          <p:nvPr/>
        </p:nvSpPr>
        <p:spPr>
          <a:xfrm>
            <a:off x="6087618"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1" name="Text 45"/>
          <p:cNvSpPr/>
          <p:nvPr/>
        </p:nvSpPr>
        <p:spPr>
          <a:xfrm>
            <a:off x="6446520"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2" name="Text 46"/>
          <p:cNvSpPr/>
          <p:nvPr/>
        </p:nvSpPr>
        <p:spPr>
          <a:xfrm>
            <a:off x="6087618"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3" name="Text 47"/>
          <p:cNvSpPr/>
          <p:nvPr/>
        </p:nvSpPr>
        <p:spPr>
          <a:xfrm>
            <a:off x="5612130"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4" name="Shape 48"/>
          <p:cNvSpPr/>
          <p:nvPr/>
        </p:nvSpPr>
        <p:spPr>
          <a:xfrm>
            <a:off x="566928" y="5833872"/>
            <a:ext cx="1511046" cy="1207008"/>
          </a:xfrm>
          <a:prstGeom prst="rect">
            <a:avLst/>
          </a:prstGeom>
          <a:solidFill>
            <a:srgbClr val="FFFFFF"/>
          </a:solidFill>
          <a:ln w="12700">
            <a:solidFill>
              <a:srgbClr val="D2D2D2"/>
            </a:solidFill>
            <a:prstDash val="solid"/>
          </a:ln>
        </p:spPr>
      </p:sp>
      <p:pic>
        <p:nvPicPr>
          <p:cNvPr id="55" name="Image 4" descr="preencoded.png">    </p:cNvPr>
          <p:cNvPicPr>
            <a:picLocks noChangeAspect="1"/>
          </p:cNvPicPr>
          <p:nvPr/>
        </p:nvPicPr>
        <p:blipFill>
          <a:blip r:embed="rId5"/>
          <a:stretch>
            <a:fillRect/>
          </a:stretch>
        </p:blipFill>
        <p:spPr>
          <a:xfrm>
            <a:off x="694944" y="5961888"/>
            <a:ext cx="402336" cy="402336"/>
          </a:xfrm>
          <a:prstGeom prst="rect">
            <a:avLst/>
          </a:prstGeom>
        </p:spPr>
      </p:pic>
      <p:sp>
        <p:nvSpPr>
          <p:cNvPr id="56" name="Text 49"/>
          <p:cNvSpPr/>
          <p:nvPr/>
        </p:nvSpPr>
        <p:spPr>
          <a:xfrm>
            <a:off x="1170432"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7" name="Text 50"/>
          <p:cNvSpPr/>
          <p:nvPr/>
        </p:nvSpPr>
        <p:spPr>
          <a:xfrm>
            <a:off x="1529334"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8" name="Text 51"/>
          <p:cNvSpPr/>
          <p:nvPr/>
        </p:nvSpPr>
        <p:spPr>
          <a:xfrm>
            <a:off x="1170432"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9" name="Text 52"/>
          <p:cNvSpPr/>
          <p:nvPr/>
        </p:nvSpPr>
        <p:spPr>
          <a:xfrm>
            <a:off x="694944"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60" name="Shape 53"/>
          <p:cNvSpPr/>
          <p:nvPr/>
        </p:nvSpPr>
        <p:spPr>
          <a:xfrm>
            <a:off x="2205990" y="5833872"/>
            <a:ext cx="1511046" cy="1207008"/>
          </a:xfrm>
          <a:prstGeom prst="rect">
            <a:avLst/>
          </a:prstGeom>
          <a:solidFill>
            <a:srgbClr val="FFFFFF"/>
          </a:solidFill>
          <a:ln w="12700">
            <a:solidFill>
              <a:srgbClr val="D2D2D2"/>
            </a:solidFill>
            <a:prstDash val="solid"/>
          </a:ln>
        </p:spPr>
      </p:sp>
      <p:pic>
        <p:nvPicPr>
          <p:cNvPr id="61" name="Image 5" descr="preencoded.png">    </p:cNvPr>
          <p:cNvPicPr>
            <a:picLocks noChangeAspect="1"/>
          </p:cNvPicPr>
          <p:nvPr/>
        </p:nvPicPr>
        <p:blipFill>
          <a:blip r:embed="rId6"/>
          <a:stretch>
            <a:fillRect/>
          </a:stretch>
        </p:blipFill>
        <p:spPr>
          <a:xfrm>
            <a:off x="2334006" y="5961888"/>
            <a:ext cx="402336" cy="402336"/>
          </a:xfrm>
          <a:prstGeom prst="rect">
            <a:avLst/>
          </a:prstGeom>
        </p:spPr>
      </p:pic>
      <p:sp>
        <p:nvSpPr>
          <p:cNvPr id="62" name="Text 54"/>
          <p:cNvSpPr/>
          <p:nvPr/>
        </p:nvSpPr>
        <p:spPr>
          <a:xfrm>
            <a:off x="2809494"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3" name="Text 55"/>
          <p:cNvSpPr/>
          <p:nvPr/>
        </p:nvSpPr>
        <p:spPr>
          <a:xfrm>
            <a:off x="2809494"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4" name="Text 56"/>
          <p:cNvSpPr/>
          <p:nvPr/>
        </p:nvSpPr>
        <p:spPr>
          <a:xfrm>
            <a:off x="2334006"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5" name="Shape 57"/>
          <p:cNvSpPr/>
          <p:nvPr/>
        </p:nvSpPr>
        <p:spPr>
          <a:xfrm>
            <a:off x="3845052" y="5833872"/>
            <a:ext cx="1511046" cy="1207008"/>
          </a:xfrm>
          <a:prstGeom prst="rect">
            <a:avLst/>
          </a:prstGeom>
          <a:solidFill>
            <a:srgbClr val="FFFFFF"/>
          </a:solidFill>
          <a:ln w="12700">
            <a:solidFill>
              <a:srgbClr val="D2D2D2"/>
            </a:solidFill>
            <a:prstDash val="solid"/>
          </a:ln>
        </p:spPr>
      </p:sp>
      <p:pic>
        <p:nvPicPr>
          <p:cNvPr id="66" name="Image 6" descr="preencoded.png">    </p:cNvPr>
          <p:cNvPicPr>
            <a:picLocks noChangeAspect="1"/>
          </p:cNvPicPr>
          <p:nvPr/>
        </p:nvPicPr>
        <p:blipFill>
          <a:blip r:embed="rId7"/>
          <a:stretch>
            <a:fillRect/>
          </a:stretch>
        </p:blipFill>
        <p:spPr>
          <a:xfrm>
            <a:off x="3973068" y="5961888"/>
            <a:ext cx="402336" cy="402336"/>
          </a:xfrm>
          <a:prstGeom prst="rect">
            <a:avLst/>
          </a:prstGeom>
        </p:spPr>
      </p:pic>
      <p:sp>
        <p:nvSpPr>
          <p:cNvPr id="67" name="Text 58"/>
          <p:cNvSpPr/>
          <p:nvPr/>
        </p:nvSpPr>
        <p:spPr>
          <a:xfrm>
            <a:off x="4448556"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8" name="Text 59"/>
          <p:cNvSpPr/>
          <p:nvPr/>
        </p:nvSpPr>
        <p:spPr>
          <a:xfrm>
            <a:off x="4807458"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69" name="Text 60"/>
          <p:cNvSpPr/>
          <p:nvPr/>
        </p:nvSpPr>
        <p:spPr>
          <a:xfrm>
            <a:off x="4448556"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0" name="Text 61"/>
          <p:cNvSpPr/>
          <p:nvPr/>
        </p:nvSpPr>
        <p:spPr>
          <a:xfrm>
            <a:off x="3973068"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71" name="Shape 62"/>
          <p:cNvSpPr/>
          <p:nvPr/>
        </p:nvSpPr>
        <p:spPr>
          <a:xfrm>
            <a:off x="5484114" y="5833872"/>
            <a:ext cx="1511046" cy="1207008"/>
          </a:xfrm>
          <a:prstGeom prst="rect">
            <a:avLst/>
          </a:prstGeom>
          <a:solidFill>
            <a:srgbClr val="FFFFFF"/>
          </a:solidFill>
          <a:ln w="12700">
            <a:solidFill>
              <a:srgbClr val="D2D2D2"/>
            </a:solidFill>
            <a:prstDash val="solid"/>
          </a:ln>
        </p:spPr>
      </p:sp>
      <p:pic>
        <p:nvPicPr>
          <p:cNvPr id="72" name="Image 7" descr="preencoded.png">    </p:cNvPr>
          <p:cNvPicPr>
            <a:picLocks noChangeAspect="1"/>
          </p:cNvPicPr>
          <p:nvPr/>
        </p:nvPicPr>
        <p:blipFill>
          <a:blip r:embed="rId8"/>
          <a:stretch>
            <a:fillRect/>
          </a:stretch>
        </p:blipFill>
        <p:spPr>
          <a:xfrm>
            <a:off x="5612130" y="5961888"/>
            <a:ext cx="402336" cy="402336"/>
          </a:xfrm>
          <a:prstGeom prst="rect">
            <a:avLst/>
          </a:prstGeom>
        </p:spPr>
      </p:pic>
      <p:sp>
        <p:nvSpPr>
          <p:cNvPr id="73" name="Text 63"/>
          <p:cNvSpPr/>
          <p:nvPr/>
        </p:nvSpPr>
        <p:spPr>
          <a:xfrm>
            <a:off x="6087618"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4" name="Text 64"/>
          <p:cNvSpPr/>
          <p:nvPr/>
        </p:nvSpPr>
        <p:spPr>
          <a:xfrm>
            <a:off x="6087618"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5" name="Text 65"/>
          <p:cNvSpPr/>
          <p:nvPr/>
        </p:nvSpPr>
        <p:spPr>
          <a:xfrm>
            <a:off x="5612130"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6" name="Shape 66"/>
          <p:cNvSpPr/>
          <p:nvPr/>
        </p:nvSpPr>
        <p:spPr>
          <a:xfrm>
            <a:off x="566928" y="7168896"/>
            <a:ext cx="1511046" cy="1207008"/>
          </a:xfrm>
          <a:prstGeom prst="rect">
            <a:avLst/>
          </a:prstGeom>
          <a:solidFill>
            <a:srgbClr val="FFFFFF"/>
          </a:solidFill>
          <a:ln w="12700">
            <a:solidFill>
              <a:srgbClr val="D2D2D2"/>
            </a:solidFill>
            <a:prstDash val="solid"/>
          </a:ln>
        </p:spPr>
      </p:sp>
      <p:pic>
        <p:nvPicPr>
          <p:cNvPr id="77" name="Image 8" descr="preencoded.png">    </p:cNvPr>
          <p:cNvPicPr>
            <a:picLocks noChangeAspect="1"/>
          </p:cNvPicPr>
          <p:nvPr/>
        </p:nvPicPr>
        <p:blipFill>
          <a:blip r:embed="rId9"/>
          <a:stretch>
            <a:fillRect/>
          </a:stretch>
        </p:blipFill>
        <p:spPr>
          <a:xfrm>
            <a:off x="694944" y="7296912"/>
            <a:ext cx="402336" cy="402336"/>
          </a:xfrm>
          <a:prstGeom prst="rect">
            <a:avLst/>
          </a:prstGeom>
        </p:spPr>
      </p:pic>
      <p:sp>
        <p:nvSpPr>
          <p:cNvPr id="78" name="Text 67"/>
          <p:cNvSpPr/>
          <p:nvPr/>
        </p:nvSpPr>
        <p:spPr>
          <a:xfrm>
            <a:off x="1170432"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9" name="Text 68"/>
          <p:cNvSpPr/>
          <p:nvPr/>
        </p:nvSpPr>
        <p:spPr>
          <a:xfrm>
            <a:off x="1529334"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80" name="Text 69"/>
          <p:cNvSpPr/>
          <p:nvPr/>
        </p:nvSpPr>
        <p:spPr>
          <a:xfrm>
            <a:off x="1170432"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70"/>
          <p:cNvSpPr/>
          <p:nvPr/>
        </p:nvSpPr>
        <p:spPr>
          <a:xfrm>
            <a:off x="694944"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block on the datum. Products are discrete, identifiable and issued for use.</a:t>
            </a:r>
            <a:endParaRPr lang="en-US" sz="690" dirty="0"/>
          </a:p>
        </p:txBody>
      </p:sp>
      <p:sp>
        <p:nvSpPr>
          <p:cNvPr id="82" name="Shape 71"/>
          <p:cNvSpPr/>
          <p:nvPr/>
        </p:nvSpPr>
        <p:spPr>
          <a:xfrm>
            <a:off x="2205990" y="7168896"/>
            <a:ext cx="1511046" cy="1207008"/>
          </a:xfrm>
          <a:prstGeom prst="rect">
            <a:avLst/>
          </a:prstGeom>
          <a:solidFill>
            <a:srgbClr val="FFFFFF"/>
          </a:solidFill>
          <a:ln w="12700">
            <a:solidFill>
              <a:srgbClr val="D2D2D2"/>
            </a:solidFill>
            <a:prstDash val="solid"/>
          </a:ln>
        </p:spPr>
      </p:sp>
      <p:pic>
        <p:nvPicPr>
          <p:cNvPr id="83" name="Image 9" descr="preencoded.png">    </p:cNvPr>
          <p:cNvPicPr>
            <a:picLocks noChangeAspect="1"/>
          </p:cNvPicPr>
          <p:nvPr/>
        </p:nvPicPr>
        <p:blipFill>
          <a:blip r:embed="rId10"/>
          <a:stretch>
            <a:fillRect/>
          </a:stretch>
        </p:blipFill>
        <p:spPr>
          <a:xfrm>
            <a:off x="2334006" y="7296912"/>
            <a:ext cx="402336" cy="402336"/>
          </a:xfrm>
          <a:prstGeom prst="rect">
            <a:avLst/>
          </a:prstGeom>
        </p:spPr>
      </p:pic>
      <p:sp>
        <p:nvSpPr>
          <p:cNvPr id="84" name="Text 72"/>
          <p:cNvSpPr/>
          <p:nvPr/>
        </p:nvSpPr>
        <p:spPr>
          <a:xfrm>
            <a:off x="2809494"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5" name="Text 73"/>
          <p:cNvSpPr/>
          <p:nvPr/>
        </p:nvSpPr>
        <p:spPr>
          <a:xfrm>
            <a:off x="2809494"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6" name="Text 74"/>
          <p:cNvSpPr/>
          <p:nvPr/>
        </p:nvSpPr>
        <p:spPr>
          <a:xfrm>
            <a:off x="2334006"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7" name="Shape 75"/>
          <p:cNvSpPr/>
          <p:nvPr/>
        </p:nvSpPr>
        <p:spPr>
          <a:xfrm>
            <a:off x="3845052" y="7168896"/>
            <a:ext cx="1511046" cy="1207008"/>
          </a:xfrm>
          <a:prstGeom prst="rect">
            <a:avLst/>
          </a:prstGeom>
          <a:solidFill>
            <a:srgbClr val="FFFFFF"/>
          </a:solidFill>
          <a:ln w="12700">
            <a:solidFill>
              <a:srgbClr val="D2D2D2"/>
            </a:solidFill>
            <a:prstDash val="solid"/>
          </a:ln>
        </p:spPr>
      </p:sp>
      <p:pic>
        <p:nvPicPr>
          <p:cNvPr id="88" name="Image 10" descr="preencoded.png">    </p:cNvPr>
          <p:cNvPicPr>
            <a:picLocks noChangeAspect="1"/>
          </p:cNvPicPr>
          <p:nvPr/>
        </p:nvPicPr>
        <p:blipFill>
          <a:blip r:embed="rId11"/>
          <a:stretch>
            <a:fillRect/>
          </a:stretch>
        </p:blipFill>
        <p:spPr>
          <a:xfrm>
            <a:off x="3973068" y="7296912"/>
            <a:ext cx="402336" cy="402336"/>
          </a:xfrm>
          <a:prstGeom prst="rect">
            <a:avLst/>
          </a:prstGeom>
        </p:spPr>
      </p:pic>
      <p:sp>
        <p:nvSpPr>
          <p:cNvPr id="89" name="Text 76"/>
          <p:cNvSpPr/>
          <p:nvPr/>
        </p:nvSpPr>
        <p:spPr>
          <a:xfrm>
            <a:off x="4448556"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90" name="Text 77"/>
          <p:cNvSpPr/>
          <p:nvPr/>
        </p:nvSpPr>
        <p:spPr>
          <a:xfrm>
            <a:off x="4807458"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91" name="Text 78"/>
          <p:cNvSpPr/>
          <p:nvPr/>
        </p:nvSpPr>
        <p:spPr>
          <a:xfrm>
            <a:off x="4448556"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2" name="Text 79"/>
          <p:cNvSpPr/>
          <p:nvPr/>
        </p:nvSpPr>
        <p:spPr>
          <a:xfrm>
            <a:off x="3973068"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93" name="Shape 80"/>
          <p:cNvSpPr/>
          <p:nvPr/>
        </p:nvSpPr>
        <p:spPr>
          <a:xfrm>
            <a:off x="5484114" y="7168896"/>
            <a:ext cx="1511046" cy="1207008"/>
          </a:xfrm>
          <a:prstGeom prst="rect">
            <a:avLst/>
          </a:prstGeom>
          <a:solidFill>
            <a:srgbClr val="FFFFFF"/>
          </a:solidFill>
          <a:ln w="12700">
            <a:solidFill>
              <a:srgbClr val="D2D2D2"/>
            </a:solidFill>
            <a:prstDash val="solid"/>
          </a:ln>
        </p:spPr>
      </p:sp>
      <p:pic>
        <p:nvPicPr>
          <p:cNvPr id="94" name="Image 11" descr="preencoded.png">    </p:cNvPr>
          <p:cNvPicPr>
            <a:picLocks noChangeAspect="1"/>
          </p:cNvPicPr>
          <p:nvPr/>
        </p:nvPicPr>
        <p:blipFill>
          <a:blip r:embed="rId12"/>
          <a:stretch>
            <a:fillRect/>
          </a:stretch>
        </p:blipFill>
        <p:spPr>
          <a:xfrm>
            <a:off x="5612130" y="7296912"/>
            <a:ext cx="402336" cy="402336"/>
          </a:xfrm>
          <a:prstGeom prst="rect">
            <a:avLst/>
          </a:prstGeom>
        </p:spPr>
      </p:pic>
      <p:sp>
        <p:nvSpPr>
          <p:cNvPr id="95" name="Text 81"/>
          <p:cNvSpPr/>
          <p:nvPr/>
        </p:nvSpPr>
        <p:spPr>
          <a:xfrm>
            <a:off x="6087618"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6" name="Text 82"/>
          <p:cNvSpPr/>
          <p:nvPr/>
        </p:nvSpPr>
        <p:spPr>
          <a:xfrm>
            <a:off x="6087618"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7" name="Text 83"/>
          <p:cNvSpPr/>
          <p:nvPr/>
        </p:nvSpPr>
        <p:spPr>
          <a:xfrm>
            <a:off x="5612130"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break in the datum identifies risk. A reading convention, not a definition.</a:t>
            </a:r>
            <a:endParaRPr lang="en-US" sz="690" dirty="0"/>
          </a:p>
        </p:txBody>
      </p:sp>
      <p:sp>
        <p:nvSpPr>
          <p:cNvPr id="98" name="Text 84"/>
          <p:cNvSpPr/>
          <p:nvPr/>
        </p:nvSpPr>
        <p:spPr>
          <a:xfrm>
            <a:off x="566928" y="86502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9" name="Shape 85"/>
          <p:cNvSpPr/>
          <p:nvPr/>
        </p:nvSpPr>
        <p:spPr>
          <a:xfrm>
            <a:off x="566928" y="8833104"/>
            <a:ext cx="6428232" cy="7315"/>
          </a:xfrm>
          <a:prstGeom prst="rect">
            <a:avLst/>
          </a:prstGeom>
          <a:solidFill>
            <a:srgbClr val="D2D2D2"/>
          </a:solidFill>
          <a:ln/>
        </p:spPr>
      </p:sp>
      <p:sp>
        <p:nvSpPr>
          <p:cNvPr id="100" name="Shape 86"/>
          <p:cNvSpPr/>
          <p:nvPr/>
        </p:nvSpPr>
        <p:spPr>
          <a:xfrm>
            <a:off x="566928" y="8942832"/>
            <a:ext cx="6428232" cy="859536"/>
          </a:xfrm>
          <a:prstGeom prst="rect">
            <a:avLst/>
          </a:prstGeom>
          <a:solidFill>
            <a:srgbClr val="FFFFFF"/>
          </a:solidFill>
          <a:ln w="12700">
            <a:solidFill>
              <a:srgbClr val="D2D2D2"/>
            </a:solidFill>
            <a:prstDash val="solid"/>
          </a:ln>
        </p:spPr>
      </p:sp>
      <p:pic>
        <p:nvPicPr>
          <p:cNvPr id="101" name="Image 12" descr="preencoded.png">    </p:cNvPr>
          <p:cNvPicPr>
            <a:picLocks noChangeAspect="1"/>
          </p:cNvPicPr>
          <p:nvPr/>
        </p:nvPicPr>
        <p:blipFill>
          <a:blip r:embed="rId13"/>
          <a:stretch>
            <a:fillRect/>
          </a:stretch>
        </p:blipFill>
        <p:spPr>
          <a:xfrm>
            <a:off x="786384" y="9162288"/>
            <a:ext cx="420624" cy="420624"/>
          </a:xfrm>
          <a:prstGeom prst="rect">
            <a:avLst/>
          </a:prstGeom>
        </p:spPr>
      </p:pic>
      <p:pic>
        <p:nvPicPr>
          <p:cNvPr id="102" name="Image 13" descr="preencoded.png">    </p:cNvPr>
          <p:cNvPicPr>
            <a:picLocks noChangeAspect="1"/>
          </p:cNvPicPr>
          <p:nvPr/>
        </p:nvPicPr>
        <p:blipFill>
          <a:blip r:embed="rId14"/>
          <a:stretch>
            <a:fillRect/>
          </a:stretch>
        </p:blipFill>
        <p:spPr>
          <a:xfrm>
            <a:off x="1389888" y="9217152"/>
            <a:ext cx="310896" cy="310896"/>
          </a:xfrm>
          <a:prstGeom prst="rect">
            <a:avLst/>
          </a:prstGeom>
        </p:spPr>
      </p:pic>
      <p:pic>
        <p:nvPicPr>
          <p:cNvPr id="103" name="Image 14" descr="preencoded.png">    </p:cNvPr>
          <p:cNvPicPr>
            <a:picLocks noChangeAspect="1"/>
          </p:cNvPicPr>
          <p:nvPr/>
        </p:nvPicPr>
        <p:blipFill>
          <a:blip r:embed="rId15"/>
          <a:stretch>
            <a:fillRect/>
          </a:stretch>
        </p:blipFill>
        <p:spPr>
          <a:xfrm>
            <a:off x="1883664" y="9253728"/>
            <a:ext cx="237744" cy="237744"/>
          </a:xfrm>
          <a:prstGeom prst="rect">
            <a:avLst/>
          </a:prstGeom>
        </p:spPr>
      </p:pic>
      <p:pic>
        <p:nvPicPr>
          <p:cNvPr id="104" name="Image 15" descr="preencoded.png">    </p:cNvPr>
          <p:cNvPicPr>
            <a:picLocks noChangeAspect="1"/>
          </p:cNvPicPr>
          <p:nvPr/>
        </p:nvPicPr>
        <p:blipFill>
          <a:blip r:embed="rId16"/>
          <a:stretch>
            <a:fillRect/>
          </a:stretch>
        </p:blipFill>
        <p:spPr>
          <a:xfrm>
            <a:off x="2304288" y="9285732"/>
            <a:ext cx="173736" cy="173736"/>
          </a:xfrm>
          <a:prstGeom prst="rect">
            <a:avLst/>
          </a:prstGeom>
        </p:spPr>
      </p:pic>
      <p:sp>
        <p:nvSpPr>
          <p:cNvPr id="105" name="Text 87"/>
          <p:cNvSpPr/>
          <p:nvPr/>
        </p:nvSpPr>
        <p:spPr>
          <a:xfrm>
            <a:off x="786384" y="9619488"/>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6" name="Shape 88"/>
          <p:cNvSpPr/>
          <p:nvPr/>
        </p:nvSpPr>
        <p:spPr>
          <a:xfrm>
            <a:off x="2852928" y="9052560"/>
            <a:ext cx="12802" cy="640080"/>
          </a:xfrm>
          <a:prstGeom prst="rect">
            <a:avLst/>
          </a:prstGeom>
          <a:solidFill>
            <a:srgbClr val="D2D2D2"/>
          </a:solidFill>
          <a:ln/>
        </p:spPr>
      </p:sp>
      <p:pic>
        <p:nvPicPr>
          <p:cNvPr id="107" name="Image 16" descr="preencoded.png">    </p:cNvPr>
          <p:cNvPicPr>
            <a:picLocks noChangeAspect="1"/>
          </p:cNvPicPr>
          <p:nvPr/>
        </p:nvPicPr>
        <p:blipFill>
          <a:blip r:embed="rId17"/>
          <a:stretch>
            <a:fillRect/>
          </a:stretch>
        </p:blipFill>
        <p:spPr>
          <a:xfrm>
            <a:off x="3090672" y="9162288"/>
            <a:ext cx="310896" cy="310896"/>
          </a:xfrm>
          <a:prstGeom prst="rect">
            <a:avLst/>
          </a:prstGeom>
        </p:spPr>
      </p:pic>
      <p:pic>
        <p:nvPicPr>
          <p:cNvPr id="108" name="Image 17" descr="preencoded.png">    </p:cNvPr>
          <p:cNvPicPr>
            <a:picLocks noChangeAspect="1"/>
          </p:cNvPicPr>
          <p:nvPr/>
        </p:nvPicPr>
        <p:blipFill>
          <a:blip r:embed="rId18"/>
          <a:stretch>
            <a:fillRect/>
          </a:stretch>
        </p:blipFill>
        <p:spPr>
          <a:xfrm>
            <a:off x="3547872" y="9162288"/>
            <a:ext cx="310896" cy="310896"/>
          </a:xfrm>
          <a:prstGeom prst="rect">
            <a:avLst/>
          </a:prstGeom>
        </p:spPr>
      </p:pic>
      <p:pic>
        <p:nvPicPr>
          <p:cNvPr id="109" name="Image 18" descr="preencoded.png">    </p:cNvPr>
          <p:cNvPicPr>
            <a:picLocks noChangeAspect="1"/>
          </p:cNvPicPr>
          <p:nvPr/>
        </p:nvPicPr>
        <p:blipFill>
          <a:blip r:embed="rId19"/>
          <a:stretch>
            <a:fillRect/>
          </a:stretch>
        </p:blipFill>
        <p:spPr>
          <a:xfrm>
            <a:off x="4005072" y="9162288"/>
            <a:ext cx="310896" cy="310896"/>
          </a:xfrm>
          <a:prstGeom prst="rect">
            <a:avLst/>
          </a:prstGeom>
        </p:spPr>
      </p:pic>
      <p:pic>
        <p:nvPicPr>
          <p:cNvPr id="110" name="Image 19" descr="preencoded.png">    </p:cNvPr>
          <p:cNvPicPr>
            <a:picLocks noChangeAspect="1"/>
          </p:cNvPicPr>
          <p:nvPr/>
        </p:nvPicPr>
        <p:blipFill>
          <a:blip r:embed="rId20"/>
          <a:stretch>
            <a:fillRect/>
          </a:stretch>
        </p:blipFill>
        <p:spPr>
          <a:xfrm>
            <a:off x="4462272" y="9162288"/>
            <a:ext cx="310896" cy="310896"/>
          </a:xfrm>
          <a:prstGeom prst="rect">
            <a:avLst/>
          </a:prstGeom>
        </p:spPr>
      </p:pic>
      <p:sp>
        <p:nvSpPr>
          <p:cNvPr id="111" name="Text 89"/>
          <p:cNvSpPr/>
          <p:nvPr/>
        </p:nvSpPr>
        <p:spPr>
          <a:xfrm>
            <a:off x="309067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12" name="Shape 90"/>
          <p:cNvSpPr/>
          <p:nvPr/>
        </p:nvSpPr>
        <p:spPr>
          <a:xfrm>
            <a:off x="5047488" y="9052560"/>
            <a:ext cx="12802" cy="640080"/>
          </a:xfrm>
          <a:prstGeom prst="rect">
            <a:avLst/>
          </a:prstGeom>
          <a:solidFill>
            <a:srgbClr val="D2D2D2"/>
          </a:solidFill>
          <a:ln/>
        </p:spPr>
      </p:sp>
      <p:pic>
        <p:nvPicPr>
          <p:cNvPr id="113" name="Image 20" descr="preencoded.png">    </p:cNvPr>
          <p:cNvPicPr>
            <a:picLocks noChangeAspect="1"/>
          </p:cNvPicPr>
          <p:nvPr/>
        </p:nvPicPr>
        <p:blipFill>
          <a:blip r:embed="rId21"/>
          <a:stretch>
            <a:fillRect/>
          </a:stretch>
        </p:blipFill>
        <p:spPr>
          <a:xfrm>
            <a:off x="5285232" y="9162288"/>
            <a:ext cx="310896" cy="310896"/>
          </a:xfrm>
          <a:prstGeom prst="rect">
            <a:avLst/>
          </a:prstGeom>
        </p:spPr>
      </p:pic>
      <p:pic>
        <p:nvPicPr>
          <p:cNvPr id="114" name="Image 21" descr="preencoded.png">    </p:cNvPr>
          <p:cNvPicPr>
            <a:picLocks noChangeAspect="1"/>
          </p:cNvPicPr>
          <p:nvPr/>
        </p:nvPicPr>
        <p:blipFill>
          <a:blip r:embed="rId22"/>
          <a:stretch>
            <a:fillRect/>
          </a:stretch>
        </p:blipFill>
        <p:spPr>
          <a:xfrm>
            <a:off x="5742432" y="9162288"/>
            <a:ext cx="310896" cy="310896"/>
          </a:xfrm>
          <a:prstGeom prst="rect">
            <a:avLst/>
          </a:prstGeom>
        </p:spPr>
      </p:pic>
      <p:pic>
        <p:nvPicPr>
          <p:cNvPr id="115" name="Image 22" descr="preencoded.png">    </p:cNvPr>
          <p:cNvPicPr>
            <a:picLocks noChangeAspect="1"/>
          </p:cNvPicPr>
          <p:nvPr/>
        </p:nvPicPr>
        <p:blipFill>
          <a:blip r:embed="rId23"/>
          <a:stretch>
            <a:fillRect/>
          </a:stretch>
        </p:blipFill>
        <p:spPr>
          <a:xfrm>
            <a:off x="6199632" y="9162288"/>
            <a:ext cx="310896" cy="310896"/>
          </a:xfrm>
          <a:prstGeom prst="rect">
            <a:avLst/>
          </a:prstGeom>
        </p:spPr>
      </p:pic>
      <p:pic>
        <p:nvPicPr>
          <p:cNvPr id="116" name="Image 23" descr="preencoded.png">    </p:cNvPr>
          <p:cNvPicPr>
            <a:picLocks noChangeAspect="1"/>
          </p:cNvPicPr>
          <p:nvPr/>
        </p:nvPicPr>
        <p:blipFill>
          <a:blip r:embed="rId24"/>
          <a:stretch>
            <a:fillRect/>
          </a:stretch>
        </p:blipFill>
        <p:spPr>
          <a:xfrm>
            <a:off x="6656832" y="9162288"/>
            <a:ext cx="310896" cy="310896"/>
          </a:xfrm>
          <a:prstGeom prst="rect">
            <a:avLst/>
          </a:prstGeom>
        </p:spPr>
      </p:pic>
      <p:sp>
        <p:nvSpPr>
          <p:cNvPr id="117" name="Text 91"/>
          <p:cNvSpPr/>
          <p:nvPr/>
        </p:nvSpPr>
        <p:spPr>
          <a:xfrm>
            <a:off x="528523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nodes, the action notation, and defined threshold states. Otherwise risk is carried by the broken datum.</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calculates at roughly 5.3 to 1, which passes AA for body text; Army Red on black fails and is not permitted for type. Every claim here is re-verified with accredited tooling at step 03, and the repository tests contrast, minimum sizes, mono output and reduced motion automatically.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91440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an identifier, a title, and a status line. The component is identical in print, in a slide, in a repository and on a phone; only its scale changes. Identifiers separate content type, item and version, because a number that means two things eventually means nothing. The scheme shown is illustrative: allocation authority, and its relationship to existing Army and NZDF reference series, is resolved at step 03 before any identifier is issued. The pilot also tests whether some types are better held as status or relationship metadata than as primary types.</a:t>
            </a:r>
            <a:endParaRPr lang="en-US" sz="900" dirty="0"/>
          </a:p>
        </p:txBody>
      </p:sp>
      <p:sp>
        <p:nvSpPr>
          <p:cNvPr id="12" name="Shape 10"/>
          <p:cNvSpPr/>
          <p:nvPr/>
        </p:nvSpPr>
        <p:spPr>
          <a:xfrm>
            <a:off x="566928" y="3072384"/>
            <a:ext cx="6428232" cy="914400"/>
          </a:xfrm>
          <a:prstGeom prst="rect">
            <a:avLst/>
          </a:prstGeom>
          <a:solidFill>
            <a:srgbClr val="FFFFFF"/>
          </a:solidFill>
          <a:ln w="12700">
            <a:solidFill>
              <a:srgbClr val="D2D2D2"/>
            </a:solidFill>
            <a:prstDash val="solid"/>
          </a:ln>
        </p:spPr>
      </p:sp>
      <p:sp>
        <p:nvSpPr>
          <p:cNvPr id="13" name="Shape 11"/>
          <p:cNvSpPr/>
          <p:nvPr/>
        </p:nvSpPr>
        <p:spPr>
          <a:xfrm>
            <a:off x="566928" y="3072384"/>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3273552"/>
            <a:ext cx="457200" cy="457200"/>
          </a:xfrm>
          <a:prstGeom prst="rect">
            <a:avLst/>
          </a:prstGeom>
        </p:spPr>
      </p:pic>
      <p:sp>
        <p:nvSpPr>
          <p:cNvPr id="15" name="Text 12"/>
          <p:cNvSpPr/>
          <p:nvPr/>
        </p:nvSpPr>
        <p:spPr>
          <a:xfrm>
            <a:off x="1371600" y="3255264"/>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3419856"/>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CM-EVD-004  v0.3</a:t>
            </a:r>
            <a:endParaRPr lang="en-US" sz="700" dirty="0"/>
          </a:p>
        </p:txBody>
      </p:sp>
      <p:sp>
        <p:nvSpPr>
          <p:cNvPr id="17" name="Text 14"/>
          <p:cNvSpPr/>
          <p:nvPr/>
        </p:nvSpPr>
        <p:spPr>
          <a:xfrm>
            <a:off x="3310128" y="3255264"/>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511296"/>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42245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407408"/>
            <a:ext cx="6428232" cy="7315"/>
          </a:xfrm>
          <a:prstGeom prst="rect">
            <a:avLst/>
          </a:prstGeom>
          <a:solidFill>
            <a:srgbClr val="D2D2D2"/>
          </a:solidFill>
          <a:ln/>
        </p:spPr>
      </p:sp>
      <p:sp>
        <p:nvSpPr>
          <p:cNvPr id="24" name="Shape 21"/>
          <p:cNvSpPr/>
          <p:nvPr/>
        </p:nvSpPr>
        <p:spPr>
          <a:xfrm>
            <a:off x="566928" y="4517136"/>
            <a:ext cx="6428232" cy="402336"/>
          </a:xfrm>
          <a:prstGeom prst="rect">
            <a:avLst/>
          </a:prstGeom>
          <a:solidFill>
            <a:srgbClr val="FFFFFF"/>
          </a:solidFill>
          <a:ln/>
        </p:spPr>
      </p:sp>
      <p:sp>
        <p:nvSpPr>
          <p:cNvPr id="25" name="Shape 22"/>
          <p:cNvSpPr/>
          <p:nvPr/>
        </p:nvSpPr>
        <p:spPr>
          <a:xfrm>
            <a:off x="566928" y="4517136"/>
            <a:ext cx="36576" cy="402336"/>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617720"/>
            <a:ext cx="256032" cy="256032"/>
          </a:xfrm>
          <a:prstGeom prst="rect">
            <a:avLst/>
          </a:prstGeom>
        </p:spPr>
      </p:pic>
      <p:sp>
        <p:nvSpPr>
          <p:cNvPr id="27" name="Text 23"/>
          <p:cNvSpPr/>
          <p:nvPr/>
        </p:nvSpPr>
        <p:spPr>
          <a:xfrm>
            <a:off x="1097280" y="4517136"/>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517136"/>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51713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CM-FWK-001</a:t>
            </a:r>
            <a:endParaRPr lang="en-US" sz="700" dirty="0"/>
          </a:p>
        </p:txBody>
      </p:sp>
      <p:sp>
        <p:nvSpPr>
          <p:cNvPr id="30" name="Text 26"/>
          <p:cNvSpPr/>
          <p:nvPr/>
        </p:nvSpPr>
        <p:spPr>
          <a:xfrm>
            <a:off x="4352544" y="4517136"/>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956048"/>
            <a:ext cx="6428232" cy="402336"/>
          </a:xfrm>
          <a:prstGeom prst="rect">
            <a:avLst/>
          </a:prstGeom>
          <a:solidFill>
            <a:srgbClr val="FBFBFA"/>
          </a:solidFill>
          <a:ln/>
        </p:spPr>
      </p:sp>
      <p:sp>
        <p:nvSpPr>
          <p:cNvPr id="32" name="Shape 28"/>
          <p:cNvSpPr/>
          <p:nvPr/>
        </p:nvSpPr>
        <p:spPr>
          <a:xfrm>
            <a:off x="566928" y="4956048"/>
            <a:ext cx="36576" cy="402336"/>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5056632"/>
            <a:ext cx="256032" cy="256032"/>
          </a:xfrm>
          <a:prstGeom prst="rect">
            <a:avLst/>
          </a:prstGeom>
        </p:spPr>
      </p:pic>
      <p:sp>
        <p:nvSpPr>
          <p:cNvPr id="34" name="Text 29"/>
          <p:cNvSpPr/>
          <p:nvPr/>
        </p:nvSpPr>
        <p:spPr>
          <a:xfrm>
            <a:off x="1097280" y="4956048"/>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956048"/>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95604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CM-DOC-001</a:t>
            </a:r>
            <a:endParaRPr lang="en-US" sz="700" dirty="0"/>
          </a:p>
        </p:txBody>
      </p:sp>
      <p:sp>
        <p:nvSpPr>
          <p:cNvPr id="37" name="Text 32"/>
          <p:cNvSpPr/>
          <p:nvPr/>
        </p:nvSpPr>
        <p:spPr>
          <a:xfrm>
            <a:off x="4352544" y="4956048"/>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394960"/>
            <a:ext cx="6428232" cy="402336"/>
          </a:xfrm>
          <a:prstGeom prst="rect">
            <a:avLst/>
          </a:prstGeom>
          <a:solidFill>
            <a:srgbClr val="FFFFFF"/>
          </a:solidFill>
          <a:ln/>
        </p:spPr>
      </p:sp>
      <p:sp>
        <p:nvSpPr>
          <p:cNvPr id="39" name="Shape 34"/>
          <p:cNvSpPr/>
          <p:nvPr/>
        </p:nvSpPr>
        <p:spPr>
          <a:xfrm>
            <a:off x="566928" y="5394960"/>
            <a:ext cx="36576" cy="402336"/>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495544"/>
            <a:ext cx="256032" cy="256032"/>
          </a:xfrm>
          <a:prstGeom prst="rect">
            <a:avLst/>
          </a:prstGeom>
        </p:spPr>
      </p:pic>
      <p:sp>
        <p:nvSpPr>
          <p:cNvPr id="41" name="Text 35"/>
          <p:cNvSpPr/>
          <p:nvPr/>
        </p:nvSpPr>
        <p:spPr>
          <a:xfrm>
            <a:off x="1097280" y="5394960"/>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394960"/>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394960"/>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CM-POL-001</a:t>
            </a:r>
            <a:endParaRPr lang="en-US" sz="700" dirty="0"/>
          </a:p>
        </p:txBody>
      </p:sp>
      <p:sp>
        <p:nvSpPr>
          <p:cNvPr id="44" name="Text 38"/>
          <p:cNvSpPr/>
          <p:nvPr/>
        </p:nvSpPr>
        <p:spPr>
          <a:xfrm>
            <a:off x="4352544" y="5394960"/>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833872"/>
            <a:ext cx="6428232" cy="402336"/>
          </a:xfrm>
          <a:prstGeom prst="rect">
            <a:avLst/>
          </a:prstGeom>
          <a:solidFill>
            <a:srgbClr val="FBFBFA"/>
          </a:solidFill>
          <a:ln/>
        </p:spPr>
      </p:sp>
      <p:sp>
        <p:nvSpPr>
          <p:cNvPr id="46" name="Shape 40"/>
          <p:cNvSpPr/>
          <p:nvPr/>
        </p:nvSpPr>
        <p:spPr>
          <a:xfrm>
            <a:off x="566928" y="5833872"/>
            <a:ext cx="36576" cy="402336"/>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934456"/>
            <a:ext cx="256032" cy="256032"/>
          </a:xfrm>
          <a:prstGeom prst="rect">
            <a:avLst/>
          </a:prstGeom>
        </p:spPr>
      </p:pic>
      <p:sp>
        <p:nvSpPr>
          <p:cNvPr id="48" name="Text 41"/>
          <p:cNvSpPr/>
          <p:nvPr/>
        </p:nvSpPr>
        <p:spPr>
          <a:xfrm>
            <a:off x="1097280" y="5833872"/>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833872"/>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833872"/>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CM-GOV-001</a:t>
            </a:r>
            <a:endParaRPr lang="en-US" sz="700" dirty="0"/>
          </a:p>
        </p:txBody>
      </p:sp>
      <p:sp>
        <p:nvSpPr>
          <p:cNvPr id="51" name="Text 44"/>
          <p:cNvSpPr/>
          <p:nvPr/>
        </p:nvSpPr>
        <p:spPr>
          <a:xfrm>
            <a:off x="4352544" y="5833872"/>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272784"/>
            <a:ext cx="6428232" cy="402336"/>
          </a:xfrm>
          <a:prstGeom prst="rect">
            <a:avLst/>
          </a:prstGeom>
          <a:solidFill>
            <a:srgbClr val="FFFFFF"/>
          </a:solidFill>
          <a:ln/>
        </p:spPr>
      </p:sp>
      <p:sp>
        <p:nvSpPr>
          <p:cNvPr id="53" name="Shape 46"/>
          <p:cNvSpPr/>
          <p:nvPr/>
        </p:nvSpPr>
        <p:spPr>
          <a:xfrm>
            <a:off x="566928" y="6272784"/>
            <a:ext cx="36576" cy="402336"/>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373368"/>
            <a:ext cx="256032" cy="256032"/>
          </a:xfrm>
          <a:prstGeom prst="rect">
            <a:avLst/>
          </a:prstGeom>
        </p:spPr>
      </p:pic>
      <p:sp>
        <p:nvSpPr>
          <p:cNvPr id="55" name="Text 47"/>
          <p:cNvSpPr/>
          <p:nvPr/>
        </p:nvSpPr>
        <p:spPr>
          <a:xfrm>
            <a:off x="1097280" y="6272784"/>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272784"/>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272784"/>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CM-EVD-001</a:t>
            </a:r>
            <a:endParaRPr lang="en-US" sz="700" dirty="0"/>
          </a:p>
        </p:txBody>
      </p:sp>
      <p:sp>
        <p:nvSpPr>
          <p:cNvPr id="58" name="Text 50"/>
          <p:cNvSpPr/>
          <p:nvPr/>
        </p:nvSpPr>
        <p:spPr>
          <a:xfrm>
            <a:off x="4352544" y="6272784"/>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711696"/>
            <a:ext cx="6428232" cy="402336"/>
          </a:xfrm>
          <a:prstGeom prst="rect">
            <a:avLst/>
          </a:prstGeom>
          <a:solidFill>
            <a:srgbClr val="FBFBFA"/>
          </a:solidFill>
          <a:ln/>
        </p:spPr>
      </p:sp>
      <p:sp>
        <p:nvSpPr>
          <p:cNvPr id="60" name="Shape 52"/>
          <p:cNvSpPr/>
          <p:nvPr/>
        </p:nvSpPr>
        <p:spPr>
          <a:xfrm>
            <a:off x="566928" y="6711696"/>
            <a:ext cx="36576" cy="402336"/>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812280"/>
            <a:ext cx="256032" cy="256032"/>
          </a:xfrm>
          <a:prstGeom prst="rect">
            <a:avLst/>
          </a:prstGeom>
        </p:spPr>
      </p:pic>
      <p:sp>
        <p:nvSpPr>
          <p:cNvPr id="62" name="Text 53"/>
          <p:cNvSpPr/>
          <p:nvPr/>
        </p:nvSpPr>
        <p:spPr>
          <a:xfrm>
            <a:off x="1097280" y="6711696"/>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711696"/>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71169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CM-RES-001</a:t>
            </a:r>
            <a:endParaRPr lang="en-US" sz="700" dirty="0"/>
          </a:p>
        </p:txBody>
      </p:sp>
      <p:sp>
        <p:nvSpPr>
          <p:cNvPr id="65" name="Text 56"/>
          <p:cNvSpPr/>
          <p:nvPr/>
        </p:nvSpPr>
        <p:spPr>
          <a:xfrm>
            <a:off x="4352544" y="6711696"/>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7150608"/>
            <a:ext cx="6428232" cy="402336"/>
          </a:xfrm>
          <a:prstGeom prst="rect">
            <a:avLst/>
          </a:prstGeom>
          <a:solidFill>
            <a:srgbClr val="FFFFFF"/>
          </a:solidFill>
          <a:ln/>
        </p:spPr>
      </p:sp>
      <p:sp>
        <p:nvSpPr>
          <p:cNvPr id="67" name="Shape 58"/>
          <p:cNvSpPr/>
          <p:nvPr/>
        </p:nvSpPr>
        <p:spPr>
          <a:xfrm>
            <a:off x="566928" y="7150608"/>
            <a:ext cx="36576" cy="402336"/>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251192"/>
            <a:ext cx="256032" cy="256032"/>
          </a:xfrm>
          <a:prstGeom prst="rect">
            <a:avLst/>
          </a:prstGeom>
        </p:spPr>
      </p:pic>
      <p:sp>
        <p:nvSpPr>
          <p:cNvPr id="69" name="Text 59"/>
          <p:cNvSpPr/>
          <p:nvPr/>
        </p:nvSpPr>
        <p:spPr>
          <a:xfrm>
            <a:off x="1097280" y="7150608"/>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7150608"/>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715060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CM-ASM-001</a:t>
            </a:r>
            <a:endParaRPr lang="en-US" sz="700" dirty="0"/>
          </a:p>
        </p:txBody>
      </p:sp>
      <p:sp>
        <p:nvSpPr>
          <p:cNvPr id="72" name="Text 62"/>
          <p:cNvSpPr/>
          <p:nvPr/>
        </p:nvSpPr>
        <p:spPr>
          <a:xfrm>
            <a:off x="4352544" y="7150608"/>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589520"/>
            <a:ext cx="6428232" cy="402336"/>
          </a:xfrm>
          <a:prstGeom prst="rect">
            <a:avLst/>
          </a:prstGeom>
          <a:solidFill>
            <a:srgbClr val="FBFBFA"/>
          </a:solidFill>
          <a:ln/>
        </p:spPr>
      </p:sp>
      <p:sp>
        <p:nvSpPr>
          <p:cNvPr id="74" name="Shape 64"/>
          <p:cNvSpPr/>
          <p:nvPr/>
        </p:nvSpPr>
        <p:spPr>
          <a:xfrm>
            <a:off x="566928" y="7589520"/>
            <a:ext cx="36576" cy="402336"/>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690104"/>
            <a:ext cx="256032" cy="256032"/>
          </a:xfrm>
          <a:prstGeom prst="rect">
            <a:avLst/>
          </a:prstGeom>
        </p:spPr>
      </p:pic>
      <p:sp>
        <p:nvSpPr>
          <p:cNvPr id="76" name="Text 65"/>
          <p:cNvSpPr/>
          <p:nvPr/>
        </p:nvSpPr>
        <p:spPr>
          <a:xfrm>
            <a:off x="1097280" y="7589520"/>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589520"/>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589520"/>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CM-REV-001</a:t>
            </a:r>
            <a:endParaRPr lang="en-US" sz="700" dirty="0"/>
          </a:p>
        </p:txBody>
      </p:sp>
      <p:sp>
        <p:nvSpPr>
          <p:cNvPr id="79" name="Text 68"/>
          <p:cNvSpPr/>
          <p:nvPr/>
        </p:nvSpPr>
        <p:spPr>
          <a:xfrm>
            <a:off x="4352544" y="7589520"/>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8028432"/>
            <a:ext cx="6428232" cy="402336"/>
          </a:xfrm>
          <a:prstGeom prst="rect">
            <a:avLst/>
          </a:prstGeom>
          <a:solidFill>
            <a:srgbClr val="FFFFFF"/>
          </a:solidFill>
          <a:ln/>
        </p:spPr>
      </p:sp>
      <p:sp>
        <p:nvSpPr>
          <p:cNvPr id="81" name="Shape 70"/>
          <p:cNvSpPr/>
          <p:nvPr/>
        </p:nvSpPr>
        <p:spPr>
          <a:xfrm>
            <a:off x="566928" y="8028432"/>
            <a:ext cx="36576" cy="402336"/>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8129016"/>
            <a:ext cx="256032" cy="256032"/>
          </a:xfrm>
          <a:prstGeom prst="rect">
            <a:avLst/>
          </a:prstGeom>
        </p:spPr>
      </p:pic>
      <p:sp>
        <p:nvSpPr>
          <p:cNvPr id="83" name="Text 71"/>
          <p:cNvSpPr/>
          <p:nvPr/>
        </p:nvSpPr>
        <p:spPr>
          <a:xfrm>
            <a:off x="1097280" y="8028432"/>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8028432"/>
            <a:ext cx="914400" cy="402336"/>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8028432"/>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CM-PRD-001</a:t>
            </a:r>
            <a:endParaRPr lang="en-US" sz="700" dirty="0"/>
          </a:p>
        </p:txBody>
      </p:sp>
      <p:sp>
        <p:nvSpPr>
          <p:cNvPr id="86" name="Text 74"/>
          <p:cNvSpPr/>
          <p:nvPr/>
        </p:nvSpPr>
        <p:spPr>
          <a:xfrm>
            <a:off x="4352544" y="8028432"/>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467344"/>
            <a:ext cx="6428232" cy="402336"/>
          </a:xfrm>
          <a:prstGeom prst="rect">
            <a:avLst/>
          </a:prstGeom>
          <a:solidFill>
            <a:srgbClr val="FBFBFA"/>
          </a:solidFill>
          <a:ln/>
        </p:spPr>
      </p:sp>
      <p:sp>
        <p:nvSpPr>
          <p:cNvPr id="88" name="Shape 76"/>
          <p:cNvSpPr/>
          <p:nvPr/>
        </p:nvSpPr>
        <p:spPr>
          <a:xfrm>
            <a:off x="566928" y="8467344"/>
            <a:ext cx="36576" cy="402336"/>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567928"/>
            <a:ext cx="256032" cy="256032"/>
          </a:xfrm>
          <a:prstGeom prst="rect">
            <a:avLst/>
          </a:prstGeom>
        </p:spPr>
      </p:pic>
      <p:sp>
        <p:nvSpPr>
          <p:cNvPr id="90" name="Text 77"/>
          <p:cNvSpPr/>
          <p:nvPr/>
        </p:nvSpPr>
        <p:spPr>
          <a:xfrm>
            <a:off x="1097280" y="8467344"/>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467344"/>
            <a:ext cx="914400" cy="402336"/>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467344"/>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CM-REF-001</a:t>
            </a:r>
            <a:endParaRPr lang="en-US" sz="700" dirty="0"/>
          </a:p>
        </p:txBody>
      </p:sp>
      <p:sp>
        <p:nvSpPr>
          <p:cNvPr id="93" name="Text 80"/>
          <p:cNvSpPr/>
          <p:nvPr/>
        </p:nvSpPr>
        <p:spPr>
          <a:xfrm>
            <a:off x="4352544" y="8467344"/>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8906256"/>
            <a:ext cx="6428232" cy="402336"/>
          </a:xfrm>
          <a:prstGeom prst="rect">
            <a:avLst/>
          </a:prstGeom>
          <a:solidFill>
            <a:srgbClr val="FFFFFF"/>
          </a:solidFill>
          <a:ln/>
        </p:spPr>
      </p:sp>
      <p:sp>
        <p:nvSpPr>
          <p:cNvPr id="95" name="Shape 82"/>
          <p:cNvSpPr/>
          <p:nvPr/>
        </p:nvSpPr>
        <p:spPr>
          <a:xfrm>
            <a:off x="566928" y="8906256"/>
            <a:ext cx="36576" cy="402336"/>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9006840"/>
            <a:ext cx="256032" cy="256032"/>
          </a:xfrm>
          <a:prstGeom prst="rect">
            <a:avLst/>
          </a:prstGeom>
        </p:spPr>
      </p:pic>
      <p:sp>
        <p:nvSpPr>
          <p:cNvPr id="97" name="Text 83"/>
          <p:cNvSpPr/>
          <p:nvPr/>
        </p:nvSpPr>
        <p:spPr>
          <a:xfrm>
            <a:off x="1097280" y="8906256"/>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8906256"/>
            <a:ext cx="914400" cy="402336"/>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890625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CM-DEC-001</a:t>
            </a:r>
            <a:endParaRPr lang="en-US" sz="700" dirty="0"/>
          </a:p>
        </p:txBody>
      </p:sp>
      <p:sp>
        <p:nvSpPr>
          <p:cNvPr id="100" name="Text 86"/>
          <p:cNvSpPr/>
          <p:nvPr/>
        </p:nvSpPr>
        <p:spPr>
          <a:xfrm>
            <a:off x="4352544" y="8906256"/>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345168"/>
            <a:ext cx="6428232" cy="402336"/>
          </a:xfrm>
          <a:prstGeom prst="rect">
            <a:avLst/>
          </a:prstGeom>
          <a:solidFill>
            <a:srgbClr val="FBFBFA"/>
          </a:solidFill>
          <a:ln/>
        </p:spPr>
      </p:sp>
      <p:sp>
        <p:nvSpPr>
          <p:cNvPr id="102" name="Shape 88"/>
          <p:cNvSpPr/>
          <p:nvPr/>
        </p:nvSpPr>
        <p:spPr>
          <a:xfrm>
            <a:off x="566928" y="9345168"/>
            <a:ext cx="36576" cy="402336"/>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445752"/>
            <a:ext cx="256032" cy="256032"/>
          </a:xfrm>
          <a:prstGeom prst="rect">
            <a:avLst/>
          </a:prstGeom>
        </p:spPr>
      </p:pic>
      <p:sp>
        <p:nvSpPr>
          <p:cNvPr id="104" name="Text 89"/>
          <p:cNvSpPr/>
          <p:nvPr/>
        </p:nvSpPr>
        <p:spPr>
          <a:xfrm>
            <a:off x="1097280" y="9345168"/>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345168"/>
            <a:ext cx="914400" cy="402336"/>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34516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CM-RSK-001</a:t>
            </a:r>
            <a:endParaRPr lang="en-US" sz="700" dirty="0"/>
          </a:p>
        </p:txBody>
      </p:sp>
      <p:sp>
        <p:nvSpPr>
          <p:cNvPr id="107" name="Text 92"/>
          <p:cNvSpPr/>
          <p:nvPr/>
        </p:nvSpPr>
        <p:spPr>
          <a:xfrm>
            <a:off x="4352544" y="9345168"/>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A discontinuity to be managed</a:t>
            </a:r>
            <a:endParaRPr lang="en-US" sz="780" dirty="0"/>
          </a:p>
        </p:txBody>
      </p:sp>
      <p:sp>
        <p:nvSpPr>
          <p:cNvPr id="108" name="Text 93"/>
          <p:cNvSpPr/>
          <p:nvPr/>
        </p:nvSpPr>
        <p:spPr>
          <a:xfrm>
            <a:off x="566928" y="9857232"/>
            <a:ext cx="6428232"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Greyed rows are candidate extensions: drafted to prove the grammar extends, and introduced only when the pilot shows the distinction is needed.</a:t>
            </a:r>
            <a:endParaRPr lang="en-US" sz="7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Generic gym imagery as shorthand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title treatments. The title treatment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pilot content types form the initial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CONTROLLED CONTENT READER</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Endorsed text at full measure, with evidence and assessment collapsed beneath it and marked with their own notation. Doctrine is one content class this reader eventually carries.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datum itself. It is the governing device, selected against five criteria, and the system has no second spine.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action and defined threshold states, with risk otherwise identified structurally by the broken datum.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V0.6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doctrine and controlled information systems are the visual precedent, without claiming doctrinal status for the framework itself. The governing concept is settled: Datum is adopted, and the review is not asked to reopen it. No production assets or enduring templates should be issued before the position is agreed.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the adopted concept and the specification to DPA. Expect challenge on the title treatment, the notation family, and the derivation of the field from the Army chevron pattern.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under a validated identifier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2026-08-06T04:56:29Z</dcterms:created>
  <dcterms:modified xsi:type="dcterms:W3CDTF">2026-08-06T04:56:29Z</dcterms:modified>
</cp:coreProperties>
</file>