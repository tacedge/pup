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7562088" cy="10689336"/>
  <p:notesSz cx="10689336" cy="7562088"/>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slideLayout" Target="../slideLayouts/slideLayout1.xml"/><Relationship Id="rId2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slideLayout" Target="../slideLayouts/slideLayout1.xml"/><Relationship Id="rId1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assets/nz-army-logo.png">    </p:cNvPr>
          <p:cNvPicPr>
            <a:picLocks noChangeAspect="1"/>
          </p:cNvPicPr>
          <p:nvPr/>
        </p:nvPicPr>
        <p:blipFill>
          <a:blip r:embed="rId1"/>
          <a:stretch>
            <a:fillRect/>
          </a:stretch>
        </p:blipFill>
        <p:spPr>
          <a:xfrm>
            <a:off x="566928" y="859536"/>
            <a:ext cx="1554480" cy="354904"/>
          </a:xfrm>
          <a:prstGeom prst="rect">
            <a:avLst/>
          </a:prstGeom>
        </p:spPr>
      </p:pic>
      <p:pic>
        <p:nvPicPr>
          <p:cNvPr id="3" name="Image 1" descr="preencoded.png">    </p:cNvPr>
          <p:cNvPicPr>
            <a:picLocks noChangeAspect="1"/>
          </p:cNvPicPr>
          <p:nvPr/>
        </p:nvPicPr>
        <p:blipFill>
          <a:blip r:embed="rId2"/>
          <a:stretch>
            <a:fillRect/>
          </a:stretch>
        </p:blipFill>
        <p:spPr>
          <a:xfrm>
            <a:off x="0" y="2926080"/>
            <a:ext cx="7562088" cy="1848510"/>
          </a:xfrm>
          <a:prstGeom prst="rect">
            <a:avLst/>
          </a:prstGeom>
        </p:spPr>
      </p:pic>
      <p:sp>
        <p:nvSpPr>
          <p:cNvPr id="4" name="Text 0"/>
          <p:cNvSpPr/>
          <p:nvPr/>
        </p:nvSpPr>
        <p:spPr>
          <a:xfrm>
            <a:off x="566928" y="5029200"/>
            <a:ext cx="6428232" cy="658368"/>
          </a:xfrm>
          <a:prstGeom prst="rect">
            <a:avLst/>
          </a:prstGeom>
          <a:noFill/>
          <a:ln/>
        </p:spPr>
        <p:txBody>
          <a:bodyPr wrap="square" lIns="0" tIns="0" rIns="0" bIns="0" rtlCol="0" anchor="ctr"/>
          <a:lstStyle/>
          <a:p>
            <a:pPr algn="l" indent="0" marL="0">
              <a:buNone/>
            </a:pPr>
            <a:r>
              <a:rPr lang="en-US" sz="5000" b="1" spc="140" kern="0" dirty="0">
                <a:solidFill>
                  <a:srgbClr val="1A1A1A"/>
                </a:solidFill>
                <a:latin typeface="Arial" pitchFamily="34" charset="0"/>
                <a:ea typeface="Arial" pitchFamily="34" charset="-122"/>
                <a:cs typeface="Arial" pitchFamily="34" charset="-120"/>
              </a:rPr>
              <a:t>COMBAT</a:t>
            </a:r>
            <a:endParaRPr lang="en-US" sz="5000" dirty="0"/>
          </a:p>
        </p:txBody>
      </p:sp>
      <p:sp>
        <p:nvSpPr>
          <p:cNvPr id="5" name="Text 1"/>
          <p:cNvSpPr/>
          <p:nvPr/>
        </p:nvSpPr>
        <p:spPr>
          <a:xfrm>
            <a:off x="566928" y="5669280"/>
            <a:ext cx="6428232" cy="658368"/>
          </a:xfrm>
          <a:prstGeom prst="rect">
            <a:avLst/>
          </a:prstGeom>
          <a:noFill/>
          <a:ln/>
        </p:spPr>
        <p:txBody>
          <a:bodyPr wrap="square" lIns="0" tIns="0" rIns="0" bIns="0" rtlCol="0" anchor="ctr"/>
          <a:lstStyle/>
          <a:p>
            <a:pPr algn="l" indent="0" marL="0">
              <a:buNone/>
            </a:pPr>
            <a:r>
              <a:rPr lang="en-US" sz="5000" b="1" spc="140" kern="0" dirty="0">
                <a:solidFill>
                  <a:srgbClr val="1A1A1A"/>
                </a:solidFill>
                <a:latin typeface="Arial" pitchFamily="34" charset="0"/>
                <a:ea typeface="Arial" pitchFamily="34" charset="-122"/>
                <a:cs typeface="Arial" pitchFamily="34" charset="-120"/>
              </a:rPr>
              <a:t>MINDSET</a:t>
            </a:r>
            <a:endParaRPr lang="en-US" sz="5000" dirty="0"/>
          </a:p>
        </p:txBody>
      </p:sp>
      <p:sp>
        <p:nvSpPr>
          <p:cNvPr id="6" name="Shape 2"/>
          <p:cNvSpPr/>
          <p:nvPr/>
        </p:nvSpPr>
        <p:spPr>
          <a:xfrm>
            <a:off x="566928" y="6400800"/>
            <a:ext cx="1737360" cy="45720"/>
          </a:xfrm>
          <a:prstGeom prst="rect">
            <a:avLst/>
          </a:prstGeom>
          <a:solidFill>
            <a:srgbClr val="1A1A1A"/>
          </a:solidFill>
          <a:ln/>
        </p:spPr>
      </p:sp>
      <p:sp>
        <p:nvSpPr>
          <p:cNvPr id="7" name="Text 3"/>
          <p:cNvSpPr/>
          <p:nvPr/>
        </p:nvSpPr>
        <p:spPr>
          <a:xfrm>
            <a:off x="566928" y="6528816"/>
            <a:ext cx="6428232" cy="274320"/>
          </a:xfrm>
          <a:prstGeom prst="rect">
            <a:avLst/>
          </a:prstGeom>
          <a:noFill/>
          <a:ln/>
        </p:spPr>
        <p:txBody>
          <a:bodyPr wrap="square" lIns="0" tIns="0" rIns="0" bIns="0" rtlCol="0" anchor="ctr"/>
          <a:lstStyle/>
          <a:p>
            <a:pPr algn="l" indent="0" marL="0">
              <a:buNone/>
            </a:pPr>
            <a:r>
              <a:rPr lang="en-US" sz="1500" dirty="0">
                <a:solidFill>
                  <a:srgbClr val="1A1A1A"/>
                </a:solidFill>
                <a:latin typeface="Arial" pitchFamily="34" charset="0"/>
                <a:ea typeface="Arial" pitchFamily="34" charset="-122"/>
                <a:cs typeface="Arial" pitchFamily="34" charset="-120"/>
              </a:rPr>
              <a:t>Visual identity system</a:t>
            </a:r>
            <a:endParaRPr lang="en-US" sz="1500" dirty="0"/>
          </a:p>
        </p:txBody>
      </p:sp>
      <p:sp>
        <p:nvSpPr>
          <p:cNvPr id="8" name="Text 4"/>
          <p:cNvSpPr/>
          <p:nvPr/>
        </p:nvSpPr>
        <p:spPr>
          <a:xfrm>
            <a:off x="566928" y="6858000"/>
            <a:ext cx="5330952" cy="457200"/>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A subordinate identity for an Army capability framework, developed against the</a:t>
            </a:r>
            <a:endParaRPr lang="en-US" sz="960" dirty="0"/>
          </a:p>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NZDF and NZ Army Visual Identity Guidelines v1.0.</a:t>
            </a:r>
            <a:endParaRPr lang="en-US" sz="960" dirty="0"/>
          </a:p>
        </p:txBody>
      </p:sp>
      <p:sp>
        <p:nvSpPr>
          <p:cNvPr id="9" name="Shape 5"/>
          <p:cNvSpPr/>
          <p:nvPr/>
        </p:nvSpPr>
        <p:spPr>
          <a:xfrm>
            <a:off x="566928" y="8686800"/>
            <a:ext cx="6428232" cy="10973"/>
          </a:xfrm>
          <a:prstGeom prst="rect">
            <a:avLst/>
          </a:prstGeom>
          <a:solidFill>
            <a:srgbClr val="1A1A1A"/>
          </a:solidFill>
          <a:ln/>
        </p:spPr>
      </p:sp>
      <p:sp>
        <p:nvSpPr>
          <p:cNvPr id="10" name="Text 6"/>
          <p:cNvSpPr/>
          <p:nvPr/>
        </p:nvSpPr>
        <p:spPr>
          <a:xfrm>
            <a:off x="566928" y="8851392"/>
            <a:ext cx="1481328" cy="310896"/>
          </a:xfrm>
          <a:prstGeom prst="rect">
            <a:avLst/>
          </a:prstGeom>
          <a:noFill/>
          <a:ln/>
        </p:spPr>
        <p:txBody>
          <a:bodyPr wrap="square" lIns="0" tIns="0" rIns="0" bIns="0" rtlCol="0" anchor="t"/>
          <a:lstStyle/>
          <a:p>
            <a:pPr algn="l" indent="0" marL="0">
              <a:buNone/>
            </a:pPr>
            <a:r>
              <a:rPr lang="en-US" sz="800" b="1" dirty="0">
                <a:solidFill>
                  <a:srgbClr val="1A1A1A"/>
                </a:solidFill>
                <a:latin typeface="Arial" pitchFamily="34" charset="0"/>
                <a:ea typeface="Arial" pitchFamily="34" charset="-122"/>
                <a:cs typeface="Arial" pitchFamily="34" charset="-120"/>
              </a:rPr>
              <a:t>Developed by</a:t>
            </a:r>
            <a:endParaRPr lang="en-US" sz="800" dirty="0"/>
          </a:p>
        </p:txBody>
      </p:sp>
      <p:sp>
        <p:nvSpPr>
          <p:cNvPr id="11" name="Text 7"/>
          <p:cNvSpPr/>
          <p:nvPr/>
        </p:nvSpPr>
        <p:spPr>
          <a:xfrm>
            <a:off x="2157984" y="8851392"/>
            <a:ext cx="4837176" cy="310896"/>
          </a:xfrm>
          <a:prstGeom prst="rect">
            <a:avLst/>
          </a:prstGeom>
          <a:noFill/>
          <a:ln/>
        </p:spPr>
        <p:txBody>
          <a:bodyPr wrap="square" lIns="0" tIns="0" rIns="0" bIns="0" rtlCol="0" anchor="t"/>
          <a:lstStyle/>
          <a:p>
            <a:pPr algn="l" indent="0" marL="0">
              <a:lnSpc>
                <a:spcPct val="115000"/>
              </a:lnSpc>
              <a:buNone/>
            </a:pPr>
            <a:r>
              <a:rPr lang="en-US" sz="800" dirty="0">
                <a:solidFill>
                  <a:srgbClr val="6E6E6E"/>
                </a:solidFill>
                <a:latin typeface="Arial" pitchFamily="34" charset="0"/>
                <a:ea typeface="Arial" pitchFamily="34" charset="-122"/>
                <a:cs typeface="Arial" pitchFamily="34" charset="-120"/>
              </a:rPr>
              <a:t>Army Command School and NZ Army Leadership Centre,</a:t>
            </a:r>
            <a:endParaRPr lang="en-US" sz="800" dirty="0"/>
          </a:p>
          <a:p>
            <a:pPr algn="l" indent="0" marL="0">
              <a:lnSpc>
                <a:spcPct val="115000"/>
              </a:lnSpc>
              <a:buNone/>
            </a:pPr>
            <a:r>
              <a:rPr lang="en-US" sz="800" dirty="0">
                <a:solidFill>
                  <a:srgbClr val="6E6E6E"/>
                </a:solidFill>
                <a:latin typeface="Arial" pitchFamily="34" charset="0"/>
                <a:ea typeface="Arial" pitchFamily="34" charset="-122"/>
                <a:cs typeface="Arial" pitchFamily="34" charset="-120"/>
              </a:rPr>
              <a:t>for internal consideration</a:t>
            </a:r>
            <a:endParaRPr lang="en-US" sz="800" dirty="0"/>
          </a:p>
        </p:txBody>
      </p:sp>
      <p:sp>
        <p:nvSpPr>
          <p:cNvPr id="12" name="Text 8"/>
          <p:cNvSpPr/>
          <p:nvPr/>
        </p:nvSpPr>
        <p:spPr>
          <a:xfrm>
            <a:off x="566928" y="9180576"/>
            <a:ext cx="1481328" cy="310896"/>
          </a:xfrm>
          <a:prstGeom prst="rect">
            <a:avLst/>
          </a:prstGeom>
          <a:noFill/>
          <a:ln/>
        </p:spPr>
        <p:txBody>
          <a:bodyPr wrap="square" lIns="0" tIns="0" rIns="0" bIns="0" rtlCol="0" anchor="t"/>
          <a:lstStyle/>
          <a:p>
            <a:pPr algn="l" indent="0" marL="0">
              <a:buNone/>
            </a:pPr>
            <a:r>
              <a:rPr lang="en-US" sz="800" b="1" dirty="0">
                <a:solidFill>
                  <a:srgbClr val="1A1A1A"/>
                </a:solidFill>
                <a:latin typeface="Arial" pitchFamily="34" charset="0"/>
                <a:ea typeface="Arial" pitchFamily="34" charset="-122"/>
                <a:cs typeface="Arial" pitchFamily="34" charset="-120"/>
              </a:rPr>
              <a:t>Proposed reviewers</a:t>
            </a:r>
            <a:endParaRPr lang="en-US" sz="800" dirty="0"/>
          </a:p>
        </p:txBody>
      </p:sp>
      <p:sp>
        <p:nvSpPr>
          <p:cNvPr id="13" name="Text 9"/>
          <p:cNvSpPr/>
          <p:nvPr/>
        </p:nvSpPr>
        <p:spPr>
          <a:xfrm>
            <a:off x="2157984" y="9180576"/>
            <a:ext cx="4837176" cy="310896"/>
          </a:xfrm>
          <a:prstGeom prst="rect">
            <a:avLst/>
          </a:prstGeom>
          <a:noFill/>
          <a:ln/>
        </p:spPr>
        <p:txBody>
          <a:bodyPr wrap="square" lIns="0" tIns="0" rIns="0" bIns="0" rtlCol="0" anchor="t"/>
          <a:lstStyle/>
          <a:p>
            <a:pPr algn="l" indent="0" marL="0">
              <a:lnSpc>
                <a:spcPct val="115000"/>
              </a:lnSpc>
              <a:buNone/>
            </a:pPr>
            <a:r>
              <a:rPr lang="en-US" sz="800" dirty="0">
                <a:solidFill>
                  <a:srgbClr val="6E6E6E"/>
                </a:solidFill>
                <a:latin typeface="Arial" pitchFamily="34" charset="0"/>
                <a:ea typeface="Arial" pitchFamily="34" charset="-122"/>
                <a:cs typeface="Arial" pitchFamily="34" charset="-120"/>
              </a:rPr>
              <a:t>COMDT ACS; HPC; Head of Visual Identity and Design, Defence Public Affairs</a:t>
            </a:r>
            <a:endParaRPr lang="en-US" sz="800" dirty="0"/>
          </a:p>
        </p:txBody>
      </p:sp>
      <p:sp>
        <p:nvSpPr>
          <p:cNvPr id="14" name="Text 10"/>
          <p:cNvSpPr/>
          <p:nvPr/>
        </p:nvSpPr>
        <p:spPr>
          <a:xfrm>
            <a:off x="566928" y="9400032"/>
            <a:ext cx="1481328" cy="310896"/>
          </a:xfrm>
          <a:prstGeom prst="rect">
            <a:avLst/>
          </a:prstGeom>
          <a:noFill/>
          <a:ln/>
        </p:spPr>
        <p:txBody>
          <a:bodyPr wrap="square" lIns="0" tIns="0" rIns="0" bIns="0" rtlCol="0" anchor="t"/>
          <a:lstStyle/>
          <a:p>
            <a:pPr algn="l" indent="0" marL="0">
              <a:buNone/>
            </a:pPr>
            <a:r>
              <a:rPr lang="en-US" sz="800" b="1" dirty="0">
                <a:solidFill>
                  <a:srgbClr val="1A1A1A"/>
                </a:solidFill>
                <a:latin typeface="Arial" pitchFamily="34" charset="0"/>
                <a:ea typeface="Arial" pitchFamily="34" charset="-122"/>
                <a:cs typeface="Arial" pitchFamily="34" charset="-120"/>
              </a:rPr>
              <a:t>Status</a:t>
            </a:r>
            <a:endParaRPr lang="en-US" sz="800" dirty="0"/>
          </a:p>
        </p:txBody>
      </p:sp>
      <p:sp>
        <p:nvSpPr>
          <p:cNvPr id="15" name="Text 11"/>
          <p:cNvSpPr/>
          <p:nvPr/>
        </p:nvSpPr>
        <p:spPr>
          <a:xfrm>
            <a:off x="2157984" y="9400032"/>
            <a:ext cx="4837176" cy="310896"/>
          </a:xfrm>
          <a:prstGeom prst="rect">
            <a:avLst/>
          </a:prstGeom>
          <a:noFill/>
          <a:ln/>
        </p:spPr>
        <p:txBody>
          <a:bodyPr wrap="square" lIns="0" tIns="0" rIns="0" bIns="0" rtlCol="0" anchor="t"/>
          <a:lstStyle/>
          <a:p>
            <a:pPr algn="l" indent="0" marL="0">
              <a:lnSpc>
                <a:spcPct val="115000"/>
              </a:lnSpc>
              <a:buNone/>
            </a:pPr>
            <a:r>
              <a:rPr lang="en-US" sz="800" dirty="0">
                <a:solidFill>
                  <a:srgbClr val="6E6E6E"/>
                </a:solidFill>
                <a:latin typeface="Arial" pitchFamily="34" charset="0"/>
                <a:ea typeface="Arial" pitchFamily="34" charset="-122"/>
                <a:cs typeface="Arial" pitchFamily="34" charset="-120"/>
              </a:rPr>
              <a:t>Draft for review. Not an approved standard.</a:t>
            </a:r>
            <a:endParaRPr lang="en-US" sz="800" dirty="0"/>
          </a:p>
        </p:txBody>
      </p:sp>
      <p:sp>
        <p:nvSpPr>
          <p:cNvPr id="16" name="Text 12"/>
          <p:cNvSpPr/>
          <p:nvPr/>
        </p:nvSpPr>
        <p:spPr>
          <a:xfrm>
            <a:off x="566928" y="9619488"/>
            <a:ext cx="1481328" cy="310896"/>
          </a:xfrm>
          <a:prstGeom prst="rect">
            <a:avLst/>
          </a:prstGeom>
          <a:noFill/>
          <a:ln/>
        </p:spPr>
        <p:txBody>
          <a:bodyPr wrap="square" lIns="0" tIns="0" rIns="0" bIns="0" rtlCol="0" anchor="t"/>
          <a:lstStyle/>
          <a:p>
            <a:pPr algn="l" indent="0" marL="0">
              <a:buNone/>
            </a:pPr>
            <a:r>
              <a:rPr lang="en-US" sz="800" b="1" dirty="0">
                <a:solidFill>
                  <a:srgbClr val="1A1A1A"/>
                </a:solidFill>
                <a:latin typeface="Arial" pitchFamily="34" charset="0"/>
                <a:ea typeface="Arial" pitchFamily="34" charset="-122"/>
                <a:cs typeface="Arial" pitchFamily="34" charset="-120"/>
              </a:rPr>
              <a:t>Version</a:t>
            </a:r>
            <a:endParaRPr lang="en-US" sz="800" dirty="0"/>
          </a:p>
        </p:txBody>
      </p:sp>
      <p:sp>
        <p:nvSpPr>
          <p:cNvPr id="17" name="Text 13"/>
          <p:cNvSpPr/>
          <p:nvPr/>
        </p:nvSpPr>
        <p:spPr>
          <a:xfrm>
            <a:off x="2157984" y="9619488"/>
            <a:ext cx="4837176" cy="310896"/>
          </a:xfrm>
          <a:prstGeom prst="rect">
            <a:avLst/>
          </a:prstGeom>
          <a:noFill/>
          <a:ln/>
        </p:spPr>
        <p:txBody>
          <a:bodyPr wrap="square" lIns="0" tIns="0" rIns="0" bIns="0" rtlCol="0" anchor="t"/>
          <a:lstStyle/>
          <a:p>
            <a:pPr algn="l" indent="0" marL="0">
              <a:lnSpc>
                <a:spcPct val="115000"/>
              </a:lnSpc>
              <a:buNone/>
            </a:pPr>
            <a:r>
              <a:rPr lang="en-US" sz="800" dirty="0">
                <a:solidFill>
                  <a:srgbClr val="6E6E6E"/>
                </a:solidFill>
                <a:latin typeface="Arial" pitchFamily="34" charset="0"/>
                <a:ea typeface="Arial" pitchFamily="34" charset="-122"/>
                <a:cs typeface="Arial" pitchFamily="34" charset="-120"/>
              </a:rPr>
              <a:t>V0.5, August 2026</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CONTENTS</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02</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What this document argues</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Thirteen outputs were requested. They resolve into one argument, set out below, and a specification that follows from it.</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627632"/>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ARGUMENT IN FOUR STEPS</a:t>
            </a:r>
            <a:endParaRPr lang="en-US" sz="740" dirty="0"/>
          </a:p>
        </p:txBody>
      </p:sp>
      <p:sp>
        <p:nvSpPr>
          <p:cNvPr id="10" name="Shape 8"/>
          <p:cNvSpPr/>
          <p:nvPr/>
        </p:nvSpPr>
        <p:spPr>
          <a:xfrm>
            <a:off x="566928" y="1810512"/>
            <a:ext cx="6428232" cy="7315"/>
          </a:xfrm>
          <a:prstGeom prst="rect">
            <a:avLst/>
          </a:prstGeom>
          <a:solidFill>
            <a:srgbClr val="D2D2D2"/>
          </a:solidFill>
          <a:ln/>
        </p:spPr>
      </p:sp>
      <p:sp>
        <p:nvSpPr>
          <p:cNvPr id="11" name="Text 9"/>
          <p:cNvSpPr/>
          <p:nvPr/>
        </p:nvSpPr>
        <p:spPr>
          <a:xfrm>
            <a:off x="566928" y="1920240"/>
            <a:ext cx="365760" cy="201168"/>
          </a:xfrm>
          <a:prstGeom prst="rect">
            <a:avLst/>
          </a:prstGeom>
          <a:noFill/>
          <a:ln/>
        </p:spPr>
        <p:txBody>
          <a:bodyPr wrap="square" lIns="0" tIns="0" rIns="0" bIns="0" rtlCol="0" anchor="ctr"/>
          <a:lstStyle/>
          <a:p>
            <a:pPr algn="l" indent="0" marL="0">
              <a:buNone/>
            </a:pPr>
            <a:r>
              <a:rPr lang="en-US" sz="900" b="1" dirty="0">
                <a:solidFill>
                  <a:srgbClr val="D31145"/>
                </a:solidFill>
                <a:latin typeface="Arial" pitchFamily="34" charset="0"/>
                <a:ea typeface="Arial" pitchFamily="34" charset="-122"/>
                <a:cs typeface="Arial" pitchFamily="34" charset="-120"/>
              </a:rPr>
              <a:t>01</a:t>
            </a:r>
            <a:endParaRPr lang="en-US" sz="900" dirty="0"/>
          </a:p>
        </p:txBody>
      </p:sp>
      <p:sp>
        <p:nvSpPr>
          <p:cNvPr id="12" name="Text 10"/>
          <p:cNvSpPr/>
          <p:nvPr/>
        </p:nvSpPr>
        <p:spPr>
          <a:xfrm>
            <a:off x="969264" y="1920240"/>
            <a:ext cx="6025896" cy="219456"/>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Combat Mindset is not a programme, so programme branding is the wrong precedent.</a:t>
            </a:r>
            <a:endParaRPr lang="en-US" sz="1040" dirty="0"/>
          </a:p>
        </p:txBody>
      </p:sp>
      <p:sp>
        <p:nvSpPr>
          <p:cNvPr id="13" name="Text 11"/>
          <p:cNvSpPr/>
          <p:nvPr/>
        </p:nvSpPr>
        <p:spPr>
          <a:xfrm>
            <a:off x="969264" y="2139696"/>
            <a:ext cx="5843016" cy="566928"/>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The guidelines forbid programmes creating logos. Correct, but the more useful observation is that a capability framework is closer to doctrine and controlled military information systems than to a branded project. Doctrine has a visual system: format, hierarchy, notation, numbering. That is the precedent to follow.</a:t>
            </a:r>
            <a:endParaRPr lang="en-US" sz="880" dirty="0"/>
          </a:p>
        </p:txBody>
      </p:sp>
      <p:sp>
        <p:nvSpPr>
          <p:cNvPr id="14" name="Text 12"/>
          <p:cNvSpPr/>
          <p:nvPr/>
        </p:nvSpPr>
        <p:spPr>
          <a:xfrm>
            <a:off x="566928" y="2779776"/>
            <a:ext cx="365760" cy="201168"/>
          </a:xfrm>
          <a:prstGeom prst="rect">
            <a:avLst/>
          </a:prstGeom>
          <a:noFill/>
          <a:ln/>
        </p:spPr>
        <p:txBody>
          <a:bodyPr wrap="square" lIns="0" tIns="0" rIns="0" bIns="0" rtlCol="0" anchor="ctr"/>
          <a:lstStyle/>
          <a:p>
            <a:pPr algn="l" indent="0" marL="0">
              <a:buNone/>
            </a:pPr>
            <a:r>
              <a:rPr lang="en-US" sz="900" b="1" dirty="0">
                <a:solidFill>
                  <a:srgbClr val="D31145"/>
                </a:solidFill>
                <a:latin typeface="Arial" pitchFamily="34" charset="0"/>
                <a:ea typeface="Arial" pitchFamily="34" charset="-122"/>
                <a:cs typeface="Arial" pitchFamily="34" charset="-120"/>
              </a:rPr>
              <a:t>02</a:t>
            </a:r>
            <a:endParaRPr lang="en-US" sz="900" dirty="0"/>
          </a:p>
        </p:txBody>
      </p:sp>
      <p:sp>
        <p:nvSpPr>
          <p:cNvPr id="15" name="Text 13"/>
          <p:cNvSpPr/>
          <p:nvPr/>
        </p:nvSpPr>
        <p:spPr>
          <a:xfrm>
            <a:off x="969264" y="2779776"/>
            <a:ext cx="6025896" cy="219456"/>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The identity must therefore be a grammar, not a mark.</a:t>
            </a:r>
            <a:endParaRPr lang="en-US" sz="1040" dirty="0"/>
          </a:p>
        </p:txBody>
      </p:sp>
      <p:sp>
        <p:nvSpPr>
          <p:cNvPr id="16" name="Text 14"/>
          <p:cNvSpPr/>
          <p:nvPr/>
        </p:nvSpPr>
        <p:spPr>
          <a:xfrm>
            <a:off x="969264" y="2999232"/>
            <a:ext cx="5843016" cy="566928"/>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A mark is recognised. A grammar is trusted. Personnel should know a Combat Mindset product by how it is built, not by a badge in the corner.</a:t>
            </a:r>
            <a:endParaRPr lang="en-US" sz="880" dirty="0"/>
          </a:p>
        </p:txBody>
      </p:sp>
      <p:sp>
        <p:nvSpPr>
          <p:cNvPr id="17" name="Text 15"/>
          <p:cNvSpPr/>
          <p:nvPr/>
        </p:nvSpPr>
        <p:spPr>
          <a:xfrm>
            <a:off x="566928" y="3639312"/>
            <a:ext cx="365760" cy="201168"/>
          </a:xfrm>
          <a:prstGeom prst="rect">
            <a:avLst/>
          </a:prstGeom>
          <a:noFill/>
          <a:ln/>
        </p:spPr>
        <p:txBody>
          <a:bodyPr wrap="square" lIns="0" tIns="0" rIns="0" bIns="0" rtlCol="0" anchor="ctr"/>
          <a:lstStyle/>
          <a:p>
            <a:pPr algn="l" indent="0" marL="0">
              <a:buNone/>
            </a:pPr>
            <a:r>
              <a:rPr lang="en-US" sz="900" b="1" dirty="0">
                <a:solidFill>
                  <a:srgbClr val="D31145"/>
                </a:solidFill>
                <a:latin typeface="Arial" pitchFamily="34" charset="0"/>
                <a:ea typeface="Arial" pitchFamily="34" charset="-122"/>
                <a:cs typeface="Arial" pitchFamily="34" charset="-120"/>
              </a:rPr>
              <a:t>03</a:t>
            </a:r>
            <a:endParaRPr lang="en-US" sz="900" dirty="0"/>
          </a:p>
        </p:txBody>
      </p:sp>
      <p:sp>
        <p:nvSpPr>
          <p:cNvPr id="18" name="Text 16"/>
          <p:cNvSpPr/>
          <p:nvPr/>
        </p:nvSpPr>
        <p:spPr>
          <a:xfrm>
            <a:off x="969264" y="3639312"/>
            <a:ext cx="6025896" cy="219456"/>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The organising idea is signal held under load.</a:t>
            </a:r>
            <a:endParaRPr lang="en-US" sz="1040" dirty="0"/>
          </a:p>
        </p:txBody>
      </p:sp>
      <p:sp>
        <p:nvSpPr>
          <p:cNvPr id="19" name="Text 17"/>
          <p:cNvSpPr/>
          <p:nvPr/>
        </p:nvSpPr>
        <p:spPr>
          <a:xfrm>
            <a:off x="969264" y="3858768"/>
            <a:ext cx="5843016" cy="566928"/>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The framework exists because capability degrades under pressure. The visual system should say that, structurally, in every artefact: a datum that is measured, disturbed and returned to true.</a:t>
            </a:r>
            <a:endParaRPr lang="en-US" sz="880" dirty="0"/>
          </a:p>
        </p:txBody>
      </p:sp>
      <p:sp>
        <p:nvSpPr>
          <p:cNvPr id="20" name="Text 18"/>
          <p:cNvSpPr/>
          <p:nvPr/>
        </p:nvSpPr>
        <p:spPr>
          <a:xfrm>
            <a:off x="566928" y="4498848"/>
            <a:ext cx="365760" cy="201168"/>
          </a:xfrm>
          <a:prstGeom prst="rect">
            <a:avLst/>
          </a:prstGeom>
          <a:noFill/>
          <a:ln/>
        </p:spPr>
        <p:txBody>
          <a:bodyPr wrap="square" lIns="0" tIns="0" rIns="0" bIns="0" rtlCol="0" anchor="ctr"/>
          <a:lstStyle/>
          <a:p>
            <a:pPr algn="l" indent="0" marL="0">
              <a:buNone/>
            </a:pPr>
            <a:r>
              <a:rPr lang="en-US" sz="900" b="1" dirty="0">
                <a:solidFill>
                  <a:srgbClr val="D31145"/>
                </a:solidFill>
                <a:latin typeface="Arial" pitchFamily="34" charset="0"/>
                <a:ea typeface="Arial" pitchFamily="34" charset="-122"/>
                <a:cs typeface="Arial" pitchFamily="34" charset="-120"/>
              </a:rPr>
              <a:t>04</a:t>
            </a:r>
            <a:endParaRPr lang="en-US" sz="900" dirty="0"/>
          </a:p>
        </p:txBody>
      </p:sp>
      <p:sp>
        <p:nvSpPr>
          <p:cNvPr id="21" name="Text 19"/>
          <p:cNvSpPr/>
          <p:nvPr/>
        </p:nvSpPr>
        <p:spPr>
          <a:xfrm>
            <a:off x="969264" y="4498848"/>
            <a:ext cx="6025896" cy="219456"/>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Longevity comes from structure, not style.</a:t>
            </a:r>
            <a:endParaRPr lang="en-US" sz="1040" dirty="0"/>
          </a:p>
        </p:txBody>
      </p:sp>
      <p:sp>
        <p:nvSpPr>
          <p:cNvPr id="22" name="Text 20"/>
          <p:cNvSpPr/>
          <p:nvPr/>
        </p:nvSpPr>
        <p:spPr>
          <a:xfrm>
            <a:off x="969264" y="4718304"/>
            <a:ext cx="5843016" cy="566928"/>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Rules, grids, notation and typographic hierarchy survive decades. Gradients, fields and illustrative devices carry a date stamp. The recommendation is built on the first and rations the second.</a:t>
            </a:r>
            <a:endParaRPr lang="en-US" sz="880" dirty="0"/>
          </a:p>
        </p:txBody>
      </p:sp>
      <p:sp>
        <p:nvSpPr>
          <p:cNvPr id="23" name="Text 21"/>
          <p:cNvSpPr/>
          <p:nvPr/>
        </p:nvSpPr>
        <p:spPr>
          <a:xfrm>
            <a:off x="566928" y="550468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STRUCTURE OF THIS DOCUMENT</a:t>
            </a:r>
            <a:endParaRPr lang="en-US" sz="740" dirty="0"/>
          </a:p>
        </p:txBody>
      </p:sp>
      <p:sp>
        <p:nvSpPr>
          <p:cNvPr id="24" name="Shape 22"/>
          <p:cNvSpPr/>
          <p:nvPr/>
        </p:nvSpPr>
        <p:spPr>
          <a:xfrm>
            <a:off x="566928" y="5687568"/>
            <a:ext cx="6428232" cy="7315"/>
          </a:xfrm>
          <a:prstGeom prst="rect">
            <a:avLst/>
          </a:prstGeom>
          <a:solidFill>
            <a:srgbClr val="D2D2D2"/>
          </a:solidFill>
          <a:ln/>
        </p:spPr>
      </p:sp>
      <p:sp>
        <p:nvSpPr>
          <p:cNvPr id="25" name="Text 23"/>
          <p:cNvSpPr/>
          <p:nvPr/>
        </p:nvSpPr>
        <p:spPr>
          <a:xfrm>
            <a:off x="566928" y="5797296"/>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03    Position and compliance</a:t>
            </a:r>
            <a:endParaRPr lang="en-US" sz="860" dirty="0"/>
          </a:p>
        </p:txBody>
      </p:sp>
      <p:sp>
        <p:nvSpPr>
          <p:cNvPr id="26" name="Text 24"/>
          <p:cNvSpPr/>
          <p:nvPr/>
        </p:nvSpPr>
        <p:spPr>
          <a:xfrm>
            <a:off x="3781044" y="5797296"/>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04    Identity philosophy</a:t>
            </a:r>
            <a:endParaRPr lang="en-US" sz="860" dirty="0"/>
          </a:p>
        </p:txBody>
      </p:sp>
      <p:sp>
        <p:nvSpPr>
          <p:cNvPr id="27" name="Text 25"/>
          <p:cNvSpPr/>
          <p:nvPr/>
        </p:nvSpPr>
        <p:spPr>
          <a:xfrm>
            <a:off x="566928" y="5991149"/>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05    Brand attributes</a:t>
            </a:r>
            <a:endParaRPr lang="en-US" sz="860" dirty="0"/>
          </a:p>
        </p:txBody>
      </p:sp>
      <p:sp>
        <p:nvSpPr>
          <p:cNvPr id="28" name="Text 26"/>
          <p:cNvSpPr/>
          <p:nvPr/>
        </p:nvSpPr>
        <p:spPr>
          <a:xfrm>
            <a:off x="3781044" y="5991149"/>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06    Visual principles</a:t>
            </a:r>
            <a:endParaRPr lang="en-US" sz="860" dirty="0"/>
          </a:p>
        </p:txBody>
      </p:sp>
      <p:sp>
        <p:nvSpPr>
          <p:cNvPr id="29" name="Text 27"/>
          <p:cNvSpPr/>
          <p:nvPr/>
        </p:nvSpPr>
        <p:spPr>
          <a:xfrm>
            <a:off x="566928" y="6185002"/>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07    Concept A: Datum</a:t>
            </a:r>
            <a:endParaRPr lang="en-US" sz="860" dirty="0"/>
          </a:p>
        </p:txBody>
      </p:sp>
      <p:sp>
        <p:nvSpPr>
          <p:cNvPr id="30" name="Text 28"/>
          <p:cNvSpPr/>
          <p:nvPr/>
        </p:nvSpPr>
        <p:spPr>
          <a:xfrm>
            <a:off x="3781044" y="6185002"/>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08    Concept B: Threshold</a:t>
            </a:r>
            <a:endParaRPr lang="en-US" sz="860" dirty="0"/>
          </a:p>
        </p:txBody>
      </p:sp>
      <p:sp>
        <p:nvSpPr>
          <p:cNvPr id="31" name="Text 29"/>
          <p:cNvSpPr/>
          <p:nvPr/>
        </p:nvSpPr>
        <p:spPr>
          <a:xfrm>
            <a:off x="566928" y="6378854"/>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09    Concept C: Trace</a:t>
            </a:r>
            <a:endParaRPr lang="en-US" sz="860" dirty="0"/>
          </a:p>
        </p:txBody>
      </p:sp>
      <p:sp>
        <p:nvSpPr>
          <p:cNvPr id="32" name="Text 30"/>
          <p:cNvSpPr/>
          <p:nvPr/>
        </p:nvSpPr>
        <p:spPr>
          <a:xfrm>
            <a:off x="3781044" y="6378854"/>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10    Evaluation and recommendation</a:t>
            </a:r>
            <a:endParaRPr lang="en-US" sz="860" dirty="0"/>
          </a:p>
        </p:txBody>
      </p:sp>
      <p:sp>
        <p:nvSpPr>
          <p:cNvPr id="33" name="Text 31"/>
          <p:cNvSpPr/>
          <p:nvPr/>
        </p:nvSpPr>
        <p:spPr>
          <a:xfrm>
            <a:off x="566928" y="6572707"/>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11    Title treatment explorations</a:t>
            </a:r>
            <a:endParaRPr lang="en-US" sz="860" dirty="0"/>
          </a:p>
        </p:txBody>
      </p:sp>
      <p:sp>
        <p:nvSpPr>
          <p:cNvPr id="34" name="Text 32"/>
          <p:cNvSpPr/>
          <p:nvPr/>
        </p:nvSpPr>
        <p:spPr>
          <a:xfrm>
            <a:off x="3781044" y="6572707"/>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12    Title treatment specification</a:t>
            </a:r>
            <a:endParaRPr lang="en-US" sz="860" dirty="0"/>
          </a:p>
        </p:txBody>
      </p:sp>
      <p:sp>
        <p:nvSpPr>
          <p:cNvPr id="35" name="Text 33"/>
          <p:cNvSpPr/>
          <p:nvPr/>
        </p:nvSpPr>
        <p:spPr>
          <a:xfrm>
            <a:off x="566928" y="6766560"/>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13    Graphic language</a:t>
            </a:r>
            <a:endParaRPr lang="en-US" sz="860" dirty="0"/>
          </a:p>
        </p:txBody>
      </p:sp>
      <p:sp>
        <p:nvSpPr>
          <p:cNvPr id="36" name="Text 34"/>
          <p:cNvSpPr/>
          <p:nvPr/>
        </p:nvSpPr>
        <p:spPr>
          <a:xfrm>
            <a:off x="3781044" y="6766560"/>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14    Notation family</a:t>
            </a:r>
            <a:endParaRPr lang="en-US" sz="860" dirty="0"/>
          </a:p>
        </p:txBody>
      </p:sp>
      <p:sp>
        <p:nvSpPr>
          <p:cNvPr id="37" name="Text 35"/>
          <p:cNvSpPr/>
          <p:nvPr/>
        </p:nvSpPr>
        <p:spPr>
          <a:xfrm>
            <a:off x="566928" y="6960413"/>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15    Colour system</a:t>
            </a:r>
            <a:endParaRPr lang="en-US" sz="860" dirty="0"/>
          </a:p>
        </p:txBody>
      </p:sp>
      <p:sp>
        <p:nvSpPr>
          <p:cNvPr id="38" name="Text 36"/>
          <p:cNvSpPr/>
          <p:nvPr/>
        </p:nvSpPr>
        <p:spPr>
          <a:xfrm>
            <a:off x="3781044" y="6960413"/>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16    Information architecture</a:t>
            </a:r>
            <a:endParaRPr lang="en-US" sz="860" dirty="0"/>
          </a:p>
        </p:txBody>
      </p:sp>
      <p:sp>
        <p:nvSpPr>
          <p:cNvPr id="39" name="Text 37"/>
          <p:cNvSpPr/>
          <p:nvPr/>
        </p:nvSpPr>
        <p:spPr>
          <a:xfrm>
            <a:off x="566928" y="7154266"/>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17    Photography direction</a:t>
            </a:r>
            <a:endParaRPr lang="en-US" sz="860" dirty="0"/>
          </a:p>
        </p:txBody>
      </p:sp>
      <p:sp>
        <p:nvSpPr>
          <p:cNvPr id="40" name="Text 38"/>
          <p:cNvSpPr/>
          <p:nvPr/>
        </p:nvSpPr>
        <p:spPr>
          <a:xfrm>
            <a:off x="3781044" y="7154266"/>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18    Motion language</a:t>
            </a:r>
            <a:endParaRPr lang="en-US" sz="860" dirty="0"/>
          </a:p>
        </p:txBody>
      </p:sp>
      <p:sp>
        <p:nvSpPr>
          <p:cNvPr id="41" name="Text 39"/>
          <p:cNvSpPr/>
          <p:nvPr/>
        </p:nvSpPr>
        <p:spPr>
          <a:xfrm>
            <a:off x="566928" y="7348118"/>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19    Digital application</a:t>
            </a:r>
            <a:endParaRPr lang="en-US" sz="860" dirty="0"/>
          </a:p>
        </p:txBody>
      </p:sp>
      <p:sp>
        <p:nvSpPr>
          <p:cNvPr id="42" name="Text 40"/>
          <p:cNvSpPr/>
          <p:nvPr/>
        </p:nvSpPr>
        <p:spPr>
          <a:xfrm>
            <a:off x="3781044" y="7348118"/>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20    Brand voice</a:t>
            </a:r>
            <a:endParaRPr lang="en-US" sz="860" dirty="0"/>
          </a:p>
        </p:txBody>
      </p:sp>
      <p:sp>
        <p:nvSpPr>
          <p:cNvPr id="43" name="Text 41"/>
          <p:cNvSpPr/>
          <p:nvPr/>
        </p:nvSpPr>
        <p:spPr>
          <a:xfrm>
            <a:off x="566928" y="7541971"/>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21    Identity evolution</a:t>
            </a:r>
            <a:endParaRPr lang="en-US" sz="860" dirty="0"/>
          </a:p>
        </p:txBody>
      </p:sp>
      <p:sp>
        <p:nvSpPr>
          <p:cNvPr id="44" name="Text 42"/>
          <p:cNvSpPr/>
          <p:nvPr/>
        </p:nvSpPr>
        <p:spPr>
          <a:xfrm>
            <a:off x="3781044" y="7541971"/>
            <a:ext cx="3031236" cy="182880"/>
          </a:xfrm>
          <a:prstGeom prst="rect">
            <a:avLst/>
          </a:prstGeom>
          <a:noFill/>
          <a:ln/>
        </p:spPr>
        <p:txBody>
          <a:bodyPr wrap="square" lIns="0" tIns="0" rIns="0" bIns="0" rtlCol="0" anchor="ctr"/>
          <a:lstStyle/>
          <a:p>
            <a:pPr algn="l" indent="0" marL="0">
              <a:buNone/>
            </a:pPr>
            <a:r>
              <a:rPr lang="en-US" sz="860" dirty="0">
                <a:solidFill>
                  <a:srgbClr val="1A1A1A"/>
                </a:solidFill>
                <a:latin typeface="Arial" pitchFamily="34" charset="0"/>
                <a:ea typeface="Arial" pitchFamily="34" charset="-122"/>
                <a:cs typeface="Arial" pitchFamily="34" charset="-120"/>
              </a:rPr>
              <a:t>22    Governance and next steps</a:t>
            </a:r>
            <a:endParaRPr lang="en-US" sz="8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POSITION</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03</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What kind of thing is this?</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The single most consequential decision in this document is made here, because it determines what the identity is permitted to be.</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0078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THREE POSSIBLE READINGS, AND THEIR CONSEQUENCES</a:t>
            </a:r>
            <a:endParaRPr lang="en-US" sz="740" dirty="0"/>
          </a:p>
        </p:txBody>
      </p:sp>
      <p:sp>
        <p:nvSpPr>
          <p:cNvPr id="10" name="Shape 8"/>
          <p:cNvSpPr/>
          <p:nvPr/>
        </p:nvSpPr>
        <p:spPr>
          <a:xfrm>
            <a:off x="566928" y="1883664"/>
            <a:ext cx="6428232" cy="7315"/>
          </a:xfrm>
          <a:prstGeom prst="rect">
            <a:avLst/>
          </a:prstGeom>
          <a:solidFill>
            <a:srgbClr val="D2D2D2"/>
          </a:solidFill>
          <a:ln/>
        </p:spPr>
      </p:sp>
      <p:sp>
        <p:nvSpPr>
          <p:cNvPr id="11" name="Shape 9"/>
          <p:cNvSpPr/>
          <p:nvPr/>
        </p:nvSpPr>
        <p:spPr>
          <a:xfrm>
            <a:off x="566928" y="1993392"/>
            <a:ext cx="36576" cy="877824"/>
          </a:xfrm>
          <a:prstGeom prst="rect">
            <a:avLst/>
          </a:prstGeom>
          <a:solidFill>
            <a:srgbClr val="B3A650"/>
          </a:solidFill>
          <a:ln/>
        </p:spPr>
      </p:sp>
      <p:sp>
        <p:nvSpPr>
          <p:cNvPr id="12" name="Text 10"/>
          <p:cNvSpPr/>
          <p:nvPr/>
        </p:nvSpPr>
        <p:spPr>
          <a:xfrm>
            <a:off x="731520" y="1993392"/>
            <a:ext cx="2011680" cy="201168"/>
          </a:xfrm>
          <a:prstGeom prst="rect">
            <a:avLst/>
          </a:prstGeom>
          <a:noFill/>
          <a:ln/>
        </p:spPr>
        <p:txBody>
          <a:bodyPr wrap="square" lIns="0" tIns="0" rIns="0" bIns="0" rtlCol="0" anchor="ctr"/>
          <a:lstStyle/>
          <a:p>
            <a:pPr algn="l" indent="0" marL="0">
              <a:buNone/>
            </a:pPr>
            <a:r>
              <a:rPr lang="en-US" sz="960" b="1" spc="80" kern="0" dirty="0">
                <a:solidFill>
                  <a:srgbClr val="1A1A1A"/>
                </a:solidFill>
                <a:latin typeface="Arial" pitchFamily="34" charset="0"/>
                <a:ea typeface="Arial" pitchFamily="34" charset="-122"/>
                <a:cs typeface="Arial" pitchFamily="34" charset="-120"/>
              </a:rPr>
              <a:t>AS A PROGRAMME</a:t>
            </a:r>
            <a:endParaRPr lang="en-US" sz="960" dirty="0"/>
          </a:p>
        </p:txBody>
      </p:sp>
      <p:sp>
        <p:nvSpPr>
          <p:cNvPr id="13" name="Text 11"/>
          <p:cNvSpPr/>
          <p:nvPr/>
        </p:nvSpPr>
        <p:spPr>
          <a:xfrm>
            <a:off x="731520" y="2185416"/>
            <a:ext cx="2011680" cy="164592"/>
          </a:xfrm>
          <a:prstGeom prst="rect">
            <a:avLst/>
          </a:prstGeom>
          <a:noFill/>
          <a:ln/>
        </p:spPr>
        <p:txBody>
          <a:bodyPr wrap="square" lIns="0" tIns="0" rIns="0" bIns="0" rtlCol="0" anchor="ctr"/>
          <a:lstStyle/>
          <a:p>
            <a:pPr algn="l" indent="0" marL="0">
              <a:buNone/>
            </a:pPr>
            <a:r>
              <a:rPr lang="en-US" sz="740" i="1" dirty="0">
                <a:solidFill>
                  <a:srgbClr val="6E6E6E"/>
                </a:solidFill>
                <a:latin typeface="Arial" pitchFamily="34" charset="0"/>
                <a:ea typeface="Arial" pitchFamily="34" charset="-122"/>
                <a:cs typeface="Arial" pitchFamily="34" charset="-120"/>
              </a:rPr>
              <a:t>Guidelines p34</a:t>
            </a:r>
            <a:endParaRPr lang="en-US" sz="740" dirty="0"/>
          </a:p>
        </p:txBody>
      </p:sp>
      <p:sp>
        <p:nvSpPr>
          <p:cNvPr id="14" name="Text 12"/>
          <p:cNvSpPr/>
          <p:nvPr/>
        </p:nvSpPr>
        <p:spPr>
          <a:xfrm>
            <a:off x="2852928" y="1993392"/>
            <a:ext cx="4142232" cy="365760"/>
          </a:xfrm>
          <a:prstGeom prst="rect">
            <a:avLst/>
          </a:prstGeom>
          <a:noFill/>
          <a:ln/>
        </p:spPr>
        <p:txBody>
          <a:bodyPr wrap="square" lIns="0" tIns="0" rIns="0" bIns="0" rtlCol="0" anchor="t"/>
          <a:lstStyle/>
          <a:p>
            <a:pPr algn="l" indent="0" marL="0">
              <a:lnSpc>
                <a:spcPct val="122000"/>
              </a:lnSpc>
              <a:buNone/>
            </a:pPr>
            <a:r>
              <a:rPr lang="en-US" sz="900" dirty="0">
                <a:solidFill>
                  <a:srgbClr val="1A1A1A"/>
                </a:solidFill>
                <a:latin typeface="Arial" pitchFamily="34" charset="0"/>
                <a:ea typeface="Arial" pitchFamily="34" charset="-122"/>
                <a:cs typeface="Arial" pitchFamily="34" charset="-120"/>
              </a:rPr>
              <a:t>No logo. Name in plain text beside the Army logo. Nothing more.</a:t>
            </a:r>
            <a:endParaRPr lang="en-US" sz="900" dirty="0"/>
          </a:p>
        </p:txBody>
      </p:sp>
      <p:sp>
        <p:nvSpPr>
          <p:cNvPr id="15" name="Text 13"/>
          <p:cNvSpPr/>
          <p:nvPr/>
        </p:nvSpPr>
        <p:spPr>
          <a:xfrm>
            <a:off x="2852928" y="2359152"/>
            <a:ext cx="4142232" cy="457200"/>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Compliant but inert. Produces no system, and no reason for anyone to trust one product over another.</a:t>
            </a:r>
            <a:endParaRPr lang="en-US" sz="860" dirty="0"/>
          </a:p>
        </p:txBody>
      </p:sp>
      <p:sp>
        <p:nvSpPr>
          <p:cNvPr id="16" name="Shape 14"/>
          <p:cNvSpPr/>
          <p:nvPr/>
        </p:nvSpPr>
        <p:spPr>
          <a:xfrm>
            <a:off x="566928" y="2962656"/>
            <a:ext cx="36576" cy="877824"/>
          </a:xfrm>
          <a:prstGeom prst="rect">
            <a:avLst/>
          </a:prstGeom>
          <a:solidFill>
            <a:srgbClr val="D31145"/>
          </a:solidFill>
          <a:ln/>
        </p:spPr>
      </p:sp>
      <p:sp>
        <p:nvSpPr>
          <p:cNvPr id="17" name="Text 15"/>
          <p:cNvSpPr/>
          <p:nvPr/>
        </p:nvSpPr>
        <p:spPr>
          <a:xfrm>
            <a:off x="731520" y="2962656"/>
            <a:ext cx="2011680" cy="201168"/>
          </a:xfrm>
          <a:prstGeom prst="rect">
            <a:avLst/>
          </a:prstGeom>
          <a:noFill/>
          <a:ln/>
        </p:spPr>
        <p:txBody>
          <a:bodyPr wrap="square" lIns="0" tIns="0" rIns="0" bIns="0" rtlCol="0" anchor="ctr"/>
          <a:lstStyle/>
          <a:p>
            <a:pPr algn="l" indent="0" marL="0">
              <a:buNone/>
            </a:pPr>
            <a:r>
              <a:rPr lang="en-US" sz="960" b="1" spc="80" kern="0" dirty="0">
                <a:solidFill>
                  <a:srgbClr val="1A1A1A"/>
                </a:solidFill>
                <a:latin typeface="Arial" pitchFamily="34" charset="0"/>
                <a:ea typeface="Arial" pitchFamily="34" charset="-122"/>
                <a:cs typeface="Arial" pitchFamily="34" charset="-120"/>
              </a:rPr>
              <a:t>AS AN ORGANISATION</a:t>
            </a:r>
            <a:endParaRPr lang="en-US" sz="960" dirty="0"/>
          </a:p>
        </p:txBody>
      </p:sp>
      <p:sp>
        <p:nvSpPr>
          <p:cNvPr id="18" name="Text 16"/>
          <p:cNvSpPr/>
          <p:nvPr/>
        </p:nvSpPr>
        <p:spPr>
          <a:xfrm>
            <a:off x="731520" y="3154680"/>
            <a:ext cx="2011680" cy="164592"/>
          </a:xfrm>
          <a:prstGeom prst="rect">
            <a:avLst/>
          </a:prstGeom>
          <a:noFill/>
          <a:ln/>
        </p:spPr>
        <p:txBody>
          <a:bodyPr wrap="square" lIns="0" tIns="0" rIns="0" bIns="0" rtlCol="0" anchor="ctr"/>
          <a:lstStyle/>
          <a:p>
            <a:pPr algn="l" indent="0" marL="0">
              <a:buNone/>
            </a:pPr>
            <a:r>
              <a:rPr lang="en-US" sz="740" i="1" dirty="0">
                <a:solidFill>
                  <a:srgbClr val="6E6E6E"/>
                </a:solidFill>
                <a:latin typeface="Arial" pitchFamily="34" charset="0"/>
                <a:ea typeface="Arial" pitchFamily="34" charset="-122"/>
                <a:cs typeface="Arial" pitchFamily="34" charset="-120"/>
              </a:rPr>
              <a:t>Guidelines p9, p54</a:t>
            </a:r>
            <a:endParaRPr lang="en-US" sz="740" dirty="0"/>
          </a:p>
        </p:txBody>
      </p:sp>
      <p:sp>
        <p:nvSpPr>
          <p:cNvPr id="19" name="Text 17"/>
          <p:cNvSpPr/>
          <p:nvPr/>
        </p:nvSpPr>
        <p:spPr>
          <a:xfrm>
            <a:off x="2852928" y="2962656"/>
            <a:ext cx="4142232" cy="365760"/>
          </a:xfrm>
          <a:prstGeom prst="rect">
            <a:avLst/>
          </a:prstGeom>
          <a:noFill/>
          <a:ln/>
        </p:spPr>
        <p:txBody>
          <a:bodyPr wrap="square" lIns="0" tIns="0" rIns="0" bIns="0" rtlCol="0" anchor="t"/>
          <a:lstStyle/>
          <a:p>
            <a:pPr algn="l" indent="0" marL="0">
              <a:lnSpc>
                <a:spcPct val="122000"/>
              </a:lnSpc>
              <a:buNone/>
            </a:pPr>
            <a:r>
              <a:rPr lang="en-US" sz="900" dirty="0">
                <a:solidFill>
                  <a:srgbClr val="1A1A1A"/>
                </a:solidFill>
                <a:latin typeface="Arial" pitchFamily="34" charset="0"/>
                <a:ea typeface="Arial" pitchFamily="34" charset="-122"/>
                <a:cs typeface="Arial" pitchFamily="34" charset="-120"/>
              </a:rPr>
              <a:t>A badge or unit patch. Explicitly ruled out for communication use.</a:t>
            </a:r>
            <a:endParaRPr lang="en-US" sz="900" dirty="0"/>
          </a:p>
        </p:txBody>
      </p:sp>
      <p:sp>
        <p:nvSpPr>
          <p:cNvPr id="20" name="Text 18"/>
          <p:cNvSpPr/>
          <p:nvPr/>
        </p:nvSpPr>
        <p:spPr>
          <a:xfrm>
            <a:off x="2852928" y="3328416"/>
            <a:ext cx="4142232" cy="457200"/>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Non-compliant, and wrong in substance. Combat Mindset commands nothing and has no establishment.</a:t>
            </a:r>
            <a:endParaRPr lang="en-US" sz="860" dirty="0"/>
          </a:p>
        </p:txBody>
      </p:sp>
      <p:sp>
        <p:nvSpPr>
          <p:cNvPr id="21" name="Shape 19"/>
          <p:cNvSpPr/>
          <p:nvPr/>
        </p:nvSpPr>
        <p:spPr>
          <a:xfrm>
            <a:off x="566928" y="3931920"/>
            <a:ext cx="36576" cy="877824"/>
          </a:xfrm>
          <a:prstGeom prst="rect">
            <a:avLst/>
          </a:prstGeom>
          <a:solidFill>
            <a:srgbClr val="00261B"/>
          </a:solidFill>
          <a:ln/>
        </p:spPr>
      </p:sp>
      <p:sp>
        <p:nvSpPr>
          <p:cNvPr id="22" name="Text 20"/>
          <p:cNvSpPr/>
          <p:nvPr/>
        </p:nvSpPr>
        <p:spPr>
          <a:xfrm>
            <a:off x="731520" y="3931920"/>
            <a:ext cx="2011680" cy="201168"/>
          </a:xfrm>
          <a:prstGeom prst="rect">
            <a:avLst/>
          </a:prstGeom>
          <a:noFill/>
          <a:ln/>
        </p:spPr>
        <p:txBody>
          <a:bodyPr wrap="square" lIns="0" tIns="0" rIns="0" bIns="0" rtlCol="0" anchor="ctr"/>
          <a:lstStyle/>
          <a:p>
            <a:pPr algn="l" indent="0" marL="0">
              <a:buNone/>
            </a:pPr>
            <a:r>
              <a:rPr lang="en-US" sz="960" b="1" spc="80" kern="0" dirty="0">
                <a:solidFill>
                  <a:srgbClr val="1A1A1A"/>
                </a:solidFill>
                <a:latin typeface="Arial" pitchFamily="34" charset="0"/>
                <a:ea typeface="Arial" pitchFamily="34" charset="-122"/>
                <a:cs typeface="Arial" pitchFamily="34" charset="-120"/>
              </a:rPr>
              <a:t>DOCTRINE AS PRECEDENT</a:t>
            </a:r>
            <a:endParaRPr lang="en-US" sz="960" dirty="0"/>
          </a:p>
        </p:txBody>
      </p:sp>
      <p:sp>
        <p:nvSpPr>
          <p:cNvPr id="23" name="Text 21"/>
          <p:cNvSpPr/>
          <p:nvPr/>
        </p:nvSpPr>
        <p:spPr>
          <a:xfrm>
            <a:off x="731520" y="4123944"/>
            <a:ext cx="2011680" cy="164592"/>
          </a:xfrm>
          <a:prstGeom prst="rect">
            <a:avLst/>
          </a:prstGeom>
          <a:noFill/>
          <a:ln/>
        </p:spPr>
        <p:txBody>
          <a:bodyPr wrap="square" lIns="0" tIns="0" rIns="0" bIns="0" rtlCol="0" anchor="ctr"/>
          <a:lstStyle/>
          <a:p>
            <a:pPr algn="l" indent="0" marL="0">
              <a:buNone/>
            </a:pPr>
            <a:r>
              <a:rPr lang="en-US" sz="740" i="1" dirty="0">
                <a:solidFill>
                  <a:srgbClr val="6E6E6E"/>
                </a:solidFill>
                <a:latin typeface="Arial" pitchFamily="34" charset="0"/>
                <a:ea typeface="Arial" pitchFamily="34" charset="-122"/>
                <a:cs typeface="Arial" pitchFamily="34" charset="-120"/>
              </a:rPr>
              <a:t>The recommended position</a:t>
            </a:r>
            <a:endParaRPr lang="en-US" sz="740" dirty="0"/>
          </a:p>
        </p:txBody>
      </p:sp>
      <p:sp>
        <p:nvSpPr>
          <p:cNvPr id="24" name="Text 22"/>
          <p:cNvSpPr/>
          <p:nvPr/>
        </p:nvSpPr>
        <p:spPr>
          <a:xfrm>
            <a:off x="2852928" y="3931920"/>
            <a:ext cx="4142232" cy="365760"/>
          </a:xfrm>
          <a:prstGeom prst="rect">
            <a:avLst/>
          </a:prstGeom>
          <a:noFill/>
          <a:ln/>
        </p:spPr>
        <p:txBody>
          <a:bodyPr wrap="square" lIns="0" tIns="0" rIns="0" bIns="0" rtlCol="0" anchor="t"/>
          <a:lstStyle/>
          <a:p>
            <a:pPr algn="l" indent="0" marL="0">
              <a:lnSpc>
                <a:spcPct val="122000"/>
              </a:lnSpc>
              <a:buNone/>
            </a:pPr>
            <a:r>
              <a:rPr lang="en-US" sz="900" dirty="0">
                <a:solidFill>
                  <a:srgbClr val="1A1A1A"/>
                </a:solidFill>
                <a:latin typeface="Arial" pitchFamily="34" charset="0"/>
                <a:ea typeface="Arial" pitchFamily="34" charset="-122"/>
                <a:cs typeface="Arial" pitchFamily="34" charset="-120"/>
              </a:rPr>
              <a:t>A publication system: format, hierarchy, notation, numbering, classification.</a:t>
            </a:r>
            <a:endParaRPr lang="en-US" sz="900" dirty="0"/>
          </a:p>
        </p:txBody>
      </p:sp>
      <p:sp>
        <p:nvSpPr>
          <p:cNvPr id="25" name="Text 23"/>
          <p:cNvSpPr/>
          <p:nvPr/>
        </p:nvSpPr>
        <p:spPr>
          <a:xfrm>
            <a:off x="2852928" y="4297680"/>
            <a:ext cx="4142232" cy="457200"/>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Compliant, and it borrows doctrine's enduring qualities without claiming doctrinal status. What the framework becomes is decided through the programme, not by its identity.</a:t>
            </a:r>
            <a:endParaRPr lang="en-US" sz="860" dirty="0"/>
          </a:p>
        </p:txBody>
      </p:sp>
      <p:sp>
        <p:nvSpPr>
          <p:cNvPr id="26" name="Text 24"/>
          <p:cNvSpPr/>
          <p:nvPr/>
        </p:nvSpPr>
        <p:spPr>
          <a:xfrm>
            <a:off x="566928" y="499262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WHAT FOLLOWS FROM TAKING DOCTRINE AS THE PRECEDENT</a:t>
            </a:r>
            <a:endParaRPr lang="en-US" sz="740" dirty="0"/>
          </a:p>
        </p:txBody>
      </p:sp>
      <p:sp>
        <p:nvSpPr>
          <p:cNvPr id="27" name="Shape 25"/>
          <p:cNvSpPr/>
          <p:nvPr/>
        </p:nvSpPr>
        <p:spPr>
          <a:xfrm>
            <a:off x="566928" y="5175504"/>
            <a:ext cx="6428232" cy="7315"/>
          </a:xfrm>
          <a:prstGeom prst="rect">
            <a:avLst/>
          </a:prstGeom>
          <a:solidFill>
            <a:srgbClr val="D2D2D2"/>
          </a:solidFill>
          <a:ln/>
        </p:spPr>
      </p:sp>
      <p:sp>
        <p:nvSpPr>
          <p:cNvPr id="28" name="Text 26"/>
          <p:cNvSpPr/>
          <p:nvPr/>
        </p:nvSpPr>
        <p:spPr>
          <a:xfrm>
            <a:off x="566928" y="5285232"/>
            <a:ext cx="6428232" cy="1371600"/>
          </a:xfrm>
          <a:prstGeom prst="rect">
            <a:avLst/>
          </a:prstGeom>
          <a:noFill/>
          <a:ln/>
        </p:spPr>
        <p:txBody>
          <a:bodyPr wrap="square" lIns="0" tIns="0" rIns="0" bIns="0" rtlCol="0" anchor="t"/>
          <a:lstStyle/>
          <a:p>
            <a:pPr algn="l" marL="177800" indent="-177800">
              <a:lnSpc>
                <a:spcPct val="122000"/>
              </a:lnSpc>
              <a:spcAft>
                <a:spcPts val="500"/>
              </a:spcAft>
              <a:buSzPct val="100000"/>
              <a:buChar char="–"/>
            </a:pPr>
            <a:r>
              <a:rPr lang="en-US" sz="900" dirty="0">
                <a:solidFill>
                  <a:srgbClr val="1A1A1A"/>
                </a:solidFill>
                <a:latin typeface="Arial" pitchFamily="34" charset="0"/>
                <a:ea typeface="Arial" pitchFamily="34" charset="-122"/>
                <a:cs typeface="Arial" pitchFamily="34" charset="-120"/>
              </a:rPr>
              <a:t>No freestanding brand mark, badge, patch or symbol. The identity is carried by typography, structure and functional notation.</a:t>
            </a:r>
            <a:endParaRPr lang="en-US" sz="900" dirty="0"/>
          </a:p>
          <a:p>
            <a:pPr algn="l" marL="177800" indent="-177800">
              <a:lnSpc>
                <a:spcPct val="122000"/>
              </a:lnSpc>
              <a:spcAft>
                <a:spcPts val="500"/>
              </a:spcAft>
              <a:buSzPct val="100000"/>
              <a:buChar char="–"/>
            </a:pPr>
            <a:r>
              <a:rPr lang="en-US" sz="900" dirty="0">
                <a:solidFill>
                  <a:srgbClr val="1A1A1A"/>
                </a:solidFill>
                <a:latin typeface="Arial" pitchFamily="34" charset="0"/>
                <a:ea typeface="Arial" pitchFamily="34" charset="-122"/>
                <a:cs typeface="Arial" pitchFamily="34" charset="-120"/>
              </a:rPr>
              <a:t>The Army logo appears unaltered on every complete formal artefact. Combat Mindset never competes with it.</a:t>
            </a:r>
            <a:endParaRPr lang="en-US" sz="900" dirty="0"/>
          </a:p>
          <a:p>
            <a:pPr algn="l" marL="177800" indent="-177800">
              <a:lnSpc>
                <a:spcPct val="122000"/>
              </a:lnSpc>
              <a:spcAft>
                <a:spcPts val="500"/>
              </a:spcAft>
              <a:buSzPct val="100000"/>
              <a:buChar char="–"/>
            </a:pPr>
            <a:r>
              <a:rPr lang="en-US" sz="900" dirty="0">
                <a:solidFill>
                  <a:srgbClr val="1A1A1A"/>
                </a:solidFill>
                <a:latin typeface="Arial" pitchFamily="34" charset="0"/>
                <a:ea typeface="Arial" pitchFamily="34" charset="-122"/>
                <a:cs typeface="Arial" pitchFamily="34" charset="-120"/>
              </a:rPr>
              <a:t>Authority is signalled the way doctrine signals it: consistent format, visible hierarchy, explicit classification of content, and a controlled identifier on every governed content item.</a:t>
            </a:r>
            <a:endParaRPr lang="en-US" sz="900" dirty="0"/>
          </a:p>
          <a:p>
            <a:pPr algn="l" marL="177800" indent="-177800">
              <a:lnSpc>
                <a:spcPct val="122000"/>
              </a:lnSpc>
              <a:spcAft>
                <a:spcPts val="500"/>
              </a:spcAft>
              <a:buSzPct val="100000"/>
              <a:buChar char="–"/>
            </a:pPr>
            <a:r>
              <a:rPr lang="en-US" sz="900" dirty="0">
                <a:solidFill>
                  <a:srgbClr val="1A1A1A"/>
                </a:solidFill>
                <a:latin typeface="Arial" pitchFamily="34" charset="0"/>
                <a:ea typeface="Arial" pitchFamily="34" charset="-122"/>
                <a:cs typeface="Arial" pitchFamily="34" charset="-120"/>
              </a:rPr>
              <a:t>Every element is specifiable in a written standard, so it can be applied by people who are not designers. This is the practical test the system must pass inside a training establishment.</a:t>
            </a:r>
            <a:endParaRPr lang="en-US" sz="900" dirty="0"/>
          </a:p>
        </p:txBody>
      </p:sp>
      <p:sp>
        <p:nvSpPr>
          <p:cNvPr id="29" name="Text 27"/>
          <p:cNvSpPr/>
          <p:nvPr/>
        </p:nvSpPr>
        <p:spPr>
          <a:xfrm>
            <a:off x="566928" y="6748272"/>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COMPLIANCE POSITION</a:t>
            </a:r>
            <a:endParaRPr lang="en-US" sz="740" dirty="0"/>
          </a:p>
        </p:txBody>
      </p:sp>
      <p:sp>
        <p:nvSpPr>
          <p:cNvPr id="30" name="Shape 28"/>
          <p:cNvSpPr/>
          <p:nvPr/>
        </p:nvSpPr>
        <p:spPr>
          <a:xfrm>
            <a:off x="566928" y="6931152"/>
            <a:ext cx="6428232" cy="7315"/>
          </a:xfrm>
          <a:prstGeom prst="rect">
            <a:avLst/>
          </a:prstGeom>
          <a:solidFill>
            <a:srgbClr val="D2D2D2"/>
          </a:solidFill>
          <a:ln/>
        </p:spPr>
      </p:sp>
      <p:sp>
        <p:nvSpPr>
          <p:cNvPr id="31" name="Shape 29"/>
          <p:cNvSpPr/>
          <p:nvPr/>
        </p:nvSpPr>
        <p:spPr>
          <a:xfrm>
            <a:off x="566928" y="7040880"/>
            <a:ext cx="6428232" cy="1133856"/>
          </a:xfrm>
          <a:prstGeom prst="rect">
            <a:avLst/>
          </a:prstGeom>
          <a:solidFill>
            <a:srgbClr val="F5F5F3"/>
          </a:solidFill>
          <a:ln/>
        </p:spPr>
      </p:sp>
      <p:sp>
        <p:nvSpPr>
          <p:cNvPr id="32" name="Text 30"/>
          <p:cNvSpPr/>
          <p:nvPr/>
        </p:nvSpPr>
        <p:spPr>
          <a:xfrm>
            <a:off x="768096" y="7187184"/>
            <a:ext cx="6025896" cy="566928"/>
          </a:xfrm>
          <a:prstGeom prst="rect">
            <a:avLst/>
          </a:prstGeom>
          <a:noFill/>
          <a:ln/>
        </p:spPr>
        <p:txBody>
          <a:bodyPr wrap="square" lIns="0" tIns="0" rIns="0" bIns="0" rtlCol="0" anchor="t"/>
          <a:lstStyle/>
          <a:p>
            <a:pPr algn="l" indent="0" marL="0">
              <a:lnSpc>
                <a:spcPct val="122000"/>
              </a:lnSpc>
              <a:buNone/>
            </a:pPr>
            <a:r>
              <a:rPr lang="en-US" sz="880" dirty="0">
                <a:solidFill>
                  <a:srgbClr val="1A1A1A"/>
                </a:solidFill>
                <a:latin typeface="Arial" pitchFamily="34" charset="0"/>
                <a:ea typeface="Arial" pitchFamily="34" charset="-122"/>
                <a:cs typeface="Arial" pitchFamily="34" charset="-120"/>
              </a:rPr>
              <a:t>This system creates no new logo and modifies nothing in the NZDF or NZ Army identity. It uses the published Army palette, the published typefaces, and the published graphic elements. It is a subordinate application, in the same sense that a doctrine publication is a subordinate application.</a:t>
            </a:r>
            <a:endParaRPr lang="en-US" sz="880" dirty="0"/>
          </a:p>
        </p:txBody>
      </p:sp>
      <p:sp>
        <p:nvSpPr>
          <p:cNvPr id="33" name="Text 31"/>
          <p:cNvSpPr/>
          <p:nvPr/>
        </p:nvSpPr>
        <p:spPr>
          <a:xfrm>
            <a:off x="768096" y="7735824"/>
            <a:ext cx="6025896" cy="402336"/>
          </a:xfrm>
          <a:prstGeom prst="rect">
            <a:avLst/>
          </a:prstGeom>
          <a:noFill/>
          <a:ln/>
        </p:spPr>
        <p:txBody>
          <a:bodyPr wrap="square" lIns="0" tIns="0" rIns="0" bIns="0" rtlCol="0" anchor="t"/>
          <a:lstStyle/>
          <a:p>
            <a:pPr algn="l" indent="0" marL="0">
              <a:lnSpc>
                <a:spcPct val="122000"/>
              </a:lnSpc>
              <a:buNone/>
            </a:pPr>
            <a:r>
              <a:rPr lang="en-US" sz="880" dirty="0">
                <a:solidFill>
                  <a:srgbClr val="6E6E6E"/>
                </a:solidFill>
                <a:latin typeface="Arial" pitchFamily="34" charset="0"/>
                <a:ea typeface="Arial" pitchFamily="34" charset="-122"/>
                <a:cs typeface="Arial" pitchFamily="34" charset="-120"/>
              </a:rPr>
              <a:t>It should nonetheless be put to the Head of Visual Identity and Design, Defence Public Affairs, before issue. Adopting a system without that endorsement would repeat the error this document exists to avoid.</a:t>
            </a:r>
            <a:endParaRPr lang="en-US" sz="880" dirty="0"/>
          </a:p>
        </p:txBody>
      </p:sp>
      <p:sp>
        <p:nvSpPr>
          <p:cNvPr id="34" name="Text 32"/>
          <p:cNvSpPr/>
          <p:nvPr/>
        </p:nvSpPr>
        <p:spPr>
          <a:xfrm>
            <a:off x="566928" y="8321040"/>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PRECEDENT BEING FOLLOWED</a:t>
            </a:r>
            <a:endParaRPr lang="en-US" sz="740" dirty="0"/>
          </a:p>
        </p:txBody>
      </p:sp>
      <p:sp>
        <p:nvSpPr>
          <p:cNvPr id="35" name="Shape 33"/>
          <p:cNvSpPr/>
          <p:nvPr/>
        </p:nvSpPr>
        <p:spPr>
          <a:xfrm>
            <a:off x="566928" y="8503920"/>
            <a:ext cx="6428232" cy="7315"/>
          </a:xfrm>
          <a:prstGeom prst="rect">
            <a:avLst/>
          </a:prstGeom>
          <a:solidFill>
            <a:srgbClr val="D2D2D2"/>
          </a:solidFill>
          <a:ln/>
        </p:spPr>
      </p:sp>
      <p:sp>
        <p:nvSpPr>
          <p:cNvPr id="36" name="Shape 34"/>
          <p:cNvSpPr/>
          <p:nvPr/>
        </p:nvSpPr>
        <p:spPr>
          <a:xfrm>
            <a:off x="566928" y="8613648"/>
            <a:ext cx="2057400" cy="914400"/>
          </a:xfrm>
          <a:prstGeom prst="rect">
            <a:avLst/>
          </a:prstGeom>
          <a:solidFill>
            <a:srgbClr val="FFFFFF"/>
          </a:solidFill>
          <a:ln w="12700">
            <a:solidFill>
              <a:srgbClr val="D2D2D2"/>
            </a:solidFill>
            <a:prstDash val="solid"/>
          </a:ln>
        </p:spPr>
      </p:sp>
      <p:sp>
        <p:nvSpPr>
          <p:cNvPr id="37" name="Shape 35"/>
          <p:cNvSpPr/>
          <p:nvPr/>
        </p:nvSpPr>
        <p:spPr>
          <a:xfrm>
            <a:off x="566928" y="8613648"/>
            <a:ext cx="2057400" cy="25603"/>
          </a:xfrm>
          <a:prstGeom prst="rect">
            <a:avLst/>
          </a:prstGeom>
          <a:solidFill>
            <a:srgbClr val="1A1A1A"/>
          </a:solidFill>
          <a:ln/>
        </p:spPr>
      </p:sp>
      <p:sp>
        <p:nvSpPr>
          <p:cNvPr id="38" name="Text 36"/>
          <p:cNvSpPr/>
          <p:nvPr/>
        </p:nvSpPr>
        <p:spPr>
          <a:xfrm>
            <a:off x="713232" y="8723376"/>
            <a:ext cx="1764792" cy="329184"/>
          </a:xfrm>
          <a:prstGeom prst="rect">
            <a:avLst/>
          </a:prstGeom>
          <a:noFill/>
          <a:ln/>
        </p:spPr>
        <p:txBody>
          <a:bodyPr wrap="square" lIns="0" tIns="0" rIns="0" bIns="0" rtlCol="0" anchor="t"/>
          <a:lstStyle/>
          <a:p>
            <a:pPr algn="l" indent="0" marL="0">
              <a:lnSpc>
                <a:spcPct val="110000"/>
              </a:lnSpc>
              <a:buNone/>
            </a:pPr>
            <a:r>
              <a:rPr lang="en-US" sz="880" b="1" dirty="0">
                <a:solidFill>
                  <a:srgbClr val="1A1A1A"/>
                </a:solidFill>
                <a:latin typeface="Arial" pitchFamily="34" charset="0"/>
                <a:ea typeface="Arial" pitchFamily="34" charset="-122"/>
                <a:cs typeface="Arial" pitchFamily="34" charset="-120"/>
              </a:rPr>
              <a:t>Doctrine publications</a:t>
            </a:r>
            <a:endParaRPr lang="en-US" sz="880" dirty="0"/>
          </a:p>
        </p:txBody>
      </p:sp>
      <p:sp>
        <p:nvSpPr>
          <p:cNvPr id="39" name="Text 37"/>
          <p:cNvSpPr/>
          <p:nvPr/>
        </p:nvSpPr>
        <p:spPr>
          <a:xfrm>
            <a:off x="713232" y="9070848"/>
            <a:ext cx="1764792" cy="402336"/>
          </a:xfrm>
          <a:prstGeom prst="rect">
            <a:avLst/>
          </a:prstGeom>
          <a:noFill/>
          <a:ln/>
        </p:spPr>
        <p:txBody>
          <a:bodyPr wrap="square" lIns="0" tIns="0" rIns="0" bIns="0" rtlCol="0" anchor="t"/>
          <a:lstStyle/>
          <a:p>
            <a:pPr algn="l" indent="0" marL="0">
              <a:lnSpc>
                <a:spcPct val="122000"/>
              </a:lnSpc>
              <a:buNone/>
            </a:pPr>
            <a:r>
              <a:rPr lang="en-US" sz="780" dirty="0">
                <a:solidFill>
                  <a:srgbClr val="3E3E3E"/>
                </a:solidFill>
                <a:latin typeface="Arial" pitchFamily="34" charset="0"/>
                <a:ea typeface="Arial" pitchFamily="34" charset="-122"/>
                <a:cs typeface="Arial" pitchFamily="34" charset="-120"/>
              </a:rPr>
              <a:t>Numbered, classified, formatted identically across decades, and recognisable at a glance without a logo.</a:t>
            </a:r>
            <a:endParaRPr lang="en-US" sz="780" dirty="0"/>
          </a:p>
        </p:txBody>
      </p:sp>
      <p:sp>
        <p:nvSpPr>
          <p:cNvPr id="40" name="Shape 38"/>
          <p:cNvSpPr/>
          <p:nvPr/>
        </p:nvSpPr>
        <p:spPr>
          <a:xfrm>
            <a:off x="2752344" y="8613648"/>
            <a:ext cx="2057400" cy="914400"/>
          </a:xfrm>
          <a:prstGeom prst="rect">
            <a:avLst/>
          </a:prstGeom>
          <a:solidFill>
            <a:srgbClr val="FFFFFF"/>
          </a:solidFill>
          <a:ln w="12700">
            <a:solidFill>
              <a:srgbClr val="D2D2D2"/>
            </a:solidFill>
            <a:prstDash val="solid"/>
          </a:ln>
        </p:spPr>
      </p:sp>
      <p:sp>
        <p:nvSpPr>
          <p:cNvPr id="41" name="Shape 39"/>
          <p:cNvSpPr/>
          <p:nvPr/>
        </p:nvSpPr>
        <p:spPr>
          <a:xfrm>
            <a:off x="2752344" y="8613648"/>
            <a:ext cx="2057400" cy="25603"/>
          </a:xfrm>
          <a:prstGeom prst="rect">
            <a:avLst/>
          </a:prstGeom>
          <a:solidFill>
            <a:srgbClr val="1A1A1A"/>
          </a:solidFill>
          <a:ln/>
        </p:spPr>
      </p:sp>
      <p:sp>
        <p:nvSpPr>
          <p:cNvPr id="42" name="Text 40"/>
          <p:cNvSpPr/>
          <p:nvPr/>
        </p:nvSpPr>
        <p:spPr>
          <a:xfrm>
            <a:off x="2898648" y="8723376"/>
            <a:ext cx="1764792" cy="329184"/>
          </a:xfrm>
          <a:prstGeom prst="rect">
            <a:avLst/>
          </a:prstGeom>
          <a:noFill/>
          <a:ln/>
        </p:spPr>
        <p:txBody>
          <a:bodyPr wrap="square" lIns="0" tIns="0" rIns="0" bIns="0" rtlCol="0" anchor="t"/>
          <a:lstStyle/>
          <a:p>
            <a:pPr algn="l" indent="0" marL="0">
              <a:lnSpc>
                <a:spcPct val="110000"/>
              </a:lnSpc>
              <a:buNone/>
            </a:pPr>
            <a:r>
              <a:rPr lang="en-US" sz="880" b="1" dirty="0">
                <a:solidFill>
                  <a:srgbClr val="1A1A1A"/>
                </a:solidFill>
                <a:latin typeface="Arial" pitchFamily="34" charset="0"/>
                <a:ea typeface="Arial" pitchFamily="34" charset="-122"/>
                <a:cs typeface="Arial" pitchFamily="34" charset="-120"/>
              </a:rPr>
              <a:t>Range cards and orders formats</a:t>
            </a:r>
            <a:endParaRPr lang="en-US" sz="880" dirty="0"/>
          </a:p>
        </p:txBody>
      </p:sp>
      <p:sp>
        <p:nvSpPr>
          <p:cNvPr id="43" name="Text 41"/>
          <p:cNvSpPr/>
          <p:nvPr/>
        </p:nvSpPr>
        <p:spPr>
          <a:xfrm>
            <a:off x="2898648" y="9070848"/>
            <a:ext cx="1764792" cy="402336"/>
          </a:xfrm>
          <a:prstGeom prst="rect">
            <a:avLst/>
          </a:prstGeom>
          <a:noFill/>
          <a:ln/>
        </p:spPr>
        <p:txBody>
          <a:bodyPr wrap="square" lIns="0" tIns="0" rIns="0" bIns="0" rtlCol="0" anchor="t"/>
          <a:lstStyle/>
          <a:p>
            <a:pPr algn="l" indent="0" marL="0">
              <a:lnSpc>
                <a:spcPct val="122000"/>
              </a:lnSpc>
              <a:buNone/>
            </a:pPr>
            <a:r>
              <a:rPr lang="en-US" sz="780" dirty="0">
                <a:solidFill>
                  <a:srgbClr val="3E3E3E"/>
                </a:solidFill>
                <a:latin typeface="Arial" pitchFamily="34" charset="0"/>
                <a:ea typeface="Arial" pitchFamily="34" charset="-122"/>
                <a:cs typeface="Arial" pitchFamily="34" charset="-120"/>
              </a:rPr>
              <a:t>Authority carried entirely by structure. Nobody has ever needed to brand a set of orders.</a:t>
            </a:r>
            <a:endParaRPr lang="en-US" sz="780" dirty="0"/>
          </a:p>
        </p:txBody>
      </p:sp>
      <p:sp>
        <p:nvSpPr>
          <p:cNvPr id="44" name="Shape 42"/>
          <p:cNvSpPr/>
          <p:nvPr/>
        </p:nvSpPr>
        <p:spPr>
          <a:xfrm>
            <a:off x="4937760" y="8613648"/>
            <a:ext cx="2057400" cy="914400"/>
          </a:xfrm>
          <a:prstGeom prst="rect">
            <a:avLst/>
          </a:prstGeom>
          <a:solidFill>
            <a:srgbClr val="FFFFFF"/>
          </a:solidFill>
          <a:ln w="12700">
            <a:solidFill>
              <a:srgbClr val="D2D2D2"/>
            </a:solidFill>
            <a:prstDash val="solid"/>
          </a:ln>
        </p:spPr>
      </p:sp>
      <p:sp>
        <p:nvSpPr>
          <p:cNvPr id="45" name="Shape 43"/>
          <p:cNvSpPr/>
          <p:nvPr/>
        </p:nvSpPr>
        <p:spPr>
          <a:xfrm>
            <a:off x="4937760" y="8613648"/>
            <a:ext cx="2057400" cy="25603"/>
          </a:xfrm>
          <a:prstGeom prst="rect">
            <a:avLst/>
          </a:prstGeom>
          <a:solidFill>
            <a:srgbClr val="1A1A1A"/>
          </a:solidFill>
          <a:ln/>
        </p:spPr>
      </p:sp>
      <p:sp>
        <p:nvSpPr>
          <p:cNvPr id="46" name="Text 44"/>
          <p:cNvSpPr/>
          <p:nvPr/>
        </p:nvSpPr>
        <p:spPr>
          <a:xfrm>
            <a:off x="5084064" y="8723376"/>
            <a:ext cx="1764792" cy="329184"/>
          </a:xfrm>
          <a:prstGeom prst="rect">
            <a:avLst/>
          </a:prstGeom>
          <a:noFill/>
          <a:ln/>
        </p:spPr>
        <p:txBody>
          <a:bodyPr wrap="square" lIns="0" tIns="0" rIns="0" bIns="0" rtlCol="0" anchor="t"/>
          <a:lstStyle/>
          <a:p>
            <a:pPr algn="l" indent="0" marL="0">
              <a:lnSpc>
                <a:spcPct val="110000"/>
              </a:lnSpc>
              <a:buNone/>
            </a:pPr>
            <a:r>
              <a:rPr lang="en-US" sz="880" b="1" dirty="0">
                <a:solidFill>
                  <a:srgbClr val="1A1A1A"/>
                </a:solidFill>
                <a:latin typeface="Arial" pitchFamily="34" charset="0"/>
                <a:ea typeface="Arial" pitchFamily="34" charset="-122"/>
                <a:cs typeface="Arial" pitchFamily="34" charset="-120"/>
              </a:rPr>
              <a:t>Map and chart conventions</a:t>
            </a:r>
            <a:endParaRPr lang="en-US" sz="880" dirty="0"/>
          </a:p>
        </p:txBody>
      </p:sp>
      <p:sp>
        <p:nvSpPr>
          <p:cNvPr id="47" name="Text 45"/>
          <p:cNvSpPr/>
          <p:nvPr/>
        </p:nvSpPr>
        <p:spPr>
          <a:xfrm>
            <a:off x="5084064" y="9070848"/>
            <a:ext cx="1764792" cy="402336"/>
          </a:xfrm>
          <a:prstGeom prst="rect">
            <a:avLst/>
          </a:prstGeom>
          <a:noFill/>
          <a:ln/>
        </p:spPr>
        <p:txBody>
          <a:bodyPr wrap="square" lIns="0" tIns="0" rIns="0" bIns="0" rtlCol="0" anchor="t"/>
          <a:lstStyle/>
          <a:p>
            <a:pPr algn="l" indent="0" marL="0">
              <a:lnSpc>
                <a:spcPct val="122000"/>
              </a:lnSpc>
              <a:buNone/>
            </a:pPr>
            <a:r>
              <a:rPr lang="en-US" sz="780" dirty="0">
                <a:solidFill>
                  <a:srgbClr val="3E3E3E"/>
                </a:solidFill>
                <a:latin typeface="Arial" pitchFamily="34" charset="0"/>
                <a:ea typeface="Arial" pitchFamily="34" charset="-122"/>
                <a:cs typeface="Arial" pitchFamily="34" charset="-120"/>
              </a:rPr>
              <a:t>A notation learned once and applied everywhere. The reader interprets symbols never seen before.</a:t>
            </a:r>
            <a:endParaRPr lang="en-US" sz="780" dirty="0"/>
          </a:p>
        </p:txBody>
      </p:sp>
      <p:sp>
        <p:nvSpPr>
          <p:cNvPr id="48" name="Text 46"/>
          <p:cNvSpPr/>
          <p:nvPr/>
        </p:nvSpPr>
        <p:spPr>
          <a:xfrm>
            <a:off x="566928" y="9656064"/>
            <a:ext cx="6428232" cy="365760"/>
          </a:xfrm>
          <a:prstGeom prst="rect">
            <a:avLst/>
          </a:prstGeom>
          <a:noFill/>
          <a:ln/>
        </p:spPr>
        <p:txBody>
          <a:bodyPr wrap="square" lIns="0" tIns="0" rIns="0" bIns="0" rtlCol="0" anchor="t"/>
          <a:lstStyle/>
          <a:p>
            <a:pPr algn="l" indent="0" marL="0">
              <a:lnSpc>
                <a:spcPct val="122000"/>
              </a:lnSpc>
              <a:buNone/>
            </a:pPr>
            <a:r>
              <a:rPr lang="en-US" sz="880" dirty="0">
                <a:solidFill>
                  <a:srgbClr val="1A1A1A"/>
                </a:solidFill>
                <a:latin typeface="Arial" pitchFamily="34" charset="0"/>
                <a:ea typeface="Arial" pitchFamily="34" charset="-122"/>
                <a:cs typeface="Arial" pitchFamily="34" charset="-120"/>
              </a:rPr>
              <a:t>None of these is branded. All of them are instantly recognisable to the people who use them. That is the standard this system is aiming at.</a:t>
            </a:r>
            <a:endParaRPr lang="en-US" sz="8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PHILOSOPHY</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04</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What Combat Mindset should feel like</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Not what it looks like. Feel is the harder specification and the one that determines whether the system is used or quietly abandoned.</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0078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FEELING TO ACHIEVE</a:t>
            </a:r>
            <a:endParaRPr lang="en-US" sz="740" dirty="0"/>
          </a:p>
        </p:txBody>
      </p:sp>
      <p:sp>
        <p:nvSpPr>
          <p:cNvPr id="10" name="Shape 8"/>
          <p:cNvSpPr/>
          <p:nvPr/>
        </p:nvSpPr>
        <p:spPr>
          <a:xfrm>
            <a:off x="566928" y="1883664"/>
            <a:ext cx="6428232" cy="7315"/>
          </a:xfrm>
          <a:prstGeom prst="rect">
            <a:avLst/>
          </a:prstGeom>
          <a:solidFill>
            <a:srgbClr val="D2D2D2"/>
          </a:solidFill>
          <a:ln/>
        </p:spPr>
      </p:sp>
      <p:sp>
        <p:nvSpPr>
          <p:cNvPr id="11" name="Text 9"/>
          <p:cNvSpPr/>
          <p:nvPr/>
        </p:nvSpPr>
        <p:spPr>
          <a:xfrm>
            <a:off x="566928" y="1993392"/>
            <a:ext cx="6428232" cy="219456"/>
          </a:xfrm>
          <a:prstGeom prst="rect">
            <a:avLst/>
          </a:prstGeom>
          <a:noFill/>
          <a:ln/>
        </p:spPr>
        <p:txBody>
          <a:bodyPr wrap="square" lIns="0" tIns="0" rIns="0" bIns="0" rtlCol="0" anchor="ctr"/>
          <a:lstStyle/>
          <a:p>
            <a:pPr algn="l" indent="0" marL="0">
              <a:buNone/>
            </a:pPr>
            <a:r>
              <a:rPr lang="en-US" sz="1060" b="1" dirty="0">
                <a:solidFill>
                  <a:srgbClr val="1A1A1A"/>
                </a:solidFill>
                <a:latin typeface="Arial" pitchFamily="34" charset="0"/>
                <a:ea typeface="Arial" pitchFamily="34" charset="-122"/>
                <a:cs typeface="Arial" pitchFamily="34" charset="-120"/>
              </a:rPr>
              <a:t>It should feel like something that was already there.</a:t>
            </a:r>
            <a:endParaRPr lang="en-US" sz="1060" dirty="0"/>
          </a:p>
        </p:txBody>
      </p:sp>
      <p:sp>
        <p:nvSpPr>
          <p:cNvPr id="12" name="Text 10"/>
          <p:cNvSpPr/>
          <p:nvPr/>
        </p:nvSpPr>
        <p:spPr>
          <a:xfrm>
            <a:off x="566928" y="2221992"/>
            <a:ext cx="6153912" cy="603504"/>
          </a:xfrm>
          <a:prstGeom prst="rect">
            <a:avLst/>
          </a:prstGeom>
          <a:noFill/>
          <a:ln/>
        </p:spPr>
        <p:txBody>
          <a:bodyPr wrap="square" lIns="0" tIns="0" rIns="0" bIns="0" rtlCol="0" anchor="t"/>
          <a:lstStyle/>
          <a:p>
            <a:pPr algn="l" indent="0" marL="0">
              <a:lnSpc>
                <a:spcPct val="122000"/>
              </a:lnSpc>
              <a:buNone/>
            </a:pPr>
            <a:r>
              <a:rPr lang="en-US" sz="900" dirty="0">
                <a:solidFill>
                  <a:srgbClr val="3E3E3E"/>
                </a:solidFill>
                <a:latin typeface="Arial" pitchFamily="34" charset="0"/>
                <a:ea typeface="Arial" pitchFamily="34" charset="-122"/>
                <a:cs typeface="Arial" pitchFamily="34" charset="-120"/>
              </a:rPr>
              <a:t>Not launched. Not campaigned. A soldier meeting a Combat Mindset product for the first time should assume it has existed for years and that they simply had not needed it until now. Visible novelty is a liability in an enduring capability framework.</a:t>
            </a:r>
            <a:endParaRPr lang="en-US" sz="900" dirty="0"/>
          </a:p>
        </p:txBody>
      </p:sp>
      <p:sp>
        <p:nvSpPr>
          <p:cNvPr id="13" name="Text 11"/>
          <p:cNvSpPr/>
          <p:nvPr/>
        </p:nvSpPr>
        <p:spPr>
          <a:xfrm>
            <a:off x="566928" y="2926080"/>
            <a:ext cx="6428232" cy="219456"/>
          </a:xfrm>
          <a:prstGeom prst="rect">
            <a:avLst/>
          </a:prstGeom>
          <a:noFill/>
          <a:ln/>
        </p:spPr>
        <p:txBody>
          <a:bodyPr wrap="square" lIns="0" tIns="0" rIns="0" bIns="0" rtlCol="0" anchor="ctr"/>
          <a:lstStyle/>
          <a:p>
            <a:pPr algn="l" indent="0" marL="0">
              <a:buNone/>
            </a:pPr>
            <a:r>
              <a:rPr lang="en-US" sz="1060" b="1" dirty="0">
                <a:solidFill>
                  <a:srgbClr val="1A1A1A"/>
                </a:solidFill>
                <a:latin typeface="Arial" pitchFamily="34" charset="0"/>
                <a:ea typeface="Arial" pitchFamily="34" charset="-122"/>
                <a:cs typeface="Arial" pitchFamily="34" charset="-120"/>
              </a:rPr>
              <a:t>It should feel like it has been checked.</a:t>
            </a:r>
            <a:endParaRPr lang="en-US" sz="1060" dirty="0"/>
          </a:p>
        </p:txBody>
      </p:sp>
      <p:sp>
        <p:nvSpPr>
          <p:cNvPr id="14" name="Text 12"/>
          <p:cNvSpPr/>
          <p:nvPr/>
        </p:nvSpPr>
        <p:spPr>
          <a:xfrm>
            <a:off x="566928" y="3154680"/>
            <a:ext cx="6153912" cy="603504"/>
          </a:xfrm>
          <a:prstGeom prst="rect">
            <a:avLst/>
          </a:prstGeom>
          <a:noFill/>
          <a:ln/>
        </p:spPr>
        <p:txBody>
          <a:bodyPr wrap="square" lIns="0" tIns="0" rIns="0" bIns="0" rtlCol="0" anchor="t"/>
          <a:lstStyle/>
          <a:p>
            <a:pPr algn="l" indent="0" marL="0">
              <a:lnSpc>
                <a:spcPct val="122000"/>
              </a:lnSpc>
              <a:buNone/>
            </a:pPr>
            <a:r>
              <a:rPr lang="en-US" sz="900" dirty="0">
                <a:solidFill>
                  <a:srgbClr val="3E3E3E"/>
                </a:solidFill>
                <a:latin typeface="Arial" pitchFamily="34" charset="0"/>
                <a:ea typeface="Arial" pitchFamily="34" charset="-122"/>
                <a:cs typeface="Arial" pitchFamily="34" charset="-120"/>
              </a:rPr>
              <a:t>The strongest emotional response the system can produce is the quiet assumption that someone competent has been over this. That is what evidence-based means in practice: not citations on display, but the felt absence of guesswork.</a:t>
            </a:r>
            <a:endParaRPr lang="en-US" sz="900" dirty="0"/>
          </a:p>
        </p:txBody>
      </p:sp>
      <p:sp>
        <p:nvSpPr>
          <p:cNvPr id="15" name="Text 13"/>
          <p:cNvSpPr/>
          <p:nvPr/>
        </p:nvSpPr>
        <p:spPr>
          <a:xfrm>
            <a:off x="566928" y="3858768"/>
            <a:ext cx="6428232" cy="219456"/>
          </a:xfrm>
          <a:prstGeom prst="rect">
            <a:avLst/>
          </a:prstGeom>
          <a:noFill/>
          <a:ln/>
        </p:spPr>
        <p:txBody>
          <a:bodyPr wrap="square" lIns="0" tIns="0" rIns="0" bIns="0" rtlCol="0" anchor="ctr"/>
          <a:lstStyle/>
          <a:p>
            <a:pPr algn="l" indent="0" marL="0">
              <a:buNone/>
            </a:pPr>
            <a:r>
              <a:rPr lang="en-US" sz="1060" b="1" dirty="0">
                <a:solidFill>
                  <a:srgbClr val="1A1A1A"/>
                </a:solidFill>
                <a:latin typeface="Arial" pitchFamily="34" charset="0"/>
                <a:ea typeface="Arial" pitchFamily="34" charset="-122"/>
                <a:cs typeface="Arial" pitchFamily="34" charset="-120"/>
              </a:rPr>
              <a:t>It should feel calm at the moment the reader is not.</a:t>
            </a:r>
            <a:endParaRPr lang="en-US" sz="1060" dirty="0"/>
          </a:p>
        </p:txBody>
      </p:sp>
      <p:sp>
        <p:nvSpPr>
          <p:cNvPr id="16" name="Text 14"/>
          <p:cNvSpPr/>
          <p:nvPr/>
        </p:nvSpPr>
        <p:spPr>
          <a:xfrm>
            <a:off x="566928" y="4087368"/>
            <a:ext cx="6153912" cy="603504"/>
          </a:xfrm>
          <a:prstGeom prst="rect">
            <a:avLst/>
          </a:prstGeom>
          <a:noFill/>
          <a:ln/>
        </p:spPr>
        <p:txBody>
          <a:bodyPr wrap="square" lIns="0" tIns="0" rIns="0" bIns="0" rtlCol="0" anchor="t"/>
          <a:lstStyle/>
          <a:p>
            <a:pPr algn="l" indent="0" marL="0">
              <a:lnSpc>
                <a:spcPct val="122000"/>
              </a:lnSpc>
              <a:buNone/>
            </a:pPr>
            <a:r>
              <a:rPr lang="en-US" sz="900" dirty="0">
                <a:solidFill>
                  <a:srgbClr val="3E3E3E"/>
                </a:solidFill>
                <a:latin typeface="Arial" pitchFamily="34" charset="0"/>
                <a:ea typeface="Arial" pitchFamily="34" charset="-122"/>
                <a:cs typeface="Arial" pitchFamily="34" charset="-120"/>
              </a:rPr>
              <a:t>These products will be opened by people under load: before a serial, after a poor performance, during a difficult command decision. The identity must lower the temperature of the page, not raise it.</a:t>
            </a:r>
            <a:endParaRPr lang="en-US" sz="900" dirty="0"/>
          </a:p>
        </p:txBody>
      </p:sp>
      <p:sp>
        <p:nvSpPr>
          <p:cNvPr id="17" name="Text 15"/>
          <p:cNvSpPr/>
          <p:nvPr/>
        </p:nvSpPr>
        <p:spPr>
          <a:xfrm>
            <a:off x="566928" y="4791456"/>
            <a:ext cx="6428232" cy="219456"/>
          </a:xfrm>
          <a:prstGeom prst="rect">
            <a:avLst/>
          </a:prstGeom>
          <a:noFill/>
          <a:ln/>
        </p:spPr>
        <p:txBody>
          <a:bodyPr wrap="square" lIns="0" tIns="0" rIns="0" bIns="0" rtlCol="0" anchor="ctr"/>
          <a:lstStyle/>
          <a:p>
            <a:pPr algn="l" indent="0" marL="0">
              <a:buNone/>
            </a:pPr>
            <a:r>
              <a:rPr lang="en-US" sz="1060" b="1" dirty="0">
                <a:solidFill>
                  <a:srgbClr val="1A1A1A"/>
                </a:solidFill>
                <a:latin typeface="Arial" pitchFamily="34" charset="0"/>
                <a:ea typeface="Arial" pitchFamily="34" charset="-122"/>
                <a:cs typeface="Arial" pitchFamily="34" charset="-120"/>
              </a:rPr>
              <a:t>It should feel like it respects the reader's time.</a:t>
            </a:r>
            <a:endParaRPr lang="en-US" sz="1060" dirty="0"/>
          </a:p>
        </p:txBody>
      </p:sp>
      <p:sp>
        <p:nvSpPr>
          <p:cNvPr id="18" name="Text 16"/>
          <p:cNvSpPr/>
          <p:nvPr/>
        </p:nvSpPr>
        <p:spPr>
          <a:xfrm>
            <a:off x="566928" y="5020056"/>
            <a:ext cx="6153912" cy="603504"/>
          </a:xfrm>
          <a:prstGeom prst="rect">
            <a:avLst/>
          </a:prstGeom>
          <a:noFill/>
          <a:ln/>
        </p:spPr>
        <p:txBody>
          <a:bodyPr wrap="square" lIns="0" tIns="0" rIns="0" bIns="0" rtlCol="0" anchor="t"/>
          <a:lstStyle/>
          <a:p>
            <a:pPr algn="l" indent="0" marL="0">
              <a:lnSpc>
                <a:spcPct val="122000"/>
              </a:lnSpc>
              <a:buNone/>
            </a:pPr>
            <a:r>
              <a:rPr lang="en-US" sz="900" dirty="0">
                <a:solidFill>
                  <a:srgbClr val="3E3E3E"/>
                </a:solidFill>
                <a:latin typeface="Arial" pitchFamily="34" charset="0"/>
                <a:ea typeface="Arial" pitchFamily="34" charset="-122"/>
                <a:cs typeface="Arial" pitchFamily="34" charset="-120"/>
              </a:rPr>
              <a:t>Hierarchy that answers questions in the order they are asked. No persuasion, no preamble, no motivational framing. Get to the thing.</a:t>
            </a:r>
            <a:endParaRPr lang="en-US" sz="900" dirty="0"/>
          </a:p>
        </p:txBody>
      </p:sp>
      <p:sp>
        <p:nvSpPr>
          <p:cNvPr id="19" name="Text 17"/>
          <p:cNvSpPr/>
          <p:nvPr/>
        </p:nvSpPr>
        <p:spPr>
          <a:xfrm>
            <a:off x="566928" y="5724144"/>
            <a:ext cx="6428232" cy="219456"/>
          </a:xfrm>
          <a:prstGeom prst="rect">
            <a:avLst/>
          </a:prstGeom>
          <a:noFill/>
          <a:ln/>
        </p:spPr>
        <p:txBody>
          <a:bodyPr wrap="square" lIns="0" tIns="0" rIns="0" bIns="0" rtlCol="0" anchor="ctr"/>
          <a:lstStyle/>
          <a:p>
            <a:pPr algn="l" indent="0" marL="0">
              <a:buNone/>
            </a:pPr>
            <a:r>
              <a:rPr lang="en-US" sz="1060" b="1" dirty="0">
                <a:solidFill>
                  <a:srgbClr val="1A1A1A"/>
                </a:solidFill>
                <a:latin typeface="Arial" pitchFamily="34" charset="0"/>
                <a:ea typeface="Arial" pitchFamily="34" charset="-122"/>
                <a:cs typeface="Arial" pitchFamily="34" charset="-120"/>
              </a:rPr>
              <a:t>It should feel institutional rather than authored.</a:t>
            </a:r>
            <a:endParaRPr lang="en-US" sz="1060" dirty="0"/>
          </a:p>
        </p:txBody>
      </p:sp>
      <p:sp>
        <p:nvSpPr>
          <p:cNvPr id="20" name="Text 18"/>
          <p:cNvSpPr/>
          <p:nvPr/>
        </p:nvSpPr>
        <p:spPr>
          <a:xfrm>
            <a:off x="566928" y="5952744"/>
            <a:ext cx="6153912" cy="603504"/>
          </a:xfrm>
          <a:prstGeom prst="rect">
            <a:avLst/>
          </a:prstGeom>
          <a:noFill/>
          <a:ln/>
        </p:spPr>
        <p:txBody>
          <a:bodyPr wrap="square" lIns="0" tIns="0" rIns="0" bIns="0" rtlCol="0" anchor="t"/>
          <a:lstStyle/>
          <a:p>
            <a:pPr algn="l" indent="0" marL="0">
              <a:lnSpc>
                <a:spcPct val="122000"/>
              </a:lnSpc>
              <a:buNone/>
            </a:pPr>
            <a:r>
              <a:rPr lang="en-US" sz="900" dirty="0">
                <a:solidFill>
                  <a:srgbClr val="3E3E3E"/>
                </a:solidFill>
                <a:latin typeface="Arial" pitchFamily="34" charset="0"/>
                <a:ea typeface="Arial" pitchFamily="34" charset="-122"/>
                <a:cs typeface="Arial" pitchFamily="34" charset="-120"/>
              </a:rPr>
              <a:t>No individual's taste should be visible in it. The system belongs to Army, and personal signature is what makes identity systems fragile when their author posts out.</a:t>
            </a:r>
            <a:endParaRPr lang="en-US" sz="900" dirty="0"/>
          </a:p>
        </p:txBody>
      </p:sp>
      <p:sp>
        <p:nvSpPr>
          <p:cNvPr id="21" name="Text 19"/>
          <p:cNvSpPr/>
          <p:nvPr/>
        </p:nvSpPr>
        <p:spPr>
          <a:xfrm>
            <a:off x="566928" y="671169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WHAT IT MUST NOT FEEL LIKE</a:t>
            </a:r>
            <a:endParaRPr lang="en-US" sz="740" dirty="0"/>
          </a:p>
        </p:txBody>
      </p:sp>
      <p:sp>
        <p:nvSpPr>
          <p:cNvPr id="22" name="Shape 20"/>
          <p:cNvSpPr/>
          <p:nvPr/>
        </p:nvSpPr>
        <p:spPr>
          <a:xfrm>
            <a:off x="566928" y="6894576"/>
            <a:ext cx="6428232" cy="7315"/>
          </a:xfrm>
          <a:prstGeom prst="rect">
            <a:avLst/>
          </a:prstGeom>
          <a:solidFill>
            <a:srgbClr val="D2D2D2"/>
          </a:solidFill>
          <a:ln/>
        </p:spPr>
      </p:sp>
      <p:sp>
        <p:nvSpPr>
          <p:cNvPr id="23" name="Shape 21"/>
          <p:cNvSpPr/>
          <p:nvPr/>
        </p:nvSpPr>
        <p:spPr>
          <a:xfrm>
            <a:off x="566928" y="7004304"/>
            <a:ext cx="1524762" cy="786384"/>
          </a:xfrm>
          <a:prstGeom prst="rect">
            <a:avLst/>
          </a:prstGeom>
          <a:solidFill>
            <a:srgbClr val="F5F5F3"/>
          </a:solidFill>
          <a:ln/>
        </p:spPr>
      </p:sp>
      <p:sp>
        <p:nvSpPr>
          <p:cNvPr id="24" name="Shape 22"/>
          <p:cNvSpPr/>
          <p:nvPr/>
        </p:nvSpPr>
        <p:spPr>
          <a:xfrm>
            <a:off x="566928" y="7004304"/>
            <a:ext cx="1524762" cy="25603"/>
          </a:xfrm>
          <a:prstGeom prst="rect">
            <a:avLst/>
          </a:prstGeom>
          <a:solidFill>
            <a:srgbClr val="D31145"/>
          </a:solidFill>
          <a:ln/>
        </p:spPr>
      </p:sp>
      <p:sp>
        <p:nvSpPr>
          <p:cNvPr id="25" name="Text 23"/>
          <p:cNvSpPr/>
          <p:nvPr/>
        </p:nvSpPr>
        <p:spPr>
          <a:xfrm>
            <a:off x="694944" y="7095744"/>
            <a:ext cx="1268730" cy="201168"/>
          </a:xfrm>
          <a:prstGeom prst="rect">
            <a:avLst/>
          </a:prstGeom>
          <a:noFill/>
          <a:ln/>
        </p:spPr>
        <p:txBody>
          <a:bodyPr wrap="square" lIns="0" tIns="0" rIns="0" bIns="0" rtlCol="0" anchor="ctr"/>
          <a:lstStyle/>
          <a:p>
            <a:pPr algn="l" indent="0" marL="0">
              <a:buNone/>
            </a:pPr>
            <a:r>
              <a:rPr lang="en-US" sz="940" b="1" dirty="0">
                <a:solidFill>
                  <a:srgbClr val="1A1A1A"/>
                </a:solidFill>
                <a:latin typeface="Arial" pitchFamily="34" charset="0"/>
                <a:ea typeface="Arial" pitchFamily="34" charset="-122"/>
                <a:cs typeface="Arial" pitchFamily="34" charset="-120"/>
              </a:rPr>
              <a:t>Inspiring</a:t>
            </a:r>
            <a:endParaRPr lang="en-US" sz="940" dirty="0"/>
          </a:p>
        </p:txBody>
      </p:sp>
      <p:sp>
        <p:nvSpPr>
          <p:cNvPr id="26" name="Text 24"/>
          <p:cNvSpPr/>
          <p:nvPr/>
        </p:nvSpPr>
        <p:spPr>
          <a:xfrm>
            <a:off x="694944" y="7315200"/>
            <a:ext cx="1268730" cy="402336"/>
          </a:xfrm>
          <a:prstGeom prst="rect">
            <a:avLst/>
          </a:prstGeom>
          <a:noFill/>
          <a:ln/>
        </p:spPr>
        <p:txBody>
          <a:bodyPr wrap="square" lIns="0" tIns="0" rIns="0" bIns="0" rtlCol="0" anchor="t"/>
          <a:lstStyle/>
          <a:p>
            <a:pPr algn="l" indent="0" marL="0">
              <a:lnSpc>
                <a:spcPct val="122000"/>
              </a:lnSpc>
              <a:buNone/>
            </a:pPr>
            <a:r>
              <a:rPr lang="en-US" sz="800" dirty="0">
                <a:solidFill>
                  <a:srgbClr val="3E3E3E"/>
                </a:solidFill>
                <a:latin typeface="Arial" pitchFamily="34" charset="0"/>
                <a:ea typeface="Arial" pitchFamily="34" charset="-122"/>
                <a:cs typeface="Arial" pitchFamily="34" charset="-120"/>
              </a:rPr>
              <a:t>Motivation fades. Institutional systems endure.</a:t>
            </a:r>
            <a:endParaRPr lang="en-US" sz="800" dirty="0"/>
          </a:p>
        </p:txBody>
      </p:sp>
      <p:sp>
        <p:nvSpPr>
          <p:cNvPr id="27" name="Shape 25"/>
          <p:cNvSpPr/>
          <p:nvPr/>
        </p:nvSpPr>
        <p:spPr>
          <a:xfrm>
            <a:off x="2201418" y="7004304"/>
            <a:ext cx="1524762" cy="786384"/>
          </a:xfrm>
          <a:prstGeom prst="rect">
            <a:avLst/>
          </a:prstGeom>
          <a:solidFill>
            <a:srgbClr val="F5F5F3"/>
          </a:solidFill>
          <a:ln/>
        </p:spPr>
      </p:sp>
      <p:sp>
        <p:nvSpPr>
          <p:cNvPr id="28" name="Shape 26"/>
          <p:cNvSpPr/>
          <p:nvPr/>
        </p:nvSpPr>
        <p:spPr>
          <a:xfrm>
            <a:off x="2201418" y="7004304"/>
            <a:ext cx="1524762" cy="25603"/>
          </a:xfrm>
          <a:prstGeom prst="rect">
            <a:avLst/>
          </a:prstGeom>
          <a:solidFill>
            <a:srgbClr val="D31145"/>
          </a:solidFill>
          <a:ln/>
        </p:spPr>
      </p:sp>
      <p:sp>
        <p:nvSpPr>
          <p:cNvPr id="29" name="Text 27"/>
          <p:cNvSpPr/>
          <p:nvPr/>
        </p:nvSpPr>
        <p:spPr>
          <a:xfrm>
            <a:off x="2329434" y="7095744"/>
            <a:ext cx="1268730" cy="201168"/>
          </a:xfrm>
          <a:prstGeom prst="rect">
            <a:avLst/>
          </a:prstGeom>
          <a:noFill/>
          <a:ln/>
        </p:spPr>
        <p:txBody>
          <a:bodyPr wrap="square" lIns="0" tIns="0" rIns="0" bIns="0" rtlCol="0" anchor="ctr"/>
          <a:lstStyle/>
          <a:p>
            <a:pPr algn="l" indent="0" marL="0">
              <a:buNone/>
            </a:pPr>
            <a:r>
              <a:rPr lang="en-US" sz="940" b="1" dirty="0">
                <a:solidFill>
                  <a:srgbClr val="1A1A1A"/>
                </a:solidFill>
                <a:latin typeface="Arial" pitchFamily="34" charset="0"/>
                <a:ea typeface="Arial" pitchFamily="34" charset="-122"/>
                <a:cs typeface="Arial" pitchFamily="34" charset="-120"/>
              </a:rPr>
              <a:t>Elite</a:t>
            </a:r>
            <a:endParaRPr lang="en-US" sz="940" dirty="0"/>
          </a:p>
        </p:txBody>
      </p:sp>
      <p:sp>
        <p:nvSpPr>
          <p:cNvPr id="30" name="Text 28"/>
          <p:cNvSpPr/>
          <p:nvPr/>
        </p:nvSpPr>
        <p:spPr>
          <a:xfrm>
            <a:off x="2329434" y="7315200"/>
            <a:ext cx="1268730" cy="402336"/>
          </a:xfrm>
          <a:prstGeom prst="rect">
            <a:avLst/>
          </a:prstGeom>
          <a:noFill/>
          <a:ln/>
        </p:spPr>
        <p:txBody>
          <a:bodyPr wrap="square" lIns="0" tIns="0" rIns="0" bIns="0" rtlCol="0" anchor="t"/>
          <a:lstStyle/>
          <a:p>
            <a:pPr algn="l" indent="0" marL="0">
              <a:lnSpc>
                <a:spcPct val="122000"/>
              </a:lnSpc>
              <a:buNone/>
            </a:pPr>
            <a:r>
              <a:rPr lang="en-US" sz="800" dirty="0">
                <a:solidFill>
                  <a:srgbClr val="3E3E3E"/>
                </a:solidFill>
                <a:latin typeface="Arial" pitchFamily="34" charset="0"/>
                <a:ea typeface="Arial" pitchFamily="34" charset="-122"/>
                <a:cs typeface="Arial" pitchFamily="34" charset="-120"/>
              </a:rPr>
              <a:t>The framework is for the whole Army, not a selected minority.</a:t>
            </a:r>
            <a:endParaRPr lang="en-US" sz="800" dirty="0"/>
          </a:p>
        </p:txBody>
      </p:sp>
      <p:sp>
        <p:nvSpPr>
          <p:cNvPr id="31" name="Shape 29"/>
          <p:cNvSpPr/>
          <p:nvPr/>
        </p:nvSpPr>
        <p:spPr>
          <a:xfrm>
            <a:off x="3835908" y="7004304"/>
            <a:ext cx="1524762" cy="786384"/>
          </a:xfrm>
          <a:prstGeom prst="rect">
            <a:avLst/>
          </a:prstGeom>
          <a:solidFill>
            <a:srgbClr val="F5F5F3"/>
          </a:solidFill>
          <a:ln/>
        </p:spPr>
      </p:sp>
      <p:sp>
        <p:nvSpPr>
          <p:cNvPr id="32" name="Shape 30"/>
          <p:cNvSpPr/>
          <p:nvPr/>
        </p:nvSpPr>
        <p:spPr>
          <a:xfrm>
            <a:off x="3835908" y="7004304"/>
            <a:ext cx="1524762" cy="25603"/>
          </a:xfrm>
          <a:prstGeom prst="rect">
            <a:avLst/>
          </a:prstGeom>
          <a:solidFill>
            <a:srgbClr val="D31145"/>
          </a:solidFill>
          <a:ln/>
        </p:spPr>
      </p:sp>
      <p:sp>
        <p:nvSpPr>
          <p:cNvPr id="33" name="Text 31"/>
          <p:cNvSpPr/>
          <p:nvPr/>
        </p:nvSpPr>
        <p:spPr>
          <a:xfrm>
            <a:off x="3963924" y="7095744"/>
            <a:ext cx="1268730" cy="201168"/>
          </a:xfrm>
          <a:prstGeom prst="rect">
            <a:avLst/>
          </a:prstGeom>
          <a:noFill/>
          <a:ln/>
        </p:spPr>
        <p:txBody>
          <a:bodyPr wrap="square" lIns="0" tIns="0" rIns="0" bIns="0" rtlCol="0" anchor="ctr"/>
          <a:lstStyle/>
          <a:p>
            <a:pPr algn="l" indent="0" marL="0">
              <a:buNone/>
            </a:pPr>
            <a:r>
              <a:rPr lang="en-US" sz="940" b="1" dirty="0">
                <a:solidFill>
                  <a:srgbClr val="1A1A1A"/>
                </a:solidFill>
                <a:latin typeface="Arial" pitchFamily="34" charset="0"/>
                <a:ea typeface="Arial" pitchFamily="34" charset="-122"/>
                <a:cs typeface="Arial" pitchFamily="34" charset="-120"/>
              </a:rPr>
              <a:t>Commercial</a:t>
            </a:r>
            <a:endParaRPr lang="en-US" sz="940" dirty="0"/>
          </a:p>
        </p:txBody>
      </p:sp>
      <p:sp>
        <p:nvSpPr>
          <p:cNvPr id="34" name="Text 32"/>
          <p:cNvSpPr/>
          <p:nvPr/>
        </p:nvSpPr>
        <p:spPr>
          <a:xfrm>
            <a:off x="3963924" y="7315200"/>
            <a:ext cx="1268730" cy="402336"/>
          </a:xfrm>
          <a:prstGeom prst="rect">
            <a:avLst/>
          </a:prstGeom>
          <a:noFill/>
          <a:ln/>
        </p:spPr>
        <p:txBody>
          <a:bodyPr wrap="square" lIns="0" tIns="0" rIns="0" bIns="0" rtlCol="0" anchor="t"/>
          <a:lstStyle/>
          <a:p>
            <a:pPr algn="l" indent="0" marL="0">
              <a:lnSpc>
                <a:spcPct val="122000"/>
              </a:lnSpc>
              <a:buNone/>
            </a:pPr>
            <a:r>
              <a:rPr lang="en-US" sz="800" dirty="0">
                <a:solidFill>
                  <a:srgbClr val="3E3E3E"/>
                </a:solidFill>
                <a:latin typeface="Arial" pitchFamily="34" charset="0"/>
                <a:ea typeface="Arial" pitchFamily="34" charset="-122"/>
                <a:cs typeface="Arial" pitchFamily="34" charset="-120"/>
              </a:rPr>
              <a:t>Nothing is being sold. Nothing is being competed for.</a:t>
            </a:r>
            <a:endParaRPr lang="en-US" sz="800" dirty="0"/>
          </a:p>
        </p:txBody>
      </p:sp>
      <p:sp>
        <p:nvSpPr>
          <p:cNvPr id="35" name="Shape 33"/>
          <p:cNvSpPr/>
          <p:nvPr/>
        </p:nvSpPr>
        <p:spPr>
          <a:xfrm>
            <a:off x="5470398" y="7004304"/>
            <a:ext cx="1524762" cy="786384"/>
          </a:xfrm>
          <a:prstGeom prst="rect">
            <a:avLst/>
          </a:prstGeom>
          <a:solidFill>
            <a:srgbClr val="F5F5F3"/>
          </a:solidFill>
          <a:ln/>
        </p:spPr>
      </p:sp>
      <p:sp>
        <p:nvSpPr>
          <p:cNvPr id="36" name="Shape 34"/>
          <p:cNvSpPr/>
          <p:nvPr/>
        </p:nvSpPr>
        <p:spPr>
          <a:xfrm>
            <a:off x="5470398" y="7004304"/>
            <a:ext cx="1524762" cy="25603"/>
          </a:xfrm>
          <a:prstGeom prst="rect">
            <a:avLst/>
          </a:prstGeom>
          <a:solidFill>
            <a:srgbClr val="D31145"/>
          </a:solidFill>
          <a:ln/>
        </p:spPr>
      </p:sp>
      <p:sp>
        <p:nvSpPr>
          <p:cNvPr id="37" name="Text 35"/>
          <p:cNvSpPr/>
          <p:nvPr/>
        </p:nvSpPr>
        <p:spPr>
          <a:xfrm>
            <a:off x="5598414" y="7095744"/>
            <a:ext cx="1268730" cy="201168"/>
          </a:xfrm>
          <a:prstGeom prst="rect">
            <a:avLst/>
          </a:prstGeom>
          <a:noFill/>
          <a:ln/>
        </p:spPr>
        <p:txBody>
          <a:bodyPr wrap="square" lIns="0" tIns="0" rIns="0" bIns="0" rtlCol="0" anchor="ctr"/>
          <a:lstStyle/>
          <a:p>
            <a:pPr algn="l" indent="0" marL="0">
              <a:buNone/>
            </a:pPr>
            <a:r>
              <a:rPr lang="en-US" sz="940" b="1" dirty="0">
                <a:solidFill>
                  <a:srgbClr val="1A1A1A"/>
                </a:solidFill>
                <a:latin typeface="Arial" pitchFamily="34" charset="0"/>
                <a:ea typeface="Arial" pitchFamily="34" charset="-122"/>
                <a:cs typeface="Arial" pitchFamily="34" charset="-120"/>
              </a:rPr>
              <a:t>Clever</a:t>
            </a:r>
            <a:endParaRPr lang="en-US" sz="940" dirty="0"/>
          </a:p>
        </p:txBody>
      </p:sp>
      <p:sp>
        <p:nvSpPr>
          <p:cNvPr id="38" name="Text 36"/>
          <p:cNvSpPr/>
          <p:nvPr/>
        </p:nvSpPr>
        <p:spPr>
          <a:xfrm>
            <a:off x="5598414" y="7315200"/>
            <a:ext cx="1268730" cy="402336"/>
          </a:xfrm>
          <a:prstGeom prst="rect">
            <a:avLst/>
          </a:prstGeom>
          <a:noFill/>
          <a:ln/>
        </p:spPr>
        <p:txBody>
          <a:bodyPr wrap="square" lIns="0" tIns="0" rIns="0" bIns="0" rtlCol="0" anchor="t"/>
          <a:lstStyle/>
          <a:p>
            <a:pPr algn="l" indent="0" marL="0">
              <a:lnSpc>
                <a:spcPct val="122000"/>
              </a:lnSpc>
              <a:buNone/>
            </a:pPr>
            <a:r>
              <a:rPr lang="en-US" sz="800" dirty="0">
                <a:solidFill>
                  <a:srgbClr val="3E3E3E"/>
                </a:solidFill>
                <a:latin typeface="Arial" pitchFamily="34" charset="0"/>
                <a:ea typeface="Arial" pitchFamily="34" charset="-122"/>
                <a:cs typeface="Arial" pitchFamily="34" charset="-120"/>
              </a:rPr>
              <a:t>Wit in an institutional system reads as unseriousness on the second reading.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ATTRIBUTES</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05</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Brand attributes</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Thirteen adjectives. Each is paired with the adjective it is most often confused with, because the distinction is where the system is actually held.</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0078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ATTRIBUTES, AND THEIR NEAR MISSES</a:t>
            </a:r>
            <a:endParaRPr lang="en-US" sz="740" dirty="0"/>
          </a:p>
        </p:txBody>
      </p:sp>
      <p:sp>
        <p:nvSpPr>
          <p:cNvPr id="10" name="Shape 8"/>
          <p:cNvSpPr/>
          <p:nvPr/>
        </p:nvSpPr>
        <p:spPr>
          <a:xfrm>
            <a:off x="566928" y="1883664"/>
            <a:ext cx="6428232" cy="7315"/>
          </a:xfrm>
          <a:prstGeom prst="rect">
            <a:avLst/>
          </a:prstGeom>
          <a:solidFill>
            <a:srgbClr val="D2D2D2"/>
          </a:solidFill>
          <a:ln/>
        </p:spPr>
      </p:sp>
      <p:sp>
        <p:nvSpPr>
          <p:cNvPr id="11" name="Shape 9"/>
          <p:cNvSpPr/>
          <p:nvPr/>
        </p:nvSpPr>
        <p:spPr>
          <a:xfrm>
            <a:off x="566928" y="1993392"/>
            <a:ext cx="2057400" cy="548640"/>
          </a:xfrm>
          <a:prstGeom prst="rect">
            <a:avLst/>
          </a:prstGeom>
          <a:solidFill>
            <a:srgbClr val="FFFFFF"/>
          </a:solidFill>
          <a:ln w="12700">
            <a:solidFill>
              <a:srgbClr val="D2D2D2"/>
            </a:solidFill>
            <a:prstDash val="solid"/>
          </a:ln>
        </p:spPr>
      </p:sp>
      <p:sp>
        <p:nvSpPr>
          <p:cNvPr id="12" name="Shape 10"/>
          <p:cNvSpPr/>
          <p:nvPr/>
        </p:nvSpPr>
        <p:spPr>
          <a:xfrm>
            <a:off x="566928" y="1993392"/>
            <a:ext cx="27432" cy="548640"/>
          </a:xfrm>
          <a:prstGeom prst="rect">
            <a:avLst/>
          </a:prstGeom>
          <a:solidFill>
            <a:srgbClr val="1A1A1A"/>
          </a:solidFill>
          <a:ln/>
        </p:spPr>
      </p:sp>
      <p:sp>
        <p:nvSpPr>
          <p:cNvPr id="13" name="Text 11"/>
          <p:cNvSpPr/>
          <p:nvPr/>
        </p:nvSpPr>
        <p:spPr>
          <a:xfrm>
            <a:off x="713232" y="2066544"/>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Measured</a:t>
            </a:r>
            <a:endParaRPr lang="en-US" sz="1140" dirty="0"/>
          </a:p>
        </p:txBody>
      </p:sp>
      <p:sp>
        <p:nvSpPr>
          <p:cNvPr id="14" name="Text 12"/>
          <p:cNvSpPr/>
          <p:nvPr/>
        </p:nvSpPr>
        <p:spPr>
          <a:xfrm>
            <a:off x="713232" y="2286000"/>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cautious</a:t>
            </a:r>
            <a:endParaRPr lang="en-US" sz="820" dirty="0"/>
          </a:p>
        </p:txBody>
      </p:sp>
      <p:sp>
        <p:nvSpPr>
          <p:cNvPr id="15" name="Shape 13"/>
          <p:cNvSpPr/>
          <p:nvPr/>
        </p:nvSpPr>
        <p:spPr>
          <a:xfrm>
            <a:off x="2752344" y="1993392"/>
            <a:ext cx="2057400" cy="548640"/>
          </a:xfrm>
          <a:prstGeom prst="rect">
            <a:avLst/>
          </a:prstGeom>
          <a:solidFill>
            <a:srgbClr val="FFFFFF"/>
          </a:solidFill>
          <a:ln w="12700">
            <a:solidFill>
              <a:srgbClr val="D2D2D2"/>
            </a:solidFill>
            <a:prstDash val="solid"/>
          </a:ln>
        </p:spPr>
      </p:sp>
      <p:sp>
        <p:nvSpPr>
          <p:cNvPr id="16" name="Shape 14"/>
          <p:cNvSpPr/>
          <p:nvPr/>
        </p:nvSpPr>
        <p:spPr>
          <a:xfrm>
            <a:off x="2752344" y="1993392"/>
            <a:ext cx="27432" cy="548640"/>
          </a:xfrm>
          <a:prstGeom prst="rect">
            <a:avLst/>
          </a:prstGeom>
          <a:solidFill>
            <a:srgbClr val="1A1A1A"/>
          </a:solidFill>
          <a:ln/>
        </p:spPr>
      </p:sp>
      <p:sp>
        <p:nvSpPr>
          <p:cNvPr id="17" name="Text 15"/>
          <p:cNvSpPr/>
          <p:nvPr/>
        </p:nvSpPr>
        <p:spPr>
          <a:xfrm>
            <a:off x="2898648" y="2066544"/>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Precise</a:t>
            </a:r>
            <a:endParaRPr lang="en-US" sz="1140" dirty="0"/>
          </a:p>
        </p:txBody>
      </p:sp>
      <p:sp>
        <p:nvSpPr>
          <p:cNvPr id="18" name="Text 16"/>
          <p:cNvSpPr/>
          <p:nvPr/>
        </p:nvSpPr>
        <p:spPr>
          <a:xfrm>
            <a:off x="2898648" y="2286000"/>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fussy</a:t>
            </a:r>
            <a:endParaRPr lang="en-US" sz="820" dirty="0"/>
          </a:p>
        </p:txBody>
      </p:sp>
      <p:sp>
        <p:nvSpPr>
          <p:cNvPr id="19" name="Shape 17"/>
          <p:cNvSpPr/>
          <p:nvPr/>
        </p:nvSpPr>
        <p:spPr>
          <a:xfrm>
            <a:off x="4937760" y="1993392"/>
            <a:ext cx="2057400" cy="548640"/>
          </a:xfrm>
          <a:prstGeom prst="rect">
            <a:avLst/>
          </a:prstGeom>
          <a:solidFill>
            <a:srgbClr val="FFFFFF"/>
          </a:solidFill>
          <a:ln w="12700">
            <a:solidFill>
              <a:srgbClr val="D2D2D2"/>
            </a:solidFill>
            <a:prstDash val="solid"/>
          </a:ln>
        </p:spPr>
      </p:sp>
      <p:sp>
        <p:nvSpPr>
          <p:cNvPr id="20" name="Shape 18"/>
          <p:cNvSpPr/>
          <p:nvPr/>
        </p:nvSpPr>
        <p:spPr>
          <a:xfrm>
            <a:off x="4937760" y="1993392"/>
            <a:ext cx="27432" cy="548640"/>
          </a:xfrm>
          <a:prstGeom prst="rect">
            <a:avLst/>
          </a:prstGeom>
          <a:solidFill>
            <a:srgbClr val="1A1A1A"/>
          </a:solidFill>
          <a:ln/>
        </p:spPr>
      </p:sp>
      <p:sp>
        <p:nvSpPr>
          <p:cNvPr id="21" name="Text 19"/>
          <p:cNvSpPr/>
          <p:nvPr/>
        </p:nvSpPr>
        <p:spPr>
          <a:xfrm>
            <a:off x="5084064" y="2066544"/>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Composed</a:t>
            </a:r>
            <a:endParaRPr lang="en-US" sz="1140" dirty="0"/>
          </a:p>
        </p:txBody>
      </p:sp>
      <p:sp>
        <p:nvSpPr>
          <p:cNvPr id="22" name="Text 20"/>
          <p:cNvSpPr/>
          <p:nvPr/>
        </p:nvSpPr>
        <p:spPr>
          <a:xfrm>
            <a:off x="5084064" y="2286000"/>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detached</a:t>
            </a:r>
            <a:endParaRPr lang="en-US" sz="820" dirty="0"/>
          </a:p>
        </p:txBody>
      </p:sp>
      <p:sp>
        <p:nvSpPr>
          <p:cNvPr id="23" name="Shape 21"/>
          <p:cNvSpPr/>
          <p:nvPr/>
        </p:nvSpPr>
        <p:spPr>
          <a:xfrm>
            <a:off x="566928" y="2651760"/>
            <a:ext cx="2057400" cy="548640"/>
          </a:xfrm>
          <a:prstGeom prst="rect">
            <a:avLst/>
          </a:prstGeom>
          <a:solidFill>
            <a:srgbClr val="FFFFFF"/>
          </a:solidFill>
          <a:ln w="12700">
            <a:solidFill>
              <a:srgbClr val="D2D2D2"/>
            </a:solidFill>
            <a:prstDash val="solid"/>
          </a:ln>
        </p:spPr>
      </p:sp>
      <p:sp>
        <p:nvSpPr>
          <p:cNvPr id="24" name="Shape 22"/>
          <p:cNvSpPr/>
          <p:nvPr/>
        </p:nvSpPr>
        <p:spPr>
          <a:xfrm>
            <a:off x="566928" y="2651760"/>
            <a:ext cx="27432" cy="548640"/>
          </a:xfrm>
          <a:prstGeom prst="rect">
            <a:avLst/>
          </a:prstGeom>
          <a:solidFill>
            <a:srgbClr val="1A1A1A"/>
          </a:solidFill>
          <a:ln/>
        </p:spPr>
      </p:sp>
      <p:sp>
        <p:nvSpPr>
          <p:cNvPr id="25" name="Text 23"/>
          <p:cNvSpPr/>
          <p:nvPr/>
        </p:nvSpPr>
        <p:spPr>
          <a:xfrm>
            <a:off x="713232" y="2724912"/>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Disciplined</a:t>
            </a:r>
            <a:endParaRPr lang="en-US" sz="1140" dirty="0"/>
          </a:p>
        </p:txBody>
      </p:sp>
      <p:sp>
        <p:nvSpPr>
          <p:cNvPr id="26" name="Text 24"/>
          <p:cNvSpPr/>
          <p:nvPr/>
        </p:nvSpPr>
        <p:spPr>
          <a:xfrm>
            <a:off x="713232" y="2944368"/>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rigid</a:t>
            </a:r>
            <a:endParaRPr lang="en-US" sz="820" dirty="0"/>
          </a:p>
        </p:txBody>
      </p:sp>
      <p:sp>
        <p:nvSpPr>
          <p:cNvPr id="27" name="Shape 25"/>
          <p:cNvSpPr/>
          <p:nvPr/>
        </p:nvSpPr>
        <p:spPr>
          <a:xfrm>
            <a:off x="2752344" y="2651760"/>
            <a:ext cx="2057400" cy="548640"/>
          </a:xfrm>
          <a:prstGeom prst="rect">
            <a:avLst/>
          </a:prstGeom>
          <a:solidFill>
            <a:srgbClr val="FFFFFF"/>
          </a:solidFill>
          <a:ln w="12700">
            <a:solidFill>
              <a:srgbClr val="D2D2D2"/>
            </a:solidFill>
            <a:prstDash val="solid"/>
          </a:ln>
        </p:spPr>
      </p:sp>
      <p:sp>
        <p:nvSpPr>
          <p:cNvPr id="28" name="Shape 26"/>
          <p:cNvSpPr/>
          <p:nvPr/>
        </p:nvSpPr>
        <p:spPr>
          <a:xfrm>
            <a:off x="2752344" y="2651760"/>
            <a:ext cx="27432" cy="548640"/>
          </a:xfrm>
          <a:prstGeom prst="rect">
            <a:avLst/>
          </a:prstGeom>
          <a:solidFill>
            <a:srgbClr val="1A1A1A"/>
          </a:solidFill>
          <a:ln/>
        </p:spPr>
      </p:sp>
      <p:sp>
        <p:nvSpPr>
          <p:cNvPr id="29" name="Text 27"/>
          <p:cNvSpPr/>
          <p:nvPr/>
        </p:nvSpPr>
        <p:spPr>
          <a:xfrm>
            <a:off x="2898648" y="2724912"/>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Credible</a:t>
            </a:r>
            <a:endParaRPr lang="en-US" sz="1140" dirty="0"/>
          </a:p>
        </p:txBody>
      </p:sp>
      <p:sp>
        <p:nvSpPr>
          <p:cNvPr id="30" name="Text 28"/>
          <p:cNvSpPr/>
          <p:nvPr/>
        </p:nvSpPr>
        <p:spPr>
          <a:xfrm>
            <a:off x="2898648" y="2944368"/>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authoritative in tone</a:t>
            </a:r>
            <a:endParaRPr lang="en-US" sz="820" dirty="0"/>
          </a:p>
        </p:txBody>
      </p:sp>
      <p:sp>
        <p:nvSpPr>
          <p:cNvPr id="31" name="Shape 29"/>
          <p:cNvSpPr/>
          <p:nvPr/>
        </p:nvSpPr>
        <p:spPr>
          <a:xfrm>
            <a:off x="4937760" y="2651760"/>
            <a:ext cx="2057400" cy="548640"/>
          </a:xfrm>
          <a:prstGeom prst="rect">
            <a:avLst/>
          </a:prstGeom>
          <a:solidFill>
            <a:srgbClr val="FFFFFF"/>
          </a:solidFill>
          <a:ln w="12700">
            <a:solidFill>
              <a:srgbClr val="D2D2D2"/>
            </a:solidFill>
            <a:prstDash val="solid"/>
          </a:ln>
        </p:spPr>
      </p:sp>
      <p:sp>
        <p:nvSpPr>
          <p:cNvPr id="32" name="Shape 30"/>
          <p:cNvSpPr/>
          <p:nvPr/>
        </p:nvSpPr>
        <p:spPr>
          <a:xfrm>
            <a:off x="4937760" y="2651760"/>
            <a:ext cx="27432" cy="548640"/>
          </a:xfrm>
          <a:prstGeom prst="rect">
            <a:avLst/>
          </a:prstGeom>
          <a:solidFill>
            <a:srgbClr val="1A1A1A"/>
          </a:solidFill>
          <a:ln/>
        </p:spPr>
      </p:sp>
      <p:sp>
        <p:nvSpPr>
          <p:cNvPr id="33" name="Text 31"/>
          <p:cNvSpPr/>
          <p:nvPr/>
        </p:nvSpPr>
        <p:spPr>
          <a:xfrm>
            <a:off x="5084064" y="2724912"/>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Structured</a:t>
            </a:r>
            <a:endParaRPr lang="en-US" sz="1140" dirty="0"/>
          </a:p>
        </p:txBody>
      </p:sp>
      <p:sp>
        <p:nvSpPr>
          <p:cNvPr id="34" name="Text 32"/>
          <p:cNvSpPr/>
          <p:nvPr/>
        </p:nvSpPr>
        <p:spPr>
          <a:xfrm>
            <a:off x="5084064" y="2944368"/>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bureaucratic</a:t>
            </a:r>
            <a:endParaRPr lang="en-US" sz="820" dirty="0"/>
          </a:p>
        </p:txBody>
      </p:sp>
      <p:sp>
        <p:nvSpPr>
          <p:cNvPr id="35" name="Shape 33"/>
          <p:cNvSpPr/>
          <p:nvPr/>
        </p:nvSpPr>
        <p:spPr>
          <a:xfrm>
            <a:off x="566928" y="3310128"/>
            <a:ext cx="2057400" cy="548640"/>
          </a:xfrm>
          <a:prstGeom prst="rect">
            <a:avLst/>
          </a:prstGeom>
          <a:solidFill>
            <a:srgbClr val="FFFFFF"/>
          </a:solidFill>
          <a:ln w="12700">
            <a:solidFill>
              <a:srgbClr val="D2D2D2"/>
            </a:solidFill>
            <a:prstDash val="solid"/>
          </a:ln>
        </p:spPr>
      </p:sp>
      <p:sp>
        <p:nvSpPr>
          <p:cNvPr id="36" name="Shape 34"/>
          <p:cNvSpPr/>
          <p:nvPr/>
        </p:nvSpPr>
        <p:spPr>
          <a:xfrm>
            <a:off x="566928" y="3310128"/>
            <a:ext cx="27432" cy="548640"/>
          </a:xfrm>
          <a:prstGeom prst="rect">
            <a:avLst/>
          </a:prstGeom>
          <a:solidFill>
            <a:srgbClr val="1A1A1A"/>
          </a:solidFill>
          <a:ln/>
        </p:spPr>
      </p:sp>
      <p:sp>
        <p:nvSpPr>
          <p:cNvPr id="37" name="Text 35"/>
          <p:cNvSpPr/>
          <p:nvPr/>
        </p:nvSpPr>
        <p:spPr>
          <a:xfrm>
            <a:off x="713232" y="3383280"/>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Clear</a:t>
            </a:r>
            <a:endParaRPr lang="en-US" sz="1140" dirty="0"/>
          </a:p>
        </p:txBody>
      </p:sp>
      <p:sp>
        <p:nvSpPr>
          <p:cNvPr id="38" name="Text 36"/>
          <p:cNvSpPr/>
          <p:nvPr/>
        </p:nvSpPr>
        <p:spPr>
          <a:xfrm>
            <a:off x="713232" y="3602736"/>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simplified</a:t>
            </a:r>
            <a:endParaRPr lang="en-US" sz="820" dirty="0"/>
          </a:p>
        </p:txBody>
      </p:sp>
      <p:sp>
        <p:nvSpPr>
          <p:cNvPr id="39" name="Shape 37"/>
          <p:cNvSpPr/>
          <p:nvPr/>
        </p:nvSpPr>
        <p:spPr>
          <a:xfrm>
            <a:off x="2752344" y="3310128"/>
            <a:ext cx="2057400" cy="548640"/>
          </a:xfrm>
          <a:prstGeom prst="rect">
            <a:avLst/>
          </a:prstGeom>
          <a:solidFill>
            <a:srgbClr val="FFFFFF"/>
          </a:solidFill>
          <a:ln w="12700">
            <a:solidFill>
              <a:srgbClr val="D2D2D2"/>
            </a:solidFill>
            <a:prstDash val="solid"/>
          </a:ln>
        </p:spPr>
      </p:sp>
      <p:sp>
        <p:nvSpPr>
          <p:cNvPr id="40" name="Shape 38"/>
          <p:cNvSpPr/>
          <p:nvPr/>
        </p:nvSpPr>
        <p:spPr>
          <a:xfrm>
            <a:off x="2752344" y="3310128"/>
            <a:ext cx="27432" cy="548640"/>
          </a:xfrm>
          <a:prstGeom prst="rect">
            <a:avLst/>
          </a:prstGeom>
          <a:solidFill>
            <a:srgbClr val="1A1A1A"/>
          </a:solidFill>
          <a:ln/>
        </p:spPr>
      </p:sp>
      <p:sp>
        <p:nvSpPr>
          <p:cNvPr id="41" name="Text 39"/>
          <p:cNvSpPr/>
          <p:nvPr/>
        </p:nvSpPr>
        <p:spPr>
          <a:xfrm>
            <a:off x="2898648" y="3383280"/>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Enduring</a:t>
            </a:r>
            <a:endParaRPr lang="en-US" sz="1140" dirty="0"/>
          </a:p>
        </p:txBody>
      </p:sp>
      <p:sp>
        <p:nvSpPr>
          <p:cNvPr id="42" name="Text 40"/>
          <p:cNvSpPr/>
          <p:nvPr/>
        </p:nvSpPr>
        <p:spPr>
          <a:xfrm>
            <a:off x="2898648" y="3602736"/>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old</a:t>
            </a:r>
            <a:endParaRPr lang="en-US" sz="820" dirty="0"/>
          </a:p>
        </p:txBody>
      </p:sp>
      <p:sp>
        <p:nvSpPr>
          <p:cNvPr id="43" name="Shape 41"/>
          <p:cNvSpPr/>
          <p:nvPr/>
        </p:nvSpPr>
        <p:spPr>
          <a:xfrm>
            <a:off x="4937760" y="3310128"/>
            <a:ext cx="2057400" cy="548640"/>
          </a:xfrm>
          <a:prstGeom prst="rect">
            <a:avLst/>
          </a:prstGeom>
          <a:solidFill>
            <a:srgbClr val="FFFFFF"/>
          </a:solidFill>
          <a:ln w="12700">
            <a:solidFill>
              <a:srgbClr val="D2D2D2"/>
            </a:solidFill>
            <a:prstDash val="solid"/>
          </a:ln>
        </p:spPr>
      </p:sp>
      <p:sp>
        <p:nvSpPr>
          <p:cNvPr id="44" name="Shape 42"/>
          <p:cNvSpPr/>
          <p:nvPr/>
        </p:nvSpPr>
        <p:spPr>
          <a:xfrm>
            <a:off x="4937760" y="3310128"/>
            <a:ext cx="27432" cy="548640"/>
          </a:xfrm>
          <a:prstGeom prst="rect">
            <a:avLst/>
          </a:prstGeom>
          <a:solidFill>
            <a:srgbClr val="1A1A1A"/>
          </a:solidFill>
          <a:ln/>
        </p:spPr>
      </p:sp>
      <p:sp>
        <p:nvSpPr>
          <p:cNvPr id="45" name="Text 43"/>
          <p:cNvSpPr/>
          <p:nvPr/>
        </p:nvSpPr>
        <p:spPr>
          <a:xfrm>
            <a:off x="5084064" y="3383280"/>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Technical</a:t>
            </a:r>
            <a:endParaRPr lang="en-US" sz="1140" dirty="0"/>
          </a:p>
        </p:txBody>
      </p:sp>
      <p:sp>
        <p:nvSpPr>
          <p:cNvPr id="46" name="Text 44"/>
          <p:cNvSpPr/>
          <p:nvPr/>
        </p:nvSpPr>
        <p:spPr>
          <a:xfrm>
            <a:off x="5084064" y="3602736"/>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cold</a:t>
            </a:r>
            <a:endParaRPr lang="en-US" sz="820" dirty="0"/>
          </a:p>
        </p:txBody>
      </p:sp>
      <p:sp>
        <p:nvSpPr>
          <p:cNvPr id="47" name="Shape 45"/>
          <p:cNvSpPr/>
          <p:nvPr/>
        </p:nvSpPr>
        <p:spPr>
          <a:xfrm>
            <a:off x="566928" y="3968496"/>
            <a:ext cx="2057400" cy="548640"/>
          </a:xfrm>
          <a:prstGeom prst="rect">
            <a:avLst/>
          </a:prstGeom>
          <a:solidFill>
            <a:srgbClr val="FFFFFF"/>
          </a:solidFill>
          <a:ln w="12700">
            <a:solidFill>
              <a:srgbClr val="D2D2D2"/>
            </a:solidFill>
            <a:prstDash val="solid"/>
          </a:ln>
        </p:spPr>
      </p:sp>
      <p:sp>
        <p:nvSpPr>
          <p:cNvPr id="48" name="Shape 46"/>
          <p:cNvSpPr/>
          <p:nvPr/>
        </p:nvSpPr>
        <p:spPr>
          <a:xfrm>
            <a:off x="566928" y="3968496"/>
            <a:ext cx="27432" cy="548640"/>
          </a:xfrm>
          <a:prstGeom prst="rect">
            <a:avLst/>
          </a:prstGeom>
          <a:solidFill>
            <a:srgbClr val="1A1A1A"/>
          </a:solidFill>
          <a:ln/>
        </p:spPr>
      </p:sp>
      <p:sp>
        <p:nvSpPr>
          <p:cNvPr id="49" name="Text 47"/>
          <p:cNvSpPr/>
          <p:nvPr/>
        </p:nvSpPr>
        <p:spPr>
          <a:xfrm>
            <a:off x="713232" y="4041648"/>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Operational</a:t>
            </a:r>
            <a:endParaRPr lang="en-US" sz="1140" dirty="0"/>
          </a:p>
        </p:txBody>
      </p:sp>
      <p:sp>
        <p:nvSpPr>
          <p:cNvPr id="50" name="Text 48"/>
          <p:cNvSpPr/>
          <p:nvPr/>
        </p:nvSpPr>
        <p:spPr>
          <a:xfrm>
            <a:off x="713232" y="4261104"/>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tactical in styling</a:t>
            </a:r>
            <a:endParaRPr lang="en-US" sz="820" dirty="0"/>
          </a:p>
        </p:txBody>
      </p:sp>
      <p:sp>
        <p:nvSpPr>
          <p:cNvPr id="51" name="Shape 49"/>
          <p:cNvSpPr/>
          <p:nvPr/>
        </p:nvSpPr>
        <p:spPr>
          <a:xfrm>
            <a:off x="2752344" y="3968496"/>
            <a:ext cx="2057400" cy="548640"/>
          </a:xfrm>
          <a:prstGeom prst="rect">
            <a:avLst/>
          </a:prstGeom>
          <a:solidFill>
            <a:srgbClr val="FFFFFF"/>
          </a:solidFill>
          <a:ln w="12700">
            <a:solidFill>
              <a:srgbClr val="D2D2D2"/>
            </a:solidFill>
            <a:prstDash val="solid"/>
          </a:ln>
        </p:spPr>
      </p:sp>
      <p:sp>
        <p:nvSpPr>
          <p:cNvPr id="52" name="Shape 50"/>
          <p:cNvSpPr/>
          <p:nvPr/>
        </p:nvSpPr>
        <p:spPr>
          <a:xfrm>
            <a:off x="2752344" y="3968496"/>
            <a:ext cx="27432" cy="548640"/>
          </a:xfrm>
          <a:prstGeom prst="rect">
            <a:avLst/>
          </a:prstGeom>
          <a:solidFill>
            <a:srgbClr val="1A1A1A"/>
          </a:solidFill>
          <a:ln/>
        </p:spPr>
      </p:sp>
      <p:sp>
        <p:nvSpPr>
          <p:cNvPr id="53" name="Text 51"/>
          <p:cNvSpPr/>
          <p:nvPr/>
        </p:nvSpPr>
        <p:spPr>
          <a:xfrm>
            <a:off x="2898648" y="4041648"/>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Adaptive</a:t>
            </a:r>
            <a:endParaRPr lang="en-US" sz="1140" dirty="0"/>
          </a:p>
        </p:txBody>
      </p:sp>
      <p:sp>
        <p:nvSpPr>
          <p:cNvPr id="54" name="Text 52"/>
          <p:cNvSpPr/>
          <p:nvPr/>
        </p:nvSpPr>
        <p:spPr>
          <a:xfrm>
            <a:off x="2898648" y="4261104"/>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fashionable</a:t>
            </a:r>
            <a:endParaRPr lang="en-US" sz="820" dirty="0"/>
          </a:p>
        </p:txBody>
      </p:sp>
      <p:sp>
        <p:nvSpPr>
          <p:cNvPr id="55" name="Shape 53"/>
          <p:cNvSpPr/>
          <p:nvPr/>
        </p:nvSpPr>
        <p:spPr>
          <a:xfrm>
            <a:off x="4937760" y="3968496"/>
            <a:ext cx="2057400" cy="548640"/>
          </a:xfrm>
          <a:prstGeom prst="rect">
            <a:avLst/>
          </a:prstGeom>
          <a:solidFill>
            <a:srgbClr val="FFFFFF"/>
          </a:solidFill>
          <a:ln w="12700">
            <a:solidFill>
              <a:srgbClr val="D2D2D2"/>
            </a:solidFill>
            <a:prstDash val="solid"/>
          </a:ln>
        </p:spPr>
      </p:sp>
      <p:sp>
        <p:nvSpPr>
          <p:cNvPr id="56" name="Shape 54"/>
          <p:cNvSpPr/>
          <p:nvPr/>
        </p:nvSpPr>
        <p:spPr>
          <a:xfrm>
            <a:off x="4937760" y="3968496"/>
            <a:ext cx="27432" cy="548640"/>
          </a:xfrm>
          <a:prstGeom prst="rect">
            <a:avLst/>
          </a:prstGeom>
          <a:solidFill>
            <a:srgbClr val="1A1A1A"/>
          </a:solidFill>
          <a:ln/>
        </p:spPr>
      </p:sp>
      <p:sp>
        <p:nvSpPr>
          <p:cNvPr id="57" name="Text 55"/>
          <p:cNvSpPr/>
          <p:nvPr/>
        </p:nvSpPr>
        <p:spPr>
          <a:xfrm>
            <a:off x="5084064" y="4041648"/>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Human</a:t>
            </a:r>
            <a:endParaRPr lang="en-US" sz="1140" dirty="0"/>
          </a:p>
        </p:txBody>
      </p:sp>
      <p:sp>
        <p:nvSpPr>
          <p:cNvPr id="58" name="Text 56"/>
          <p:cNvSpPr/>
          <p:nvPr/>
        </p:nvSpPr>
        <p:spPr>
          <a:xfrm>
            <a:off x="5084064" y="4261104"/>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warm</a:t>
            </a:r>
            <a:endParaRPr lang="en-US" sz="820" dirty="0"/>
          </a:p>
        </p:txBody>
      </p:sp>
      <p:sp>
        <p:nvSpPr>
          <p:cNvPr id="59" name="Shape 57"/>
          <p:cNvSpPr/>
          <p:nvPr/>
        </p:nvSpPr>
        <p:spPr>
          <a:xfrm>
            <a:off x="566928" y="4626864"/>
            <a:ext cx="2057400" cy="548640"/>
          </a:xfrm>
          <a:prstGeom prst="rect">
            <a:avLst/>
          </a:prstGeom>
          <a:solidFill>
            <a:srgbClr val="FFFFFF"/>
          </a:solidFill>
          <a:ln w="12700">
            <a:solidFill>
              <a:srgbClr val="D2D2D2"/>
            </a:solidFill>
            <a:prstDash val="solid"/>
          </a:ln>
        </p:spPr>
      </p:sp>
      <p:sp>
        <p:nvSpPr>
          <p:cNvPr id="60" name="Shape 58"/>
          <p:cNvSpPr/>
          <p:nvPr/>
        </p:nvSpPr>
        <p:spPr>
          <a:xfrm>
            <a:off x="566928" y="4626864"/>
            <a:ext cx="27432" cy="548640"/>
          </a:xfrm>
          <a:prstGeom prst="rect">
            <a:avLst/>
          </a:prstGeom>
          <a:solidFill>
            <a:srgbClr val="1A1A1A"/>
          </a:solidFill>
          <a:ln/>
        </p:spPr>
      </p:sp>
      <p:sp>
        <p:nvSpPr>
          <p:cNvPr id="61" name="Text 59"/>
          <p:cNvSpPr/>
          <p:nvPr/>
        </p:nvSpPr>
        <p:spPr>
          <a:xfrm>
            <a:off x="713232" y="4700016"/>
            <a:ext cx="1783080" cy="219456"/>
          </a:xfrm>
          <a:prstGeom prst="rect">
            <a:avLst/>
          </a:prstGeom>
          <a:noFill/>
          <a:ln/>
        </p:spPr>
        <p:txBody>
          <a:bodyPr wrap="square" lIns="0" tIns="0" rIns="0" bIns="0" rtlCol="0" anchor="ctr"/>
          <a:lstStyle/>
          <a:p>
            <a:pPr algn="l" indent="0" marL="0">
              <a:buNone/>
            </a:pPr>
            <a:r>
              <a:rPr lang="en-US" sz="1140" b="1" dirty="0">
                <a:solidFill>
                  <a:srgbClr val="1A1A1A"/>
                </a:solidFill>
                <a:latin typeface="Arial" pitchFamily="34" charset="0"/>
                <a:ea typeface="Arial" pitchFamily="34" charset="-122"/>
                <a:cs typeface="Arial" pitchFamily="34" charset="-120"/>
              </a:rPr>
              <a:t>Unshowy</a:t>
            </a:r>
            <a:endParaRPr lang="en-US" sz="1140" dirty="0"/>
          </a:p>
        </p:txBody>
      </p:sp>
      <p:sp>
        <p:nvSpPr>
          <p:cNvPr id="62" name="Text 60"/>
          <p:cNvSpPr/>
          <p:nvPr/>
        </p:nvSpPr>
        <p:spPr>
          <a:xfrm>
            <a:off x="713232" y="4919472"/>
            <a:ext cx="1783080" cy="182880"/>
          </a:xfrm>
          <a:prstGeom prst="rect">
            <a:avLst/>
          </a:prstGeom>
          <a:noFill/>
          <a:ln/>
        </p:spPr>
        <p:txBody>
          <a:bodyPr wrap="square" lIns="0" tIns="0" rIns="0" bIns="0" rtlCol="0" anchor="ctr"/>
          <a:lstStyle/>
          <a:p>
            <a:pPr algn="l" indent="0" marL="0">
              <a:buNone/>
            </a:pPr>
            <a:r>
              <a:rPr lang="en-US" sz="820" i="1" dirty="0">
                <a:solidFill>
                  <a:srgbClr val="D31145"/>
                </a:solidFill>
                <a:latin typeface="Arial" pitchFamily="34" charset="0"/>
                <a:ea typeface="Arial" pitchFamily="34" charset="-122"/>
                <a:cs typeface="Arial" pitchFamily="34" charset="-120"/>
              </a:rPr>
              <a:t>not plain</a:t>
            </a:r>
            <a:endParaRPr lang="en-US" sz="820" dirty="0"/>
          </a:p>
        </p:txBody>
      </p:sp>
      <p:sp>
        <p:nvSpPr>
          <p:cNvPr id="63" name="Text 61"/>
          <p:cNvSpPr/>
          <p:nvPr/>
        </p:nvSpPr>
        <p:spPr>
          <a:xfrm>
            <a:off x="566928" y="5376672"/>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TEST</a:t>
            </a:r>
            <a:endParaRPr lang="en-US" sz="740" dirty="0"/>
          </a:p>
        </p:txBody>
      </p:sp>
      <p:sp>
        <p:nvSpPr>
          <p:cNvPr id="64" name="Shape 62"/>
          <p:cNvSpPr/>
          <p:nvPr/>
        </p:nvSpPr>
        <p:spPr>
          <a:xfrm>
            <a:off x="566928" y="5559552"/>
            <a:ext cx="6428232" cy="7315"/>
          </a:xfrm>
          <a:prstGeom prst="rect">
            <a:avLst/>
          </a:prstGeom>
          <a:solidFill>
            <a:srgbClr val="D2D2D2"/>
          </a:solidFill>
          <a:ln/>
        </p:spPr>
      </p:sp>
      <p:sp>
        <p:nvSpPr>
          <p:cNvPr id="65" name="Shape 63"/>
          <p:cNvSpPr/>
          <p:nvPr/>
        </p:nvSpPr>
        <p:spPr>
          <a:xfrm>
            <a:off x="566928" y="5669280"/>
            <a:ext cx="6428232" cy="1371600"/>
          </a:xfrm>
          <a:prstGeom prst="rect">
            <a:avLst/>
          </a:prstGeom>
          <a:solidFill>
            <a:srgbClr val="1A1A1A"/>
          </a:solidFill>
          <a:ln/>
        </p:spPr>
      </p:sp>
      <p:sp>
        <p:nvSpPr>
          <p:cNvPr id="66" name="Text 64"/>
          <p:cNvSpPr/>
          <p:nvPr/>
        </p:nvSpPr>
        <p:spPr>
          <a:xfrm>
            <a:off x="841248" y="5888736"/>
            <a:ext cx="5879592" cy="640080"/>
          </a:xfrm>
          <a:prstGeom prst="rect">
            <a:avLst/>
          </a:prstGeom>
          <a:noFill/>
          <a:ln/>
        </p:spPr>
        <p:txBody>
          <a:bodyPr wrap="square" lIns="0" tIns="0" rIns="0" bIns="0" rtlCol="0" anchor="t"/>
          <a:lstStyle/>
          <a:p>
            <a:pPr algn="l" indent="0" marL="0">
              <a:lnSpc>
                <a:spcPct val="125000"/>
              </a:lnSpc>
              <a:buNone/>
            </a:pPr>
            <a:r>
              <a:rPr lang="en-US" sz="1300" b="1" dirty="0">
                <a:solidFill>
                  <a:srgbClr val="FFFFFF"/>
                </a:solidFill>
                <a:latin typeface="Arial" pitchFamily="34" charset="0"/>
                <a:ea typeface="Arial" pitchFamily="34" charset="-122"/>
                <a:cs typeface="Arial" pitchFamily="34" charset="-120"/>
              </a:rPr>
              <a:t>If an artefact could be mistaken for recruitment material, fitness branding, or a</a:t>
            </a:r>
            <a:endParaRPr lang="en-US" sz="1300" dirty="0"/>
          </a:p>
          <a:p>
            <a:pPr algn="l" indent="0" marL="0">
              <a:lnSpc>
                <a:spcPct val="125000"/>
              </a:lnSpc>
              <a:buNone/>
            </a:pPr>
            <a:r>
              <a:rPr lang="en-US" sz="1300" b="1" dirty="0">
                <a:solidFill>
                  <a:srgbClr val="FFFFFF"/>
                </a:solidFill>
                <a:latin typeface="Arial" pitchFamily="34" charset="0"/>
                <a:ea typeface="Arial" pitchFamily="34" charset="-122"/>
                <a:cs typeface="Arial" pitchFamily="34" charset="-120"/>
              </a:rPr>
              <a:t>commercial resilience product, it has failed. If it could be mistaken for a well made</a:t>
            </a:r>
            <a:endParaRPr lang="en-US" sz="1300" dirty="0"/>
          </a:p>
          <a:p>
            <a:pPr algn="l" indent="0" marL="0">
              <a:lnSpc>
                <a:spcPct val="125000"/>
              </a:lnSpc>
              <a:buNone/>
            </a:pPr>
            <a:r>
              <a:rPr lang="en-US" sz="1300" b="1" dirty="0">
                <a:solidFill>
                  <a:srgbClr val="FFFFFF"/>
                </a:solidFill>
                <a:latin typeface="Arial" pitchFamily="34" charset="0"/>
                <a:ea typeface="Arial" pitchFamily="34" charset="-122"/>
                <a:cs typeface="Arial" pitchFamily="34" charset="-120"/>
              </a:rPr>
              <a:t>doctrine publication, it has succeeded.</a:t>
            </a:r>
            <a:endParaRPr lang="en-US" sz="1300" dirty="0"/>
          </a:p>
        </p:txBody>
      </p:sp>
      <p:sp>
        <p:nvSpPr>
          <p:cNvPr id="67" name="Text 65"/>
          <p:cNvSpPr/>
          <p:nvPr/>
        </p:nvSpPr>
        <p:spPr>
          <a:xfrm>
            <a:off x="841248" y="6638544"/>
            <a:ext cx="5879592" cy="310896"/>
          </a:xfrm>
          <a:prstGeom prst="rect">
            <a:avLst/>
          </a:prstGeom>
          <a:noFill/>
          <a:ln/>
        </p:spPr>
        <p:txBody>
          <a:bodyPr wrap="square" lIns="0" tIns="0" rIns="0" bIns="0" rtlCol="0" anchor="t"/>
          <a:lstStyle/>
          <a:p>
            <a:pPr algn="l" indent="0" marL="0">
              <a:lnSpc>
                <a:spcPct val="115000"/>
              </a:lnSpc>
              <a:buNone/>
            </a:pPr>
            <a:r>
              <a:rPr lang="en-US" sz="860" dirty="0">
                <a:solidFill>
                  <a:srgbClr val="B4B4B4"/>
                </a:solidFill>
                <a:latin typeface="Arial" pitchFamily="34" charset="0"/>
                <a:ea typeface="Arial" pitchFamily="34" charset="-122"/>
                <a:cs typeface="Arial" pitchFamily="34" charset="-120"/>
              </a:rPr>
              <a:t>This is a deliberately low ceiling on expressiveness. It is the correct ceiling for a system that has to survive twenty years and four changes of sponsor.</a:t>
            </a:r>
            <a:endParaRPr lang="en-US" sz="8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PRINCIPLES</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06</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Visual principles</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Seven principles. Each is written so that a non-designer can apply it and a designer can be held to it.</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0078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DESIGN LANGUAGE</a:t>
            </a:r>
            <a:endParaRPr lang="en-US" sz="740" dirty="0"/>
          </a:p>
        </p:txBody>
      </p:sp>
      <p:sp>
        <p:nvSpPr>
          <p:cNvPr id="10" name="Shape 8"/>
          <p:cNvSpPr/>
          <p:nvPr/>
        </p:nvSpPr>
        <p:spPr>
          <a:xfrm>
            <a:off x="566928" y="1883664"/>
            <a:ext cx="6428232" cy="7315"/>
          </a:xfrm>
          <a:prstGeom prst="rect">
            <a:avLst/>
          </a:prstGeom>
          <a:solidFill>
            <a:srgbClr val="D2D2D2"/>
          </a:solidFill>
          <a:ln/>
        </p:spPr>
      </p:sp>
      <p:sp>
        <p:nvSpPr>
          <p:cNvPr id="11" name="Text 9"/>
          <p:cNvSpPr/>
          <p:nvPr/>
        </p:nvSpPr>
        <p:spPr>
          <a:xfrm>
            <a:off x="566928" y="1993392"/>
            <a:ext cx="329184" cy="201168"/>
          </a:xfrm>
          <a:prstGeom prst="rect">
            <a:avLst/>
          </a:prstGeom>
          <a:noFill/>
          <a:ln/>
        </p:spPr>
        <p:txBody>
          <a:bodyPr wrap="square" lIns="0" tIns="0" rIns="0" bIns="0" rtlCol="0" anchor="ctr"/>
          <a:lstStyle/>
          <a:p>
            <a:pPr algn="l" indent="0" marL="0">
              <a:buNone/>
            </a:pPr>
            <a:r>
              <a:rPr lang="en-US" sz="860" b="1" dirty="0">
                <a:solidFill>
                  <a:srgbClr val="D31145"/>
                </a:solidFill>
                <a:latin typeface="Arial" pitchFamily="34" charset="0"/>
                <a:ea typeface="Arial" pitchFamily="34" charset="-122"/>
                <a:cs typeface="Arial" pitchFamily="34" charset="-120"/>
              </a:rPr>
              <a:t>01</a:t>
            </a:r>
            <a:endParaRPr lang="en-US" sz="860" dirty="0"/>
          </a:p>
        </p:txBody>
      </p:sp>
      <p:sp>
        <p:nvSpPr>
          <p:cNvPr id="12" name="Text 10"/>
          <p:cNvSpPr/>
          <p:nvPr/>
        </p:nvSpPr>
        <p:spPr>
          <a:xfrm>
            <a:off x="932688" y="1993392"/>
            <a:ext cx="4873752" cy="201168"/>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Everything is measured against a line.</a:t>
            </a:r>
            <a:endParaRPr lang="en-US" sz="1040" dirty="0"/>
          </a:p>
        </p:txBody>
      </p:sp>
      <p:sp>
        <p:nvSpPr>
          <p:cNvPr id="13" name="Text 11"/>
          <p:cNvSpPr/>
          <p:nvPr/>
        </p:nvSpPr>
        <p:spPr>
          <a:xfrm>
            <a:off x="5623560" y="1993392"/>
            <a:ext cx="1371600" cy="201168"/>
          </a:xfrm>
          <a:prstGeom prst="rect">
            <a:avLst/>
          </a:prstGeom>
          <a:noFill/>
          <a:ln/>
        </p:spPr>
        <p:txBody>
          <a:bodyPr wrap="square" lIns="0" tIns="0" rIns="0" bIns="0" rtlCol="0" anchor="ctr"/>
          <a:lstStyle/>
          <a:p>
            <a:pPr algn="r" indent="0" marL="0">
              <a:buNone/>
            </a:pPr>
            <a:r>
              <a:rPr lang="en-US" sz="700" b="1" spc="120" kern="0" dirty="0">
                <a:solidFill>
                  <a:srgbClr val="6E6E6E"/>
                </a:solidFill>
                <a:latin typeface="Arial" pitchFamily="34" charset="0"/>
                <a:ea typeface="Arial" pitchFamily="34" charset="-122"/>
                <a:cs typeface="Arial" pitchFamily="34" charset="-120"/>
              </a:rPr>
              <a:t>DATUM</a:t>
            </a:r>
            <a:endParaRPr lang="en-US" sz="700" dirty="0"/>
          </a:p>
        </p:txBody>
      </p:sp>
      <p:sp>
        <p:nvSpPr>
          <p:cNvPr id="14" name="Text 12"/>
          <p:cNvSpPr/>
          <p:nvPr/>
        </p:nvSpPr>
        <p:spPr>
          <a:xfrm>
            <a:off x="932688" y="2203704"/>
            <a:ext cx="5879592" cy="51206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A single horizontal reference governs each surface. Elements align to it, hang from it or sit on it. Nothing floats. This is the structural expression of the framework's own subject: a standard held under load.</a:t>
            </a:r>
            <a:endParaRPr lang="en-US" sz="880" dirty="0"/>
          </a:p>
        </p:txBody>
      </p:sp>
      <p:sp>
        <p:nvSpPr>
          <p:cNvPr id="15" name="Text 13"/>
          <p:cNvSpPr/>
          <p:nvPr/>
        </p:nvSpPr>
        <p:spPr>
          <a:xfrm>
            <a:off x="566928" y="2871216"/>
            <a:ext cx="329184" cy="201168"/>
          </a:xfrm>
          <a:prstGeom prst="rect">
            <a:avLst/>
          </a:prstGeom>
          <a:noFill/>
          <a:ln/>
        </p:spPr>
        <p:txBody>
          <a:bodyPr wrap="square" lIns="0" tIns="0" rIns="0" bIns="0" rtlCol="0" anchor="ctr"/>
          <a:lstStyle/>
          <a:p>
            <a:pPr algn="l" indent="0" marL="0">
              <a:buNone/>
            </a:pPr>
            <a:r>
              <a:rPr lang="en-US" sz="860" b="1" dirty="0">
                <a:solidFill>
                  <a:srgbClr val="D31145"/>
                </a:solidFill>
                <a:latin typeface="Arial" pitchFamily="34" charset="0"/>
                <a:ea typeface="Arial" pitchFamily="34" charset="-122"/>
                <a:cs typeface="Arial" pitchFamily="34" charset="-120"/>
              </a:rPr>
              <a:t>02</a:t>
            </a:r>
            <a:endParaRPr lang="en-US" sz="860" dirty="0"/>
          </a:p>
        </p:txBody>
      </p:sp>
      <p:sp>
        <p:nvSpPr>
          <p:cNvPr id="16" name="Text 14"/>
          <p:cNvSpPr/>
          <p:nvPr/>
        </p:nvSpPr>
        <p:spPr>
          <a:xfrm>
            <a:off x="932688" y="2871216"/>
            <a:ext cx="4873752" cy="201168"/>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Structure is visible.</a:t>
            </a:r>
            <a:endParaRPr lang="en-US" sz="1040" dirty="0"/>
          </a:p>
        </p:txBody>
      </p:sp>
      <p:sp>
        <p:nvSpPr>
          <p:cNvPr id="17" name="Text 15"/>
          <p:cNvSpPr/>
          <p:nvPr/>
        </p:nvSpPr>
        <p:spPr>
          <a:xfrm>
            <a:off x="5623560" y="2871216"/>
            <a:ext cx="1371600" cy="201168"/>
          </a:xfrm>
          <a:prstGeom prst="rect">
            <a:avLst/>
          </a:prstGeom>
          <a:noFill/>
          <a:ln/>
        </p:spPr>
        <p:txBody>
          <a:bodyPr wrap="square" lIns="0" tIns="0" rIns="0" bIns="0" rtlCol="0" anchor="ctr"/>
          <a:lstStyle/>
          <a:p>
            <a:pPr algn="r" indent="0" marL="0">
              <a:buNone/>
            </a:pPr>
            <a:r>
              <a:rPr lang="en-US" sz="700" b="1" spc="120" kern="0" dirty="0">
                <a:solidFill>
                  <a:srgbClr val="6E6E6E"/>
                </a:solidFill>
                <a:latin typeface="Arial" pitchFamily="34" charset="0"/>
                <a:ea typeface="Arial" pitchFamily="34" charset="-122"/>
                <a:cs typeface="Arial" pitchFamily="34" charset="-120"/>
              </a:rPr>
              <a:t>LEGIBLE CONSTRUCTION</a:t>
            </a:r>
            <a:endParaRPr lang="en-US" sz="700" dirty="0"/>
          </a:p>
        </p:txBody>
      </p:sp>
      <p:sp>
        <p:nvSpPr>
          <p:cNvPr id="18" name="Text 16"/>
          <p:cNvSpPr/>
          <p:nvPr/>
        </p:nvSpPr>
        <p:spPr>
          <a:xfrm>
            <a:off x="932688" y="3081528"/>
            <a:ext cx="5879592" cy="51206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Rules, columns and registers are shown rather than concealed. The reader can see how the page was built, which is the visual equivalent of showing method.</a:t>
            </a:r>
            <a:endParaRPr lang="en-US" sz="880" dirty="0"/>
          </a:p>
        </p:txBody>
      </p:sp>
      <p:sp>
        <p:nvSpPr>
          <p:cNvPr id="19" name="Text 17"/>
          <p:cNvSpPr/>
          <p:nvPr/>
        </p:nvSpPr>
        <p:spPr>
          <a:xfrm>
            <a:off x="566928" y="3749040"/>
            <a:ext cx="329184" cy="201168"/>
          </a:xfrm>
          <a:prstGeom prst="rect">
            <a:avLst/>
          </a:prstGeom>
          <a:noFill/>
          <a:ln/>
        </p:spPr>
        <p:txBody>
          <a:bodyPr wrap="square" lIns="0" tIns="0" rIns="0" bIns="0" rtlCol="0" anchor="ctr"/>
          <a:lstStyle/>
          <a:p>
            <a:pPr algn="l" indent="0" marL="0">
              <a:buNone/>
            </a:pPr>
            <a:r>
              <a:rPr lang="en-US" sz="860" b="1" dirty="0">
                <a:solidFill>
                  <a:srgbClr val="D31145"/>
                </a:solidFill>
                <a:latin typeface="Arial" pitchFamily="34" charset="0"/>
                <a:ea typeface="Arial" pitchFamily="34" charset="-122"/>
                <a:cs typeface="Arial" pitchFamily="34" charset="-120"/>
              </a:rPr>
              <a:t>03</a:t>
            </a:r>
            <a:endParaRPr lang="en-US" sz="860" dirty="0"/>
          </a:p>
        </p:txBody>
      </p:sp>
      <p:sp>
        <p:nvSpPr>
          <p:cNvPr id="20" name="Text 18"/>
          <p:cNvSpPr/>
          <p:nvPr/>
        </p:nvSpPr>
        <p:spPr>
          <a:xfrm>
            <a:off x="932688" y="3749040"/>
            <a:ext cx="4873752" cy="201168"/>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Contrast carries hierarchy, not colour.</a:t>
            </a:r>
            <a:endParaRPr lang="en-US" sz="1040" dirty="0"/>
          </a:p>
        </p:txBody>
      </p:sp>
      <p:sp>
        <p:nvSpPr>
          <p:cNvPr id="21" name="Text 19"/>
          <p:cNvSpPr/>
          <p:nvPr/>
        </p:nvSpPr>
        <p:spPr>
          <a:xfrm>
            <a:off x="5623560" y="3749040"/>
            <a:ext cx="1371600" cy="201168"/>
          </a:xfrm>
          <a:prstGeom prst="rect">
            <a:avLst/>
          </a:prstGeom>
          <a:noFill/>
          <a:ln/>
        </p:spPr>
        <p:txBody>
          <a:bodyPr wrap="square" lIns="0" tIns="0" rIns="0" bIns="0" rtlCol="0" anchor="ctr"/>
          <a:lstStyle/>
          <a:p>
            <a:pPr algn="r" indent="0" marL="0">
              <a:buNone/>
            </a:pPr>
            <a:r>
              <a:rPr lang="en-US" sz="700" b="1" spc="120" kern="0" dirty="0">
                <a:solidFill>
                  <a:srgbClr val="6E6E6E"/>
                </a:solidFill>
                <a:latin typeface="Arial" pitchFamily="34" charset="0"/>
                <a:ea typeface="Arial" pitchFamily="34" charset="-122"/>
                <a:cs typeface="Arial" pitchFamily="34" charset="-120"/>
              </a:rPr>
              <a:t>HIGH CONTRAST</a:t>
            </a:r>
            <a:endParaRPr lang="en-US" sz="700" dirty="0"/>
          </a:p>
        </p:txBody>
      </p:sp>
      <p:sp>
        <p:nvSpPr>
          <p:cNvPr id="22" name="Text 20"/>
          <p:cNvSpPr/>
          <p:nvPr/>
        </p:nvSpPr>
        <p:spPr>
          <a:xfrm>
            <a:off x="932688" y="3959352"/>
            <a:ext cx="5879592" cy="51206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Black on white, at real weight differences. Colour classifies content; it never ranks it. A page printed on a unit's mono printer must lose nothing.</a:t>
            </a:r>
            <a:endParaRPr lang="en-US" sz="880" dirty="0"/>
          </a:p>
        </p:txBody>
      </p:sp>
      <p:sp>
        <p:nvSpPr>
          <p:cNvPr id="23" name="Text 21"/>
          <p:cNvSpPr/>
          <p:nvPr/>
        </p:nvSpPr>
        <p:spPr>
          <a:xfrm>
            <a:off x="566928" y="4626864"/>
            <a:ext cx="329184" cy="201168"/>
          </a:xfrm>
          <a:prstGeom prst="rect">
            <a:avLst/>
          </a:prstGeom>
          <a:noFill/>
          <a:ln/>
        </p:spPr>
        <p:txBody>
          <a:bodyPr wrap="square" lIns="0" tIns="0" rIns="0" bIns="0" rtlCol="0" anchor="ctr"/>
          <a:lstStyle/>
          <a:p>
            <a:pPr algn="l" indent="0" marL="0">
              <a:buNone/>
            </a:pPr>
            <a:r>
              <a:rPr lang="en-US" sz="860" b="1" dirty="0">
                <a:solidFill>
                  <a:srgbClr val="D31145"/>
                </a:solidFill>
                <a:latin typeface="Arial" pitchFamily="34" charset="0"/>
                <a:ea typeface="Arial" pitchFamily="34" charset="-122"/>
                <a:cs typeface="Arial" pitchFamily="34" charset="-120"/>
              </a:rPr>
              <a:t>04</a:t>
            </a:r>
            <a:endParaRPr lang="en-US" sz="860" dirty="0"/>
          </a:p>
        </p:txBody>
      </p:sp>
      <p:sp>
        <p:nvSpPr>
          <p:cNvPr id="24" name="Text 22"/>
          <p:cNvSpPr/>
          <p:nvPr/>
        </p:nvSpPr>
        <p:spPr>
          <a:xfrm>
            <a:off x="932688" y="4626864"/>
            <a:ext cx="4873752" cy="201168"/>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Space is a material, not a leftover.</a:t>
            </a:r>
            <a:endParaRPr lang="en-US" sz="1040" dirty="0"/>
          </a:p>
        </p:txBody>
      </p:sp>
      <p:sp>
        <p:nvSpPr>
          <p:cNvPr id="25" name="Text 23"/>
          <p:cNvSpPr/>
          <p:nvPr/>
        </p:nvSpPr>
        <p:spPr>
          <a:xfrm>
            <a:off x="5623560" y="4626864"/>
            <a:ext cx="1371600" cy="201168"/>
          </a:xfrm>
          <a:prstGeom prst="rect">
            <a:avLst/>
          </a:prstGeom>
          <a:noFill/>
          <a:ln/>
        </p:spPr>
        <p:txBody>
          <a:bodyPr wrap="square" lIns="0" tIns="0" rIns="0" bIns="0" rtlCol="0" anchor="ctr"/>
          <a:lstStyle/>
          <a:p>
            <a:pPr algn="r" indent="0" marL="0">
              <a:buNone/>
            </a:pPr>
            <a:r>
              <a:rPr lang="en-US" sz="700" b="1" spc="120" kern="0" dirty="0">
                <a:solidFill>
                  <a:srgbClr val="6E6E6E"/>
                </a:solidFill>
                <a:latin typeface="Arial" pitchFamily="34" charset="0"/>
                <a:ea typeface="Arial" pitchFamily="34" charset="-122"/>
                <a:cs typeface="Arial" pitchFamily="34" charset="-120"/>
              </a:rPr>
              <a:t>MEASURED</a:t>
            </a:r>
            <a:endParaRPr lang="en-US" sz="700" dirty="0"/>
          </a:p>
        </p:txBody>
      </p:sp>
      <p:sp>
        <p:nvSpPr>
          <p:cNvPr id="26" name="Text 24"/>
          <p:cNvSpPr/>
          <p:nvPr/>
        </p:nvSpPr>
        <p:spPr>
          <a:xfrm>
            <a:off x="932688" y="4837176"/>
            <a:ext cx="5879592" cy="51206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Generous, consistent intervals. Density is reserved for texture and never applied to text. Crowding reads as haste, and haste is the opposite of what the framework teaches.</a:t>
            </a:r>
            <a:endParaRPr lang="en-US" sz="880" dirty="0"/>
          </a:p>
        </p:txBody>
      </p:sp>
      <p:sp>
        <p:nvSpPr>
          <p:cNvPr id="27" name="Text 25"/>
          <p:cNvSpPr/>
          <p:nvPr/>
        </p:nvSpPr>
        <p:spPr>
          <a:xfrm>
            <a:off x="566928" y="5504688"/>
            <a:ext cx="329184" cy="201168"/>
          </a:xfrm>
          <a:prstGeom prst="rect">
            <a:avLst/>
          </a:prstGeom>
          <a:noFill/>
          <a:ln/>
        </p:spPr>
        <p:txBody>
          <a:bodyPr wrap="square" lIns="0" tIns="0" rIns="0" bIns="0" rtlCol="0" anchor="ctr"/>
          <a:lstStyle/>
          <a:p>
            <a:pPr algn="l" indent="0" marL="0">
              <a:buNone/>
            </a:pPr>
            <a:r>
              <a:rPr lang="en-US" sz="860" b="1" dirty="0">
                <a:solidFill>
                  <a:srgbClr val="D31145"/>
                </a:solidFill>
                <a:latin typeface="Arial" pitchFamily="34" charset="0"/>
                <a:ea typeface="Arial" pitchFamily="34" charset="-122"/>
                <a:cs typeface="Arial" pitchFamily="34" charset="-120"/>
              </a:rPr>
              <a:t>05</a:t>
            </a:r>
            <a:endParaRPr lang="en-US" sz="860" dirty="0"/>
          </a:p>
        </p:txBody>
      </p:sp>
      <p:sp>
        <p:nvSpPr>
          <p:cNvPr id="28" name="Text 26"/>
          <p:cNvSpPr/>
          <p:nvPr/>
        </p:nvSpPr>
        <p:spPr>
          <a:xfrm>
            <a:off x="932688" y="5504688"/>
            <a:ext cx="4873752" cy="201168"/>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Direction is meaningful.</a:t>
            </a:r>
            <a:endParaRPr lang="en-US" sz="1040" dirty="0"/>
          </a:p>
        </p:txBody>
      </p:sp>
      <p:sp>
        <p:nvSpPr>
          <p:cNvPr id="29" name="Text 27"/>
          <p:cNvSpPr/>
          <p:nvPr/>
        </p:nvSpPr>
        <p:spPr>
          <a:xfrm>
            <a:off x="5623560" y="5504688"/>
            <a:ext cx="1371600" cy="201168"/>
          </a:xfrm>
          <a:prstGeom prst="rect">
            <a:avLst/>
          </a:prstGeom>
          <a:noFill/>
          <a:ln/>
        </p:spPr>
        <p:txBody>
          <a:bodyPr wrap="square" lIns="0" tIns="0" rIns="0" bIns="0" rtlCol="0" anchor="ctr"/>
          <a:lstStyle/>
          <a:p>
            <a:pPr algn="r" indent="0" marL="0">
              <a:buNone/>
            </a:pPr>
            <a:r>
              <a:rPr lang="en-US" sz="700" b="1" spc="120" kern="0" dirty="0">
                <a:solidFill>
                  <a:srgbClr val="6E6E6E"/>
                </a:solidFill>
                <a:latin typeface="Arial" pitchFamily="34" charset="0"/>
                <a:ea typeface="Arial" pitchFamily="34" charset="-122"/>
                <a:cs typeface="Arial" pitchFamily="34" charset="-120"/>
              </a:rPr>
              <a:t>DIRECTIONAL</a:t>
            </a:r>
            <a:endParaRPr lang="en-US" sz="700" dirty="0"/>
          </a:p>
        </p:txBody>
      </p:sp>
      <p:sp>
        <p:nvSpPr>
          <p:cNvPr id="30" name="Text 28"/>
          <p:cNvSpPr/>
          <p:nvPr/>
        </p:nvSpPr>
        <p:spPr>
          <a:xfrm>
            <a:off x="932688" y="5715000"/>
            <a:ext cx="5879592" cy="51206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Movement along the datum means sequence. Departure from the datum means decision. A break in the datum means risk. Direction is never used decoratively.</a:t>
            </a:r>
            <a:endParaRPr lang="en-US" sz="880" dirty="0"/>
          </a:p>
        </p:txBody>
      </p:sp>
      <p:sp>
        <p:nvSpPr>
          <p:cNvPr id="31" name="Text 29"/>
          <p:cNvSpPr/>
          <p:nvPr/>
        </p:nvSpPr>
        <p:spPr>
          <a:xfrm>
            <a:off x="566928" y="6382512"/>
            <a:ext cx="329184" cy="201168"/>
          </a:xfrm>
          <a:prstGeom prst="rect">
            <a:avLst/>
          </a:prstGeom>
          <a:noFill/>
          <a:ln/>
        </p:spPr>
        <p:txBody>
          <a:bodyPr wrap="square" lIns="0" tIns="0" rIns="0" bIns="0" rtlCol="0" anchor="ctr"/>
          <a:lstStyle/>
          <a:p>
            <a:pPr algn="l" indent="0" marL="0">
              <a:buNone/>
            </a:pPr>
            <a:r>
              <a:rPr lang="en-US" sz="860" b="1" dirty="0">
                <a:solidFill>
                  <a:srgbClr val="D31145"/>
                </a:solidFill>
                <a:latin typeface="Arial" pitchFamily="34" charset="0"/>
                <a:ea typeface="Arial" pitchFamily="34" charset="-122"/>
                <a:cs typeface="Arial" pitchFamily="34" charset="-120"/>
              </a:rPr>
              <a:t>06</a:t>
            </a:r>
            <a:endParaRPr lang="en-US" sz="860" dirty="0"/>
          </a:p>
        </p:txBody>
      </p:sp>
      <p:sp>
        <p:nvSpPr>
          <p:cNvPr id="32" name="Text 30"/>
          <p:cNvSpPr/>
          <p:nvPr/>
        </p:nvSpPr>
        <p:spPr>
          <a:xfrm>
            <a:off x="932688" y="6382512"/>
            <a:ext cx="4873752" cy="201168"/>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Complexity resolves.</a:t>
            </a:r>
            <a:endParaRPr lang="en-US" sz="1040" dirty="0"/>
          </a:p>
        </p:txBody>
      </p:sp>
      <p:sp>
        <p:nvSpPr>
          <p:cNvPr id="33" name="Text 31"/>
          <p:cNvSpPr/>
          <p:nvPr/>
        </p:nvSpPr>
        <p:spPr>
          <a:xfrm>
            <a:off x="5623560" y="6382512"/>
            <a:ext cx="1371600" cy="201168"/>
          </a:xfrm>
          <a:prstGeom prst="rect">
            <a:avLst/>
          </a:prstGeom>
          <a:noFill/>
          <a:ln/>
        </p:spPr>
        <p:txBody>
          <a:bodyPr wrap="square" lIns="0" tIns="0" rIns="0" bIns="0" rtlCol="0" anchor="ctr"/>
          <a:lstStyle/>
          <a:p>
            <a:pPr algn="r" indent="0" marL="0">
              <a:buNone/>
            </a:pPr>
            <a:r>
              <a:rPr lang="en-US" sz="700" b="1" spc="120" kern="0" dirty="0">
                <a:solidFill>
                  <a:srgbClr val="6E6E6E"/>
                </a:solidFill>
                <a:latin typeface="Arial" pitchFamily="34" charset="0"/>
                <a:ea typeface="Arial" pitchFamily="34" charset="-122"/>
                <a:cs typeface="Arial" pitchFamily="34" charset="-120"/>
              </a:rPr>
              <a:t>CLARITY FROM COMPLEXITY</a:t>
            </a:r>
            <a:endParaRPr lang="en-US" sz="700" dirty="0"/>
          </a:p>
        </p:txBody>
      </p:sp>
      <p:sp>
        <p:nvSpPr>
          <p:cNvPr id="34" name="Text 32"/>
          <p:cNvSpPr/>
          <p:nvPr/>
        </p:nvSpPr>
        <p:spPr>
          <a:xfrm>
            <a:off x="932688" y="6592824"/>
            <a:ext cx="5879592" cy="51206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Where a field of competing signal is shown, it must resolve into a single clear element. Unresolved complexity is a picture of the problem, not the framework.</a:t>
            </a:r>
            <a:endParaRPr lang="en-US" sz="880" dirty="0"/>
          </a:p>
        </p:txBody>
      </p:sp>
      <p:sp>
        <p:nvSpPr>
          <p:cNvPr id="35" name="Text 33"/>
          <p:cNvSpPr/>
          <p:nvPr/>
        </p:nvSpPr>
        <p:spPr>
          <a:xfrm>
            <a:off x="566928" y="7260336"/>
            <a:ext cx="329184" cy="201168"/>
          </a:xfrm>
          <a:prstGeom prst="rect">
            <a:avLst/>
          </a:prstGeom>
          <a:noFill/>
          <a:ln/>
        </p:spPr>
        <p:txBody>
          <a:bodyPr wrap="square" lIns="0" tIns="0" rIns="0" bIns="0" rtlCol="0" anchor="ctr"/>
          <a:lstStyle/>
          <a:p>
            <a:pPr algn="l" indent="0" marL="0">
              <a:buNone/>
            </a:pPr>
            <a:r>
              <a:rPr lang="en-US" sz="860" b="1" dirty="0">
                <a:solidFill>
                  <a:srgbClr val="D31145"/>
                </a:solidFill>
                <a:latin typeface="Arial" pitchFamily="34" charset="0"/>
                <a:ea typeface="Arial" pitchFamily="34" charset="-122"/>
                <a:cs typeface="Arial" pitchFamily="34" charset="-120"/>
              </a:rPr>
              <a:t>07</a:t>
            </a:r>
            <a:endParaRPr lang="en-US" sz="860" dirty="0"/>
          </a:p>
        </p:txBody>
      </p:sp>
      <p:sp>
        <p:nvSpPr>
          <p:cNvPr id="36" name="Text 34"/>
          <p:cNvSpPr/>
          <p:nvPr/>
        </p:nvSpPr>
        <p:spPr>
          <a:xfrm>
            <a:off x="932688" y="7260336"/>
            <a:ext cx="4873752" cy="201168"/>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Restraint is the house style.</a:t>
            </a:r>
            <a:endParaRPr lang="en-US" sz="1040" dirty="0"/>
          </a:p>
        </p:txBody>
      </p:sp>
      <p:sp>
        <p:nvSpPr>
          <p:cNvPr id="37" name="Text 35"/>
          <p:cNvSpPr/>
          <p:nvPr/>
        </p:nvSpPr>
        <p:spPr>
          <a:xfrm>
            <a:off x="5623560" y="7260336"/>
            <a:ext cx="1371600" cy="201168"/>
          </a:xfrm>
          <a:prstGeom prst="rect">
            <a:avLst/>
          </a:prstGeom>
          <a:noFill/>
          <a:ln/>
        </p:spPr>
        <p:txBody>
          <a:bodyPr wrap="square" lIns="0" tIns="0" rIns="0" bIns="0" rtlCol="0" anchor="ctr"/>
          <a:lstStyle/>
          <a:p>
            <a:pPr algn="r" indent="0" marL="0">
              <a:buNone/>
            </a:pPr>
            <a:r>
              <a:rPr lang="en-US" sz="700" b="1" spc="120" kern="0" dirty="0">
                <a:solidFill>
                  <a:srgbClr val="6E6E6E"/>
                </a:solidFill>
                <a:latin typeface="Arial" pitchFamily="34" charset="0"/>
                <a:ea typeface="Arial" pitchFamily="34" charset="-122"/>
                <a:cs typeface="Arial" pitchFamily="34" charset="-120"/>
              </a:rPr>
              <a:t>UNSHOWY</a:t>
            </a:r>
            <a:endParaRPr lang="en-US" sz="700" dirty="0"/>
          </a:p>
        </p:txBody>
      </p:sp>
      <p:sp>
        <p:nvSpPr>
          <p:cNvPr id="38" name="Text 36"/>
          <p:cNvSpPr/>
          <p:nvPr/>
        </p:nvSpPr>
        <p:spPr>
          <a:xfrm>
            <a:off x="932688" y="7470648"/>
            <a:ext cx="5879592" cy="51206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If an element cannot be justified in one sentence in the specification, it is removed. The system should look under-designed to a designer and obvious to a soldier.</a:t>
            </a:r>
            <a:endParaRPr lang="en-US" sz="880" dirty="0"/>
          </a:p>
        </p:txBody>
      </p:sp>
      <p:pic>
        <p:nvPicPr>
          <p:cNvPr id="39" name="Image 0" descr="preencoded.png">    </p:cNvPr>
          <p:cNvPicPr>
            <a:picLocks noChangeAspect="1"/>
          </p:cNvPicPr>
          <p:nvPr/>
        </p:nvPicPr>
        <p:blipFill>
          <a:blip r:embed="rId1"/>
          <a:stretch>
            <a:fillRect/>
          </a:stretch>
        </p:blipFill>
        <p:spPr>
          <a:xfrm>
            <a:off x="566928" y="8503920"/>
            <a:ext cx="2560320" cy="1584960"/>
          </a:xfrm>
          <a:prstGeom prst="rect">
            <a:avLst/>
          </a:prstGeom>
        </p:spPr>
      </p:pic>
      <p:sp>
        <p:nvSpPr>
          <p:cNvPr id="40" name="Text 37"/>
          <p:cNvSpPr/>
          <p:nvPr/>
        </p:nvSpPr>
        <p:spPr>
          <a:xfrm>
            <a:off x="3310128" y="8595360"/>
            <a:ext cx="3685032" cy="1097280"/>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The page is built from six columns and three registers, all hung from a single datum. Every surface in the system, printed or digital, is a variation on this construction.</a:t>
            </a:r>
            <a:endParaRPr lang="en-US" sz="8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CONCEPT A</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07</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Concept A: DATUM</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A standard is held. Load displaces it. It returns to true.</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pic>
        <p:nvPicPr>
          <p:cNvPr id="9" name="Image 0" descr="preencoded.png">    </p:cNvPr>
          <p:cNvPicPr>
            <a:picLocks noChangeAspect="1"/>
          </p:cNvPicPr>
          <p:nvPr/>
        </p:nvPicPr>
        <p:blipFill>
          <a:blip r:embed="rId1"/>
          <a:stretch>
            <a:fillRect/>
          </a:stretch>
        </p:blipFill>
        <p:spPr>
          <a:xfrm>
            <a:off x="566928" y="1572768"/>
            <a:ext cx="6428232" cy="1571346"/>
          </a:xfrm>
          <a:prstGeom prst="rect">
            <a:avLst/>
          </a:prstGeom>
        </p:spPr>
      </p:pic>
      <p:sp>
        <p:nvSpPr>
          <p:cNvPr id="10" name="Shape 7"/>
          <p:cNvSpPr/>
          <p:nvPr/>
        </p:nvSpPr>
        <p:spPr>
          <a:xfrm>
            <a:off x="566928" y="3144114"/>
            <a:ext cx="6428232" cy="12802"/>
          </a:xfrm>
          <a:prstGeom prst="rect">
            <a:avLst/>
          </a:prstGeom>
          <a:solidFill>
            <a:srgbClr val="00261B"/>
          </a:solidFill>
          <a:ln/>
        </p:spPr>
      </p:sp>
      <p:sp>
        <p:nvSpPr>
          <p:cNvPr id="11" name="Text 8"/>
          <p:cNvSpPr/>
          <p:nvPr/>
        </p:nvSpPr>
        <p:spPr>
          <a:xfrm>
            <a:off x="566928" y="3436722"/>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IDEA</a:t>
            </a:r>
            <a:endParaRPr lang="en-US" sz="740" dirty="0"/>
          </a:p>
        </p:txBody>
      </p:sp>
      <p:sp>
        <p:nvSpPr>
          <p:cNvPr id="12" name="Shape 9"/>
          <p:cNvSpPr/>
          <p:nvPr/>
        </p:nvSpPr>
        <p:spPr>
          <a:xfrm>
            <a:off x="566928" y="3619602"/>
            <a:ext cx="6428232" cy="7315"/>
          </a:xfrm>
          <a:prstGeom prst="rect">
            <a:avLst/>
          </a:prstGeom>
          <a:solidFill>
            <a:srgbClr val="D2D2D2"/>
          </a:solidFill>
          <a:ln/>
        </p:spPr>
      </p:sp>
      <p:sp>
        <p:nvSpPr>
          <p:cNvPr id="13" name="Text 10"/>
          <p:cNvSpPr/>
          <p:nvPr/>
        </p:nvSpPr>
        <p:spPr>
          <a:xfrm>
            <a:off x="566928" y="3729330"/>
            <a:ext cx="6428232" cy="658368"/>
          </a:xfrm>
          <a:prstGeom prst="rect">
            <a:avLst/>
          </a:prstGeom>
          <a:noFill/>
          <a:ln/>
        </p:spPr>
        <p:txBody>
          <a:bodyPr wrap="square" lIns="0" tIns="0" rIns="0" bIns="0" rtlCol="0" anchor="t"/>
          <a:lstStyle/>
          <a:p>
            <a:pPr algn="l" indent="0" marL="0">
              <a:lnSpc>
                <a:spcPct val="122000"/>
              </a:lnSpc>
              <a:buNone/>
            </a:pPr>
            <a:r>
              <a:rPr lang="en-US" sz="940" dirty="0">
                <a:solidFill>
                  <a:srgbClr val="1A1A1A"/>
                </a:solidFill>
                <a:latin typeface="Arial" pitchFamily="34" charset="0"/>
                <a:ea typeface="Arial" pitchFamily="34" charset="-122"/>
                <a:cs typeface="Arial" pitchFamily="34" charset="-120"/>
              </a:rPr>
              <a:t>The page is governed by a single measured reference line. Content aligns to it. Where pressure is represented, the line deviates and then recovers. Ticks, registers and intervals come from the language of instruments, maps and range cards.</a:t>
            </a:r>
            <a:endParaRPr lang="en-US" sz="940" dirty="0"/>
          </a:p>
        </p:txBody>
      </p:sp>
      <p:sp>
        <p:nvSpPr>
          <p:cNvPr id="14" name="Text 11"/>
          <p:cNvSpPr/>
          <p:nvPr/>
        </p:nvSpPr>
        <p:spPr>
          <a:xfrm>
            <a:off x="566928" y="447913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WHAT IT SAYS ABOUT THE FRAMEWORK</a:t>
            </a:r>
            <a:endParaRPr lang="en-US" sz="740" dirty="0"/>
          </a:p>
        </p:txBody>
      </p:sp>
      <p:sp>
        <p:nvSpPr>
          <p:cNvPr id="15" name="Shape 12"/>
          <p:cNvSpPr/>
          <p:nvPr/>
        </p:nvSpPr>
        <p:spPr>
          <a:xfrm>
            <a:off x="566928" y="4662018"/>
            <a:ext cx="6428232" cy="7315"/>
          </a:xfrm>
          <a:prstGeom prst="rect">
            <a:avLst/>
          </a:prstGeom>
          <a:solidFill>
            <a:srgbClr val="D2D2D2"/>
          </a:solidFill>
          <a:ln/>
        </p:spPr>
      </p:sp>
      <p:sp>
        <p:nvSpPr>
          <p:cNvPr id="16" name="Shape 13"/>
          <p:cNvSpPr/>
          <p:nvPr/>
        </p:nvSpPr>
        <p:spPr>
          <a:xfrm>
            <a:off x="566928" y="4771746"/>
            <a:ext cx="36576" cy="566928"/>
          </a:xfrm>
          <a:prstGeom prst="rect">
            <a:avLst/>
          </a:prstGeom>
          <a:solidFill>
            <a:srgbClr val="D31145"/>
          </a:solidFill>
          <a:ln/>
        </p:spPr>
      </p:sp>
      <p:sp>
        <p:nvSpPr>
          <p:cNvPr id="17" name="Text 14"/>
          <p:cNvSpPr/>
          <p:nvPr/>
        </p:nvSpPr>
        <p:spPr>
          <a:xfrm>
            <a:off x="749808" y="4771746"/>
            <a:ext cx="6245352" cy="566928"/>
          </a:xfrm>
          <a:prstGeom prst="rect">
            <a:avLst/>
          </a:prstGeom>
          <a:noFill/>
          <a:ln/>
        </p:spPr>
        <p:txBody>
          <a:bodyPr wrap="square" lIns="0" tIns="0" rIns="0" bIns="0" rtlCol="0" anchor="t"/>
          <a:lstStyle/>
          <a:p>
            <a:pPr algn="l" indent="0" marL="0">
              <a:lnSpc>
                <a:spcPct val="122000"/>
              </a:lnSpc>
              <a:buNone/>
            </a:pPr>
            <a:r>
              <a:rPr lang="en-US" sz="1020" dirty="0">
                <a:solidFill>
                  <a:srgbClr val="1A1A1A"/>
                </a:solidFill>
                <a:latin typeface="Arial" pitchFamily="34" charset="0"/>
                <a:ea typeface="Arial" pitchFamily="34" charset="-122"/>
                <a:cs typeface="Arial" pitchFamily="34" charset="-120"/>
              </a:rPr>
              <a:t>This is what the framework is for. Under pressure, access to trained capability can be displaced or degraded, and the system exists to preserve effectiveness and shorten the return to true.</a:t>
            </a:r>
            <a:endParaRPr lang="en-US" sz="1020" dirty="0"/>
          </a:p>
        </p:txBody>
      </p:sp>
      <p:sp>
        <p:nvSpPr>
          <p:cNvPr id="18" name="Text 15"/>
          <p:cNvSpPr/>
          <p:nvPr/>
        </p:nvSpPr>
        <p:spPr>
          <a:xfrm>
            <a:off x="566928" y="548497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STRENGTHS</a:t>
            </a:r>
            <a:endParaRPr lang="en-US" sz="740" dirty="0"/>
          </a:p>
        </p:txBody>
      </p:sp>
      <p:sp>
        <p:nvSpPr>
          <p:cNvPr id="19" name="Shape 16"/>
          <p:cNvSpPr/>
          <p:nvPr/>
        </p:nvSpPr>
        <p:spPr>
          <a:xfrm>
            <a:off x="566928" y="5667858"/>
            <a:ext cx="6428232" cy="7315"/>
          </a:xfrm>
          <a:prstGeom prst="rect">
            <a:avLst/>
          </a:prstGeom>
          <a:solidFill>
            <a:srgbClr val="D2D2D2"/>
          </a:solidFill>
          <a:ln/>
        </p:spPr>
      </p:sp>
      <p:sp>
        <p:nvSpPr>
          <p:cNvPr id="20" name="Text 17"/>
          <p:cNvSpPr/>
          <p:nvPr/>
        </p:nvSpPr>
        <p:spPr>
          <a:xfrm>
            <a:off x="3909060" y="5484978"/>
            <a:ext cx="3086100" cy="182880"/>
          </a:xfrm>
          <a:prstGeom prst="rect">
            <a:avLst/>
          </a:prstGeom>
          <a:noFill/>
          <a:ln/>
        </p:spPr>
        <p:txBody>
          <a:bodyPr wrap="square" lIns="0" tIns="0" rIns="0" bIns="0" rtlCol="0" anchor="ctr"/>
          <a:lstStyle/>
          <a:p>
            <a:pPr algn="l" indent="0" marL="0">
              <a:buNone/>
            </a:pPr>
            <a:r>
              <a:rPr lang="en-US" sz="740" b="1" spc="160" kern="0" dirty="0">
                <a:solidFill>
                  <a:srgbClr val="1A1A1A"/>
                </a:solidFill>
                <a:latin typeface="Arial" pitchFamily="34" charset="0"/>
                <a:ea typeface="Arial" pitchFamily="34" charset="-122"/>
                <a:cs typeface="Arial" pitchFamily="34" charset="-120"/>
              </a:rPr>
              <a:t>RISKS</a:t>
            </a:r>
            <a:endParaRPr lang="en-US" sz="740" dirty="0"/>
          </a:p>
        </p:txBody>
      </p:sp>
      <p:sp>
        <p:nvSpPr>
          <p:cNvPr id="21" name="Text 18"/>
          <p:cNvSpPr/>
          <p:nvPr/>
        </p:nvSpPr>
        <p:spPr>
          <a:xfrm>
            <a:off x="566928" y="5777586"/>
            <a:ext cx="3086100" cy="2377440"/>
          </a:xfrm>
          <a:prstGeom prst="rect">
            <a:avLst/>
          </a:prstGeom>
          <a:noFill/>
          <a:ln/>
        </p:spPr>
        <p:txBody>
          <a:bodyPr wrap="square" lIns="0" tIns="0" rIns="0" bIns="0" rtlCol="0" anchor="t"/>
          <a:lstStyle/>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Structural rather than illustrative, so it dates slowly. A ruled line with tick marks is as legible in 2046 as in 1946.</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Scales without loss from a favicon to a wall, because it is composed of rules rather than detail.</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Applies to non-designers. A datum and a tick interval can be specified in words and reproduced in Word, PowerPoint, HTML and print.</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Reads as instrumentation, which is the correct register for an evidence-based capability framework.</a:t>
            </a:r>
            <a:endParaRPr lang="en-US" sz="860" dirty="0"/>
          </a:p>
        </p:txBody>
      </p:sp>
      <p:sp>
        <p:nvSpPr>
          <p:cNvPr id="22" name="Text 19"/>
          <p:cNvSpPr/>
          <p:nvPr/>
        </p:nvSpPr>
        <p:spPr>
          <a:xfrm>
            <a:off x="3909060" y="5777586"/>
            <a:ext cx="3086100" cy="2377440"/>
          </a:xfrm>
          <a:prstGeom prst="rect">
            <a:avLst/>
          </a:prstGeom>
          <a:noFill/>
          <a:ln/>
        </p:spPr>
        <p:txBody>
          <a:bodyPr wrap="square" lIns="0" tIns="0" rIns="0" bIns="0" rtlCol="0" anchor="t"/>
          <a:lstStyle/>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Quiet to the point of invisibility if applied timidly. Requires real weight contrast to carry a cover.</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Adjacent to financial and engineering identities. Distinctiveness must come from typography and colour discipline, not from the line itself.</a:t>
            </a:r>
            <a:endParaRPr lang="en-US" sz="860" dirty="0"/>
          </a:p>
        </p:txBody>
      </p:sp>
      <p:sp>
        <p:nvSpPr>
          <p:cNvPr id="23" name="Text 20"/>
          <p:cNvSpPr/>
          <p:nvPr/>
        </p:nvSpPr>
        <p:spPr>
          <a:xfrm>
            <a:off x="566928" y="828446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TESTED AT SIZE</a:t>
            </a:r>
            <a:endParaRPr lang="en-US" sz="740" dirty="0"/>
          </a:p>
        </p:txBody>
      </p:sp>
      <p:sp>
        <p:nvSpPr>
          <p:cNvPr id="24" name="Shape 21"/>
          <p:cNvSpPr/>
          <p:nvPr/>
        </p:nvSpPr>
        <p:spPr>
          <a:xfrm>
            <a:off x="566928" y="8467344"/>
            <a:ext cx="6428232" cy="7315"/>
          </a:xfrm>
          <a:prstGeom prst="rect">
            <a:avLst/>
          </a:prstGeom>
          <a:solidFill>
            <a:srgbClr val="D2D2D2"/>
          </a:solidFill>
          <a:ln/>
        </p:spPr>
      </p:sp>
      <p:sp>
        <p:nvSpPr>
          <p:cNvPr id="25" name="Shape 22"/>
          <p:cNvSpPr/>
          <p:nvPr/>
        </p:nvSpPr>
        <p:spPr>
          <a:xfrm>
            <a:off x="566928" y="8577072"/>
            <a:ext cx="2743200" cy="841248"/>
          </a:xfrm>
          <a:prstGeom prst="rect">
            <a:avLst/>
          </a:prstGeom>
          <a:solidFill>
            <a:srgbClr val="FFFFFF"/>
          </a:solidFill>
          <a:ln w="12700">
            <a:solidFill>
              <a:srgbClr val="D2D2D2"/>
            </a:solidFill>
            <a:prstDash val="solid"/>
          </a:ln>
        </p:spPr>
      </p:sp>
      <p:pic>
        <p:nvPicPr>
          <p:cNvPr id="26" name="Image 1" descr="preencoded.png">    </p:cNvPr>
          <p:cNvPicPr>
            <a:picLocks noChangeAspect="1"/>
          </p:cNvPicPr>
          <p:nvPr/>
        </p:nvPicPr>
        <p:blipFill>
          <a:blip r:embed="rId2"/>
          <a:stretch>
            <a:fillRect/>
          </a:stretch>
        </p:blipFill>
        <p:spPr>
          <a:xfrm>
            <a:off x="603504" y="8662416"/>
            <a:ext cx="2670048" cy="670560"/>
          </a:xfrm>
          <a:prstGeom prst="rect">
            <a:avLst/>
          </a:prstGeom>
        </p:spPr>
      </p:pic>
      <p:sp>
        <p:nvSpPr>
          <p:cNvPr id="27" name="Text 23"/>
          <p:cNvSpPr/>
          <p:nvPr/>
        </p:nvSpPr>
        <p:spPr>
          <a:xfrm>
            <a:off x="566928" y="9454896"/>
            <a:ext cx="2743200" cy="164592"/>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Cover, 72 mm</a:t>
            </a:r>
            <a:endParaRPr lang="en-US" sz="700" dirty="0"/>
          </a:p>
        </p:txBody>
      </p:sp>
      <p:sp>
        <p:nvSpPr>
          <p:cNvPr id="28" name="Shape 24"/>
          <p:cNvSpPr/>
          <p:nvPr/>
        </p:nvSpPr>
        <p:spPr>
          <a:xfrm>
            <a:off x="3438144" y="8577072"/>
            <a:ext cx="1691640" cy="841248"/>
          </a:xfrm>
          <a:prstGeom prst="rect">
            <a:avLst/>
          </a:prstGeom>
          <a:solidFill>
            <a:srgbClr val="FFFFFF"/>
          </a:solidFill>
          <a:ln w="12700">
            <a:solidFill>
              <a:srgbClr val="D2D2D2"/>
            </a:solidFill>
            <a:prstDash val="solid"/>
          </a:ln>
        </p:spPr>
      </p:sp>
      <p:pic>
        <p:nvPicPr>
          <p:cNvPr id="29" name="Image 2" descr="preencoded.png">    </p:cNvPr>
          <p:cNvPicPr>
            <a:picLocks noChangeAspect="1"/>
          </p:cNvPicPr>
          <p:nvPr/>
        </p:nvPicPr>
        <p:blipFill>
          <a:blip r:embed="rId3"/>
          <a:stretch>
            <a:fillRect/>
          </a:stretch>
        </p:blipFill>
        <p:spPr>
          <a:xfrm>
            <a:off x="3474720" y="8790940"/>
            <a:ext cx="1618488" cy="413512"/>
          </a:xfrm>
          <a:prstGeom prst="rect">
            <a:avLst/>
          </a:prstGeom>
        </p:spPr>
      </p:pic>
      <p:sp>
        <p:nvSpPr>
          <p:cNvPr id="30" name="Text 25"/>
          <p:cNvSpPr/>
          <p:nvPr/>
        </p:nvSpPr>
        <p:spPr>
          <a:xfrm>
            <a:off x="3438144" y="9454896"/>
            <a:ext cx="1691640" cy="164592"/>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Slide, 44 mm</a:t>
            </a:r>
            <a:endParaRPr lang="en-US" sz="700" dirty="0"/>
          </a:p>
        </p:txBody>
      </p:sp>
      <p:sp>
        <p:nvSpPr>
          <p:cNvPr id="31" name="Shape 26"/>
          <p:cNvSpPr/>
          <p:nvPr/>
        </p:nvSpPr>
        <p:spPr>
          <a:xfrm>
            <a:off x="5257800" y="8577072"/>
            <a:ext cx="914400" cy="841248"/>
          </a:xfrm>
          <a:prstGeom prst="rect">
            <a:avLst/>
          </a:prstGeom>
          <a:solidFill>
            <a:srgbClr val="FFFFFF"/>
          </a:solidFill>
          <a:ln w="12700">
            <a:solidFill>
              <a:srgbClr val="D2D2D2"/>
            </a:solidFill>
            <a:prstDash val="solid"/>
          </a:ln>
        </p:spPr>
      </p:sp>
      <p:pic>
        <p:nvPicPr>
          <p:cNvPr id="32" name="Image 3" descr="preencoded.png">    </p:cNvPr>
          <p:cNvPicPr>
            <a:picLocks noChangeAspect="1"/>
          </p:cNvPicPr>
          <p:nvPr/>
        </p:nvPicPr>
        <p:blipFill>
          <a:blip r:embed="rId4"/>
          <a:stretch>
            <a:fillRect/>
          </a:stretch>
        </p:blipFill>
        <p:spPr>
          <a:xfrm>
            <a:off x="5294376" y="8885936"/>
            <a:ext cx="841248" cy="223520"/>
          </a:xfrm>
          <a:prstGeom prst="rect">
            <a:avLst/>
          </a:prstGeom>
        </p:spPr>
      </p:pic>
      <p:sp>
        <p:nvSpPr>
          <p:cNvPr id="33" name="Text 27"/>
          <p:cNvSpPr/>
          <p:nvPr/>
        </p:nvSpPr>
        <p:spPr>
          <a:xfrm>
            <a:off x="5257800" y="9454896"/>
            <a:ext cx="914400" cy="164592"/>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Favicon, 24 mm</a:t>
            </a:r>
            <a:endParaRPr lang="en-US" sz="700" dirty="0"/>
          </a:p>
        </p:txBody>
      </p:sp>
      <p:sp>
        <p:nvSpPr>
          <p:cNvPr id="34" name="Text 28"/>
          <p:cNvSpPr/>
          <p:nvPr/>
        </p:nvSpPr>
        <p:spPr>
          <a:xfrm>
            <a:off x="566928" y="9692640"/>
            <a:ext cx="6428232" cy="420624"/>
          </a:xfrm>
          <a:prstGeom prst="rect">
            <a:avLst/>
          </a:prstGeom>
          <a:noFill/>
          <a:ln/>
        </p:spPr>
        <p:txBody>
          <a:bodyPr wrap="square" lIns="0" tIns="0" rIns="0" bIns="0" rtlCol="0" anchor="t"/>
          <a:lstStyle/>
          <a:p>
            <a:pPr algn="l" indent="0" marL="0">
              <a:lnSpc>
                <a:spcPct val="122000"/>
              </a:lnSpc>
              <a:buNone/>
            </a:pPr>
            <a:r>
              <a:rPr lang="en-US" sz="840" dirty="0">
                <a:solidFill>
                  <a:srgbClr val="3E3E3E"/>
                </a:solidFill>
                <a:latin typeface="Arial" pitchFamily="34" charset="0"/>
                <a:ea typeface="Arial" pitchFamily="34" charset="-122"/>
                <a:cs typeface="Arial" pitchFamily="34" charset="-120"/>
              </a:rPr>
              <a:t>The datum survives reduction because it is composed of rules. At favicon size the tick interval is lost but the line and the displacement remain legible.</a:t>
            </a:r>
            <a:endParaRPr lang="en-US" sz="8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CONCEPT B</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08</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Concept B: THRESHOLD</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Pressure accumulates. The line holds. Beyond it, clarity.</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pic>
        <p:nvPicPr>
          <p:cNvPr id="9" name="Image 0" descr="preencoded.png">    </p:cNvPr>
          <p:cNvPicPr>
            <a:picLocks noChangeAspect="1"/>
          </p:cNvPicPr>
          <p:nvPr/>
        </p:nvPicPr>
        <p:blipFill>
          <a:blip r:embed="rId1"/>
          <a:stretch>
            <a:fillRect/>
          </a:stretch>
        </p:blipFill>
        <p:spPr>
          <a:xfrm>
            <a:off x="566928" y="1572768"/>
            <a:ext cx="6428232" cy="1571346"/>
          </a:xfrm>
          <a:prstGeom prst="rect">
            <a:avLst/>
          </a:prstGeom>
        </p:spPr>
      </p:pic>
      <p:sp>
        <p:nvSpPr>
          <p:cNvPr id="10" name="Shape 7"/>
          <p:cNvSpPr/>
          <p:nvPr/>
        </p:nvSpPr>
        <p:spPr>
          <a:xfrm>
            <a:off x="566928" y="3144114"/>
            <a:ext cx="6428232" cy="12802"/>
          </a:xfrm>
          <a:prstGeom prst="rect">
            <a:avLst/>
          </a:prstGeom>
          <a:solidFill>
            <a:srgbClr val="444D06"/>
          </a:solidFill>
          <a:ln/>
        </p:spPr>
      </p:sp>
      <p:sp>
        <p:nvSpPr>
          <p:cNvPr id="11" name="Text 8"/>
          <p:cNvSpPr/>
          <p:nvPr/>
        </p:nvSpPr>
        <p:spPr>
          <a:xfrm>
            <a:off x="566928" y="3436722"/>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IDEA</a:t>
            </a:r>
            <a:endParaRPr lang="en-US" sz="740" dirty="0"/>
          </a:p>
        </p:txBody>
      </p:sp>
      <p:sp>
        <p:nvSpPr>
          <p:cNvPr id="12" name="Shape 9"/>
          <p:cNvSpPr/>
          <p:nvPr/>
        </p:nvSpPr>
        <p:spPr>
          <a:xfrm>
            <a:off x="566928" y="3619602"/>
            <a:ext cx="6428232" cy="7315"/>
          </a:xfrm>
          <a:prstGeom prst="rect">
            <a:avLst/>
          </a:prstGeom>
          <a:solidFill>
            <a:srgbClr val="D2D2D2"/>
          </a:solidFill>
          <a:ln/>
        </p:spPr>
      </p:sp>
      <p:sp>
        <p:nvSpPr>
          <p:cNvPr id="13" name="Text 10"/>
          <p:cNvSpPr/>
          <p:nvPr/>
        </p:nvSpPr>
        <p:spPr>
          <a:xfrm>
            <a:off x="566928" y="3729330"/>
            <a:ext cx="6428232" cy="658368"/>
          </a:xfrm>
          <a:prstGeom prst="rect">
            <a:avLst/>
          </a:prstGeom>
          <a:noFill/>
          <a:ln/>
        </p:spPr>
        <p:txBody>
          <a:bodyPr wrap="square" lIns="0" tIns="0" rIns="0" bIns="0" rtlCol="0" anchor="t"/>
          <a:lstStyle/>
          <a:p>
            <a:pPr algn="l" indent="0" marL="0">
              <a:lnSpc>
                <a:spcPct val="122000"/>
              </a:lnSpc>
              <a:buNone/>
            </a:pPr>
            <a:r>
              <a:rPr lang="en-US" sz="940" dirty="0">
                <a:solidFill>
                  <a:srgbClr val="1A1A1A"/>
                </a:solidFill>
                <a:latin typeface="Arial" pitchFamily="34" charset="0"/>
                <a:ea typeface="Arial" pitchFamily="34" charset="-122"/>
                <a:cs typeface="Arial" pitchFamily="34" charset="-120"/>
              </a:rPr>
              <a:t>Pressure is drawn as an accumulating density field, built from the Army halftone chevron pattern. The field intensifies towards a hard edge and stops. Beyond the edge the surface is clear and ordered.</a:t>
            </a:r>
            <a:endParaRPr lang="en-US" sz="940" dirty="0"/>
          </a:p>
        </p:txBody>
      </p:sp>
      <p:sp>
        <p:nvSpPr>
          <p:cNvPr id="14" name="Text 11"/>
          <p:cNvSpPr/>
          <p:nvPr/>
        </p:nvSpPr>
        <p:spPr>
          <a:xfrm>
            <a:off x="566928" y="447913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WHAT IT SAYS ABOUT THE FRAMEWORK</a:t>
            </a:r>
            <a:endParaRPr lang="en-US" sz="740" dirty="0"/>
          </a:p>
        </p:txBody>
      </p:sp>
      <p:sp>
        <p:nvSpPr>
          <p:cNvPr id="15" name="Shape 12"/>
          <p:cNvSpPr/>
          <p:nvPr/>
        </p:nvSpPr>
        <p:spPr>
          <a:xfrm>
            <a:off x="566928" y="4662018"/>
            <a:ext cx="6428232" cy="7315"/>
          </a:xfrm>
          <a:prstGeom prst="rect">
            <a:avLst/>
          </a:prstGeom>
          <a:solidFill>
            <a:srgbClr val="D2D2D2"/>
          </a:solidFill>
          <a:ln/>
        </p:spPr>
      </p:sp>
      <p:sp>
        <p:nvSpPr>
          <p:cNvPr id="16" name="Shape 13"/>
          <p:cNvSpPr/>
          <p:nvPr/>
        </p:nvSpPr>
        <p:spPr>
          <a:xfrm>
            <a:off x="566928" y="4771746"/>
            <a:ext cx="36576" cy="566928"/>
          </a:xfrm>
          <a:prstGeom prst="rect">
            <a:avLst/>
          </a:prstGeom>
          <a:solidFill>
            <a:srgbClr val="D31145"/>
          </a:solidFill>
          <a:ln/>
        </p:spPr>
      </p:sp>
      <p:sp>
        <p:nvSpPr>
          <p:cNvPr id="17" name="Text 14"/>
          <p:cNvSpPr/>
          <p:nvPr/>
        </p:nvSpPr>
        <p:spPr>
          <a:xfrm>
            <a:off x="749808" y="4771746"/>
            <a:ext cx="6245352" cy="566928"/>
          </a:xfrm>
          <a:prstGeom prst="rect">
            <a:avLst/>
          </a:prstGeom>
          <a:noFill/>
          <a:ln/>
        </p:spPr>
        <p:txBody>
          <a:bodyPr wrap="square" lIns="0" tIns="0" rIns="0" bIns="0" rtlCol="0" anchor="t"/>
          <a:lstStyle/>
          <a:p>
            <a:pPr algn="l" indent="0" marL="0">
              <a:lnSpc>
                <a:spcPct val="122000"/>
              </a:lnSpc>
              <a:buNone/>
            </a:pPr>
            <a:r>
              <a:rPr lang="en-US" sz="1020" dirty="0">
                <a:solidFill>
                  <a:srgbClr val="1A1A1A"/>
                </a:solidFill>
                <a:latin typeface="Arial" pitchFamily="34" charset="0"/>
                <a:ea typeface="Arial" pitchFamily="34" charset="-122"/>
                <a:cs typeface="Arial" pitchFamily="34" charset="-120"/>
              </a:rPr>
              <a:t>The framework is the threshold. It is what stands between accumulating load and the collapse of performance.</a:t>
            </a:r>
            <a:endParaRPr lang="en-US" sz="1020" dirty="0"/>
          </a:p>
        </p:txBody>
      </p:sp>
      <p:sp>
        <p:nvSpPr>
          <p:cNvPr id="18" name="Text 15"/>
          <p:cNvSpPr/>
          <p:nvPr/>
        </p:nvSpPr>
        <p:spPr>
          <a:xfrm>
            <a:off x="566928" y="548497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STRENGTHS</a:t>
            </a:r>
            <a:endParaRPr lang="en-US" sz="740" dirty="0"/>
          </a:p>
        </p:txBody>
      </p:sp>
      <p:sp>
        <p:nvSpPr>
          <p:cNvPr id="19" name="Shape 16"/>
          <p:cNvSpPr/>
          <p:nvPr/>
        </p:nvSpPr>
        <p:spPr>
          <a:xfrm>
            <a:off x="566928" y="5667858"/>
            <a:ext cx="6428232" cy="7315"/>
          </a:xfrm>
          <a:prstGeom prst="rect">
            <a:avLst/>
          </a:prstGeom>
          <a:solidFill>
            <a:srgbClr val="D2D2D2"/>
          </a:solidFill>
          <a:ln/>
        </p:spPr>
      </p:sp>
      <p:sp>
        <p:nvSpPr>
          <p:cNvPr id="20" name="Text 17"/>
          <p:cNvSpPr/>
          <p:nvPr/>
        </p:nvSpPr>
        <p:spPr>
          <a:xfrm>
            <a:off x="3909060" y="5484978"/>
            <a:ext cx="3086100" cy="182880"/>
          </a:xfrm>
          <a:prstGeom prst="rect">
            <a:avLst/>
          </a:prstGeom>
          <a:noFill/>
          <a:ln/>
        </p:spPr>
        <p:txBody>
          <a:bodyPr wrap="square" lIns="0" tIns="0" rIns="0" bIns="0" rtlCol="0" anchor="ctr"/>
          <a:lstStyle/>
          <a:p>
            <a:pPr algn="l" indent="0" marL="0">
              <a:buNone/>
            </a:pPr>
            <a:r>
              <a:rPr lang="en-US" sz="740" b="1" spc="160" kern="0" dirty="0">
                <a:solidFill>
                  <a:srgbClr val="1A1A1A"/>
                </a:solidFill>
                <a:latin typeface="Arial" pitchFamily="34" charset="0"/>
                <a:ea typeface="Arial" pitchFamily="34" charset="-122"/>
                <a:cs typeface="Arial" pitchFamily="34" charset="-120"/>
              </a:rPr>
              <a:t>RISKS</a:t>
            </a:r>
            <a:endParaRPr lang="en-US" sz="740" dirty="0"/>
          </a:p>
        </p:txBody>
      </p:sp>
      <p:sp>
        <p:nvSpPr>
          <p:cNvPr id="21" name="Text 18"/>
          <p:cNvSpPr/>
          <p:nvPr/>
        </p:nvSpPr>
        <p:spPr>
          <a:xfrm>
            <a:off x="566928" y="5777586"/>
            <a:ext cx="3086100" cy="2377440"/>
          </a:xfrm>
          <a:prstGeom prst="rect">
            <a:avLst/>
          </a:prstGeom>
          <a:noFill/>
          <a:ln/>
        </p:spPr>
        <p:txBody>
          <a:bodyPr wrap="square" lIns="0" tIns="0" rIns="0" bIns="0" rtlCol="0" anchor="t"/>
          <a:lstStyle/>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The most emotionally direct of the three. A reader grasps it without explanation.</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Uses an existing sanctioned Army element, so it is already inside the visual family.</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Produces striking covers and divider surfaces with very little effort.</a:t>
            </a:r>
            <a:endParaRPr lang="en-US" sz="860" dirty="0"/>
          </a:p>
        </p:txBody>
      </p:sp>
      <p:sp>
        <p:nvSpPr>
          <p:cNvPr id="22" name="Text 19"/>
          <p:cNvSpPr/>
          <p:nvPr/>
        </p:nvSpPr>
        <p:spPr>
          <a:xfrm>
            <a:off x="3909060" y="5777586"/>
            <a:ext cx="3086100" cy="2377440"/>
          </a:xfrm>
          <a:prstGeom prst="rect">
            <a:avLst/>
          </a:prstGeom>
          <a:noFill/>
          <a:ln/>
        </p:spPr>
        <p:txBody>
          <a:bodyPr wrap="square" lIns="0" tIns="0" rIns="0" bIns="0" rtlCol="0" anchor="t"/>
          <a:lstStyle/>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Density gradients are a period signature. They read as 2015 to 2025 and will date the system within a decade.</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Hard to apply consistently at small size or in mono. The field either disappears or blocks up.</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Tends toward the decorative. Once a texture exists, it gets used everywhere, and the discipline is lost within two years.</a:t>
            </a:r>
            <a:endParaRPr lang="en-US" sz="860" dirty="0"/>
          </a:p>
        </p:txBody>
      </p:sp>
      <p:sp>
        <p:nvSpPr>
          <p:cNvPr id="23" name="Text 20"/>
          <p:cNvSpPr/>
          <p:nvPr/>
        </p:nvSpPr>
        <p:spPr>
          <a:xfrm>
            <a:off x="566928" y="828446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TESTED AT SIZE</a:t>
            </a:r>
            <a:endParaRPr lang="en-US" sz="740" dirty="0"/>
          </a:p>
        </p:txBody>
      </p:sp>
      <p:sp>
        <p:nvSpPr>
          <p:cNvPr id="24" name="Shape 21"/>
          <p:cNvSpPr/>
          <p:nvPr/>
        </p:nvSpPr>
        <p:spPr>
          <a:xfrm>
            <a:off x="566928" y="8467344"/>
            <a:ext cx="6428232" cy="7315"/>
          </a:xfrm>
          <a:prstGeom prst="rect">
            <a:avLst/>
          </a:prstGeom>
          <a:solidFill>
            <a:srgbClr val="D2D2D2"/>
          </a:solidFill>
          <a:ln/>
        </p:spPr>
      </p:sp>
      <p:sp>
        <p:nvSpPr>
          <p:cNvPr id="25" name="Shape 22"/>
          <p:cNvSpPr/>
          <p:nvPr/>
        </p:nvSpPr>
        <p:spPr>
          <a:xfrm>
            <a:off x="566928" y="8577072"/>
            <a:ext cx="2743200" cy="841248"/>
          </a:xfrm>
          <a:prstGeom prst="rect">
            <a:avLst/>
          </a:prstGeom>
          <a:solidFill>
            <a:srgbClr val="FFFFFF"/>
          </a:solidFill>
          <a:ln w="12700">
            <a:solidFill>
              <a:srgbClr val="D2D2D2"/>
            </a:solidFill>
            <a:prstDash val="solid"/>
          </a:ln>
        </p:spPr>
      </p:sp>
      <p:pic>
        <p:nvPicPr>
          <p:cNvPr id="26" name="Image 1" descr="preencoded.png">    </p:cNvPr>
          <p:cNvPicPr>
            <a:picLocks noChangeAspect="1"/>
          </p:cNvPicPr>
          <p:nvPr/>
        </p:nvPicPr>
        <p:blipFill>
          <a:blip r:embed="rId2"/>
          <a:stretch>
            <a:fillRect/>
          </a:stretch>
        </p:blipFill>
        <p:spPr>
          <a:xfrm>
            <a:off x="603504" y="8662416"/>
            <a:ext cx="2670048" cy="670560"/>
          </a:xfrm>
          <a:prstGeom prst="rect">
            <a:avLst/>
          </a:prstGeom>
        </p:spPr>
      </p:pic>
      <p:sp>
        <p:nvSpPr>
          <p:cNvPr id="27" name="Text 23"/>
          <p:cNvSpPr/>
          <p:nvPr/>
        </p:nvSpPr>
        <p:spPr>
          <a:xfrm>
            <a:off x="566928" y="9454896"/>
            <a:ext cx="2743200" cy="164592"/>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Cover, 72 mm</a:t>
            </a:r>
            <a:endParaRPr lang="en-US" sz="700" dirty="0"/>
          </a:p>
        </p:txBody>
      </p:sp>
      <p:sp>
        <p:nvSpPr>
          <p:cNvPr id="28" name="Shape 24"/>
          <p:cNvSpPr/>
          <p:nvPr/>
        </p:nvSpPr>
        <p:spPr>
          <a:xfrm>
            <a:off x="3438144" y="8577072"/>
            <a:ext cx="1691640" cy="841248"/>
          </a:xfrm>
          <a:prstGeom prst="rect">
            <a:avLst/>
          </a:prstGeom>
          <a:solidFill>
            <a:srgbClr val="FFFFFF"/>
          </a:solidFill>
          <a:ln w="12700">
            <a:solidFill>
              <a:srgbClr val="D2D2D2"/>
            </a:solidFill>
            <a:prstDash val="solid"/>
          </a:ln>
        </p:spPr>
      </p:sp>
      <p:pic>
        <p:nvPicPr>
          <p:cNvPr id="29" name="Image 2" descr="preencoded.png">    </p:cNvPr>
          <p:cNvPicPr>
            <a:picLocks noChangeAspect="1"/>
          </p:cNvPicPr>
          <p:nvPr/>
        </p:nvPicPr>
        <p:blipFill>
          <a:blip r:embed="rId3"/>
          <a:stretch>
            <a:fillRect/>
          </a:stretch>
        </p:blipFill>
        <p:spPr>
          <a:xfrm>
            <a:off x="3474720" y="8790940"/>
            <a:ext cx="1618488" cy="413512"/>
          </a:xfrm>
          <a:prstGeom prst="rect">
            <a:avLst/>
          </a:prstGeom>
        </p:spPr>
      </p:pic>
      <p:sp>
        <p:nvSpPr>
          <p:cNvPr id="30" name="Text 25"/>
          <p:cNvSpPr/>
          <p:nvPr/>
        </p:nvSpPr>
        <p:spPr>
          <a:xfrm>
            <a:off x="3438144" y="9454896"/>
            <a:ext cx="1691640" cy="164592"/>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Slide, 44 mm</a:t>
            </a:r>
            <a:endParaRPr lang="en-US" sz="700" dirty="0"/>
          </a:p>
        </p:txBody>
      </p:sp>
      <p:sp>
        <p:nvSpPr>
          <p:cNvPr id="31" name="Shape 26"/>
          <p:cNvSpPr/>
          <p:nvPr/>
        </p:nvSpPr>
        <p:spPr>
          <a:xfrm>
            <a:off x="5257800" y="8577072"/>
            <a:ext cx="914400" cy="841248"/>
          </a:xfrm>
          <a:prstGeom prst="rect">
            <a:avLst/>
          </a:prstGeom>
          <a:solidFill>
            <a:srgbClr val="FFFFFF"/>
          </a:solidFill>
          <a:ln w="12700">
            <a:solidFill>
              <a:srgbClr val="D2D2D2"/>
            </a:solidFill>
            <a:prstDash val="solid"/>
          </a:ln>
        </p:spPr>
      </p:sp>
      <p:pic>
        <p:nvPicPr>
          <p:cNvPr id="32" name="Image 3" descr="preencoded.png">    </p:cNvPr>
          <p:cNvPicPr>
            <a:picLocks noChangeAspect="1"/>
          </p:cNvPicPr>
          <p:nvPr/>
        </p:nvPicPr>
        <p:blipFill>
          <a:blip r:embed="rId4"/>
          <a:stretch>
            <a:fillRect/>
          </a:stretch>
        </p:blipFill>
        <p:spPr>
          <a:xfrm>
            <a:off x="5294376" y="8885936"/>
            <a:ext cx="841248" cy="223520"/>
          </a:xfrm>
          <a:prstGeom prst="rect">
            <a:avLst/>
          </a:prstGeom>
        </p:spPr>
      </p:pic>
      <p:sp>
        <p:nvSpPr>
          <p:cNvPr id="33" name="Text 27"/>
          <p:cNvSpPr/>
          <p:nvPr/>
        </p:nvSpPr>
        <p:spPr>
          <a:xfrm>
            <a:off x="5257800" y="9454896"/>
            <a:ext cx="914400" cy="164592"/>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Favicon, 24 mm</a:t>
            </a:r>
            <a:endParaRPr lang="en-US" sz="700" dirty="0"/>
          </a:p>
        </p:txBody>
      </p:sp>
      <p:sp>
        <p:nvSpPr>
          <p:cNvPr id="34" name="Text 28"/>
          <p:cNvSpPr/>
          <p:nvPr/>
        </p:nvSpPr>
        <p:spPr>
          <a:xfrm>
            <a:off x="566928" y="9692640"/>
            <a:ext cx="6428232" cy="420624"/>
          </a:xfrm>
          <a:prstGeom prst="rect">
            <a:avLst/>
          </a:prstGeom>
          <a:noFill/>
          <a:ln/>
        </p:spPr>
        <p:txBody>
          <a:bodyPr wrap="square" lIns="0" tIns="0" rIns="0" bIns="0" rtlCol="0" anchor="t"/>
          <a:lstStyle/>
          <a:p>
            <a:pPr algn="l" indent="0" marL="0">
              <a:lnSpc>
                <a:spcPct val="122000"/>
              </a:lnSpc>
              <a:buNone/>
            </a:pPr>
            <a:r>
              <a:rPr lang="en-US" sz="840" dirty="0">
                <a:solidFill>
                  <a:srgbClr val="3E3E3E"/>
                </a:solidFill>
                <a:latin typeface="Arial" pitchFamily="34" charset="0"/>
                <a:ea typeface="Arial" pitchFamily="34" charset="-122"/>
                <a:cs typeface="Arial" pitchFamily="34" charset="-120"/>
              </a:rPr>
              <a:t>The field collapses at slide size and reads as a grey block at favicon size. The threshold edge survives, but the idea that produced it does not.</a:t>
            </a:r>
            <a:endParaRPr lang="en-US" sz="8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CONCEPT C</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09</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Concept C: TRACE</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One resolved path through competing signal.</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pic>
        <p:nvPicPr>
          <p:cNvPr id="9" name="Image 0" descr="preencoded.png">    </p:cNvPr>
          <p:cNvPicPr>
            <a:picLocks noChangeAspect="1"/>
          </p:cNvPicPr>
          <p:nvPr/>
        </p:nvPicPr>
        <p:blipFill>
          <a:blip r:embed="rId1"/>
          <a:stretch>
            <a:fillRect/>
          </a:stretch>
        </p:blipFill>
        <p:spPr>
          <a:xfrm>
            <a:off x="566928" y="1572768"/>
            <a:ext cx="6428232" cy="1571346"/>
          </a:xfrm>
          <a:prstGeom prst="rect">
            <a:avLst/>
          </a:prstGeom>
        </p:spPr>
      </p:pic>
      <p:sp>
        <p:nvSpPr>
          <p:cNvPr id="10" name="Shape 7"/>
          <p:cNvSpPr/>
          <p:nvPr/>
        </p:nvSpPr>
        <p:spPr>
          <a:xfrm>
            <a:off x="566928" y="3144114"/>
            <a:ext cx="6428232" cy="12802"/>
          </a:xfrm>
          <a:prstGeom prst="rect">
            <a:avLst/>
          </a:prstGeom>
          <a:solidFill>
            <a:srgbClr val="B3A650"/>
          </a:solidFill>
          <a:ln/>
        </p:spPr>
      </p:sp>
      <p:sp>
        <p:nvSpPr>
          <p:cNvPr id="11" name="Text 8"/>
          <p:cNvSpPr/>
          <p:nvPr/>
        </p:nvSpPr>
        <p:spPr>
          <a:xfrm>
            <a:off x="566928" y="3436722"/>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IDEA</a:t>
            </a:r>
            <a:endParaRPr lang="en-US" sz="740" dirty="0"/>
          </a:p>
        </p:txBody>
      </p:sp>
      <p:sp>
        <p:nvSpPr>
          <p:cNvPr id="12" name="Shape 9"/>
          <p:cNvSpPr/>
          <p:nvPr/>
        </p:nvSpPr>
        <p:spPr>
          <a:xfrm>
            <a:off x="566928" y="3619602"/>
            <a:ext cx="6428232" cy="7315"/>
          </a:xfrm>
          <a:prstGeom prst="rect">
            <a:avLst/>
          </a:prstGeom>
          <a:solidFill>
            <a:srgbClr val="D2D2D2"/>
          </a:solidFill>
          <a:ln/>
        </p:spPr>
      </p:sp>
      <p:sp>
        <p:nvSpPr>
          <p:cNvPr id="13" name="Text 10"/>
          <p:cNvSpPr/>
          <p:nvPr/>
        </p:nvSpPr>
        <p:spPr>
          <a:xfrm>
            <a:off x="566928" y="3729330"/>
            <a:ext cx="6428232" cy="658368"/>
          </a:xfrm>
          <a:prstGeom prst="rect">
            <a:avLst/>
          </a:prstGeom>
          <a:noFill/>
          <a:ln/>
        </p:spPr>
        <p:txBody>
          <a:bodyPr wrap="square" lIns="0" tIns="0" rIns="0" bIns="0" rtlCol="0" anchor="t"/>
          <a:lstStyle/>
          <a:p>
            <a:pPr algn="l" indent="0" marL="0">
              <a:lnSpc>
                <a:spcPct val="122000"/>
              </a:lnSpc>
              <a:buNone/>
            </a:pPr>
            <a:r>
              <a:rPr lang="en-US" sz="940" dirty="0">
                <a:solidFill>
                  <a:srgbClr val="1A1A1A"/>
                </a:solidFill>
                <a:latin typeface="Arial" pitchFamily="34" charset="0"/>
                <a:ea typeface="Arial" pitchFamily="34" charset="-122"/>
                <a:cs typeface="Arial" pitchFamily="34" charset="-120"/>
              </a:rPr>
              <a:t>A field of weak, conflicting traces sits behind a single strong path. Nodes mark the points at which the path is committed. The eye is drawn to the resolved line, not to the noise.</a:t>
            </a:r>
            <a:endParaRPr lang="en-US" sz="940" dirty="0"/>
          </a:p>
        </p:txBody>
      </p:sp>
      <p:sp>
        <p:nvSpPr>
          <p:cNvPr id="14" name="Text 11"/>
          <p:cNvSpPr/>
          <p:nvPr/>
        </p:nvSpPr>
        <p:spPr>
          <a:xfrm>
            <a:off x="566928" y="447913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WHAT IT SAYS ABOUT THE FRAMEWORK</a:t>
            </a:r>
            <a:endParaRPr lang="en-US" sz="740" dirty="0"/>
          </a:p>
        </p:txBody>
      </p:sp>
      <p:sp>
        <p:nvSpPr>
          <p:cNvPr id="15" name="Shape 12"/>
          <p:cNvSpPr/>
          <p:nvPr/>
        </p:nvSpPr>
        <p:spPr>
          <a:xfrm>
            <a:off x="566928" y="4662018"/>
            <a:ext cx="6428232" cy="7315"/>
          </a:xfrm>
          <a:prstGeom prst="rect">
            <a:avLst/>
          </a:prstGeom>
          <a:solidFill>
            <a:srgbClr val="D2D2D2"/>
          </a:solidFill>
          <a:ln/>
        </p:spPr>
      </p:sp>
      <p:sp>
        <p:nvSpPr>
          <p:cNvPr id="16" name="Shape 13"/>
          <p:cNvSpPr/>
          <p:nvPr/>
        </p:nvSpPr>
        <p:spPr>
          <a:xfrm>
            <a:off x="566928" y="4771746"/>
            <a:ext cx="36576" cy="566928"/>
          </a:xfrm>
          <a:prstGeom prst="rect">
            <a:avLst/>
          </a:prstGeom>
          <a:solidFill>
            <a:srgbClr val="D31145"/>
          </a:solidFill>
          <a:ln/>
        </p:spPr>
      </p:sp>
      <p:sp>
        <p:nvSpPr>
          <p:cNvPr id="17" name="Text 14"/>
          <p:cNvSpPr/>
          <p:nvPr/>
        </p:nvSpPr>
        <p:spPr>
          <a:xfrm>
            <a:off x="749808" y="4771746"/>
            <a:ext cx="6245352" cy="566928"/>
          </a:xfrm>
          <a:prstGeom prst="rect">
            <a:avLst/>
          </a:prstGeom>
          <a:noFill/>
          <a:ln/>
        </p:spPr>
        <p:txBody>
          <a:bodyPr wrap="square" lIns="0" tIns="0" rIns="0" bIns="0" rtlCol="0" anchor="t"/>
          <a:lstStyle/>
          <a:p>
            <a:pPr algn="l" indent="0" marL="0">
              <a:lnSpc>
                <a:spcPct val="122000"/>
              </a:lnSpc>
              <a:buNone/>
            </a:pPr>
            <a:r>
              <a:rPr lang="en-US" sz="1020" dirty="0">
                <a:solidFill>
                  <a:srgbClr val="1A1A1A"/>
                </a:solidFill>
                <a:latin typeface="Arial" pitchFamily="34" charset="0"/>
                <a:ea typeface="Arial" pitchFamily="34" charset="-122"/>
                <a:cs typeface="Arial" pitchFamily="34" charset="-120"/>
              </a:rPr>
              <a:t>Decision under pressure is not the absence of competing information. It is the selection of one line through it, and the willingness to commit at nodes.</a:t>
            </a:r>
            <a:endParaRPr lang="en-US" sz="1020" dirty="0"/>
          </a:p>
        </p:txBody>
      </p:sp>
      <p:sp>
        <p:nvSpPr>
          <p:cNvPr id="18" name="Text 15"/>
          <p:cNvSpPr/>
          <p:nvPr/>
        </p:nvSpPr>
        <p:spPr>
          <a:xfrm>
            <a:off x="566928" y="548497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STRENGTHS</a:t>
            </a:r>
            <a:endParaRPr lang="en-US" sz="740" dirty="0"/>
          </a:p>
        </p:txBody>
      </p:sp>
      <p:sp>
        <p:nvSpPr>
          <p:cNvPr id="19" name="Shape 16"/>
          <p:cNvSpPr/>
          <p:nvPr/>
        </p:nvSpPr>
        <p:spPr>
          <a:xfrm>
            <a:off x="566928" y="5667858"/>
            <a:ext cx="6428232" cy="7315"/>
          </a:xfrm>
          <a:prstGeom prst="rect">
            <a:avLst/>
          </a:prstGeom>
          <a:solidFill>
            <a:srgbClr val="D2D2D2"/>
          </a:solidFill>
          <a:ln/>
        </p:spPr>
      </p:sp>
      <p:sp>
        <p:nvSpPr>
          <p:cNvPr id="20" name="Text 17"/>
          <p:cNvSpPr/>
          <p:nvPr/>
        </p:nvSpPr>
        <p:spPr>
          <a:xfrm>
            <a:off x="3909060" y="5484978"/>
            <a:ext cx="3086100" cy="182880"/>
          </a:xfrm>
          <a:prstGeom prst="rect">
            <a:avLst/>
          </a:prstGeom>
          <a:noFill/>
          <a:ln/>
        </p:spPr>
        <p:txBody>
          <a:bodyPr wrap="square" lIns="0" tIns="0" rIns="0" bIns="0" rtlCol="0" anchor="ctr"/>
          <a:lstStyle/>
          <a:p>
            <a:pPr algn="l" indent="0" marL="0">
              <a:buNone/>
            </a:pPr>
            <a:r>
              <a:rPr lang="en-US" sz="740" b="1" spc="160" kern="0" dirty="0">
                <a:solidFill>
                  <a:srgbClr val="1A1A1A"/>
                </a:solidFill>
                <a:latin typeface="Arial" pitchFamily="34" charset="0"/>
                <a:ea typeface="Arial" pitchFamily="34" charset="-122"/>
                <a:cs typeface="Arial" pitchFamily="34" charset="-120"/>
              </a:rPr>
              <a:t>RISKS</a:t>
            </a:r>
            <a:endParaRPr lang="en-US" sz="740" dirty="0"/>
          </a:p>
        </p:txBody>
      </p:sp>
      <p:sp>
        <p:nvSpPr>
          <p:cNvPr id="21" name="Text 18"/>
          <p:cNvSpPr/>
          <p:nvPr/>
        </p:nvSpPr>
        <p:spPr>
          <a:xfrm>
            <a:off x="566928" y="5777586"/>
            <a:ext cx="3086100" cy="2377440"/>
          </a:xfrm>
          <a:prstGeom prst="rect">
            <a:avLst/>
          </a:prstGeom>
          <a:noFill/>
          <a:ln/>
        </p:spPr>
        <p:txBody>
          <a:bodyPr wrap="square" lIns="0" tIns="0" rIns="0" bIns="0" rtlCol="0" anchor="t"/>
          <a:lstStyle/>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The only concept that directly represents decision, which is central to the framework and absent from the other two.</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Gives an immediately useful device for phase diagrams, decision support and pathway documentation.</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Nodes provide a natural interactive affordance in digital products.</a:t>
            </a:r>
            <a:endParaRPr lang="en-US" sz="860" dirty="0"/>
          </a:p>
        </p:txBody>
      </p:sp>
      <p:sp>
        <p:nvSpPr>
          <p:cNvPr id="22" name="Text 19"/>
          <p:cNvSpPr/>
          <p:nvPr/>
        </p:nvSpPr>
        <p:spPr>
          <a:xfrm>
            <a:off x="3909060" y="5777586"/>
            <a:ext cx="3086100" cy="2377440"/>
          </a:xfrm>
          <a:prstGeom prst="rect">
            <a:avLst/>
          </a:prstGeom>
          <a:noFill/>
          <a:ln/>
        </p:spPr>
        <p:txBody>
          <a:bodyPr wrap="square" lIns="0" tIns="0" rIns="0" bIns="0" rtlCol="0" anchor="t"/>
          <a:lstStyle/>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Closest of the three to contemporary technology branding. Without severe restraint it reads as a data-visualisation aesthetic.</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The noise field is easily overdone and becomes ornament.</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Weakest at very small size, where the field collapses into grey.</a:t>
            </a:r>
            <a:endParaRPr lang="en-US" sz="860" dirty="0"/>
          </a:p>
        </p:txBody>
      </p:sp>
      <p:sp>
        <p:nvSpPr>
          <p:cNvPr id="23" name="Text 20"/>
          <p:cNvSpPr/>
          <p:nvPr/>
        </p:nvSpPr>
        <p:spPr>
          <a:xfrm>
            <a:off x="566928" y="828446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TESTED AT SIZE</a:t>
            </a:r>
            <a:endParaRPr lang="en-US" sz="740" dirty="0"/>
          </a:p>
        </p:txBody>
      </p:sp>
      <p:sp>
        <p:nvSpPr>
          <p:cNvPr id="24" name="Shape 21"/>
          <p:cNvSpPr/>
          <p:nvPr/>
        </p:nvSpPr>
        <p:spPr>
          <a:xfrm>
            <a:off x="566928" y="8467344"/>
            <a:ext cx="6428232" cy="7315"/>
          </a:xfrm>
          <a:prstGeom prst="rect">
            <a:avLst/>
          </a:prstGeom>
          <a:solidFill>
            <a:srgbClr val="D2D2D2"/>
          </a:solidFill>
          <a:ln/>
        </p:spPr>
      </p:sp>
      <p:sp>
        <p:nvSpPr>
          <p:cNvPr id="25" name="Shape 22"/>
          <p:cNvSpPr/>
          <p:nvPr/>
        </p:nvSpPr>
        <p:spPr>
          <a:xfrm>
            <a:off x="566928" y="8577072"/>
            <a:ext cx="2743200" cy="841248"/>
          </a:xfrm>
          <a:prstGeom prst="rect">
            <a:avLst/>
          </a:prstGeom>
          <a:solidFill>
            <a:srgbClr val="FFFFFF"/>
          </a:solidFill>
          <a:ln w="12700">
            <a:solidFill>
              <a:srgbClr val="D2D2D2"/>
            </a:solidFill>
            <a:prstDash val="solid"/>
          </a:ln>
        </p:spPr>
      </p:sp>
      <p:pic>
        <p:nvPicPr>
          <p:cNvPr id="26" name="Image 1" descr="preencoded.png">    </p:cNvPr>
          <p:cNvPicPr>
            <a:picLocks noChangeAspect="1"/>
          </p:cNvPicPr>
          <p:nvPr/>
        </p:nvPicPr>
        <p:blipFill>
          <a:blip r:embed="rId2"/>
          <a:stretch>
            <a:fillRect/>
          </a:stretch>
        </p:blipFill>
        <p:spPr>
          <a:xfrm>
            <a:off x="603504" y="8662416"/>
            <a:ext cx="2670048" cy="670560"/>
          </a:xfrm>
          <a:prstGeom prst="rect">
            <a:avLst/>
          </a:prstGeom>
        </p:spPr>
      </p:pic>
      <p:sp>
        <p:nvSpPr>
          <p:cNvPr id="27" name="Text 23"/>
          <p:cNvSpPr/>
          <p:nvPr/>
        </p:nvSpPr>
        <p:spPr>
          <a:xfrm>
            <a:off x="566928" y="9454896"/>
            <a:ext cx="2743200" cy="164592"/>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Cover, 72 mm</a:t>
            </a:r>
            <a:endParaRPr lang="en-US" sz="700" dirty="0"/>
          </a:p>
        </p:txBody>
      </p:sp>
      <p:sp>
        <p:nvSpPr>
          <p:cNvPr id="28" name="Shape 24"/>
          <p:cNvSpPr/>
          <p:nvPr/>
        </p:nvSpPr>
        <p:spPr>
          <a:xfrm>
            <a:off x="3438144" y="8577072"/>
            <a:ext cx="1691640" cy="841248"/>
          </a:xfrm>
          <a:prstGeom prst="rect">
            <a:avLst/>
          </a:prstGeom>
          <a:solidFill>
            <a:srgbClr val="FFFFFF"/>
          </a:solidFill>
          <a:ln w="12700">
            <a:solidFill>
              <a:srgbClr val="D2D2D2"/>
            </a:solidFill>
            <a:prstDash val="solid"/>
          </a:ln>
        </p:spPr>
      </p:sp>
      <p:pic>
        <p:nvPicPr>
          <p:cNvPr id="29" name="Image 2" descr="preencoded.png">    </p:cNvPr>
          <p:cNvPicPr>
            <a:picLocks noChangeAspect="1"/>
          </p:cNvPicPr>
          <p:nvPr/>
        </p:nvPicPr>
        <p:blipFill>
          <a:blip r:embed="rId3"/>
          <a:stretch>
            <a:fillRect/>
          </a:stretch>
        </p:blipFill>
        <p:spPr>
          <a:xfrm>
            <a:off x="3474720" y="8790940"/>
            <a:ext cx="1618488" cy="413512"/>
          </a:xfrm>
          <a:prstGeom prst="rect">
            <a:avLst/>
          </a:prstGeom>
        </p:spPr>
      </p:pic>
      <p:sp>
        <p:nvSpPr>
          <p:cNvPr id="30" name="Text 25"/>
          <p:cNvSpPr/>
          <p:nvPr/>
        </p:nvSpPr>
        <p:spPr>
          <a:xfrm>
            <a:off x="3438144" y="9454896"/>
            <a:ext cx="1691640" cy="164592"/>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Slide, 44 mm</a:t>
            </a:r>
            <a:endParaRPr lang="en-US" sz="700" dirty="0"/>
          </a:p>
        </p:txBody>
      </p:sp>
      <p:sp>
        <p:nvSpPr>
          <p:cNvPr id="31" name="Shape 26"/>
          <p:cNvSpPr/>
          <p:nvPr/>
        </p:nvSpPr>
        <p:spPr>
          <a:xfrm>
            <a:off x="5257800" y="8577072"/>
            <a:ext cx="914400" cy="841248"/>
          </a:xfrm>
          <a:prstGeom prst="rect">
            <a:avLst/>
          </a:prstGeom>
          <a:solidFill>
            <a:srgbClr val="FFFFFF"/>
          </a:solidFill>
          <a:ln w="12700">
            <a:solidFill>
              <a:srgbClr val="D2D2D2"/>
            </a:solidFill>
            <a:prstDash val="solid"/>
          </a:ln>
        </p:spPr>
      </p:sp>
      <p:pic>
        <p:nvPicPr>
          <p:cNvPr id="32" name="Image 3" descr="preencoded.png">    </p:cNvPr>
          <p:cNvPicPr>
            <a:picLocks noChangeAspect="1"/>
          </p:cNvPicPr>
          <p:nvPr/>
        </p:nvPicPr>
        <p:blipFill>
          <a:blip r:embed="rId4"/>
          <a:stretch>
            <a:fillRect/>
          </a:stretch>
        </p:blipFill>
        <p:spPr>
          <a:xfrm>
            <a:off x="5294376" y="8885936"/>
            <a:ext cx="841248" cy="223520"/>
          </a:xfrm>
          <a:prstGeom prst="rect">
            <a:avLst/>
          </a:prstGeom>
        </p:spPr>
      </p:pic>
      <p:sp>
        <p:nvSpPr>
          <p:cNvPr id="33" name="Text 27"/>
          <p:cNvSpPr/>
          <p:nvPr/>
        </p:nvSpPr>
        <p:spPr>
          <a:xfrm>
            <a:off x="5257800" y="9454896"/>
            <a:ext cx="914400" cy="164592"/>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Favicon, 24 mm</a:t>
            </a:r>
            <a:endParaRPr lang="en-US" sz="700" dirty="0"/>
          </a:p>
        </p:txBody>
      </p:sp>
      <p:sp>
        <p:nvSpPr>
          <p:cNvPr id="34" name="Text 28"/>
          <p:cNvSpPr/>
          <p:nvPr/>
        </p:nvSpPr>
        <p:spPr>
          <a:xfrm>
            <a:off x="566928" y="9692640"/>
            <a:ext cx="6428232" cy="420624"/>
          </a:xfrm>
          <a:prstGeom prst="rect">
            <a:avLst/>
          </a:prstGeom>
          <a:noFill/>
          <a:ln/>
        </p:spPr>
        <p:txBody>
          <a:bodyPr wrap="square" lIns="0" tIns="0" rIns="0" bIns="0" rtlCol="0" anchor="t"/>
          <a:lstStyle/>
          <a:p>
            <a:pPr algn="l" indent="0" marL="0">
              <a:lnSpc>
                <a:spcPct val="122000"/>
              </a:lnSpc>
              <a:buNone/>
            </a:pPr>
            <a:r>
              <a:rPr lang="en-US" sz="840" dirty="0">
                <a:solidFill>
                  <a:srgbClr val="3E3E3E"/>
                </a:solidFill>
                <a:latin typeface="Arial" pitchFamily="34" charset="0"/>
                <a:ea typeface="Arial" pitchFamily="34" charset="-122"/>
                <a:cs typeface="Arial" pitchFamily="34" charset="-120"/>
              </a:rPr>
              <a:t>The noise field is the first thing to go. At favicon size the concept reduces to a plain line with dots, which is indistinguishable from Concept A.</a:t>
            </a:r>
            <a:endParaRPr lang="en-US" sz="8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RECOMMENDATION</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10</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Evaluation and recommendation</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Scored against the criteria that matter for a system intended to last twenty years, not against which concept looks best on a cover.</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0078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EVALUATION</a:t>
            </a:r>
            <a:endParaRPr lang="en-US" sz="740" dirty="0"/>
          </a:p>
        </p:txBody>
      </p:sp>
      <p:sp>
        <p:nvSpPr>
          <p:cNvPr id="10" name="Shape 8"/>
          <p:cNvSpPr/>
          <p:nvPr/>
        </p:nvSpPr>
        <p:spPr>
          <a:xfrm>
            <a:off x="566928" y="1883664"/>
            <a:ext cx="6428232" cy="7315"/>
          </a:xfrm>
          <a:prstGeom prst="rect">
            <a:avLst/>
          </a:prstGeom>
          <a:solidFill>
            <a:srgbClr val="D2D2D2"/>
          </a:solidFill>
          <a:ln/>
        </p:spPr>
      </p:sp>
      <p:sp>
        <p:nvSpPr>
          <p:cNvPr id="11" name="Text 9"/>
          <p:cNvSpPr/>
          <p:nvPr/>
        </p:nvSpPr>
        <p:spPr>
          <a:xfrm>
            <a:off x="566928" y="1993392"/>
            <a:ext cx="3136392" cy="219456"/>
          </a:xfrm>
          <a:prstGeom prst="rect">
            <a:avLst/>
          </a:prstGeom>
          <a:noFill/>
          <a:ln/>
        </p:spPr>
        <p:txBody>
          <a:bodyPr wrap="square" lIns="0" tIns="0" rIns="0" bIns="0" rtlCol="0" anchor="ctr"/>
          <a:lstStyle/>
          <a:p>
            <a:pPr algn="l" indent="0" marL="0">
              <a:buNone/>
            </a:pPr>
            <a:endParaRPr lang="en-US" sz="760" dirty="0"/>
          </a:p>
        </p:txBody>
      </p:sp>
      <p:sp>
        <p:nvSpPr>
          <p:cNvPr id="12" name="Text 10"/>
          <p:cNvSpPr/>
          <p:nvPr/>
        </p:nvSpPr>
        <p:spPr>
          <a:xfrm>
            <a:off x="3703320" y="1993392"/>
            <a:ext cx="1097280" cy="219456"/>
          </a:xfrm>
          <a:prstGeom prst="rect">
            <a:avLst/>
          </a:prstGeom>
          <a:noFill/>
          <a:ln/>
        </p:spPr>
        <p:txBody>
          <a:bodyPr wrap="square" lIns="0" tIns="0" rIns="0" bIns="0" rtlCol="0" anchor="ctr"/>
          <a:lstStyle/>
          <a:p>
            <a:pPr algn="ctr" indent="0" marL="0">
              <a:buNone/>
            </a:pPr>
            <a:r>
              <a:rPr lang="en-US" sz="760" b="1" spc="80" kern="0" dirty="0">
                <a:solidFill>
                  <a:srgbClr val="1A1A1A"/>
                </a:solidFill>
                <a:latin typeface="Arial" pitchFamily="34" charset="0"/>
                <a:ea typeface="Arial" pitchFamily="34" charset="-122"/>
                <a:cs typeface="Arial" pitchFamily="34" charset="-120"/>
              </a:rPr>
              <a:t>A  DATUM</a:t>
            </a:r>
            <a:endParaRPr lang="en-US" sz="760" dirty="0"/>
          </a:p>
        </p:txBody>
      </p:sp>
      <p:sp>
        <p:nvSpPr>
          <p:cNvPr id="13" name="Text 11"/>
          <p:cNvSpPr/>
          <p:nvPr/>
        </p:nvSpPr>
        <p:spPr>
          <a:xfrm>
            <a:off x="4800600" y="1993392"/>
            <a:ext cx="1097280" cy="219456"/>
          </a:xfrm>
          <a:prstGeom prst="rect">
            <a:avLst/>
          </a:prstGeom>
          <a:noFill/>
          <a:ln/>
        </p:spPr>
        <p:txBody>
          <a:bodyPr wrap="square" lIns="0" tIns="0" rIns="0" bIns="0" rtlCol="0" anchor="ctr"/>
          <a:lstStyle/>
          <a:p>
            <a:pPr algn="ctr" indent="0" marL="0">
              <a:buNone/>
            </a:pPr>
            <a:r>
              <a:rPr lang="en-US" sz="760" b="1" spc="80" kern="0" dirty="0">
                <a:solidFill>
                  <a:srgbClr val="1A1A1A"/>
                </a:solidFill>
                <a:latin typeface="Arial" pitchFamily="34" charset="0"/>
                <a:ea typeface="Arial" pitchFamily="34" charset="-122"/>
                <a:cs typeface="Arial" pitchFamily="34" charset="-120"/>
              </a:rPr>
              <a:t>B  THRESHOLD</a:t>
            </a:r>
            <a:endParaRPr lang="en-US" sz="760" dirty="0"/>
          </a:p>
        </p:txBody>
      </p:sp>
      <p:sp>
        <p:nvSpPr>
          <p:cNvPr id="14" name="Text 12"/>
          <p:cNvSpPr/>
          <p:nvPr/>
        </p:nvSpPr>
        <p:spPr>
          <a:xfrm>
            <a:off x="5897880" y="1993392"/>
            <a:ext cx="1097280" cy="219456"/>
          </a:xfrm>
          <a:prstGeom prst="rect">
            <a:avLst/>
          </a:prstGeom>
          <a:noFill/>
          <a:ln/>
        </p:spPr>
        <p:txBody>
          <a:bodyPr wrap="square" lIns="0" tIns="0" rIns="0" bIns="0" rtlCol="0" anchor="ctr"/>
          <a:lstStyle/>
          <a:p>
            <a:pPr algn="ctr" indent="0" marL="0">
              <a:buNone/>
            </a:pPr>
            <a:r>
              <a:rPr lang="en-US" sz="760" b="1" spc="80" kern="0" dirty="0">
                <a:solidFill>
                  <a:srgbClr val="1A1A1A"/>
                </a:solidFill>
                <a:latin typeface="Arial" pitchFamily="34" charset="0"/>
                <a:ea typeface="Arial" pitchFamily="34" charset="-122"/>
                <a:cs typeface="Arial" pitchFamily="34" charset="-120"/>
              </a:rPr>
              <a:t>C  TRACE</a:t>
            </a:r>
            <a:endParaRPr lang="en-US" sz="760" dirty="0"/>
          </a:p>
        </p:txBody>
      </p:sp>
      <p:sp>
        <p:nvSpPr>
          <p:cNvPr id="15" name="Shape 13"/>
          <p:cNvSpPr/>
          <p:nvPr/>
        </p:nvSpPr>
        <p:spPr>
          <a:xfrm>
            <a:off x="566928" y="2231136"/>
            <a:ext cx="6428232" cy="10973"/>
          </a:xfrm>
          <a:prstGeom prst="rect">
            <a:avLst/>
          </a:prstGeom>
          <a:solidFill>
            <a:srgbClr val="1A1A1A"/>
          </a:solidFill>
          <a:ln/>
        </p:spPr>
      </p:sp>
      <p:sp>
        <p:nvSpPr>
          <p:cNvPr id="16" name="Text 14"/>
          <p:cNvSpPr/>
          <p:nvPr/>
        </p:nvSpPr>
        <p:spPr>
          <a:xfrm>
            <a:off x="566928" y="2304288"/>
            <a:ext cx="3136392" cy="274320"/>
          </a:xfrm>
          <a:prstGeom prst="rect">
            <a:avLst/>
          </a:prstGeom>
          <a:noFill/>
          <a:ln/>
        </p:spPr>
        <p:txBody>
          <a:bodyPr wrap="square" lIns="0" tIns="0" rIns="0" bIns="0" rtlCol="0" anchor="ctr"/>
          <a:lstStyle/>
          <a:p>
            <a:pPr algn="l" indent="0" marL="0">
              <a:buNone/>
            </a:pPr>
            <a:r>
              <a:rPr lang="en-US" sz="880" dirty="0">
                <a:solidFill>
                  <a:srgbClr val="1A1A1A"/>
                </a:solidFill>
                <a:latin typeface="Arial" pitchFamily="34" charset="0"/>
                <a:ea typeface="Arial" pitchFamily="34" charset="-122"/>
                <a:cs typeface="Arial" pitchFamily="34" charset="-120"/>
              </a:rPr>
              <a:t>Longevity</a:t>
            </a:r>
            <a:endParaRPr lang="en-US" sz="880" dirty="0"/>
          </a:p>
        </p:txBody>
      </p:sp>
      <p:sp>
        <p:nvSpPr>
          <p:cNvPr id="17" name="Shape 15"/>
          <p:cNvSpPr/>
          <p:nvPr/>
        </p:nvSpPr>
        <p:spPr>
          <a:xfrm>
            <a:off x="3904488" y="2395728"/>
            <a:ext cx="100584" cy="100584"/>
          </a:xfrm>
          <a:prstGeom prst="rect">
            <a:avLst/>
          </a:prstGeom>
          <a:solidFill>
            <a:srgbClr val="1A1A1A"/>
          </a:solidFill>
          <a:ln/>
        </p:spPr>
      </p:sp>
      <p:sp>
        <p:nvSpPr>
          <p:cNvPr id="18" name="Shape 16"/>
          <p:cNvSpPr/>
          <p:nvPr/>
        </p:nvSpPr>
        <p:spPr>
          <a:xfrm>
            <a:off x="4041648" y="2395728"/>
            <a:ext cx="100584" cy="100584"/>
          </a:xfrm>
          <a:prstGeom prst="rect">
            <a:avLst/>
          </a:prstGeom>
          <a:solidFill>
            <a:srgbClr val="1A1A1A"/>
          </a:solidFill>
          <a:ln/>
        </p:spPr>
      </p:sp>
      <p:sp>
        <p:nvSpPr>
          <p:cNvPr id="19" name="Shape 17"/>
          <p:cNvSpPr/>
          <p:nvPr/>
        </p:nvSpPr>
        <p:spPr>
          <a:xfrm>
            <a:off x="4178808" y="2395728"/>
            <a:ext cx="100584" cy="100584"/>
          </a:xfrm>
          <a:prstGeom prst="rect">
            <a:avLst/>
          </a:prstGeom>
          <a:solidFill>
            <a:srgbClr val="1A1A1A"/>
          </a:solidFill>
          <a:ln/>
        </p:spPr>
      </p:sp>
      <p:sp>
        <p:nvSpPr>
          <p:cNvPr id="20" name="Shape 18"/>
          <p:cNvSpPr/>
          <p:nvPr/>
        </p:nvSpPr>
        <p:spPr>
          <a:xfrm>
            <a:off x="4315968" y="2395728"/>
            <a:ext cx="100584" cy="100584"/>
          </a:xfrm>
          <a:prstGeom prst="rect">
            <a:avLst/>
          </a:prstGeom>
          <a:solidFill>
            <a:srgbClr val="1A1A1A"/>
          </a:solidFill>
          <a:ln/>
        </p:spPr>
      </p:sp>
      <p:sp>
        <p:nvSpPr>
          <p:cNvPr id="21" name="Shape 19"/>
          <p:cNvSpPr/>
          <p:nvPr/>
        </p:nvSpPr>
        <p:spPr>
          <a:xfrm>
            <a:off x="4453128" y="2395728"/>
            <a:ext cx="100584" cy="100584"/>
          </a:xfrm>
          <a:prstGeom prst="rect">
            <a:avLst/>
          </a:prstGeom>
          <a:solidFill>
            <a:srgbClr val="1A1A1A"/>
          </a:solidFill>
          <a:ln/>
        </p:spPr>
      </p:sp>
      <p:sp>
        <p:nvSpPr>
          <p:cNvPr id="22" name="Shape 20"/>
          <p:cNvSpPr/>
          <p:nvPr/>
        </p:nvSpPr>
        <p:spPr>
          <a:xfrm>
            <a:off x="5001768" y="2395728"/>
            <a:ext cx="100584" cy="100584"/>
          </a:xfrm>
          <a:prstGeom prst="rect">
            <a:avLst/>
          </a:prstGeom>
          <a:solidFill>
            <a:srgbClr val="6E6E6E"/>
          </a:solidFill>
          <a:ln/>
        </p:spPr>
      </p:sp>
      <p:sp>
        <p:nvSpPr>
          <p:cNvPr id="23" name="Shape 21"/>
          <p:cNvSpPr/>
          <p:nvPr/>
        </p:nvSpPr>
        <p:spPr>
          <a:xfrm>
            <a:off x="5138928" y="2395728"/>
            <a:ext cx="100584" cy="100584"/>
          </a:xfrm>
          <a:prstGeom prst="rect">
            <a:avLst/>
          </a:prstGeom>
          <a:solidFill>
            <a:srgbClr val="6E6E6E"/>
          </a:solidFill>
          <a:ln/>
        </p:spPr>
      </p:sp>
      <p:sp>
        <p:nvSpPr>
          <p:cNvPr id="24" name="Shape 22"/>
          <p:cNvSpPr/>
          <p:nvPr/>
        </p:nvSpPr>
        <p:spPr>
          <a:xfrm>
            <a:off x="5276088" y="2395728"/>
            <a:ext cx="100584" cy="100584"/>
          </a:xfrm>
          <a:prstGeom prst="rect">
            <a:avLst/>
          </a:prstGeom>
          <a:solidFill>
            <a:srgbClr val="E4E4E4"/>
          </a:solidFill>
          <a:ln/>
        </p:spPr>
      </p:sp>
      <p:sp>
        <p:nvSpPr>
          <p:cNvPr id="25" name="Shape 23"/>
          <p:cNvSpPr/>
          <p:nvPr/>
        </p:nvSpPr>
        <p:spPr>
          <a:xfrm>
            <a:off x="5413248" y="2395728"/>
            <a:ext cx="100584" cy="100584"/>
          </a:xfrm>
          <a:prstGeom prst="rect">
            <a:avLst/>
          </a:prstGeom>
          <a:solidFill>
            <a:srgbClr val="E4E4E4"/>
          </a:solidFill>
          <a:ln/>
        </p:spPr>
      </p:sp>
      <p:sp>
        <p:nvSpPr>
          <p:cNvPr id="26" name="Shape 24"/>
          <p:cNvSpPr/>
          <p:nvPr/>
        </p:nvSpPr>
        <p:spPr>
          <a:xfrm>
            <a:off x="5550408" y="2395728"/>
            <a:ext cx="100584" cy="100584"/>
          </a:xfrm>
          <a:prstGeom prst="rect">
            <a:avLst/>
          </a:prstGeom>
          <a:solidFill>
            <a:srgbClr val="E4E4E4"/>
          </a:solidFill>
          <a:ln/>
        </p:spPr>
      </p:sp>
      <p:sp>
        <p:nvSpPr>
          <p:cNvPr id="27" name="Shape 25"/>
          <p:cNvSpPr/>
          <p:nvPr/>
        </p:nvSpPr>
        <p:spPr>
          <a:xfrm>
            <a:off x="6099048" y="2395728"/>
            <a:ext cx="100584" cy="100584"/>
          </a:xfrm>
          <a:prstGeom prst="rect">
            <a:avLst/>
          </a:prstGeom>
          <a:solidFill>
            <a:srgbClr val="6E6E6E"/>
          </a:solidFill>
          <a:ln/>
        </p:spPr>
      </p:sp>
      <p:sp>
        <p:nvSpPr>
          <p:cNvPr id="28" name="Shape 26"/>
          <p:cNvSpPr/>
          <p:nvPr/>
        </p:nvSpPr>
        <p:spPr>
          <a:xfrm>
            <a:off x="6236208" y="2395728"/>
            <a:ext cx="100584" cy="100584"/>
          </a:xfrm>
          <a:prstGeom prst="rect">
            <a:avLst/>
          </a:prstGeom>
          <a:solidFill>
            <a:srgbClr val="6E6E6E"/>
          </a:solidFill>
          <a:ln/>
        </p:spPr>
      </p:sp>
      <p:sp>
        <p:nvSpPr>
          <p:cNvPr id="29" name="Shape 27"/>
          <p:cNvSpPr/>
          <p:nvPr/>
        </p:nvSpPr>
        <p:spPr>
          <a:xfrm>
            <a:off x="6373368" y="2395728"/>
            <a:ext cx="100584" cy="100584"/>
          </a:xfrm>
          <a:prstGeom prst="rect">
            <a:avLst/>
          </a:prstGeom>
          <a:solidFill>
            <a:srgbClr val="6E6E6E"/>
          </a:solidFill>
          <a:ln/>
        </p:spPr>
      </p:sp>
      <p:sp>
        <p:nvSpPr>
          <p:cNvPr id="30" name="Shape 28"/>
          <p:cNvSpPr/>
          <p:nvPr/>
        </p:nvSpPr>
        <p:spPr>
          <a:xfrm>
            <a:off x="6510528" y="2395728"/>
            <a:ext cx="100584" cy="100584"/>
          </a:xfrm>
          <a:prstGeom prst="rect">
            <a:avLst/>
          </a:prstGeom>
          <a:solidFill>
            <a:srgbClr val="E4E4E4"/>
          </a:solidFill>
          <a:ln/>
        </p:spPr>
      </p:sp>
      <p:sp>
        <p:nvSpPr>
          <p:cNvPr id="31" name="Shape 29"/>
          <p:cNvSpPr/>
          <p:nvPr/>
        </p:nvSpPr>
        <p:spPr>
          <a:xfrm>
            <a:off x="6647688" y="2395728"/>
            <a:ext cx="100584" cy="100584"/>
          </a:xfrm>
          <a:prstGeom prst="rect">
            <a:avLst/>
          </a:prstGeom>
          <a:solidFill>
            <a:srgbClr val="E4E4E4"/>
          </a:solidFill>
          <a:ln/>
        </p:spPr>
      </p:sp>
      <p:sp>
        <p:nvSpPr>
          <p:cNvPr id="32" name="Shape 30"/>
          <p:cNvSpPr/>
          <p:nvPr/>
        </p:nvSpPr>
        <p:spPr>
          <a:xfrm>
            <a:off x="566928" y="2578608"/>
            <a:ext cx="6428232" cy="7315"/>
          </a:xfrm>
          <a:prstGeom prst="rect">
            <a:avLst/>
          </a:prstGeom>
          <a:solidFill>
            <a:srgbClr val="D2D2D2"/>
          </a:solidFill>
          <a:ln/>
        </p:spPr>
      </p:sp>
      <p:sp>
        <p:nvSpPr>
          <p:cNvPr id="33" name="Text 31"/>
          <p:cNvSpPr/>
          <p:nvPr/>
        </p:nvSpPr>
        <p:spPr>
          <a:xfrm>
            <a:off x="566928" y="2633472"/>
            <a:ext cx="3136392" cy="274320"/>
          </a:xfrm>
          <a:prstGeom prst="rect">
            <a:avLst/>
          </a:prstGeom>
          <a:noFill/>
          <a:ln/>
        </p:spPr>
        <p:txBody>
          <a:bodyPr wrap="square" lIns="0" tIns="0" rIns="0" bIns="0" rtlCol="0" anchor="ctr"/>
          <a:lstStyle/>
          <a:p>
            <a:pPr algn="l" indent="0" marL="0">
              <a:buNone/>
            </a:pPr>
            <a:r>
              <a:rPr lang="en-US" sz="880" dirty="0">
                <a:solidFill>
                  <a:srgbClr val="1A1A1A"/>
                </a:solidFill>
                <a:latin typeface="Arial" pitchFamily="34" charset="0"/>
                <a:ea typeface="Arial" pitchFamily="34" charset="-122"/>
                <a:cs typeface="Arial" pitchFamily="34" charset="-120"/>
              </a:rPr>
              <a:t>Scalability</a:t>
            </a:r>
            <a:endParaRPr lang="en-US" sz="880" dirty="0"/>
          </a:p>
        </p:txBody>
      </p:sp>
      <p:sp>
        <p:nvSpPr>
          <p:cNvPr id="34" name="Shape 32"/>
          <p:cNvSpPr/>
          <p:nvPr/>
        </p:nvSpPr>
        <p:spPr>
          <a:xfrm>
            <a:off x="3904488" y="2724912"/>
            <a:ext cx="100584" cy="100584"/>
          </a:xfrm>
          <a:prstGeom prst="rect">
            <a:avLst/>
          </a:prstGeom>
          <a:solidFill>
            <a:srgbClr val="1A1A1A"/>
          </a:solidFill>
          <a:ln/>
        </p:spPr>
      </p:sp>
      <p:sp>
        <p:nvSpPr>
          <p:cNvPr id="35" name="Shape 33"/>
          <p:cNvSpPr/>
          <p:nvPr/>
        </p:nvSpPr>
        <p:spPr>
          <a:xfrm>
            <a:off x="4041648" y="2724912"/>
            <a:ext cx="100584" cy="100584"/>
          </a:xfrm>
          <a:prstGeom prst="rect">
            <a:avLst/>
          </a:prstGeom>
          <a:solidFill>
            <a:srgbClr val="1A1A1A"/>
          </a:solidFill>
          <a:ln/>
        </p:spPr>
      </p:sp>
      <p:sp>
        <p:nvSpPr>
          <p:cNvPr id="36" name="Shape 34"/>
          <p:cNvSpPr/>
          <p:nvPr/>
        </p:nvSpPr>
        <p:spPr>
          <a:xfrm>
            <a:off x="4178808" y="2724912"/>
            <a:ext cx="100584" cy="100584"/>
          </a:xfrm>
          <a:prstGeom prst="rect">
            <a:avLst/>
          </a:prstGeom>
          <a:solidFill>
            <a:srgbClr val="1A1A1A"/>
          </a:solidFill>
          <a:ln/>
        </p:spPr>
      </p:sp>
      <p:sp>
        <p:nvSpPr>
          <p:cNvPr id="37" name="Shape 35"/>
          <p:cNvSpPr/>
          <p:nvPr/>
        </p:nvSpPr>
        <p:spPr>
          <a:xfrm>
            <a:off x="4315968" y="2724912"/>
            <a:ext cx="100584" cy="100584"/>
          </a:xfrm>
          <a:prstGeom prst="rect">
            <a:avLst/>
          </a:prstGeom>
          <a:solidFill>
            <a:srgbClr val="1A1A1A"/>
          </a:solidFill>
          <a:ln/>
        </p:spPr>
      </p:sp>
      <p:sp>
        <p:nvSpPr>
          <p:cNvPr id="38" name="Shape 36"/>
          <p:cNvSpPr/>
          <p:nvPr/>
        </p:nvSpPr>
        <p:spPr>
          <a:xfrm>
            <a:off x="4453128" y="2724912"/>
            <a:ext cx="100584" cy="100584"/>
          </a:xfrm>
          <a:prstGeom prst="rect">
            <a:avLst/>
          </a:prstGeom>
          <a:solidFill>
            <a:srgbClr val="1A1A1A"/>
          </a:solidFill>
          <a:ln/>
        </p:spPr>
      </p:sp>
      <p:sp>
        <p:nvSpPr>
          <p:cNvPr id="39" name="Shape 37"/>
          <p:cNvSpPr/>
          <p:nvPr/>
        </p:nvSpPr>
        <p:spPr>
          <a:xfrm>
            <a:off x="5001768" y="2724912"/>
            <a:ext cx="100584" cy="100584"/>
          </a:xfrm>
          <a:prstGeom prst="rect">
            <a:avLst/>
          </a:prstGeom>
          <a:solidFill>
            <a:srgbClr val="6E6E6E"/>
          </a:solidFill>
          <a:ln/>
        </p:spPr>
      </p:sp>
      <p:sp>
        <p:nvSpPr>
          <p:cNvPr id="40" name="Shape 38"/>
          <p:cNvSpPr/>
          <p:nvPr/>
        </p:nvSpPr>
        <p:spPr>
          <a:xfrm>
            <a:off x="5138928" y="2724912"/>
            <a:ext cx="100584" cy="100584"/>
          </a:xfrm>
          <a:prstGeom prst="rect">
            <a:avLst/>
          </a:prstGeom>
          <a:solidFill>
            <a:srgbClr val="6E6E6E"/>
          </a:solidFill>
          <a:ln/>
        </p:spPr>
      </p:sp>
      <p:sp>
        <p:nvSpPr>
          <p:cNvPr id="41" name="Shape 39"/>
          <p:cNvSpPr/>
          <p:nvPr/>
        </p:nvSpPr>
        <p:spPr>
          <a:xfrm>
            <a:off x="5276088" y="2724912"/>
            <a:ext cx="100584" cy="100584"/>
          </a:xfrm>
          <a:prstGeom prst="rect">
            <a:avLst/>
          </a:prstGeom>
          <a:solidFill>
            <a:srgbClr val="6E6E6E"/>
          </a:solidFill>
          <a:ln/>
        </p:spPr>
      </p:sp>
      <p:sp>
        <p:nvSpPr>
          <p:cNvPr id="42" name="Shape 40"/>
          <p:cNvSpPr/>
          <p:nvPr/>
        </p:nvSpPr>
        <p:spPr>
          <a:xfrm>
            <a:off x="5413248" y="2724912"/>
            <a:ext cx="100584" cy="100584"/>
          </a:xfrm>
          <a:prstGeom prst="rect">
            <a:avLst/>
          </a:prstGeom>
          <a:solidFill>
            <a:srgbClr val="E4E4E4"/>
          </a:solidFill>
          <a:ln/>
        </p:spPr>
      </p:sp>
      <p:sp>
        <p:nvSpPr>
          <p:cNvPr id="43" name="Shape 41"/>
          <p:cNvSpPr/>
          <p:nvPr/>
        </p:nvSpPr>
        <p:spPr>
          <a:xfrm>
            <a:off x="5550408" y="2724912"/>
            <a:ext cx="100584" cy="100584"/>
          </a:xfrm>
          <a:prstGeom prst="rect">
            <a:avLst/>
          </a:prstGeom>
          <a:solidFill>
            <a:srgbClr val="E4E4E4"/>
          </a:solidFill>
          <a:ln/>
        </p:spPr>
      </p:sp>
      <p:sp>
        <p:nvSpPr>
          <p:cNvPr id="44" name="Shape 42"/>
          <p:cNvSpPr/>
          <p:nvPr/>
        </p:nvSpPr>
        <p:spPr>
          <a:xfrm>
            <a:off x="6099048" y="2724912"/>
            <a:ext cx="100584" cy="100584"/>
          </a:xfrm>
          <a:prstGeom prst="rect">
            <a:avLst/>
          </a:prstGeom>
          <a:solidFill>
            <a:srgbClr val="6E6E6E"/>
          </a:solidFill>
          <a:ln/>
        </p:spPr>
      </p:sp>
      <p:sp>
        <p:nvSpPr>
          <p:cNvPr id="45" name="Shape 43"/>
          <p:cNvSpPr/>
          <p:nvPr/>
        </p:nvSpPr>
        <p:spPr>
          <a:xfrm>
            <a:off x="6236208" y="2724912"/>
            <a:ext cx="100584" cy="100584"/>
          </a:xfrm>
          <a:prstGeom prst="rect">
            <a:avLst/>
          </a:prstGeom>
          <a:solidFill>
            <a:srgbClr val="6E6E6E"/>
          </a:solidFill>
          <a:ln/>
        </p:spPr>
      </p:sp>
      <p:sp>
        <p:nvSpPr>
          <p:cNvPr id="46" name="Shape 44"/>
          <p:cNvSpPr/>
          <p:nvPr/>
        </p:nvSpPr>
        <p:spPr>
          <a:xfrm>
            <a:off x="6373368" y="2724912"/>
            <a:ext cx="100584" cy="100584"/>
          </a:xfrm>
          <a:prstGeom prst="rect">
            <a:avLst/>
          </a:prstGeom>
          <a:solidFill>
            <a:srgbClr val="6E6E6E"/>
          </a:solidFill>
          <a:ln/>
        </p:spPr>
      </p:sp>
      <p:sp>
        <p:nvSpPr>
          <p:cNvPr id="47" name="Shape 45"/>
          <p:cNvSpPr/>
          <p:nvPr/>
        </p:nvSpPr>
        <p:spPr>
          <a:xfrm>
            <a:off x="6510528" y="2724912"/>
            <a:ext cx="100584" cy="100584"/>
          </a:xfrm>
          <a:prstGeom prst="rect">
            <a:avLst/>
          </a:prstGeom>
          <a:solidFill>
            <a:srgbClr val="E4E4E4"/>
          </a:solidFill>
          <a:ln/>
        </p:spPr>
      </p:sp>
      <p:sp>
        <p:nvSpPr>
          <p:cNvPr id="48" name="Shape 46"/>
          <p:cNvSpPr/>
          <p:nvPr/>
        </p:nvSpPr>
        <p:spPr>
          <a:xfrm>
            <a:off x="6647688" y="2724912"/>
            <a:ext cx="100584" cy="100584"/>
          </a:xfrm>
          <a:prstGeom prst="rect">
            <a:avLst/>
          </a:prstGeom>
          <a:solidFill>
            <a:srgbClr val="E4E4E4"/>
          </a:solidFill>
          <a:ln/>
        </p:spPr>
      </p:sp>
      <p:sp>
        <p:nvSpPr>
          <p:cNvPr id="49" name="Shape 47"/>
          <p:cNvSpPr/>
          <p:nvPr/>
        </p:nvSpPr>
        <p:spPr>
          <a:xfrm>
            <a:off x="566928" y="2907792"/>
            <a:ext cx="6428232" cy="7315"/>
          </a:xfrm>
          <a:prstGeom prst="rect">
            <a:avLst/>
          </a:prstGeom>
          <a:solidFill>
            <a:srgbClr val="D2D2D2"/>
          </a:solidFill>
          <a:ln/>
        </p:spPr>
      </p:sp>
      <p:sp>
        <p:nvSpPr>
          <p:cNvPr id="50" name="Text 48"/>
          <p:cNvSpPr/>
          <p:nvPr/>
        </p:nvSpPr>
        <p:spPr>
          <a:xfrm>
            <a:off x="566928" y="2962656"/>
            <a:ext cx="3136392" cy="274320"/>
          </a:xfrm>
          <a:prstGeom prst="rect">
            <a:avLst/>
          </a:prstGeom>
          <a:noFill/>
          <a:ln/>
        </p:spPr>
        <p:txBody>
          <a:bodyPr wrap="square" lIns="0" tIns="0" rIns="0" bIns="0" rtlCol="0" anchor="ctr"/>
          <a:lstStyle/>
          <a:p>
            <a:pPr algn="l" indent="0" marL="0">
              <a:buNone/>
            </a:pPr>
            <a:r>
              <a:rPr lang="en-US" sz="880" dirty="0">
                <a:solidFill>
                  <a:srgbClr val="1A1A1A"/>
                </a:solidFill>
                <a:latin typeface="Arial" pitchFamily="34" charset="0"/>
                <a:ea typeface="Arial" pitchFamily="34" charset="-122"/>
                <a:cs typeface="Arial" pitchFamily="34" charset="-120"/>
              </a:rPr>
              <a:t>Mono and small size</a:t>
            </a:r>
            <a:endParaRPr lang="en-US" sz="880" dirty="0"/>
          </a:p>
        </p:txBody>
      </p:sp>
      <p:sp>
        <p:nvSpPr>
          <p:cNvPr id="51" name="Shape 49"/>
          <p:cNvSpPr/>
          <p:nvPr/>
        </p:nvSpPr>
        <p:spPr>
          <a:xfrm>
            <a:off x="3904488" y="3054096"/>
            <a:ext cx="100584" cy="100584"/>
          </a:xfrm>
          <a:prstGeom prst="rect">
            <a:avLst/>
          </a:prstGeom>
          <a:solidFill>
            <a:srgbClr val="1A1A1A"/>
          </a:solidFill>
          <a:ln/>
        </p:spPr>
      </p:sp>
      <p:sp>
        <p:nvSpPr>
          <p:cNvPr id="52" name="Shape 50"/>
          <p:cNvSpPr/>
          <p:nvPr/>
        </p:nvSpPr>
        <p:spPr>
          <a:xfrm>
            <a:off x="4041648" y="3054096"/>
            <a:ext cx="100584" cy="100584"/>
          </a:xfrm>
          <a:prstGeom prst="rect">
            <a:avLst/>
          </a:prstGeom>
          <a:solidFill>
            <a:srgbClr val="1A1A1A"/>
          </a:solidFill>
          <a:ln/>
        </p:spPr>
      </p:sp>
      <p:sp>
        <p:nvSpPr>
          <p:cNvPr id="53" name="Shape 51"/>
          <p:cNvSpPr/>
          <p:nvPr/>
        </p:nvSpPr>
        <p:spPr>
          <a:xfrm>
            <a:off x="4178808" y="3054096"/>
            <a:ext cx="100584" cy="100584"/>
          </a:xfrm>
          <a:prstGeom prst="rect">
            <a:avLst/>
          </a:prstGeom>
          <a:solidFill>
            <a:srgbClr val="1A1A1A"/>
          </a:solidFill>
          <a:ln/>
        </p:spPr>
      </p:sp>
      <p:sp>
        <p:nvSpPr>
          <p:cNvPr id="54" name="Shape 52"/>
          <p:cNvSpPr/>
          <p:nvPr/>
        </p:nvSpPr>
        <p:spPr>
          <a:xfrm>
            <a:off x="4315968" y="3054096"/>
            <a:ext cx="100584" cy="100584"/>
          </a:xfrm>
          <a:prstGeom prst="rect">
            <a:avLst/>
          </a:prstGeom>
          <a:solidFill>
            <a:srgbClr val="1A1A1A"/>
          </a:solidFill>
          <a:ln/>
        </p:spPr>
      </p:sp>
      <p:sp>
        <p:nvSpPr>
          <p:cNvPr id="55" name="Shape 53"/>
          <p:cNvSpPr/>
          <p:nvPr/>
        </p:nvSpPr>
        <p:spPr>
          <a:xfrm>
            <a:off x="4453128" y="3054096"/>
            <a:ext cx="100584" cy="100584"/>
          </a:xfrm>
          <a:prstGeom prst="rect">
            <a:avLst/>
          </a:prstGeom>
          <a:solidFill>
            <a:srgbClr val="1A1A1A"/>
          </a:solidFill>
          <a:ln/>
        </p:spPr>
      </p:sp>
      <p:sp>
        <p:nvSpPr>
          <p:cNvPr id="56" name="Shape 54"/>
          <p:cNvSpPr/>
          <p:nvPr/>
        </p:nvSpPr>
        <p:spPr>
          <a:xfrm>
            <a:off x="5001768" y="3054096"/>
            <a:ext cx="100584" cy="100584"/>
          </a:xfrm>
          <a:prstGeom prst="rect">
            <a:avLst/>
          </a:prstGeom>
          <a:solidFill>
            <a:srgbClr val="6E6E6E"/>
          </a:solidFill>
          <a:ln/>
        </p:spPr>
      </p:sp>
      <p:sp>
        <p:nvSpPr>
          <p:cNvPr id="57" name="Shape 55"/>
          <p:cNvSpPr/>
          <p:nvPr/>
        </p:nvSpPr>
        <p:spPr>
          <a:xfrm>
            <a:off x="5138928" y="3054096"/>
            <a:ext cx="100584" cy="100584"/>
          </a:xfrm>
          <a:prstGeom prst="rect">
            <a:avLst/>
          </a:prstGeom>
          <a:solidFill>
            <a:srgbClr val="6E6E6E"/>
          </a:solidFill>
          <a:ln/>
        </p:spPr>
      </p:sp>
      <p:sp>
        <p:nvSpPr>
          <p:cNvPr id="58" name="Shape 56"/>
          <p:cNvSpPr/>
          <p:nvPr/>
        </p:nvSpPr>
        <p:spPr>
          <a:xfrm>
            <a:off x="5276088" y="3054096"/>
            <a:ext cx="100584" cy="100584"/>
          </a:xfrm>
          <a:prstGeom prst="rect">
            <a:avLst/>
          </a:prstGeom>
          <a:solidFill>
            <a:srgbClr val="E4E4E4"/>
          </a:solidFill>
          <a:ln/>
        </p:spPr>
      </p:sp>
      <p:sp>
        <p:nvSpPr>
          <p:cNvPr id="59" name="Shape 57"/>
          <p:cNvSpPr/>
          <p:nvPr/>
        </p:nvSpPr>
        <p:spPr>
          <a:xfrm>
            <a:off x="5413248" y="3054096"/>
            <a:ext cx="100584" cy="100584"/>
          </a:xfrm>
          <a:prstGeom prst="rect">
            <a:avLst/>
          </a:prstGeom>
          <a:solidFill>
            <a:srgbClr val="E4E4E4"/>
          </a:solidFill>
          <a:ln/>
        </p:spPr>
      </p:sp>
      <p:sp>
        <p:nvSpPr>
          <p:cNvPr id="60" name="Shape 58"/>
          <p:cNvSpPr/>
          <p:nvPr/>
        </p:nvSpPr>
        <p:spPr>
          <a:xfrm>
            <a:off x="5550408" y="3054096"/>
            <a:ext cx="100584" cy="100584"/>
          </a:xfrm>
          <a:prstGeom prst="rect">
            <a:avLst/>
          </a:prstGeom>
          <a:solidFill>
            <a:srgbClr val="E4E4E4"/>
          </a:solidFill>
          <a:ln/>
        </p:spPr>
      </p:sp>
      <p:sp>
        <p:nvSpPr>
          <p:cNvPr id="61" name="Shape 59"/>
          <p:cNvSpPr/>
          <p:nvPr/>
        </p:nvSpPr>
        <p:spPr>
          <a:xfrm>
            <a:off x="6099048" y="3054096"/>
            <a:ext cx="100584" cy="100584"/>
          </a:xfrm>
          <a:prstGeom prst="rect">
            <a:avLst/>
          </a:prstGeom>
          <a:solidFill>
            <a:srgbClr val="6E6E6E"/>
          </a:solidFill>
          <a:ln/>
        </p:spPr>
      </p:sp>
      <p:sp>
        <p:nvSpPr>
          <p:cNvPr id="62" name="Shape 60"/>
          <p:cNvSpPr/>
          <p:nvPr/>
        </p:nvSpPr>
        <p:spPr>
          <a:xfrm>
            <a:off x="6236208" y="3054096"/>
            <a:ext cx="100584" cy="100584"/>
          </a:xfrm>
          <a:prstGeom prst="rect">
            <a:avLst/>
          </a:prstGeom>
          <a:solidFill>
            <a:srgbClr val="6E6E6E"/>
          </a:solidFill>
          <a:ln/>
        </p:spPr>
      </p:sp>
      <p:sp>
        <p:nvSpPr>
          <p:cNvPr id="63" name="Shape 61"/>
          <p:cNvSpPr/>
          <p:nvPr/>
        </p:nvSpPr>
        <p:spPr>
          <a:xfrm>
            <a:off x="6373368" y="3054096"/>
            <a:ext cx="100584" cy="100584"/>
          </a:xfrm>
          <a:prstGeom prst="rect">
            <a:avLst/>
          </a:prstGeom>
          <a:solidFill>
            <a:srgbClr val="E4E4E4"/>
          </a:solidFill>
          <a:ln/>
        </p:spPr>
      </p:sp>
      <p:sp>
        <p:nvSpPr>
          <p:cNvPr id="64" name="Shape 62"/>
          <p:cNvSpPr/>
          <p:nvPr/>
        </p:nvSpPr>
        <p:spPr>
          <a:xfrm>
            <a:off x="6510528" y="3054096"/>
            <a:ext cx="100584" cy="100584"/>
          </a:xfrm>
          <a:prstGeom prst="rect">
            <a:avLst/>
          </a:prstGeom>
          <a:solidFill>
            <a:srgbClr val="E4E4E4"/>
          </a:solidFill>
          <a:ln/>
        </p:spPr>
      </p:sp>
      <p:sp>
        <p:nvSpPr>
          <p:cNvPr id="65" name="Shape 63"/>
          <p:cNvSpPr/>
          <p:nvPr/>
        </p:nvSpPr>
        <p:spPr>
          <a:xfrm>
            <a:off x="6647688" y="3054096"/>
            <a:ext cx="100584" cy="100584"/>
          </a:xfrm>
          <a:prstGeom prst="rect">
            <a:avLst/>
          </a:prstGeom>
          <a:solidFill>
            <a:srgbClr val="E4E4E4"/>
          </a:solidFill>
          <a:ln/>
        </p:spPr>
      </p:sp>
      <p:sp>
        <p:nvSpPr>
          <p:cNvPr id="66" name="Shape 64"/>
          <p:cNvSpPr/>
          <p:nvPr/>
        </p:nvSpPr>
        <p:spPr>
          <a:xfrm>
            <a:off x="566928" y="3236976"/>
            <a:ext cx="6428232" cy="7315"/>
          </a:xfrm>
          <a:prstGeom prst="rect">
            <a:avLst/>
          </a:prstGeom>
          <a:solidFill>
            <a:srgbClr val="D2D2D2"/>
          </a:solidFill>
          <a:ln/>
        </p:spPr>
      </p:sp>
      <p:sp>
        <p:nvSpPr>
          <p:cNvPr id="67" name="Text 65"/>
          <p:cNvSpPr/>
          <p:nvPr/>
        </p:nvSpPr>
        <p:spPr>
          <a:xfrm>
            <a:off x="566928" y="3291840"/>
            <a:ext cx="3136392" cy="274320"/>
          </a:xfrm>
          <a:prstGeom prst="rect">
            <a:avLst/>
          </a:prstGeom>
          <a:noFill/>
          <a:ln/>
        </p:spPr>
        <p:txBody>
          <a:bodyPr wrap="square" lIns="0" tIns="0" rIns="0" bIns="0" rtlCol="0" anchor="ctr"/>
          <a:lstStyle/>
          <a:p>
            <a:pPr algn="l" indent="0" marL="0">
              <a:buNone/>
            </a:pPr>
            <a:r>
              <a:rPr lang="en-US" sz="880" dirty="0">
                <a:solidFill>
                  <a:srgbClr val="1A1A1A"/>
                </a:solidFill>
                <a:latin typeface="Arial" pitchFamily="34" charset="0"/>
                <a:ea typeface="Arial" pitchFamily="34" charset="-122"/>
                <a:cs typeface="Arial" pitchFamily="34" charset="-120"/>
              </a:rPr>
              <a:t>Applied by non-designers</a:t>
            </a:r>
            <a:endParaRPr lang="en-US" sz="880" dirty="0"/>
          </a:p>
        </p:txBody>
      </p:sp>
      <p:sp>
        <p:nvSpPr>
          <p:cNvPr id="68" name="Shape 66"/>
          <p:cNvSpPr/>
          <p:nvPr/>
        </p:nvSpPr>
        <p:spPr>
          <a:xfrm>
            <a:off x="3904488" y="3383280"/>
            <a:ext cx="100584" cy="100584"/>
          </a:xfrm>
          <a:prstGeom prst="rect">
            <a:avLst/>
          </a:prstGeom>
          <a:solidFill>
            <a:srgbClr val="1A1A1A"/>
          </a:solidFill>
          <a:ln/>
        </p:spPr>
      </p:sp>
      <p:sp>
        <p:nvSpPr>
          <p:cNvPr id="69" name="Shape 67"/>
          <p:cNvSpPr/>
          <p:nvPr/>
        </p:nvSpPr>
        <p:spPr>
          <a:xfrm>
            <a:off x="4041648" y="3383280"/>
            <a:ext cx="100584" cy="100584"/>
          </a:xfrm>
          <a:prstGeom prst="rect">
            <a:avLst/>
          </a:prstGeom>
          <a:solidFill>
            <a:srgbClr val="1A1A1A"/>
          </a:solidFill>
          <a:ln/>
        </p:spPr>
      </p:sp>
      <p:sp>
        <p:nvSpPr>
          <p:cNvPr id="70" name="Shape 68"/>
          <p:cNvSpPr/>
          <p:nvPr/>
        </p:nvSpPr>
        <p:spPr>
          <a:xfrm>
            <a:off x="4178808" y="3383280"/>
            <a:ext cx="100584" cy="100584"/>
          </a:xfrm>
          <a:prstGeom prst="rect">
            <a:avLst/>
          </a:prstGeom>
          <a:solidFill>
            <a:srgbClr val="1A1A1A"/>
          </a:solidFill>
          <a:ln/>
        </p:spPr>
      </p:sp>
      <p:sp>
        <p:nvSpPr>
          <p:cNvPr id="71" name="Shape 69"/>
          <p:cNvSpPr/>
          <p:nvPr/>
        </p:nvSpPr>
        <p:spPr>
          <a:xfrm>
            <a:off x="4315968" y="3383280"/>
            <a:ext cx="100584" cy="100584"/>
          </a:xfrm>
          <a:prstGeom prst="rect">
            <a:avLst/>
          </a:prstGeom>
          <a:solidFill>
            <a:srgbClr val="1A1A1A"/>
          </a:solidFill>
          <a:ln/>
        </p:spPr>
      </p:sp>
      <p:sp>
        <p:nvSpPr>
          <p:cNvPr id="72" name="Shape 70"/>
          <p:cNvSpPr/>
          <p:nvPr/>
        </p:nvSpPr>
        <p:spPr>
          <a:xfrm>
            <a:off x="4453128" y="3383280"/>
            <a:ext cx="100584" cy="100584"/>
          </a:xfrm>
          <a:prstGeom prst="rect">
            <a:avLst/>
          </a:prstGeom>
          <a:solidFill>
            <a:srgbClr val="1A1A1A"/>
          </a:solidFill>
          <a:ln/>
        </p:spPr>
      </p:sp>
      <p:sp>
        <p:nvSpPr>
          <p:cNvPr id="73" name="Shape 71"/>
          <p:cNvSpPr/>
          <p:nvPr/>
        </p:nvSpPr>
        <p:spPr>
          <a:xfrm>
            <a:off x="5001768" y="3383280"/>
            <a:ext cx="100584" cy="100584"/>
          </a:xfrm>
          <a:prstGeom prst="rect">
            <a:avLst/>
          </a:prstGeom>
          <a:solidFill>
            <a:srgbClr val="6E6E6E"/>
          </a:solidFill>
          <a:ln/>
        </p:spPr>
      </p:sp>
      <p:sp>
        <p:nvSpPr>
          <p:cNvPr id="74" name="Shape 72"/>
          <p:cNvSpPr/>
          <p:nvPr/>
        </p:nvSpPr>
        <p:spPr>
          <a:xfrm>
            <a:off x="5138928" y="3383280"/>
            <a:ext cx="100584" cy="100584"/>
          </a:xfrm>
          <a:prstGeom prst="rect">
            <a:avLst/>
          </a:prstGeom>
          <a:solidFill>
            <a:srgbClr val="6E6E6E"/>
          </a:solidFill>
          <a:ln/>
        </p:spPr>
      </p:sp>
      <p:sp>
        <p:nvSpPr>
          <p:cNvPr id="75" name="Shape 73"/>
          <p:cNvSpPr/>
          <p:nvPr/>
        </p:nvSpPr>
        <p:spPr>
          <a:xfrm>
            <a:off x="5276088" y="3383280"/>
            <a:ext cx="100584" cy="100584"/>
          </a:xfrm>
          <a:prstGeom prst="rect">
            <a:avLst/>
          </a:prstGeom>
          <a:solidFill>
            <a:srgbClr val="6E6E6E"/>
          </a:solidFill>
          <a:ln/>
        </p:spPr>
      </p:sp>
      <p:sp>
        <p:nvSpPr>
          <p:cNvPr id="76" name="Shape 74"/>
          <p:cNvSpPr/>
          <p:nvPr/>
        </p:nvSpPr>
        <p:spPr>
          <a:xfrm>
            <a:off x="5413248" y="3383280"/>
            <a:ext cx="100584" cy="100584"/>
          </a:xfrm>
          <a:prstGeom prst="rect">
            <a:avLst/>
          </a:prstGeom>
          <a:solidFill>
            <a:srgbClr val="E4E4E4"/>
          </a:solidFill>
          <a:ln/>
        </p:spPr>
      </p:sp>
      <p:sp>
        <p:nvSpPr>
          <p:cNvPr id="77" name="Shape 75"/>
          <p:cNvSpPr/>
          <p:nvPr/>
        </p:nvSpPr>
        <p:spPr>
          <a:xfrm>
            <a:off x="5550408" y="3383280"/>
            <a:ext cx="100584" cy="100584"/>
          </a:xfrm>
          <a:prstGeom prst="rect">
            <a:avLst/>
          </a:prstGeom>
          <a:solidFill>
            <a:srgbClr val="E4E4E4"/>
          </a:solidFill>
          <a:ln/>
        </p:spPr>
      </p:sp>
      <p:sp>
        <p:nvSpPr>
          <p:cNvPr id="78" name="Shape 76"/>
          <p:cNvSpPr/>
          <p:nvPr/>
        </p:nvSpPr>
        <p:spPr>
          <a:xfrm>
            <a:off x="6099048" y="3383280"/>
            <a:ext cx="100584" cy="100584"/>
          </a:xfrm>
          <a:prstGeom prst="rect">
            <a:avLst/>
          </a:prstGeom>
          <a:solidFill>
            <a:srgbClr val="6E6E6E"/>
          </a:solidFill>
          <a:ln/>
        </p:spPr>
      </p:sp>
      <p:sp>
        <p:nvSpPr>
          <p:cNvPr id="79" name="Shape 77"/>
          <p:cNvSpPr/>
          <p:nvPr/>
        </p:nvSpPr>
        <p:spPr>
          <a:xfrm>
            <a:off x="6236208" y="3383280"/>
            <a:ext cx="100584" cy="100584"/>
          </a:xfrm>
          <a:prstGeom prst="rect">
            <a:avLst/>
          </a:prstGeom>
          <a:solidFill>
            <a:srgbClr val="6E6E6E"/>
          </a:solidFill>
          <a:ln/>
        </p:spPr>
      </p:sp>
      <p:sp>
        <p:nvSpPr>
          <p:cNvPr id="80" name="Shape 78"/>
          <p:cNvSpPr/>
          <p:nvPr/>
        </p:nvSpPr>
        <p:spPr>
          <a:xfrm>
            <a:off x="6373368" y="3383280"/>
            <a:ext cx="100584" cy="100584"/>
          </a:xfrm>
          <a:prstGeom prst="rect">
            <a:avLst/>
          </a:prstGeom>
          <a:solidFill>
            <a:srgbClr val="6E6E6E"/>
          </a:solidFill>
          <a:ln/>
        </p:spPr>
      </p:sp>
      <p:sp>
        <p:nvSpPr>
          <p:cNvPr id="81" name="Shape 79"/>
          <p:cNvSpPr/>
          <p:nvPr/>
        </p:nvSpPr>
        <p:spPr>
          <a:xfrm>
            <a:off x="6510528" y="3383280"/>
            <a:ext cx="100584" cy="100584"/>
          </a:xfrm>
          <a:prstGeom prst="rect">
            <a:avLst/>
          </a:prstGeom>
          <a:solidFill>
            <a:srgbClr val="E4E4E4"/>
          </a:solidFill>
          <a:ln/>
        </p:spPr>
      </p:sp>
      <p:sp>
        <p:nvSpPr>
          <p:cNvPr id="82" name="Shape 80"/>
          <p:cNvSpPr/>
          <p:nvPr/>
        </p:nvSpPr>
        <p:spPr>
          <a:xfrm>
            <a:off x="6647688" y="3383280"/>
            <a:ext cx="100584" cy="100584"/>
          </a:xfrm>
          <a:prstGeom prst="rect">
            <a:avLst/>
          </a:prstGeom>
          <a:solidFill>
            <a:srgbClr val="E4E4E4"/>
          </a:solidFill>
          <a:ln/>
        </p:spPr>
      </p:sp>
      <p:sp>
        <p:nvSpPr>
          <p:cNvPr id="83" name="Shape 81"/>
          <p:cNvSpPr/>
          <p:nvPr/>
        </p:nvSpPr>
        <p:spPr>
          <a:xfrm>
            <a:off x="566928" y="3566160"/>
            <a:ext cx="6428232" cy="7315"/>
          </a:xfrm>
          <a:prstGeom prst="rect">
            <a:avLst/>
          </a:prstGeom>
          <a:solidFill>
            <a:srgbClr val="D2D2D2"/>
          </a:solidFill>
          <a:ln/>
        </p:spPr>
      </p:sp>
      <p:sp>
        <p:nvSpPr>
          <p:cNvPr id="84" name="Text 82"/>
          <p:cNvSpPr/>
          <p:nvPr/>
        </p:nvSpPr>
        <p:spPr>
          <a:xfrm>
            <a:off x="566928" y="3621024"/>
            <a:ext cx="3136392" cy="274320"/>
          </a:xfrm>
          <a:prstGeom prst="rect">
            <a:avLst/>
          </a:prstGeom>
          <a:noFill/>
          <a:ln/>
        </p:spPr>
        <p:txBody>
          <a:bodyPr wrap="square" lIns="0" tIns="0" rIns="0" bIns="0" rtlCol="0" anchor="ctr"/>
          <a:lstStyle/>
          <a:p>
            <a:pPr algn="l" indent="0" marL="0">
              <a:buNone/>
            </a:pPr>
            <a:r>
              <a:rPr lang="en-US" sz="880" dirty="0">
                <a:solidFill>
                  <a:srgbClr val="1A1A1A"/>
                </a:solidFill>
                <a:latin typeface="Arial" pitchFamily="34" charset="0"/>
                <a:ea typeface="Arial" pitchFamily="34" charset="-122"/>
                <a:cs typeface="Arial" pitchFamily="34" charset="-120"/>
              </a:rPr>
              <a:t>Distinctiveness</a:t>
            </a:r>
            <a:endParaRPr lang="en-US" sz="880" dirty="0"/>
          </a:p>
        </p:txBody>
      </p:sp>
      <p:sp>
        <p:nvSpPr>
          <p:cNvPr id="85" name="Shape 83"/>
          <p:cNvSpPr/>
          <p:nvPr/>
        </p:nvSpPr>
        <p:spPr>
          <a:xfrm>
            <a:off x="3904488" y="3712464"/>
            <a:ext cx="100584" cy="100584"/>
          </a:xfrm>
          <a:prstGeom prst="rect">
            <a:avLst/>
          </a:prstGeom>
          <a:solidFill>
            <a:srgbClr val="6E6E6E"/>
          </a:solidFill>
          <a:ln/>
        </p:spPr>
      </p:sp>
      <p:sp>
        <p:nvSpPr>
          <p:cNvPr id="86" name="Shape 84"/>
          <p:cNvSpPr/>
          <p:nvPr/>
        </p:nvSpPr>
        <p:spPr>
          <a:xfrm>
            <a:off x="4041648" y="3712464"/>
            <a:ext cx="100584" cy="100584"/>
          </a:xfrm>
          <a:prstGeom prst="rect">
            <a:avLst/>
          </a:prstGeom>
          <a:solidFill>
            <a:srgbClr val="6E6E6E"/>
          </a:solidFill>
          <a:ln/>
        </p:spPr>
      </p:sp>
      <p:sp>
        <p:nvSpPr>
          <p:cNvPr id="87" name="Shape 85"/>
          <p:cNvSpPr/>
          <p:nvPr/>
        </p:nvSpPr>
        <p:spPr>
          <a:xfrm>
            <a:off x="4178808" y="3712464"/>
            <a:ext cx="100584" cy="100584"/>
          </a:xfrm>
          <a:prstGeom prst="rect">
            <a:avLst/>
          </a:prstGeom>
          <a:solidFill>
            <a:srgbClr val="6E6E6E"/>
          </a:solidFill>
          <a:ln/>
        </p:spPr>
      </p:sp>
      <p:sp>
        <p:nvSpPr>
          <p:cNvPr id="88" name="Shape 86"/>
          <p:cNvSpPr/>
          <p:nvPr/>
        </p:nvSpPr>
        <p:spPr>
          <a:xfrm>
            <a:off x="4315968" y="3712464"/>
            <a:ext cx="100584" cy="100584"/>
          </a:xfrm>
          <a:prstGeom prst="rect">
            <a:avLst/>
          </a:prstGeom>
          <a:solidFill>
            <a:srgbClr val="E4E4E4"/>
          </a:solidFill>
          <a:ln/>
        </p:spPr>
      </p:sp>
      <p:sp>
        <p:nvSpPr>
          <p:cNvPr id="89" name="Shape 87"/>
          <p:cNvSpPr/>
          <p:nvPr/>
        </p:nvSpPr>
        <p:spPr>
          <a:xfrm>
            <a:off x="4453128" y="3712464"/>
            <a:ext cx="100584" cy="100584"/>
          </a:xfrm>
          <a:prstGeom prst="rect">
            <a:avLst/>
          </a:prstGeom>
          <a:solidFill>
            <a:srgbClr val="E4E4E4"/>
          </a:solidFill>
          <a:ln/>
        </p:spPr>
      </p:sp>
      <p:sp>
        <p:nvSpPr>
          <p:cNvPr id="90" name="Shape 88"/>
          <p:cNvSpPr/>
          <p:nvPr/>
        </p:nvSpPr>
        <p:spPr>
          <a:xfrm>
            <a:off x="5001768" y="3712464"/>
            <a:ext cx="100584" cy="100584"/>
          </a:xfrm>
          <a:prstGeom prst="rect">
            <a:avLst/>
          </a:prstGeom>
          <a:solidFill>
            <a:srgbClr val="1A1A1A"/>
          </a:solidFill>
          <a:ln/>
        </p:spPr>
      </p:sp>
      <p:sp>
        <p:nvSpPr>
          <p:cNvPr id="91" name="Shape 89"/>
          <p:cNvSpPr/>
          <p:nvPr/>
        </p:nvSpPr>
        <p:spPr>
          <a:xfrm>
            <a:off x="5138928" y="3712464"/>
            <a:ext cx="100584" cy="100584"/>
          </a:xfrm>
          <a:prstGeom prst="rect">
            <a:avLst/>
          </a:prstGeom>
          <a:solidFill>
            <a:srgbClr val="1A1A1A"/>
          </a:solidFill>
          <a:ln/>
        </p:spPr>
      </p:sp>
      <p:sp>
        <p:nvSpPr>
          <p:cNvPr id="92" name="Shape 90"/>
          <p:cNvSpPr/>
          <p:nvPr/>
        </p:nvSpPr>
        <p:spPr>
          <a:xfrm>
            <a:off x="5276088" y="3712464"/>
            <a:ext cx="100584" cy="100584"/>
          </a:xfrm>
          <a:prstGeom prst="rect">
            <a:avLst/>
          </a:prstGeom>
          <a:solidFill>
            <a:srgbClr val="1A1A1A"/>
          </a:solidFill>
          <a:ln/>
        </p:spPr>
      </p:sp>
      <p:sp>
        <p:nvSpPr>
          <p:cNvPr id="93" name="Shape 91"/>
          <p:cNvSpPr/>
          <p:nvPr/>
        </p:nvSpPr>
        <p:spPr>
          <a:xfrm>
            <a:off x="5413248" y="3712464"/>
            <a:ext cx="100584" cy="100584"/>
          </a:xfrm>
          <a:prstGeom prst="rect">
            <a:avLst/>
          </a:prstGeom>
          <a:solidFill>
            <a:srgbClr val="1A1A1A"/>
          </a:solidFill>
          <a:ln/>
        </p:spPr>
      </p:sp>
      <p:sp>
        <p:nvSpPr>
          <p:cNvPr id="94" name="Shape 92"/>
          <p:cNvSpPr/>
          <p:nvPr/>
        </p:nvSpPr>
        <p:spPr>
          <a:xfrm>
            <a:off x="5550408" y="3712464"/>
            <a:ext cx="100584" cy="100584"/>
          </a:xfrm>
          <a:prstGeom prst="rect">
            <a:avLst/>
          </a:prstGeom>
          <a:solidFill>
            <a:srgbClr val="E4E4E4"/>
          </a:solidFill>
          <a:ln/>
        </p:spPr>
      </p:sp>
      <p:sp>
        <p:nvSpPr>
          <p:cNvPr id="95" name="Shape 93"/>
          <p:cNvSpPr/>
          <p:nvPr/>
        </p:nvSpPr>
        <p:spPr>
          <a:xfrm>
            <a:off x="6099048" y="3712464"/>
            <a:ext cx="100584" cy="100584"/>
          </a:xfrm>
          <a:prstGeom prst="rect">
            <a:avLst/>
          </a:prstGeom>
          <a:solidFill>
            <a:srgbClr val="6E6E6E"/>
          </a:solidFill>
          <a:ln/>
        </p:spPr>
      </p:sp>
      <p:sp>
        <p:nvSpPr>
          <p:cNvPr id="96" name="Shape 94"/>
          <p:cNvSpPr/>
          <p:nvPr/>
        </p:nvSpPr>
        <p:spPr>
          <a:xfrm>
            <a:off x="6236208" y="3712464"/>
            <a:ext cx="100584" cy="100584"/>
          </a:xfrm>
          <a:prstGeom prst="rect">
            <a:avLst/>
          </a:prstGeom>
          <a:solidFill>
            <a:srgbClr val="6E6E6E"/>
          </a:solidFill>
          <a:ln/>
        </p:spPr>
      </p:sp>
      <p:sp>
        <p:nvSpPr>
          <p:cNvPr id="97" name="Shape 95"/>
          <p:cNvSpPr/>
          <p:nvPr/>
        </p:nvSpPr>
        <p:spPr>
          <a:xfrm>
            <a:off x="6373368" y="3712464"/>
            <a:ext cx="100584" cy="100584"/>
          </a:xfrm>
          <a:prstGeom prst="rect">
            <a:avLst/>
          </a:prstGeom>
          <a:solidFill>
            <a:srgbClr val="6E6E6E"/>
          </a:solidFill>
          <a:ln/>
        </p:spPr>
      </p:sp>
      <p:sp>
        <p:nvSpPr>
          <p:cNvPr id="98" name="Shape 96"/>
          <p:cNvSpPr/>
          <p:nvPr/>
        </p:nvSpPr>
        <p:spPr>
          <a:xfrm>
            <a:off x="6510528" y="3712464"/>
            <a:ext cx="100584" cy="100584"/>
          </a:xfrm>
          <a:prstGeom prst="rect">
            <a:avLst/>
          </a:prstGeom>
          <a:solidFill>
            <a:srgbClr val="E4E4E4"/>
          </a:solidFill>
          <a:ln/>
        </p:spPr>
      </p:sp>
      <p:sp>
        <p:nvSpPr>
          <p:cNvPr id="99" name="Shape 97"/>
          <p:cNvSpPr/>
          <p:nvPr/>
        </p:nvSpPr>
        <p:spPr>
          <a:xfrm>
            <a:off x="6647688" y="3712464"/>
            <a:ext cx="100584" cy="100584"/>
          </a:xfrm>
          <a:prstGeom prst="rect">
            <a:avLst/>
          </a:prstGeom>
          <a:solidFill>
            <a:srgbClr val="E4E4E4"/>
          </a:solidFill>
          <a:ln/>
        </p:spPr>
      </p:sp>
      <p:sp>
        <p:nvSpPr>
          <p:cNvPr id="100" name="Shape 98"/>
          <p:cNvSpPr/>
          <p:nvPr/>
        </p:nvSpPr>
        <p:spPr>
          <a:xfrm>
            <a:off x="566928" y="3895344"/>
            <a:ext cx="6428232" cy="7315"/>
          </a:xfrm>
          <a:prstGeom prst="rect">
            <a:avLst/>
          </a:prstGeom>
          <a:solidFill>
            <a:srgbClr val="D2D2D2"/>
          </a:solidFill>
          <a:ln/>
        </p:spPr>
      </p:sp>
      <p:sp>
        <p:nvSpPr>
          <p:cNvPr id="101" name="Text 99"/>
          <p:cNvSpPr/>
          <p:nvPr/>
        </p:nvSpPr>
        <p:spPr>
          <a:xfrm>
            <a:off x="566928" y="3950208"/>
            <a:ext cx="3136392" cy="274320"/>
          </a:xfrm>
          <a:prstGeom prst="rect">
            <a:avLst/>
          </a:prstGeom>
          <a:noFill/>
          <a:ln/>
        </p:spPr>
        <p:txBody>
          <a:bodyPr wrap="square" lIns="0" tIns="0" rIns="0" bIns="0" rtlCol="0" anchor="ctr"/>
          <a:lstStyle/>
          <a:p>
            <a:pPr algn="l" indent="0" marL="0">
              <a:buNone/>
            </a:pPr>
            <a:r>
              <a:rPr lang="en-US" sz="880" dirty="0">
                <a:solidFill>
                  <a:srgbClr val="1A1A1A"/>
                </a:solidFill>
                <a:latin typeface="Arial" pitchFamily="34" charset="0"/>
                <a:ea typeface="Arial" pitchFamily="34" charset="-122"/>
                <a:cs typeface="Arial" pitchFamily="34" charset="-120"/>
              </a:rPr>
              <a:t>Says what the framework is</a:t>
            </a:r>
            <a:endParaRPr lang="en-US" sz="880" dirty="0"/>
          </a:p>
        </p:txBody>
      </p:sp>
      <p:sp>
        <p:nvSpPr>
          <p:cNvPr id="102" name="Shape 100"/>
          <p:cNvSpPr/>
          <p:nvPr/>
        </p:nvSpPr>
        <p:spPr>
          <a:xfrm>
            <a:off x="3904488" y="4041648"/>
            <a:ext cx="100584" cy="100584"/>
          </a:xfrm>
          <a:prstGeom prst="rect">
            <a:avLst/>
          </a:prstGeom>
          <a:solidFill>
            <a:srgbClr val="1A1A1A"/>
          </a:solidFill>
          <a:ln/>
        </p:spPr>
      </p:sp>
      <p:sp>
        <p:nvSpPr>
          <p:cNvPr id="103" name="Shape 101"/>
          <p:cNvSpPr/>
          <p:nvPr/>
        </p:nvSpPr>
        <p:spPr>
          <a:xfrm>
            <a:off x="4041648" y="4041648"/>
            <a:ext cx="100584" cy="100584"/>
          </a:xfrm>
          <a:prstGeom prst="rect">
            <a:avLst/>
          </a:prstGeom>
          <a:solidFill>
            <a:srgbClr val="1A1A1A"/>
          </a:solidFill>
          <a:ln/>
        </p:spPr>
      </p:sp>
      <p:sp>
        <p:nvSpPr>
          <p:cNvPr id="104" name="Shape 102"/>
          <p:cNvSpPr/>
          <p:nvPr/>
        </p:nvSpPr>
        <p:spPr>
          <a:xfrm>
            <a:off x="4178808" y="4041648"/>
            <a:ext cx="100584" cy="100584"/>
          </a:xfrm>
          <a:prstGeom prst="rect">
            <a:avLst/>
          </a:prstGeom>
          <a:solidFill>
            <a:srgbClr val="1A1A1A"/>
          </a:solidFill>
          <a:ln/>
        </p:spPr>
      </p:sp>
      <p:sp>
        <p:nvSpPr>
          <p:cNvPr id="105" name="Shape 103"/>
          <p:cNvSpPr/>
          <p:nvPr/>
        </p:nvSpPr>
        <p:spPr>
          <a:xfrm>
            <a:off x="4315968" y="4041648"/>
            <a:ext cx="100584" cy="100584"/>
          </a:xfrm>
          <a:prstGeom prst="rect">
            <a:avLst/>
          </a:prstGeom>
          <a:solidFill>
            <a:srgbClr val="1A1A1A"/>
          </a:solidFill>
          <a:ln/>
        </p:spPr>
      </p:sp>
      <p:sp>
        <p:nvSpPr>
          <p:cNvPr id="106" name="Shape 104"/>
          <p:cNvSpPr/>
          <p:nvPr/>
        </p:nvSpPr>
        <p:spPr>
          <a:xfrm>
            <a:off x="4453128" y="4041648"/>
            <a:ext cx="100584" cy="100584"/>
          </a:xfrm>
          <a:prstGeom prst="rect">
            <a:avLst/>
          </a:prstGeom>
          <a:solidFill>
            <a:srgbClr val="E4E4E4"/>
          </a:solidFill>
          <a:ln/>
        </p:spPr>
      </p:sp>
      <p:sp>
        <p:nvSpPr>
          <p:cNvPr id="107" name="Shape 105"/>
          <p:cNvSpPr/>
          <p:nvPr/>
        </p:nvSpPr>
        <p:spPr>
          <a:xfrm>
            <a:off x="5001768" y="4041648"/>
            <a:ext cx="100584" cy="100584"/>
          </a:xfrm>
          <a:prstGeom prst="rect">
            <a:avLst/>
          </a:prstGeom>
          <a:solidFill>
            <a:srgbClr val="1A1A1A"/>
          </a:solidFill>
          <a:ln/>
        </p:spPr>
      </p:sp>
      <p:sp>
        <p:nvSpPr>
          <p:cNvPr id="108" name="Shape 106"/>
          <p:cNvSpPr/>
          <p:nvPr/>
        </p:nvSpPr>
        <p:spPr>
          <a:xfrm>
            <a:off x="5138928" y="4041648"/>
            <a:ext cx="100584" cy="100584"/>
          </a:xfrm>
          <a:prstGeom prst="rect">
            <a:avLst/>
          </a:prstGeom>
          <a:solidFill>
            <a:srgbClr val="1A1A1A"/>
          </a:solidFill>
          <a:ln/>
        </p:spPr>
      </p:sp>
      <p:sp>
        <p:nvSpPr>
          <p:cNvPr id="109" name="Shape 107"/>
          <p:cNvSpPr/>
          <p:nvPr/>
        </p:nvSpPr>
        <p:spPr>
          <a:xfrm>
            <a:off x="5276088" y="4041648"/>
            <a:ext cx="100584" cy="100584"/>
          </a:xfrm>
          <a:prstGeom prst="rect">
            <a:avLst/>
          </a:prstGeom>
          <a:solidFill>
            <a:srgbClr val="1A1A1A"/>
          </a:solidFill>
          <a:ln/>
        </p:spPr>
      </p:sp>
      <p:sp>
        <p:nvSpPr>
          <p:cNvPr id="110" name="Shape 108"/>
          <p:cNvSpPr/>
          <p:nvPr/>
        </p:nvSpPr>
        <p:spPr>
          <a:xfrm>
            <a:off x="5413248" y="4041648"/>
            <a:ext cx="100584" cy="100584"/>
          </a:xfrm>
          <a:prstGeom prst="rect">
            <a:avLst/>
          </a:prstGeom>
          <a:solidFill>
            <a:srgbClr val="1A1A1A"/>
          </a:solidFill>
          <a:ln/>
        </p:spPr>
      </p:sp>
      <p:sp>
        <p:nvSpPr>
          <p:cNvPr id="111" name="Shape 109"/>
          <p:cNvSpPr/>
          <p:nvPr/>
        </p:nvSpPr>
        <p:spPr>
          <a:xfrm>
            <a:off x="5550408" y="4041648"/>
            <a:ext cx="100584" cy="100584"/>
          </a:xfrm>
          <a:prstGeom prst="rect">
            <a:avLst/>
          </a:prstGeom>
          <a:solidFill>
            <a:srgbClr val="E4E4E4"/>
          </a:solidFill>
          <a:ln/>
        </p:spPr>
      </p:sp>
      <p:sp>
        <p:nvSpPr>
          <p:cNvPr id="112" name="Shape 110"/>
          <p:cNvSpPr/>
          <p:nvPr/>
        </p:nvSpPr>
        <p:spPr>
          <a:xfrm>
            <a:off x="6099048" y="4041648"/>
            <a:ext cx="100584" cy="100584"/>
          </a:xfrm>
          <a:prstGeom prst="rect">
            <a:avLst/>
          </a:prstGeom>
          <a:solidFill>
            <a:srgbClr val="1A1A1A"/>
          </a:solidFill>
          <a:ln/>
        </p:spPr>
      </p:sp>
      <p:sp>
        <p:nvSpPr>
          <p:cNvPr id="113" name="Shape 111"/>
          <p:cNvSpPr/>
          <p:nvPr/>
        </p:nvSpPr>
        <p:spPr>
          <a:xfrm>
            <a:off x="6236208" y="4041648"/>
            <a:ext cx="100584" cy="100584"/>
          </a:xfrm>
          <a:prstGeom prst="rect">
            <a:avLst/>
          </a:prstGeom>
          <a:solidFill>
            <a:srgbClr val="1A1A1A"/>
          </a:solidFill>
          <a:ln/>
        </p:spPr>
      </p:sp>
      <p:sp>
        <p:nvSpPr>
          <p:cNvPr id="114" name="Shape 112"/>
          <p:cNvSpPr/>
          <p:nvPr/>
        </p:nvSpPr>
        <p:spPr>
          <a:xfrm>
            <a:off x="6373368" y="4041648"/>
            <a:ext cx="100584" cy="100584"/>
          </a:xfrm>
          <a:prstGeom prst="rect">
            <a:avLst/>
          </a:prstGeom>
          <a:solidFill>
            <a:srgbClr val="1A1A1A"/>
          </a:solidFill>
          <a:ln/>
        </p:spPr>
      </p:sp>
      <p:sp>
        <p:nvSpPr>
          <p:cNvPr id="115" name="Shape 113"/>
          <p:cNvSpPr/>
          <p:nvPr/>
        </p:nvSpPr>
        <p:spPr>
          <a:xfrm>
            <a:off x="6510528" y="4041648"/>
            <a:ext cx="100584" cy="100584"/>
          </a:xfrm>
          <a:prstGeom prst="rect">
            <a:avLst/>
          </a:prstGeom>
          <a:solidFill>
            <a:srgbClr val="1A1A1A"/>
          </a:solidFill>
          <a:ln/>
        </p:spPr>
      </p:sp>
      <p:sp>
        <p:nvSpPr>
          <p:cNvPr id="116" name="Shape 114"/>
          <p:cNvSpPr/>
          <p:nvPr/>
        </p:nvSpPr>
        <p:spPr>
          <a:xfrm>
            <a:off x="6647688" y="4041648"/>
            <a:ext cx="100584" cy="100584"/>
          </a:xfrm>
          <a:prstGeom prst="rect">
            <a:avLst/>
          </a:prstGeom>
          <a:solidFill>
            <a:srgbClr val="1A1A1A"/>
          </a:solidFill>
          <a:ln/>
        </p:spPr>
      </p:sp>
      <p:sp>
        <p:nvSpPr>
          <p:cNvPr id="117" name="Shape 115"/>
          <p:cNvSpPr/>
          <p:nvPr/>
        </p:nvSpPr>
        <p:spPr>
          <a:xfrm>
            <a:off x="566928" y="4224528"/>
            <a:ext cx="6428232" cy="7315"/>
          </a:xfrm>
          <a:prstGeom prst="rect">
            <a:avLst/>
          </a:prstGeom>
          <a:solidFill>
            <a:srgbClr val="D2D2D2"/>
          </a:solidFill>
          <a:ln/>
        </p:spPr>
      </p:sp>
      <p:sp>
        <p:nvSpPr>
          <p:cNvPr id="118" name="Text 116"/>
          <p:cNvSpPr/>
          <p:nvPr/>
        </p:nvSpPr>
        <p:spPr>
          <a:xfrm>
            <a:off x="566928" y="4389120"/>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RECOMMENDATION</a:t>
            </a:r>
            <a:endParaRPr lang="en-US" sz="740" dirty="0"/>
          </a:p>
        </p:txBody>
      </p:sp>
      <p:sp>
        <p:nvSpPr>
          <p:cNvPr id="119" name="Shape 117"/>
          <p:cNvSpPr/>
          <p:nvPr/>
        </p:nvSpPr>
        <p:spPr>
          <a:xfrm>
            <a:off x="566928" y="4572000"/>
            <a:ext cx="6428232" cy="7315"/>
          </a:xfrm>
          <a:prstGeom prst="rect">
            <a:avLst/>
          </a:prstGeom>
          <a:solidFill>
            <a:srgbClr val="D2D2D2"/>
          </a:solidFill>
          <a:ln/>
        </p:spPr>
      </p:sp>
      <p:sp>
        <p:nvSpPr>
          <p:cNvPr id="120" name="Shape 118"/>
          <p:cNvSpPr/>
          <p:nvPr/>
        </p:nvSpPr>
        <p:spPr>
          <a:xfrm>
            <a:off x="566928" y="4681728"/>
            <a:ext cx="6428232" cy="1225296"/>
          </a:xfrm>
          <a:prstGeom prst="rect">
            <a:avLst/>
          </a:prstGeom>
          <a:solidFill>
            <a:srgbClr val="1A1A1A"/>
          </a:solidFill>
          <a:ln/>
        </p:spPr>
      </p:sp>
      <p:sp>
        <p:nvSpPr>
          <p:cNvPr id="121" name="Text 119"/>
          <p:cNvSpPr/>
          <p:nvPr/>
        </p:nvSpPr>
        <p:spPr>
          <a:xfrm>
            <a:off x="841248" y="4846320"/>
            <a:ext cx="5879592" cy="292608"/>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Adopt Concept A, Datum, as the governing system.</a:t>
            </a:r>
            <a:endParaRPr lang="en-US" sz="1500" dirty="0"/>
          </a:p>
        </p:txBody>
      </p:sp>
      <p:sp>
        <p:nvSpPr>
          <p:cNvPr id="122" name="Text 120"/>
          <p:cNvSpPr/>
          <p:nvPr/>
        </p:nvSpPr>
        <p:spPr>
          <a:xfrm>
            <a:off x="841248" y="5175504"/>
            <a:ext cx="5879592" cy="603504"/>
          </a:xfrm>
          <a:prstGeom prst="rect">
            <a:avLst/>
          </a:prstGeom>
          <a:noFill/>
          <a:ln/>
        </p:spPr>
        <p:txBody>
          <a:bodyPr wrap="square" lIns="0" tIns="0" rIns="0" bIns="0" rtlCol="0" anchor="t"/>
          <a:lstStyle/>
          <a:p>
            <a:pPr algn="l" indent="0" marL="0">
              <a:lnSpc>
                <a:spcPct val="122000"/>
              </a:lnSpc>
              <a:buNone/>
            </a:pPr>
            <a:r>
              <a:rPr lang="en-US" sz="940" dirty="0">
                <a:solidFill>
                  <a:srgbClr val="D8D8D8"/>
                </a:solidFill>
                <a:latin typeface="Arial" pitchFamily="34" charset="0"/>
                <a:ea typeface="Arial" pitchFamily="34" charset="-122"/>
                <a:cs typeface="Arial" pitchFamily="34" charset="-120"/>
              </a:rPr>
              <a:t>Take the node and departure device from Concept C as its only dynamic element, used solely to mark decision. Retain the density field from Concept B as texture, rationed to divider surfaces and never behind text.</a:t>
            </a:r>
            <a:endParaRPr lang="en-US" sz="940" dirty="0"/>
          </a:p>
        </p:txBody>
      </p:sp>
      <p:sp>
        <p:nvSpPr>
          <p:cNvPr id="123" name="Text 121"/>
          <p:cNvSpPr/>
          <p:nvPr/>
        </p:nvSpPr>
        <p:spPr>
          <a:xfrm>
            <a:off x="566928" y="605332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WHY, AND WHAT IS BEING GIVEN UP</a:t>
            </a:r>
            <a:endParaRPr lang="en-US" sz="740" dirty="0"/>
          </a:p>
        </p:txBody>
      </p:sp>
      <p:sp>
        <p:nvSpPr>
          <p:cNvPr id="124" name="Shape 122"/>
          <p:cNvSpPr/>
          <p:nvPr/>
        </p:nvSpPr>
        <p:spPr>
          <a:xfrm>
            <a:off x="566928" y="6236208"/>
            <a:ext cx="6428232" cy="7315"/>
          </a:xfrm>
          <a:prstGeom prst="rect">
            <a:avLst/>
          </a:prstGeom>
          <a:solidFill>
            <a:srgbClr val="D2D2D2"/>
          </a:solidFill>
          <a:ln/>
        </p:spPr>
      </p:sp>
      <p:sp>
        <p:nvSpPr>
          <p:cNvPr id="125" name="Text 123"/>
          <p:cNvSpPr/>
          <p:nvPr/>
        </p:nvSpPr>
        <p:spPr>
          <a:xfrm>
            <a:off x="566928" y="6345936"/>
            <a:ext cx="6428232" cy="548640"/>
          </a:xfrm>
          <a:prstGeom prst="rect">
            <a:avLst/>
          </a:prstGeom>
          <a:noFill/>
          <a:ln/>
        </p:spPr>
        <p:txBody>
          <a:bodyPr wrap="square" lIns="0" tIns="0" rIns="0" bIns="0" rtlCol="0" anchor="t"/>
          <a:lstStyle/>
          <a:p>
            <a:pPr algn="l" indent="0" marL="0">
              <a:lnSpc>
                <a:spcPct val="122000"/>
              </a:lnSpc>
              <a:buNone/>
            </a:pPr>
            <a:r>
              <a:rPr lang="en-US" sz="920" dirty="0">
                <a:solidFill>
                  <a:srgbClr val="1A1A1A"/>
                </a:solidFill>
                <a:latin typeface="Arial" pitchFamily="34" charset="0"/>
                <a:ea typeface="Arial" pitchFamily="34" charset="-122"/>
                <a:cs typeface="Arial" pitchFamily="34" charset="-120"/>
              </a:rPr>
              <a:t>Datum wins on the criteria that decide whether a system survives. It is the only one of the three that a staff officer can reproduce correctly in PowerPoint at 2200 hours without a designer present, and that is the real durability test inside a training establishment.</a:t>
            </a:r>
            <a:endParaRPr lang="en-US" sz="920" dirty="0"/>
          </a:p>
        </p:txBody>
      </p:sp>
      <p:sp>
        <p:nvSpPr>
          <p:cNvPr id="126" name="Text 124"/>
          <p:cNvSpPr/>
          <p:nvPr/>
        </p:nvSpPr>
        <p:spPr>
          <a:xfrm>
            <a:off x="566928" y="6912864"/>
            <a:ext cx="6428232" cy="914400"/>
          </a:xfrm>
          <a:prstGeom prst="rect">
            <a:avLst/>
          </a:prstGeom>
          <a:noFill/>
          <a:ln/>
        </p:spPr>
        <p:txBody>
          <a:bodyPr wrap="square" lIns="0" tIns="0" rIns="0" bIns="0" rtlCol="0" anchor="t"/>
          <a:lstStyle/>
          <a:p>
            <a:pPr algn="l" indent="0" marL="0">
              <a:lnSpc>
                <a:spcPct val="122000"/>
              </a:lnSpc>
              <a:buNone/>
            </a:pPr>
            <a:r>
              <a:rPr lang="en-US" sz="920" dirty="0">
                <a:solidFill>
                  <a:srgbClr val="3E3E3E"/>
                </a:solidFill>
                <a:latin typeface="Arial" pitchFamily="34" charset="0"/>
                <a:ea typeface="Arial" pitchFamily="34" charset="-122"/>
                <a:cs typeface="Arial" pitchFamily="34" charset="-120"/>
              </a:rPr>
              <a:t>What is given up is immediate emotional impact. Threshold is the stronger first impression and it is being deliberately declined, because the objective stated in the brief is trust rather than recognition, and trust is built by the twentieth artefact rather than the first. Trace is the sharpest expression of decision, which is why its node is retained rather than the whole concept: adopted wholesale it would pull the system toward a data-visualisation aesthetic that will age badly.</a:t>
            </a:r>
            <a:endParaRPr lang="en-US" sz="920" dirty="0"/>
          </a:p>
        </p:txBody>
      </p:sp>
      <p:pic>
        <p:nvPicPr>
          <p:cNvPr id="127" name="Image 0" descr="preencoded.png">    </p:cNvPr>
          <p:cNvPicPr>
            <a:picLocks noChangeAspect="1"/>
          </p:cNvPicPr>
          <p:nvPr/>
        </p:nvPicPr>
        <p:blipFill>
          <a:blip r:embed="rId1"/>
          <a:stretch>
            <a:fillRect/>
          </a:stretch>
        </p:blipFill>
        <p:spPr>
          <a:xfrm>
            <a:off x="566928" y="7973568"/>
            <a:ext cx="6428232" cy="1857045"/>
          </a:xfrm>
          <a:prstGeom prst="rect">
            <a:avLst/>
          </a:prstGeom>
        </p:spPr>
      </p:pic>
      <p:sp>
        <p:nvSpPr>
          <p:cNvPr id="128" name="Text 125"/>
          <p:cNvSpPr/>
          <p:nvPr/>
        </p:nvSpPr>
        <p:spPr>
          <a:xfrm>
            <a:off x="566928" y="9885477"/>
            <a:ext cx="6428232" cy="274320"/>
          </a:xfrm>
          <a:prstGeom prst="rect">
            <a:avLst/>
          </a:prstGeom>
          <a:noFill/>
          <a:ln/>
        </p:spPr>
        <p:txBody>
          <a:bodyPr wrap="square" lIns="0" tIns="0" rIns="0" bIns="0" rtlCol="0" anchor="t"/>
          <a:lstStyle/>
          <a:p>
            <a:pPr algn="l" indent="0" marL="0">
              <a:buNone/>
            </a:pPr>
            <a:r>
              <a:rPr lang="en-US" sz="780" i="1" dirty="0">
                <a:solidFill>
                  <a:srgbClr val="6E6E6E"/>
                </a:solidFill>
                <a:latin typeface="Arial" pitchFamily="34" charset="0"/>
                <a:ea typeface="Arial" pitchFamily="34" charset="-122"/>
                <a:cs typeface="Arial" pitchFamily="34" charset="-120"/>
              </a:rPr>
              <a:t>The recommended system: datum as spine, nodes for decision, density rationed to texture. Shown here carrying the five phase framework development programme.</a:t>
            </a:r>
            <a:endParaRPr lang="en-US" sz="7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TITLE TREATMENT</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11</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Title treatment explorations</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Six typographic approaches to presenting the Combat Mindset title. None is a logo and none is a freestanding asset: these are repeatable heading constructions. Set in Arial; production is Neue Haas Grotesk.</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Shape 7"/>
          <p:cNvSpPr/>
          <p:nvPr/>
        </p:nvSpPr>
        <p:spPr>
          <a:xfrm>
            <a:off x="566928" y="1737360"/>
            <a:ext cx="6428232" cy="1133856"/>
          </a:xfrm>
          <a:prstGeom prst="rect">
            <a:avLst/>
          </a:prstGeom>
          <a:solidFill>
            <a:srgbClr val="FFFFFF"/>
          </a:solidFill>
          <a:ln w="12700">
            <a:solidFill>
              <a:srgbClr val="D2D2D2"/>
            </a:solidFill>
            <a:prstDash val="solid"/>
          </a:ln>
        </p:spPr>
      </p:sp>
      <p:sp>
        <p:nvSpPr>
          <p:cNvPr id="10" name="Text 8"/>
          <p:cNvSpPr/>
          <p:nvPr/>
        </p:nvSpPr>
        <p:spPr>
          <a:xfrm>
            <a:off x="731520" y="1847088"/>
            <a:ext cx="274320" cy="164592"/>
          </a:xfrm>
          <a:prstGeom prst="rect">
            <a:avLst/>
          </a:prstGeom>
          <a:noFill/>
          <a:ln/>
        </p:spPr>
        <p:txBody>
          <a:bodyPr wrap="square" lIns="0" tIns="0" rIns="0" bIns="0" rtlCol="0" anchor="ctr"/>
          <a:lstStyle/>
          <a:p>
            <a:pPr algn="l" indent="0" marL="0">
              <a:buNone/>
            </a:pPr>
            <a:r>
              <a:rPr lang="en-US" sz="740" b="1" dirty="0">
                <a:solidFill>
                  <a:srgbClr val="D31145"/>
                </a:solidFill>
                <a:latin typeface="Arial" pitchFamily="34" charset="0"/>
                <a:ea typeface="Arial" pitchFamily="34" charset="-122"/>
                <a:cs typeface="Arial" pitchFamily="34" charset="-120"/>
              </a:rPr>
              <a:t>01</a:t>
            </a:r>
            <a:endParaRPr lang="en-US" sz="740" dirty="0"/>
          </a:p>
        </p:txBody>
      </p:sp>
      <p:sp>
        <p:nvSpPr>
          <p:cNvPr id="11" name="Text 9"/>
          <p:cNvSpPr/>
          <p:nvPr/>
        </p:nvSpPr>
        <p:spPr>
          <a:xfrm>
            <a:off x="1024128" y="1847088"/>
            <a:ext cx="2194560" cy="164592"/>
          </a:xfrm>
          <a:prstGeom prst="rect">
            <a:avLst/>
          </a:prstGeom>
          <a:noFill/>
          <a:ln/>
        </p:spPr>
        <p:txBody>
          <a:bodyPr wrap="square" lIns="0" tIns="0" rIns="0" bIns="0" rtlCol="0" anchor="ctr"/>
          <a:lstStyle/>
          <a:p>
            <a:pPr algn="l" indent="0" marL="0">
              <a:buNone/>
            </a:pPr>
            <a:r>
              <a:rPr lang="en-US" sz="840" b="1" spc="80" kern="0" dirty="0">
                <a:solidFill>
                  <a:srgbClr val="1A1A1A"/>
                </a:solidFill>
                <a:latin typeface="Arial" pitchFamily="34" charset="0"/>
                <a:ea typeface="Arial" pitchFamily="34" charset="-122"/>
                <a:cs typeface="Arial" pitchFamily="34" charset="-120"/>
              </a:rPr>
              <a:t>STACKED MASS</a:t>
            </a:r>
            <a:endParaRPr lang="en-US" sz="840" dirty="0"/>
          </a:p>
        </p:txBody>
      </p:sp>
      <p:sp>
        <p:nvSpPr>
          <p:cNvPr id="12" name="Text 10"/>
          <p:cNvSpPr/>
          <p:nvPr/>
        </p:nvSpPr>
        <p:spPr>
          <a:xfrm>
            <a:off x="1024128" y="2020824"/>
            <a:ext cx="2194560" cy="164592"/>
          </a:xfrm>
          <a:prstGeom prst="rect">
            <a:avLst/>
          </a:prstGeom>
          <a:noFill/>
          <a:ln/>
        </p:spPr>
        <p:txBody>
          <a:bodyPr wrap="square" lIns="0" tIns="0" rIns="0" bIns="0" rtlCol="0" anchor="ctr"/>
          <a:lstStyle/>
          <a:p>
            <a:pPr algn="l" indent="0" marL="0">
              <a:buNone/>
            </a:pPr>
            <a:r>
              <a:rPr lang="en-US" sz="720" i="1" dirty="0">
                <a:solidFill>
                  <a:srgbClr val="6E6E6E"/>
                </a:solidFill>
                <a:latin typeface="Arial" pitchFamily="34" charset="0"/>
                <a:ea typeface="Arial" pitchFamily="34" charset="-122"/>
                <a:cs typeface="Arial" pitchFamily="34" charset="-120"/>
              </a:rPr>
              <a:t>Bold, tight leading, datum rule beneath.</a:t>
            </a:r>
            <a:endParaRPr lang="en-US" sz="720" dirty="0"/>
          </a:p>
        </p:txBody>
      </p:sp>
      <p:sp>
        <p:nvSpPr>
          <p:cNvPr id="13" name="Text 11"/>
          <p:cNvSpPr/>
          <p:nvPr/>
        </p:nvSpPr>
        <p:spPr>
          <a:xfrm>
            <a:off x="1024128" y="2231136"/>
            <a:ext cx="2286000" cy="548640"/>
          </a:xfrm>
          <a:prstGeom prst="rect">
            <a:avLst/>
          </a:prstGeom>
          <a:noFill/>
          <a:ln/>
        </p:spPr>
        <p:txBody>
          <a:bodyPr wrap="square" lIns="0" tIns="0" rIns="0" bIns="0" rtlCol="0" anchor="t"/>
          <a:lstStyle/>
          <a:p>
            <a:pPr algn="l" indent="0" marL="0">
              <a:lnSpc>
                <a:spcPct val="122000"/>
              </a:lnSpc>
              <a:buNone/>
            </a:pPr>
            <a:r>
              <a:rPr lang="en-US" sz="760" dirty="0">
                <a:solidFill>
                  <a:srgbClr val="3E3E3E"/>
                </a:solidFill>
                <a:latin typeface="Arial" pitchFamily="34" charset="0"/>
                <a:ea typeface="Arial" pitchFamily="34" charset="-122"/>
                <a:cs typeface="Arial" pitchFamily="34" charset="-120"/>
              </a:rPr>
              <a:t>Authority through mass. The rule anchors the mark to the system. Reads at any size and reverses cleanly.</a:t>
            </a:r>
            <a:endParaRPr lang="en-US" sz="760" dirty="0"/>
          </a:p>
        </p:txBody>
      </p:sp>
      <p:sp>
        <p:nvSpPr>
          <p:cNvPr id="14" name="Text 12"/>
          <p:cNvSpPr/>
          <p:nvPr/>
        </p:nvSpPr>
        <p:spPr>
          <a:xfrm>
            <a:off x="3584448" y="1828800"/>
            <a:ext cx="3136392" cy="274320"/>
          </a:xfrm>
          <a:prstGeom prst="rect">
            <a:avLst/>
          </a:prstGeom>
          <a:noFill/>
          <a:ln/>
        </p:spPr>
        <p:txBody>
          <a:bodyPr wrap="square" lIns="0" tIns="0" rIns="0" bIns="0" rtlCol="0" anchor="ctr"/>
          <a:lstStyle/>
          <a:p>
            <a:pPr algn="l" indent="0" marL="0">
              <a:buNone/>
            </a:pPr>
            <a:r>
              <a:rPr lang="en-US" sz="2100" b="1" spc="80" kern="0" dirty="0">
                <a:solidFill>
                  <a:srgbClr val="1A1A1A"/>
                </a:solidFill>
                <a:latin typeface="Arial" pitchFamily="34" charset="0"/>
                <a:ea typeface="Arial" pitchFamily="34" charset="-122"/>
                <a:cs typeface="Arial" pitchFamily="34" charset="-120"/>
              </a:rPr>
              <a:t>COMBAT</a:t>
            </a:r>
            <a:endParaRPr lang="en-US" sz="2100" dirty="0"/>
          </a:p>
        </p:txBody>
      </p:sp>
      <p:sp>
        <p:nvSpPr>
          <p:cNvPr id="15" name="Text 13"/>
          <p:cNvSpPr/>
          <p:nvPr/>
        </p:nvSpPr>
        <p:spPr>
          <a:xfrm>
            <a:off x="3584448" y="2084832"/>
            <a:ext cx="3136392" cy="274320"/>
          </a:xfrm>
          <a:prstGeom prst="rect">
            <a:avLst/>
          </a:prstGeom>
          <a:noFill/>
          <a:ln/>
        </p:spPr>
        <p:txBody>
          <a:bodyPr wrap="square" lIns="0" tIns="0" rIns="0" bIns="0" rtlCol="0" anchor="ctr"/>
          <a:lstStyle/>
          <a:p>
            <a:pPr algn="l" indent="0" marL="0">
              <a:buNone/>
            </a:pPr>
            <a:r>
              <a:rPr lang="en-US" sz="2100" b="1" spc="80" kern="0" dirty="0">
                <a:solidFill>
                  <a:srgbClr val="1A1A1A"/>
                </a:solidFill>
                <a:latin typeface="Arial" pitchFamily="34" charset="0"/>
                <a:ea typeface="Arial" pitchFamily="34" charset="-122"/>
                <a:cs typeface="Arial" pitchFamily="34" charset="-120"/>
              </a:rPr>
              <a:t>MINDSET</a:t>
            </a:r>
            <a:endParaRPr lang="en-US" sz="2100" dirty="0"/>
          </a:p>
        </p:txBody>
      </p:sp>
      <p:sp>
        <p:nvSpPr>
          <p:cNvPr id="16" name="Shape 14"/>
          <p:cNvSpPr/>
          <p:nvPr/>
        </p:nvSpPr>
        <p:spPr>
          <a:xfrm>
            <a:off x="3584448" y="2395728"/>
            <a:ext cx="731520" cy="32004"/>
          </a:xfrm>
          <a:prstGeom prst="rect">
            <a:avLst/>
          </a:prstGeom>
          <a:solidFill>
            <a:srgbClr val="D31145"/>
          </a:solidFill>
          <a:ln/>
        </p:spPr>
      </p:sp>
      <p:sp>
        <p:nvSpPr>
          <p:cNvPr id="17" name="Shape 15"/>
          <p:cNvSpPr/>
          <p:nvPr/>
        </p:nvSpPr>
        <p:spPr>
          <a:xfrm>
            <a:off x="566928" y="2980944"/>
            <a:ext cx="6428232" cy="1133856"/>
          </a:xfrm>
          <a:prstGeom prst="rect">
            <a:avLst/>
          </a:prstGeom>
          <a:solidFill>
            <a:srgbClr val="FFFFFF"/>
          </a:solidFill>
          <a:ln w="12700">
            <a:solidFill>
              <a:srgbClr val="D2D2D2"/>
            </a:solidFill>
            <a:prstDash val="solid"/>
          </a:ln>
        </p:spPr>
      </p:sp>
      <p:sp>
        <p:nvSpPr>
          <p:cNvPr id="18" name="Text 16"/>
          <p:cNvSpPr/>
          <p:nvPr/>
        </p:nvSpPr>
        <p:spPr>
          <a:xfrm>
            <a:off x="731520" y="3090672"/>
            <a:ext cx="274320" cy="164592"/>
          </a:xfrm>
          <a:prstGeom prst="rect">
            <a:avLst/>
          </a:prstGeom>
          <a:noFill/>
          <a:ln/>
        </p:spPr>
        <p:txBody>
          <a:bodyPr wrap="square" lIns="0" tIns="0" rIns="0" bIns="0" rtlCol="0" anchor="ctr"/>
          <a:lstStyle/>
          <a:p>
            <a:pPr algn="l" indent="0" marL="0">
              <a:buNone/>
            </a:pPr>
            <a:r>
              <a:rPr lang="en-US" sz="740" b="1" dirty="0">
                <a:solidFill>
                  <a:srgbClr val="D31145"/>
                </a:solidFill>
                <a:latin typeface="Arial" pitchFamily="34" charset="0"/>
                <a:ea typeface="Arial" pitchFamily="34" charset="-122"/>
                <a:cs typeface="Arial" pitchFamily="34" charset="-120"/>
              </a:rPr>
              <a:t>02</a:t>
            </a:r>
            <a:endParaRPr lang="en-US" sz="740" dirty="0"/>
          </a:p>
        </p:txBody>
      </p:sp>
      <p:sp>
        <p:nvSpPr>
          <p:cNvPr id="19" name="Text 17"/>
          <p:cNvSpPr/>
          <p:nvPr/>
        </p:nvSpPr>
        <p:spPr>
          <a:xfrm>
            <a:off x="1024128" y="3090672"/>
            <a:ext cx="2194560" cy="164592"/>
          </a:xfrm>
          <a:prstGeom prst="rect">
            <a:avLst/>
          </a:prstGeom>
          <a:noFill/>
          <a:ln/>
        </p:spPr>
        <p:txBody>
          <a:bodyPr wrap="square" lIns="0" tIns="0" rIns="0" bIns="0" rtlCol="0" anchor="ctr"/>
          <a:lstStyle/>
          <a:p>
            <a:pPr algn="l" indent="0" marL="0">
              <a:buNone/>
            </a:pPr>
            <a:r>
              <a:rPr lang="en-US" sz="840" b="1" spc="80" kern="0" dirty="0">
                <a:solidFill>
                  <a:srgbClr val="1A1A1A"/>
                </a:solidFill>
                <a:latin typeface="Arial" pitchFamily="34" charset="0"/>
                <a:ea typeface="Arial" pitchFamily="34" charset="-122"/>
                <a:cs typeface="Arial" pitchFamily="34" charset="-120"/>
              </a:rPr>
              <a:t>SINGLE LINE, LETTERSPACED</a:t>
            </a:r>
            <a:endParaRPr lang="en-US" sz="840" dirty="0"/>
          </a:p>
        </p:txBody>
      </p:sp>
      <p:sp>
        <p:nvSpPr>
          <p:cNvPr id="20" name="Text 18"/>
          <p:cNvSpPr/>
          <p:nvPr/>
        </p:nvSpPr>
        <p:spPr>
          <a:xfrm>
            <a:off x="1024128" y="3264408"/>
            <a:ext cx="2194560" cy="164592"/>
          </a:xfrm>
          <a:prstGeom prst="rect">
            <a:avLst/>
          </a:prstGeom>
          <a:noFill/>
          <a:ln/>
        </p:spPr>
        <p:txBody>
          <a:bodyPr wrap="square" lIns="0" tIns="0" rIns="0" bIns="0" rtlCol="0" anchor="ctr"/>
          <a:lstStyle/>
          <a:p>
            <a:pPr algn="l" indent="0" marL="0">
              <a:buNone/>
            </a:pPr>
            <a:r>
              <a:rPr lang="en-US" sz="720" i="1" dirty="0">
                <a:solidFill>
                  <a:srgbClr val="6E6E6E"/>
                </a:solidFill>
                <a:latin typeface="Arial" pitchFamily="34" charset="0"/>
                <a:ea typeface="Arial" pitchFamily="34" charset="-122"/>
                <a:cs typeface="Arial" pitchFamily="34" charset="-120"/>
              </a:rPr>
              <a:t>Light weight, wide tracking, uppercase.</a:t>
            </a:r>
            <a:endParaRPr lang="en-US" sz="720" dirty="0"/>
          </a:p>
        </p:txBody>
      </p:sp>
      <p:sp>
        <p:nvSpPr>
          <p:cNvPr id="21" name="Text 19"/>
          <p:cNvSpPr/>
          <p:nvPr/>
        </p:nvSpPr>
        <p:spPr>
          <a:xfrm>
            <a:off x="1024128" y="3474720"/>
            <a:ext cx="2286000" cy="548640"/>
          </a:xfrm>
          <a:prstGeom prst="rect">
            <a:avLst/>
          </a:prstGeom>
          <a:noFill/>
          <a:ln/>
        </p:spPr>
        <p:txBody>
          <a:bodyPr wrap="square" lIns="0" tIns="0" rIns="0" bIns="0" rtlCol="0" anchor="t"/>
          <a:lstStyle/>
          <a:p>
            <a:pPr algn="l" indent="0" marL="0">
              <a:lnSpc>
                <a:spcPct val="122000"/>
              </a:lnSpc>
              <a:buNone/>
            </a:pPr>
            <a:r>
              <a:rPr lang="en-US" sz="760" dirty="0">
                <a:solidFill>
                  <a:srgbClr val="3E3E3E"/>
                </a:solidFill>
                <a:latin typeface="Arial" pitchFamily="34" charset="0"/>
                <a:ea typeface="Arial" pitchFamily="34" charset="-122"/>
                <a:cs typeface="Arial" pitchFamily="34" charset="-120"/>
              </a:rPr>
              <a:t>Institutional and quiet. Excellent as a running header or a spine. Too weak to carry a cover alone.</a:t>
            </a:r>
            <a:endParaRPr lang="en-US" sz="760" dirty="0"/>
          </a:p>
        </p:txBody>
      </p:sp>
      <p:sp>
        <p:nvSpPr>
          <p:cNvPr id="22" name="Text 20"/>
          <p:cNvSpPr/>
          <p:nvPr/>
        </p:nvSpPr>
        <p:spPr>
          <a:xfrm>
            <a:off x="3584448" y="3255264"/>
            <a:ext cx="3136392" cy="274320"/>
          </a:xfrm>
          <a:prstGeom prst="rect">
            <a:avLst/>
          </a:prstGeom>
          <a:noFill/>
          <a:ln/>
        </p:spPr>
        <p:txBody>
          <a:bodyPr wrap="square" lIns="0" tIns="0" rIns="0" bIns="0" rtlCol="0" anchor="ctr"/>
          <a:lstStyle/>
          <a:p>
            <a:pPr algn="l" indent="0" marL="0">
              <a:buNone/>
            </a:pPr>
            <a:r>
              <a:rPr lang="en-US" sz="1200" spc="140" kern="0" dirty="0">
                <a:solidFill>
                  <a:srgbClr val="1A1A1A"/>
                </a:solidFill>
                <a:latin typeface="Arial" pitchFamily="34" charset="0"/>
                <a:ea typeface="Arial" pitchFamily="34" charset="-122"/>
                <a:cs typeface="Arial" pitchFamily="34" charset="-120"/>
              </a:rPr>
              <a:t>C O M B A T   M I N D S E T</a:t>
            </a:r>
            <a:endParaRPr lang="en-US" sz="1200" dirty="0"/>
          </a:p>
        </p:txBody>
      </p:sp>
      <p:sp>
        <p:nvSpPr>
          <p:cNvPr id="23" name="Shape 21"/>
          <p:cNvSpPr/>
          <p:nvPr/>
        </p:nvSpPr>
        <p:spPr>
          <a:xfrm>
            <a:off x="566928" y="4224528"/>
            <a:ext cx="6428232" cy="1133856"/>
          </a:xfrm>
          <a:prstGeom prst="rect">
            <a:avLst/>
          </a:prstGeom>
          <a:solidFill>
            <a:srgbClr val="FFFFFF"/>
          </a:solidFill>
          <a:ln w="12700">
            <a:solidFill>
              <a:srgbClr val="D2D2D2"/>
            </a:solidFill>
            <a:prstDash val="solid"/>
          </a:ln>
        </p:spPr>
      </p:sp>
      <p:sp>
        <p:nvSpPr>
          <p:cNvPr id="24" name="Text 22"/>
          <p:cNvSpPr/>
          <p:nvPr/>
        </p:nvSpPr>
        <p:spPr>
          <a:xfrm>
            <a:off x="731520" y="4334256"/>
            <a:ext cx="274320" cy="164592"/>
          </a:xfrm>
          <a:prstGeom prst="rect">
            <a:avLst/>
          </a:prstGeom>
          <a:noFill/>
          <a:ln/>
        </p:spPr>
        <p:txBody>
          <a:bodyPr wrap="square" lIns="0" tIns="0" rIns="0" bIns="0" rtlCol="0" anchor="ctr"/>
          <a:lstStyle/>
          <a:p>
            <a:pPr algn="l" indent="0" marL="0">
              <a:buNone/>
            </a:pPr>
            <a:r>
              <a:rPr lang="en-US" sz="740" b="1" dirty="0">
                <a:solidFill>
                  <a:srgbClr val="D31145"/>
                </a:solidFill>
                <a:latin typeface="Arial" pitchFamily="34" charset="0"/>
                <a:ea typeface="Arial" pitchFamily="34" charset="-122"/>
                <a:cs typeface="Arial" pitchFamily="34" charset="-120"/>
              </a:rPr>
              <a:t>03</a:t>
            </a:r>
            <a:endParaRPr lang="en-US" sz="740" dirty="0"/>
          </a:p>
        </p:txBody>
      </p:sp>
      <p:sp>
        <p:nvSpPr>
          <p:cNvPr id="25" name="Text 23"/>
          <p:cNvSpPr/>
          <p:nvPr/>
        </p:nvSpPr>
        <p:spPr>
          <a:xfrm>
            <a:off x="1024128" y="4334256"/>
            <a:ext cx="2194560" cy="164592"/>
          </a:xfrm>
          <a:prstGeom prst="rect">
            <a:avLst/>
          </a:prstGeom>
          <a:noFill/>
          <a:ln/>
        </p:spPr>
        <p:txBody>
          <a:bodyPr wrap="square" lIns="0" tIns="0" rIns="0" bIns="0" rtlCol="0" anchor="ctr"/>
          <a:lstStyle/>
          <a:p>
            <a:pPr algn="l" indent="0" marL="0">
              <a:buNone/>
            </a:pPr>
            <a:r>
              <a:rPr lang="en-US" sz="840" b="1" spc="80" kern="0" dirty="0">
                <a:solidFill>
                  <a:srgbClr val="1A1A1A"/>
                </a:solidFill>
                <a:latin typeface="Arial" pitchFamily="34" charset="0"/>
                <a:ea typeface="Arial" pitchFamily="34" charset="-122"/>
                <a:cs typeface="Arial" pitchFamily="34" charset="-120"/>
              </a:rPr>
              <a:t>HUNG FROM THE DATUM</a:t>
            </a:r>
            <a:endParaRPr lang="en-US" sz="840" dirty="0"/>
          </a:p>
        </p:txBody>
      </p:sp>
      <p:sp>
        <p:nvSpPr>
          <p:cNvPr id="26" name="Text 24"/>
          <p:cNvSpPr/>
          <p:nvPr/>
        </p:nvSpPr>
        <p:spPr>
          <a:xfrm>
            <a:off x="1024128" y="4507992"/>
            <a:ext cx="2194560" cy="164592"/>
          </a:xfrm>
          <a:prstGeom prst="rect">
            <a:avLst/>
          </a:prstGeom>
          <a:noFill/>
          <a:ln/>
        </p:spPr>
        <p:txBody>
          <a:bodyPr wrap="square" lIns="0" tIns="0" rIns="0" bIns="0" rtlCol="0" anchor="ctr"/>
          <a:lstStyle/>
          <a:p>
            <a:pPr algn="l" indent="0" marL="0">
              <a:buNone/>
            </a:pPr>
            <a:r>
              <a:rPr lang="en-US" sz="720" i="1" dirty="0">
                <a:solidFill>
                  <a:srgbClr val="6E6E6E"/>
                </a:solidFill>
                <a:latin typeface="Arial" pitchFamily="34" charset="0"/>
                <a:ea typeface="Arial" pitchFamily="34" charset="-122"/>
                <a:cs typeface="Arial" pitchFamily="34" charset="-120"/>
              </a:rPr>
              <a:t>Rule above, mark below, aligned left.</a:t>
            </a:r>
            <a:endParaRPr lang="en-US" sz="720" dirty="0"/>
          </a:p>
        </p:txBody>
      </p:sp>
      <p:sp>
        <p:nvSpPr>
          <p:cNvPr id="27" name="Text 25"/>
          <p:cNvSpPr/>
          <p:nvPr/>
        </p:nvSpPr>
        <p:spPr>
          <a:xfrm>
            <a:off x="1024128" y="4718304"/>
            <a:ext cx="2286000" cy="548640"/>
          </a:xfrm>
          <a:prstGeom prst="rect">
            <a:avLst/>
          </a:prstGeom>
          <a:noFill/>
          <a:ln/>
        </p:spPr>
        <p:txBody>
          <a:bodyPr wrap="square" lIns="0" tIns="0" rIns="0" bIns="0" rtlCol="0" anchor="t"/>
          <a:lstStyle/>
          <a:p>
            <a:pPr algn="l" indent="0" marL="0">
              <a:lnSpc>
                <a:spcPct val="122000"/>
              </a:lnSpc>
              <a:buNone/>
            </a:pPr>
            <a:r>
              <a:rPr lang="en-US" sz="760" dirty="0">
                <a:solidFill>
                  <a:srgbClr val="3E3E3E"/>
                </a:solidFill>
                <a:latin typeface="Arial" pitchFamily="34" charset="0"/>
                <a:ea typeface="Arial" pitchFamily="34" charset="-122"/>
                <a:cs typeface="Arial" pitchFamily="34" charset="-120"/>
              </a:rPr>
              <a:t>Expresses the governing principle in the mark itself. The strongest structural fit with the system.</a:t>
            </a:r>
            <a:endParaRPr lang="en-US" sz="760" dirty="0"/>
          </a:p>
        </p:txBody>
      </p:sp>
      <p:sp>
        <p:nvSpPr>
          <p:cNvPr id="28" name="Shape 26"/>
          <p:cNvSpPr/>
          <p:nvPr/>
        </p:nvSpPr>
        <p:spPr>
          <a:xfrm>
            <a:off x="3584448" y="4407408"/>
            <a:ext cx="2953512" cy="27432"/>
          </a:xfrm>
          <a:prstGeom prst="rect">
            <a:avLst/>
          </a:prstGeom>
          <a:solidFill>
            <a:srgbClr val="1A1A1A"/>
          </a:solidFill>
          <a:ln/>
        </p:spPr>
      </p:sp>
      <p:sp>
        <p:nvSpPr>
          <p:cNvPr id="29" name="Text 27"/>
          <p:cNvSpPr/>
          <p:nvPr/>
        </p:nvSpPr>
        <p:spPr>
          <a:xfrm>
            <a:off x="3584448" y="4517136"/>
            <a:ext cx="3136392" cy="274320"/>
          </a:xfrm>
          <a:prstGeom prst="rect">
            <a:avLst/>
          </a:prstGeom>
          <a:noFill/>
          <a:ln/>
        </p:spPr>
        <p:txBody>
          <a:bodyPr wrap="square" lIns="0" tIns="0" rIns="0" bIns="0" rtlCol="0" anchor="ctr"/>
          <a:lstStyle/>
          <a:p>
            <a:pPr algn="l" indent="0" marL="0">
              <a:buNone/>
            </a:pPr>
            <a:r>
              <a:rPr lang="en-US" sz="1500" b="1" spc="60" kern="0" dirty="0">
                <a:solidFill>
                  <a:srgbClr val="1A1A1A"/>
                </a:solidFill>
                <a:latin typeface="Arial" pitchFamily="34" charset="0"/>
                <a:ea typeface="Arial" pitchFamily="34" charset="-122"/>
                <a:cs typeface="Arial" pitchFamily="34" charset="-120"/>
              </a:rPr>
              <a:t>COMBAT MINDSET</a:t>
            </a:r>
            <a:endParaRPr lang="en-US" sz="1500" dirty="0"/>
          </a:p>
        </p:txBody>
      </p:sp>
      <p:sp>
        <p:nvSpPr>
          <p:cNvPr id="30" name="Text 28"/>
          <p:cNvSpPr/>
          <p:nvPr/>
        </p:nvSpPr>
        <p:spPr>
          <a:xfrm>
            <a:off x="3584448" y="4773168"/>
            <a:ext cx="3136392" cy="182880"/>
          </a:xfrm>
          <a:prstGeom prst="rect">
            <a:avLst/>
          </a:prstGeom>
          <a:noFill/>
          <a:ln/>
        </p:spPr>
        <p:txBody>
          <a:bodyPr wrap="square" lIns="0" tIns="0" rIns="0" bIns="0" rtlCol="0" anchor="ctr"/>
          <a:lstStyle/>
          <a:p>
            <a:pPr algn="l" indent="0" marL="0">
              <a:buNone/>
            </a:pPr>
            <a:r>
              <a:rPr lang="en-US" sz="660" spc="120" kern="0" dirty="0">
                <a:solidFill>
                  <a:srgbClr val="6E6E6E"/>
                </a:solidFill>
                <a:latin typeface="Arial" pitchFamily="34" charset="0"/>
                <a:ea typeface="Arial" pitchFamily="34" charset="-122"/>
                <a:cs typeface="Arial" pitchFamily="34" charset="-120"/>
              </a:rPr>
              <a:t>NZ ARMY COMBAT MINDSET FRAMEWORK</a:t>
            </a:r>
            <a:endParaRPr lang="en-US" sz="660" dirty="0"/>
          </a:p>
        </p:txBody>
      </p:sp>
      <p:sp>
        <p:nvSpPr>
          <p:cNvPr id="31" name="Shape 29"/>
          <p:cNvSpPr/>
          <p:nvPr/>
        </p:nvSpPr>
        <p:spPr>
          <a:xfrm>
            <a:off x="566928" y="5468112"/>
            <a:ext cx="6428232" cy="1133856"/>
          </a:xfrm>
          <a:prstGeom prst="rect">
            <a:avLst/>
          </a:prstGeom>
          <a:solidFill>
            <a:srgbClr val="FFFFFF"/>
          </a:solidFill>
          <a:ln w="12700">
            <a:solidFill>
              <a:srgbClr val="D2D2D2"/>
            </a:solidFill>
            <a:prstDash val="solid"/>
          </a:ln>
        </p:spPr>
      </p:sp>
      <p:sp>
        <p:nvSpPr>
          <p:cNvPr id="32" name="Text 30"/>
          <p:cNvSpPr/>
          <p:nvPr/>
        </p:nvSpPr>
        <p:spPr>
          <a:xfrm>
            <a:off x="731520" y="5577840"/>
            <a:ext cx="274320" cy="164592"/>
          </a:xfrm>
          <a:prstGeom prst="rect">
            <a:avLst/>
          </a:prstGeom>
          <a:noFill/>
          <a:ln/>
        </p:spPr>
        <p:txBody>
          <a:bodyPr wrap="square" lIns="0" tIns="0" rIns="0" bIns="0" rtlCol="0" anchor="ctr"/>
          <a:lstStyle/>
          <a:p>
            <a:pPr algn="l" indent="0" marL="0">
              <a:buNone/>
            </a:pPr>
            <a:r>
              <a:rPr lang="en-US" sz="740" b="1" dirty="0">
                <a:solidFill>
                  <a:srgbClr val="D31145"/>
                </a:solidFill>
                <a:latin typeface="Arial" pitchFamily="34" charset="0"/>
                <a:ea typeface="Arial" pitchFamily="34" charset="-122"/>
                <a:cs typeface="Arial" pitchFamily="34" charset="-120"/>
              </a:rPr>
              <a:t>04</a:t>
            </a:r>
            <a:endParaRPr lang="en-US" sz="740" dirty="0"/>
          </a:p>
        </p:txBody>
      </p:sp>
      <p:sp>
        <p:nvSpPr>
          <p:cNvPr id="33" name="Text 31"/>
          <p:cNvSpPr/>
          <p:nvPr/>
        </p:nvSpPr>
        <p:spPr>
          <a:xfrm>
            <a:off x="1024128" y="5577840"/>
            <a:ext cx="2194560" cy="164592"/>
          </a:xfrm>
          <a:prstGeom prst="rect">
            <a:avLst/>
          </a:prstGeom>
          <a:noFill/>
          <a:ln/>
        </p:spPr>
        <p:txBody>
          <a:bodyPr wrap="square" lIns="0" tIns="0" rIns="0" bIns="0" rtlCol="0" anchor="ctr"/>
          <a:lstStyle/>
          <a:p>
            <a:pPr algn="l" indent="0" marL="0">
              <a:buNone/>
            </a:pPr>
            <a:r>
              <a:rPr lang="en-US" sz="840" b="1" spc="80" kern="0" dirty="0">
                <a:solidFill>
                  <a:srgbClr val="1A1A1A"/>
                </a:solidFill>
                <a:latin typeface="Arial" pitchFamily="34" charset="0"/>
                <a:ea typeface="Arial" pitchFamily="34" charset="-122"/>
                <a:cs typeface="Arial" pitchFamily="34" charset="-120"/>
              </a:rPr>
              <a:t>WITH REFERENCE NUMBER</a:t>
            </a:r>
            <a:endParaRPr lang="en-US" sz="840" dirty="0"/>
          </a:p>
        </p:txBody>
      </p:sp>
      <p:sp>
        <p:nvSpPr>
          <p:cNvPr id="34" name="Text 32"/>
          <p:cNvSpPr/>
          <p:nvPr/>
        </p:nvSpPr>
        <p:spPr>
          <a:xfrm>
            <a:off x="1024128" y="5751576"/>
            <a:ext cx="2194560" cy="164592"/>
          </a:xfrm>
          <a:prstGeom prst="rect">
            <a:avLst/>
          </a:prstGeom>
          <a:noFill/>
          <a:ln/>
        </p:spPr>
        <p:txBody>
          <a:bodyPr wrap="square" lIns="0" tIns="0" rIns="0" bIns="0" rtlCol="0" anchor="ctr"/>
          <a:lstStyle/>
          <a:p>
            <a:pPr algn="l" indent="0" marL="0">
              <a:buNone/>
            </a:pPr>
            <a:r>
              <a:rPr lang="en-US" sz="720" i="1" dirty="0">
                <a:solidFill>
                  <a:srgbClr val="6E6E6E"/>
                </a:solidFill>
                <a:latin typeface="Arial" pitchFamily="34" charset="0"/>
                <a:ea typeface="Arial" pitchFamily="34" charset="-122"/>
                <a:cs typeface="Arial" pitchFamily="34" charset="-120"/>
              </a:rPr>
              <a:t>Doctrine publication convention.</a:t>
            </a:r>
            <a:endParaRPr lang="en-US" sz="720" dirty="0"/>
          </a:p>
        </p:txBody>
      </p:sp>
      <p:sp>
        <p:nvSpPr>
          <p:cNvPr id="35" name="Text 33"/>
          <p:cNvSpPr/>
          <p:nvPr/>
        </p:nvSpPr>
        <p:spPr>
          <a:xfrm>
            <a:off x="1024128" y="5961888"/>
            <a:ext cx="2286000" cy="548640"/>
          </a:xfrm>
          <a:prstGeom prst="rect">
            <a:avLst/>
          </a:prstGeom>
          <a:noFill/>
          <a:ln/>
        </p:spPr>
        <p:txBody>
          <a:bodyPr wrap="square" lIns="0" tIns="0" rIns="0" bIns="0" rtlCol="0" anchor="t"/>
          <a:lstStyle/>
          <a:p>
            <a:pPr algn="l" indent="0" marL="0">
              <a:lnSpc>
                <a:spcPct val="122000"/>
              </a:lnSpc>
              <a:buNone/>
            </a:pPr>
            <a:r>
              <a:rPr lang="en-US" sz="760" dirty="0">
                <a:solidFill>
                  <a:srgbClr val="3E3E3E"/>
                </a:solidFill>
                <a:latin typeface="Arial" pitchFamily="34" charset="0"/>
                <a:ea typeface="Arial" pitchFamily="34" charset="-122"/>
                <a:cs typeface="Arial" pitchFamily="34" charset="-120"/>
              </a:rPr>
              <a:t>Draws on doctrine-publication conventions of numbering and hierarchy. Recommended as the formal variant on covers and title pages.</a:t>
            </a:r>
            <a:endParaRPr lang="en-US" sz="760" dirty="0"/>
          </a:p>
        </p:txBody>
      </p:sp>
      <p:sp>
        <p:nvSpPr>
          <p:cNvPr id="36" name="Text 34"/>
          <p:cNvSpPr/>
          <p:nvPr/>
        </p:nvSpPr>
        <p:spPr>
          <a:xfrm>
            <a:off x="3584448" y="5614416"/>
            <a:ext cx="548640" cy="310896"/>
          </a:xfrm>
          <a:prstGeom prst="rect">
            <a:avLst/>
          </a:prstGeom>
          <a:noFill/>
          <a:ln/>
        </p:spPr>
        <p:txBody>
          <a:bodyPr wrap="square" lIns="0" tIns="0" rIns="0" bIns="0" rtlCol="0" anchor="ctr"/>
          <a:lstStyle/>
          <a:p>
            <a:pPr algn="l" indent="0" marL="0">
              <a:buNone/>
            </a:pPr>
            <a:r>
              <a:rPr lang="en-US" sz="2000" b="1" dirty="0">
                <a:solidFill>
                  <a:srgbClr val="1A1A1A"/>
                </a:solidFill>
                <a:latin typeface="Arial" pitchFamily="34" charset="0"/>
                <a:ea typeface="Arial" pitchFamily="34" charset="-122"/>
                <a:cs typeface="Arial" pitchFamily="34" charset="-120"/>
              </a:rPr>
              <a:t>CM</a:t>
            </a:r>
            <a:endParaRPr lang="en-US" sz="2000" dirty="0"/>
          </a:p>
        </p:txBody>
      </p:sp>
      <p:sp>
        <p:nvSpPr>
          <p:cNvPr id="37" name="Text 35"/>
          <p:cNvSpPr/>
          <p:nvPr/>
        </p:nvSpPr>
        <p:spPr>
          <a:xfrm>
            <a:off x="4151376" y="5632704"/>
            <a:ext cx="2569464" cy="219456"/>
          </a:xfrm>
          <a:prstGeom prst="rect">
            <a:avLst/>
          </a:prstGeom>
          <a:noFill/>
          <a:ln/>
        </p:spPr>
        <p:txBody>
          <a:bodyPr wrap="square" lIns="0" tIns="0" rIns="0" bIns="0" rtlCol="0" anchor="ctr"/>
          <a:lstStyle/>
          <a:p>
            <a:pPr algn="l" indent="0" marL="0">
              <a:buNone/>
            </a:pPr>
            <a:r>
              <a:rPr lang="en-US" sz="1300" b="1" spc="50" kern="0" dirty="0">
                <a:solidFill>
                  <a:srgbClr val="1A1A1A"/>
                </a:solidFill>
                <a:latin typeface="Arial" pitchFamily="34" charset="0"/>
                <a:ea typeface="Arial" pitchFamily="34" charset="-122"/>
                <a:cs typeface="Arial" pitchFamily="34" charset="-120"/>
              </a:rPr>
              <a:t>COMBAT MINDSET</a:t>
            </a:r>
            <a:endParaRPr lang="en-US" sz="1300" dirty="0"/>
          </a:p>
        </p:txBody>
      </p:sp>
      <p:sp>
        <p:nvSpPr>
          <p:cNvPr id="38" name="Text 36"/>
          <p:cNvSpPr/>
          <p:nvPr/>
        </p:nvSpPr>
        <p:spPr>
          <a:xfrm>
            <a:off x="4151376" y="5870448"/>
            <a:ext cx="2569464" cy="182880"/>
          </a:xfrm>
          <a:prstGeom prst="rect">
            <a:avLst/>
          </a:prstGeom>
          <a:noFill/>
          <a:ln/>
        </p:spPr>
        <p:txBody>
          <a:bodyPr wrap="square" lIns="0" tIns="0" rIns="0" bIns="0" rtlCol="0" anchor="ctr"/>
          <a:lstStyle/>
          <a:p>
            <a:pPr algn="l" indent="0" marL="0">
              <a:buNone/>
            </a:pPr>
            <a:r>
              <a:rPr lang="en-US" sz="700" spc="100" kern="0" dirty="0">
                <a:solidFill>
                  <a:srgbClr val="6E6E6E"/>
                </a:solidFill>
                <a:latin typeface="Arial" pitchFamily="34" charset="0"/>
                <a:ea typeface="Arial" pitchFamily="34" charset="-122"/>
                <a:cs typeface="Arial" pitchFamily="34" charset="-120"/>
              </a:rPr>
              <a:t>CM-FWK-001  |  FRAMEWORK</a:t>
            </a:r>
            <a:endParaRPr lang="en-US" sz="700" dirty="0"/>
          </a:p>
        </p:txBody>
      </p:sp>
      <p:sp>
        <p:nvSpPr>
          <p:cNvPr id="39" name="Shape 37"/>
          <p:cNvSpPr/>
          <p:nvPr/>
        </p:nvSpPr>
        <p:spPr>
          <a:xfrm>
            <a:off x="566928" y="6711696"/>
            <a:ext cx="6428232" cy="1133856"/>
          </a:xfrm>
          <a:prstGeom prst="rect">
            <a:avLst/>
          </a:prstGeom>
          <a:solidFill>
            <a:srgbClr val="FAFAF8"/>
          </a:solidFill>
          <a:ln w="12700">
            <a:solidFill>
              <a:srgbClr val="D2D2D2"/>
            </a:solidFill>
            <a:prstDash val="solid"/>
          </a:ln>
        </p:spPr>
      </p:sp>
      <p:sp>
        <p:nvSpPr>
          <p:cNvPr id="40" name="Text 38"/>
          <p:cNvSpPr/>
          <p:nvPr/>
        </p:nvSpPr>
        <p:spPr>
          <a:xfrm>
            <a:off x="731520" y="6821424"/>
            <a:ext cx="274320" cy="164592"/>
          </a:xfrm>
          <a:prstGeom prst="rect">
            <a:avLst/>
          </a:prstGeom>
          <a:noFill/>
          <a:ln/>
        </p:spPr>
        <p:txBody>
          <a:bodyPr wrap="square" lIns="0" tIns="0" rIns="0" bIns="0" rtlCol="0" anchor="ctr"/>
          <a:lstStyle/>
          <a:p>
            <a:pPr algn="l" indent="0" marL="0">
              <a:buNone/>
            </a:pPr>
            <a:r>
              <a:rPr lang="en-US" sz="740" b="1" dirty="0">
                <a:solidFill>
                  <a:srgbClr val="6E6E6E"/>
                </a:solidFill>
                <a:latin typeface="Arial" pitchFamily="34" charset="0"/>
                <a:ea typeface="Arial" pitchFamily="34" charset="-122"/>
                <a:cs typeface="Arial" pitchFamily="34" charset="-120"/>
              </a:rPr>
              <a:t>05</a:t>
            </a:r>
            <a:endParaRPr lang="en-US" sz="740" dirty="0"/>
          </a:p>
        </p:txBody>
      </p:sp>
      <p:sp>
        <p:nvSpPr>
          <p:cNvPr id="41" name="Text 39"/>
          <p:cNvSpPr/>
          <p:nvPr/>
        </p:nvSpPr>
        <p:spPr>
          <a:xfrm>
            <a:off x="1024128" y="6821424"/>
            <a:ext cx="2194560" cy="164592"/>
          </a:xfrm>
          <a:prstGeom prst="rect">
            <a:avLst/>
          </a:prstGeom>
          <a:noFill/>
          <a:ln/>
        </p:spPr>
        <p:txBody>
          <a:bodyPr wrap="square" lIns="0" tIns="0" rIns="0" bIns="0" rtlCol="0" anchor="ctr"/>
          <a:lstStyle/>
          <a:p>
            <a:pPr algn="l" indent="0" marL="0">
              <a:buNone/>
            </a:pPr>
            <a:r>
              <a:rPr lang="en-US" sz="840" b="1" spc="80" kern="0" dirty="0">
                <a:solidFill>
                  <a:srgbClr val="1A1A1A"/>
                </a:solidFill>
                <a:latin typeface="Arial" pitchFamily="34" charset="0"/>
                <a:ea typeface="Arial" pitchFamily="34" charset="-122"/>
                <a:cs typeface="Arial" pitchFamily="34" charset="-120"/>
              </a:rPr>
              <a:t>TWO WEIGHT RELATIONSHIP</a:t>
            </a:r>
            <a:endParaRPr lang="en-US" sz="840" dirty="0"/>
          </a:p>
        </p:txBody>
      </p:sp>
      <p:sp>
        <p:nvSpPr>
          <p:cNvPr id="42" name="Text 40"/>
          <p:cNvSpPr/>
          <p:nvPr/>
        </p:nvSpPr>
        <p:spPr>
          <a:xfrm>
            <a:off x="1024128" y="6995160"/>
            <a:ext cx="2194560" cy="164592"/>
          </a:xfrm>
          <a:prstGeom prst="rect">
            <a:avLst/>
          </a:prstGeom>
          <a:noFill/>
          <a:ln/>
        </p:spPr>
        <p:txBody>
          <a:bodyPr wrap="square" lIns="0" tIns="0" rIns="0" bIns="0" rtlCol="0" anchor="ctr"/>
          <a:lstStyle/>
          <a:p>
            <a:pPr algn="l" indent="0" marL="0">
              <a:buNone/>
            </a:pPr>
            <a:r>
              <a:rPr lang="en-US" sz="720" i="1" dirty="0">
                <a:solidFill>
                  <a:srgbClr val="6E6E6E"/>
                </a:solidFill>
                <a:latin typeface="Arial" pitchFamily="34" charset="0"/>
                <a:ea typeface="Arial" pitchFamily="34" charset="-122"/>
                <a:cs typeface="Arial" pitchFamily="34" charset="-120"/>
              </a:rPr>
              <a:t>Combat bold, Mindset light.</a:t>
            </a:r>
            <a:endParaRPr lang="en-US" sz="720" dirty="0"/>
          </a:p>
        </p:txBody>
      </p:sp>
      <p:sp>
        <p:nvSpPr>
          <p:cNvPr id="43" name="Text 41"/>
          <p:cNvSpPr/>
          <p:nvPr/>
        </p:nvSpPr>
        <p:spPr>
          <a:xfrm>
            <a:off x="1024128" y="7205472"/>
            <a:ext cx="2286000" cy="548640"/>
          </a:xfrm>
          <a:prstGeom prst="rect">
            <a:avLst/>
          </a:prstGeom>
          <a:noFill/>
          <a:ln/>
        </p:spPr>
        <p:txBody>
          <a:bodyPr wrap="square" lIns="0" tIns="0" rIns="0" bIns="0" rtlCol="0" anchor="t"/>
          <a:lstStyle/>
          <a:p>
            <a:pPr algn="l" indent="0" marL="0">
              <a:lnSpc>
                <a:spcPct val="122000"/>
              </a:lnSpc>
              <a:buNone/>
            </a:pPr>
            <a:r>
              <a:rPr lang="en-US" sz="760" dirty="0">
                <a:solidFill>
                  <a:srgbClr val="6E6E6E"/>
                </a:solidFill>
                <a:latin typeface="Arial" pitchFamily="34" charset="0"/>
                <a:ea typeface="Arial" pitchFamily="34" charset="-122"/>
                <a:cs typeface="Arial" pitchFamily="34" charset="-120"/>
              </a:rPr>
              <a:t>Attempts to show the capability relationship typographically. Rejected: it implies Mindset is subordinate to Combat, which inverts the actual hierarchy.</a:t>
            </a:r>
            <a:endParaRPr lang="en-US" sz="760" dirty="0"/>
          </a:p>
        </p:txBody>
      </p:sp>
      <p:sp>
        <p:nvSpPr>
          <p:cNvPr id="44" name="Text 42"/>
          <p:cNvSpPr/>
          <p:nvPr/>
        </p:nvSpPr>
        <p:spPr>
          <a:xfrm>
            <a:off x="3584448" y="6986016"/>
            <a:ext cx="3136392" cy="274320"/>
          </a:xfrm>
          <a:prstGeom prst="rect">
            <a:avLst/>
          </a:prstGeom>
          <a:noFill/>
          <a:ln/>
        </p:spPr>
        <p:txBody>
          <a:bodyPr wrap="square" lIns="0" tIns="0" rIns="0" bIns="0" rtlCol="0" anchor="ctr"/>
          <a:lstStyle/>
          <a:p>
            <a:pPr algn="l" indent="0" marL="0">
              <a:buNone/>
            </a:pPr>
            <a:r>
              <a:rPr lang="en-US" sz="1700" b="1" spc="60" kern="0" dirty="0">
                <a:solidFill>
                  <a:srgbClr val="1A1A1A"/>
                </a:solidFill>
                <a:latin typeface="Arial" pitchFamily="34" charset="0"/>
                <a:ea typeface="Arial" pitchFamily="34" charset="-122"/>
                <a:cs typeface="Arial" pitchFamily="34" charset="-120"/>
              </a:rPr>
              <a:t>COMBAT</a:t>
            </a:r>
            <a:pPr algn="l" indent="0" marL="0">
              <a:buNone/>
            </a:pPr>
            <a:r>
              <a:rPr lang="en-US" sz="1700" spc="60" kern="0" dirty="0">
                <a:solidFill>
                  <a:srgbClr val="1A1A1A"/>
                </a:solidFill>
                <a:latin typeface="Arial" pitchFamily="34" charset="0"/>
                <a:ea typeface="Arial" pitchFamily="34" charset="-122"/>
                <a:cs typeface="Arial" pitchFamily="34" charset="-120"/>
              </a:rPr>
              <a:t> MINDSET</a:t>
            </a:r>
            <a:endParaRPr lang="en-US" sz="1700" dirty="0"/>
          </a:p>
        </p:txBody>
      </p:sp>
      <p:sp>
        <p:nvSpPr>
          <p:cNvPr id="45" name="Text 43"/>
          <p:cNvSpPr/>
          <p:nvPr/>
        </p:nvSpPr>
        <p:spPr>
          <a:xfrm>
            <a:off x="5532120" y="6821424"/>
            <a:ext cx="1298448" cy="164592"/>
          </a:xfrm>
          <a:prstGeom prst="rect">
            <a:avLst/>
          </a:prstGeom>
          <a:noFill/>
          <a:ln/>
        </p:spPr>
        <p:txBody>
          <a:bodyPr wrap="square" lIns="0" tIns="0" rIns="0" bIns="0" rtlCol="0" anchor="ctr"/>
          <a:lstStyle/>
          <a:p>
            <a:pPr algn="r" indent="0" marL="0">
              <a:buNone/>
            </a:pPr>
            <a:r>
              <a:rPr lang="en-US" sz="640" b="1" spc="80" kern="0" dirty="0">
                <a:solidFill>
                  <a:srgbClr val="D31145"/>
                </a:solidFill>
                <a:latin typeface="Arial" pitchFamily="34" charset="0"/>
                <a:ea typeface="Arial" pitchFamily="34" charset="-122"/>
                <a:cs typeface="Arial" pitchFamily="34" charset="-120"/>
              </a:rPr>
              <a:t>NOT RECOMMENDED</a:t>
            </a:r>
            <a:endParaRPr lang="en-US" sz="640" dirty="0"/>
          </a:p>
        </p:txBody>
      </p:sp>
      <p:sp>
        <p:nvSpPr>
          <p:cNvPr id="46" name="Shape 44"/>
          <p:cNvSpPr/>
          <p:nvPr/>
        </p:nvSpPr>
        <p:spPr>
          <a:xfrm>
            <a:off x="566928" y="7955280"/>
            <a:ext cx="6428232" cy="1133856"/>
          </a:xfrm>
          <a:prstGeom prst="rect">
            <a:avLst/>
          </a:prstGeom>
          <a:solidFill>
            <a:srgbClr val="FAFAF8"/>
          </a:solidFill>
          <a:ln w="12700">
            <a:solidFill>
              <a:srgbClr val="D2D2D2"/>
            </a:solidFill>
            <a:prstDash val="solid"/>
          </a:ln>
        </p:spPr>
      </p:sp>
      <p:sp>
        <p:nvSpPr>
          <p:cNvPr id="47" name="Text 45"/>
          <p:cNvSpPr/>
          <p:nvPr/>
        </p:nvSpPr>
        <p:spPr>
          <a:xfrm>
            <a:off x="731520" y="8065008"/>
            <a:ext cx="274320" cy="164592"/>
          </a:xfrm>
          <a:prstGeom prst="rect">
            <a:avLst/>
          </a:prstGeom>
          <a:noFill/>
          <a:ln/>
        </p:spPr>
        <p:txBody>
          <a:bodyPr wrap="square" lIns="0" tIns="0" rIns="0" bIns="0" rtlCol="0" anchor="ctr"/>
          <a:lstStyle/>
          <a:p>
            <a:pPr algn="l" indent="0" marL="0">
              <a:buNone/>
            </a:pPr>
            <a:r>
              <a:rPr lang="en-US" sz="740" b="1" dirty="0">
                <a:solidFill>
                  <a:srgbClr val="6E6E6E"/>
                </a:solidFill>
                <a:latin typeface="Arial" pitchFamily="34" charset="0"/>
                <a:ea typeface="Arial" pitchFamily="34" charset="-122"/>
                <a:cs typeface="Arial" pitchFamily="34" charset="-120"/>
              </a:rPr>
              <a:t>06</a:t>
            </a:r>
            <a:endParaRPr lang="en-US" sz="740" dirty="0"/>
          </a:p>
        </p:txBody>
      </p:sp>
      <p:sp>
        <p:nvSpPr>
          <p:cNvPr id="48" name="Text 46"/>
          <p:cNvSpPr/>
          <p:nvPr/>
        </p:nvSpPr>
        <p:spPr>
          <a:xfrm>
            <a:off x="1024128" y="8065008"/>
            <a:ext cx="2194560" cy="164592"/>
          </a:xfrm>
          <a:prstGeom prst="rect">
            <a:avLst/>
          </a:prstGeom>
          <a:noFill/>
          <a:ln/>
        </p:spPr>
        <p:txBody>
          <a:bodyPr wrap="square" lIns="0" tIns="0" rIns="0" bIns="0" rtlCol="0" anchor="ctr"/>
          <a:lstStyle/>
          <a:p>
            <a:pPr algn="l" indent="0" marL="0">
              <a:buNone/>
            </a:pPr>
            <a:r>
              <a:rPr lang="en-US" sz="840" b="1" spc="80" kern="0" dirty="0">
                <a:solidFill>
                  <a:srgbClr val="1A1A1A"/>
                </a:solidFill>
                <a:latin typeface="Arial" pitchFamily="34" charset="0"/>
                <a:ea typeface="Arial" pitchFamily="34" charset="-122"/>
                <a:cs typeface="Arial" pitchFamily="34" charset="-120"/>
              </a:rPr>
              <a:t>MONOGRAM</a:t>
            </a:r>
            <a:endParaRPr lang="en-US" sz="840" dirty="0"/>
          </a:p>
        </p:txBody>
      </p:sp>
      <p:sp>
        <p:nvSpPr>
          <p:cNvPr id="49" name="Text 47"/>
          <p:cNvSpPr/>
          <p:nvPr/>
        </p:nvSpPr>
        <p:spPr>
          <a:xfrm>
            <a:off x="1024128" y="8238744"/>
            <a:ext cx="2194560" cy="164592"/>
          </a:xfrm>
          <a:prstGeom prst="rect">
            <a:avLst/>
          </a:prstGeom>
          <a:noFill/>
          <a:ln/>
        </p:spPr>
        <p:txBody>
          <a:bodyPr wrap="square" lIns="0" tIns="0" rIns="0" bIns="0" rtlCol="0" anchor="ctr"/>
          <a:lstStyle/>
          <a:p>
            <a:pPr algn="l" indent="0" marL="0">
              <a:buNone/>
            </a:pPr>
            <a:r>
              <a:rPr lang="en-US" sz="720" i="1" dirty="0">
                <a:solidFill>
                  <a:srgbClr val="6E6E6E"/>
                </a:solidFill>
                <a:latin typeface="Arial" pitchFamily="34" charset="0"/>
                <a:ea typeface="Arial" pitchFamily="34" charset="-122"/>
                <a:cs typeface="Arial" pitchFamily="34" charset="-120"/>
              </a:rPr>
              <a:t>CM in a bounded field.</a:t>
            </a:r>
            <a:endParaRPr lang="en-US" sz="720" dirty="0"/>
          </a:p>
        </p:txBody>
      </p:sp>
      <p:sp>
        <p:nvSpPr>
          <p:cNvPr id="50" name="Text 48"/>
          <p:cNvSpPr/>
          <p:nvPr/>
        </p:nvSpPr>
        <p:spPr>
          <a:xfrm>
            <a:off x="1024128" y="8449056"/>
            <a:ext cx="2286000" cy="548640"/>
          </a:xfrm>
          <a:prstGeom prst="rect">
            <a:avLst/>
          </a:prstGeom>
          <a:noFill/>
          <a:ln/>
        </p:spPr>
        <p:txBody>
          <a:bodyPr wrap="square" lIns="0" tIns="0" rIns="0" bIns="0" rtlCol="0" anchor="t"/>
          <a:lstStyle/>
          <a:p>
            <a:pPr algn="l" indent="0" marL="0">
              <a:lnSpc>
                <a:spcPct val="122000"/>
              </a:lnSpc>
              <a:buNone/>
            </a:pPr>
            <a:r>
              <a:rPr lang="en-US" sz="760" dirty="0">
                <a:solidFill>
                  <a:srgbClr val="6E6E6E"/>
                </a:solidFill>
                <a:latin typeface="Arial" pitchFamily="34" charset="0"/>
                <a:ea typeface="Arial" pitchFamily="34" charset="-122"/>
                <a:cs typeface="Arial" pitchFamily="34" charset="-120"/>
              </a:rPr>
              <a:t>Rejected. However typographic its construction, a bounded monogram functions as a logo and would breach the guidelines and this document's own position.</a:t>
            </a:r>
            <a:endParaRPr lang="en-US" sz="760" dirty="0"/>
          </a:p>
        </p:txBody>
      </p:sp>
      <p:sp>
        <p:nvSpPr>
          <p:cNvPr id="51" name="Shape 49"/>
          <p:cNvSpPr/>
          <p:nvPr/>
        </p:nvSpPr>
        <p:spPr>
          <a:xfrm>
            <a:off x="3584448" y="8101584"/>
            <a:ext cx="603504" cy="603504"/>
          </a:xfrm>
          <a:prstGeom prst="rect">
            <a:avLst/>
          </a:prstGeom>
          <a:solidFill>
            <a:srgbClr val="1A1A1A"/>
          </a:solidFill>
          <a:ln/>
        </p:spPr>
      </p:sp>
      <p:sp>
        <p:nvSpPr>
          <p:cNvPr id="52" name="Text 50"/>
          <p:cNvSpPr/>
          <p:nvPr/>
        </p:nvSpPr>
        <p:spPr>
          <a:xfrm>
            <a:off x="3584448" y="8101584"/>
            <a:ext cx="603504" cy="603504"/>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CM</a:t>
            </a:r>
            <a:endParaRPr lang="en-US" sz="1900" dirty="0"/>
          </a:p>
        </p:txBody>
      </p:sp>
      <p:sp>
        <p:nvSpPr>
          <p:cNvPr id="53" name="Text 51"/>
          <p:cNvSpPr/>
          <p:nvPr/>
        </p:nvSpPr>
        <p:spPr>
          <a:xfrm>
            <a:off x="5532120" y="8065008"/>
            <a:ext cx="1298448" cy="164592"/>
          </a:xfrm>
          <a:prstGeom prst="rect">
            <a:avLst/>
          </a:prstGeom>
          <a:noFill/>
          <a:ln/>
        </p:spPr>
        <p:txBody>
          <a:bodyPr wrap="square" lIns="0" tIns="0" rIns="0" bIns="0" rtlCol="0" anchor="ctr"/>
          <a:lstStyle/>
          <a:p>
            <a:pPr algn="r" indent="0" marL="0">
              <a:buNone/>
            </a:pPr>
            <a:r>
              <a:rPr lang="en-US" sz="640" b="1" spc="80" kern="0" dirty="0">
                <a:solidFill>
                  <a:srgbClr val="D31145"/>
                </a:solidFill>
                <a:latin typeface="Arial" pitchFamily="34" charset="0"/>
                <a:ea typeface="Arial" pitchFamily="34" charset="-122"/>
                <a:cs typeface="Arial" pitchFamily="34" charset="-120"/>
              </a:rPr>
              <a:t>NOT RECOMMENDED</a:t>
            </a:r>
            <a:endParaRPr lang="en-US" sz="640" dirty="0"/>
          </a:p>
        </p:txBody>
      </p:sp>
      <p:sp>
        <p:nvSpPr>
          <p:cNvPr id="54" name="Text 52"/>
          <p:cNvSpPr/>
          <p:nvPr/>
        </p:nvSpPr>
        <p:spPr>
          <a:xfrm>
            <a:off x="566928" y="925372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SELECTION</a:t>
            </a:r>
            <a:endParaRPr lang="en-US" sz="740" dirty="0"/>
          </a:p>
        </p:txBody>
      </p:sp>
      <p:sp>
        <p:nvSpPr>
          <p:cNvPr id="55" name="Shape 53"/>
          <p:cNvSpPr/>
          <p:nvPr/>
        </p:nvSpPr>
        <p:spPr>
          <a:xfrm>
            <a:off x="566928" y="9436608"/>
            <a:ext cx="6428232" cy="7315"/>
          </a:xfrm>
          <a:prstGeom prst="rect">
            <a:avLst/>
          </a:prstGeom>
          <a:solidFill>
            <a:srgbClr val="D2D2D2"/>
          </a:solidFill>
          <a:ln/>
        </p:spPr>
      </p:sp>
      <p:sp>
        <p:nvSpPr>
          <p:cNvPr id="56" name="Text 54"/>
          <p:cNvSpPr/>
          <p:nvPr/>
        </p:nvSpPr>
        <p:spPr>
          <a:xfrm>
            <a:off x="566928" y="9546336"/>
            <a:ext cx="6428232" cy="548640"/>
          </a:xfrm>
          <a:prstGeom prst="rect">
            <a:avLst/>
          </a:prstGeom>
          <a:noFill/>
          <a:ln/>
        </p:spPr>
        <p:txBody>
          <a:bodyPr wrap="square" lIns="0" tIns="0" rIns="0" bIns="0" rtlCol="0" anchor="t"/>
          <a:lstStyle/>
          <a:p>
            <a:pPr algn="l" indent="0" marL="0">
              <a:lnSpc>
                <a:spcPct val="122000"/>
              </a:lnSpc>
              <a:buNone/>
            </a:pPr>
            <a:r>
              <a:rPr lang="en-US" sz="900" dirty="0">
                <a:solidFill>
                  <a:srgbClr val="1A1A1A"/>
                </a:solidFill>
                <a:latin typeface="Arial" pitchFamily="34" charset="0"/>
                <a:ea typeface="Arial" pitchFamily="34" charset="-122"/>
                <a:cs typeface="Arial" pitchFamily="34" charset="-120"/>
              </a:rPr>
              <a:t>Carry 03 as the primary title treatment and 04 as the formal variant on covers, title pages and formal framework publications. Retain 02 for running headers and spines. Options 05 and 06 are recorded so that the reasons for rejecting them survive the people who rejected them.</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TITLE TREATMENT</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12</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Title treatment specification</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Written so it can be applied without a designer, and audited without a debate. Deliberately not called a wordmark: this is a heading construction inside Army collateral, not a brand asset.</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0078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PRIMARY TITLE TREATMENT</a:t>
            </a:r>
            <a:endParaRPr lang="en-US" sz="740" dirty="0"/>
          </a:p>
        </p:txBody>
      </p:sp>
      <p:sp>
        <p:nvSpPr>
          <p:cNvPr id="10" name="Shape 8"/>
          <p:cNvSpPr/>
          <p:nvPr/>
        </p:nvSpPr>
        <p:spPr>
          <a:xfrm>
            <a:off x="566928" y="1883664"/>
            <a:ext cx="6428232" cy="7315"/>
          </a:xfrm>
          <a:prstGeom prst="rect">
            <a:avLst/>
          </a:prstGeom>
          <a:solidFill>
            <a:srgbClr val="D2D2D2"/>
          </a:solidFill>
          <a:ln/>
        </p:spPr>
      </p:sp>
      <p:sp>
        <p:nvSpPr>
          <p:cNvPr id="11" name="Shape 9"/>
          <p:cNvSpPr/>
          <p:nvPr/>
        </p:nvSpPr>
        <p:spPr>
          <a:xfrm>
            <a:off x="566928" y="1993392"/>
            <a:ext cx="6428232" cy="1737360"/>
          </a:xfrm>
          <a:prstGeom prst="rect">
            <a:avLst/>
          </a:prstGeom>
          <a:solidFill>
            <a:srgbClr val="F5F5F3"/>
          </a:solidFill>
          <a:ln/>
        </p:spPr>
      </p:sp>
      <p:sp>
        <p:nvSpPr>
          <p:cNvPr id="12" name="Shape 10"/>
          <p:cNvSpPr/>
          <p:nvPr/>
        </p:nvSpPr>
        <p:spPr>
          <a:xfrm>
            <a:off x="1024128" y="2560320"/>
            <a:ext cx="3108960" cy="32004"/>
          </a:xfrm>
          <a:prstGeom prst="rect">
            <a:avLst/>
          </a:prstGeom>
          <a:solidFill>
            <a:srgbClr val="1A1A1A"/>
          </a:solidFill>
          <a:ln/>
        </p:spPr>
      </p:sp>
      <p:sp>
        <p:nvSpPr>
          <p:cNvPr id="13" name="Text 11"/>
          <p:cNvSpPr/>
          <p:nvPr/>
        </p:nvSpPr>
        <p:spPr>
          <a:xfrm>
            <a:off x="1024128" y="2651760"/>
            <a:ext cx="4572000" cy="365760"/>
          </a:xfrm>
          <a:prstGeom prst="rect">
            <a:avLst/>
          </a:prstGeom>
          <a:noFill/>
          <a:ln/>
        </p:spPr>
        <p:txBody>
          <a:bodyPr wrap="square" lIns="0" tIns="0" rIns="0" bIns="0" rtlCol="0" anchor="ctr"/>
          <a:lstStyle/>
          <a:p>
            <a:pPr algn="l" indent="0" marL="0">
              <a:buNone/>
            </a:pPr>
            <a:r>
              <a:rPr lang="en-US" sz="2400" b="1" spc="80" kern="0" dirty="0">
                <a:solidFill>
                  <a:srgbClr val="1A1A1A"/>
                </a:solidFill>
                <a:latin typeface="Arial" pitchFamily="34" charset="0"/>
                <a:ea typeface="Arial" pitchFamily="34" charset="-122"/>
                <a:cs typeface="Arial" pitchFamily="34" charset="-120"/>
              </a:rPr>
              <a:t>COMBAT MINDSET</a:t>
            </a:r>
            <a:endParaRPr lang="en-US" sz="2400" dirty="0"/>
          </a:p>
        </p:txBody>
      </p:sp>
      <p:sp>
        <p:nvSpPr>
          <p:cNvPr id="14" name="Text 12"/>
          <p:cNvSpPr/>
          <p:nvPr/>
        </p:nvSpPr>
        <p:spPr>
          <a:xfrm>
            <a:off x="1024128" y="3035808"/>
            <a:ext cx="4572000" cy="201168"/>
          </a:xfrm>
          <a:prstGeom prst="rect">
            <a:avLst/>
          </a:prstGeom>
          <a:noFill/>
          <a:ln/>
        </p:spPr>
        <p:txBody>
          <a:bodyPr wrap="square" lIns="0" tIns="0" rIns="0" bIns="0" rtlCol="0" anchor="ctr"/>
          <a:lstStyle/>
          <a:p>
            <a:pPr algn="l" indent="0" marL="0">
              <a:buNone/>
            </a:pPr>
            <a:r>
              <a:rPr lang="en-US" sz="800" spc="160" kern="0" dirty="0">
                <a:solidFill>
                  <a:srgbClr val="6E6E6E"/>
                </a:solidFill>
                <a:latin typeface="Arial" pitchFamily="34" charset="0"/>
                <a:ea typeface="Arial" pitchFamily="34" charset="-122"/>
                <a:cs typeface="Arial" pitchFamily="34" charset="-120"/>
              </a:rPr>
              <a:t>NZ ARMY COMBAT MINDSET FRAMEWORK</a:t>
            </a:r>
            <a:endParaRPr lang="en-US" sz="800" dirty="0"/>
          </a:p>
        </p:txBody>
      </p:sp>
      <p:sp>
        <p:nvSpPr>
          <p:cNvPr id="15" name="Text 13"/>
          <p:cNvSpPr/>
          <p:nvPr/>
        </p:nvSpPr>
        <p:spPr>
          <a:xfrm>
            <a:off x="566928" y="385876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CONSTRUCTION RULES</a:t>
            </a:r>
            <a:endParaRPr lang="en-US" sz="740" dirty="0"/>
          </a:p>
        </p:txBody>
      </p:sp>
      <p:sp>
        <p:nvSpPr>
          <p:cNvPr id="16" name="Shape 14"/>
          <p:cNvSpPr/>
          <p:nvPr/>
        </p:nvSpPr>
        <p:spPr>
          <a:xfrm>
            <a:off x="566928" y="4041648"/>
            <a:ext cx="6428232" cy="7315"/>
          </a:xfrm>
          <a:prstGeom prst="rect">
            <a:avLst/>
          </a:prstGeom>
          <a:solidFill>
            <a:srgbClr val="D2D2D2"/>
          </a:solidFill>
          <a:ln/>
        </p:spPr>
      </p:sp>
      <p:sp>
        <p:nvSpPr>
          <p:cNvPr id="17" name="Text 15"/>
          <p:cNvSpPr/>
          <p:nvPr/>
        </p:nvSpPr>
        <p:spPr>
          <a:xfrm>
            <a:off x="566928" y="4151376"/>
            <a:ext cx="1371600" cy="365760"/>
          </a:xfrm>
          <a:prstGeom prst="rect">
            <a:avLst/>
          </a:prstGeom>
          <a:noFill/>
          <a:ln/>
        </p:spPr>
        <p:txBody>
          <a:bodyPr wrap="square" lIns="0" tIns="0" rIns="0" bIns="0" rtlCol="0" anchor="t"/>
          <a:lstStyle/>
          <a:p>
            <a:pPr algn="l" indent="0" marL="0">
              <a:buNone/>
            </a:pPr>
            <a:r>
              <a:rPr lang="en-US" sz="860" b="1" dirty="0">
                <a:solidFill>
                  <a:srgbClr val="1A1A1A"/>
                </a:solidFill>
                <a:latin typeface="Arial" pitchFamily="34" charset="0"/>
                <a:ea typeface="Arial" pitchFamily="34" charset="-122"/>
                <a:cs typeface="Arial" pitchFamily="34" charset="-120"/>
              </a:rPr>
              <a:t>Datum rule</a:t>
            </a:r>
            <a:endParaRPr lang="en-US" sz="860" dirty="0"/>
          </a:p>
        </p:txBody>
      </p:sp>
      <p:sp>
        <p:nvSpPr>
          <p:cNvPr id="18" name="Text 16"/>
          <p:cNvSpPr/>
          <p:nvPr/>
        </p:nvSpPr>
        <p:spPr>
          <a:xfrm>
            <a:off x="2029968" y="4151376"/>
            <a:ext cx="4965192" cy="38404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Width equals the treatment measure. Weight equals one tenth of the cap height. Colour black, or white when reversed. Never red.</a:t>
            </a:r>
            <a:endParaRPr lang="en-US" sz="860" dirty="0"/>
          </a:p>
        </p:txBody>
      </p:sp>
      <p:sp>
        <p:nvSpPr>
          <p:cNvPr id="19" name="Shape 17"/>
          <p:cNvSpPr/>
          <p:nvPr/>
        </p:nvSpPr>
        <p:spPr>
          <a:xfrm>
            <a:off x="566928" y="4553712"/>
            <a:ext cx="6428232" cy="7315"/>
          </a:xfrm>
          <a:prstGeom prst="rect">
            <a:avLst/>
          </a:prstGeom>
          <a:solidFill>
            <a:srgbClr val="D2D2D2"/>
          </a:solidFill>
          <a:ln/>
        </p:spPr>
      </p:sp>
      <p:sp>
        <p:nvSpPr>
          <p:cNvPr id="20" name="Text 18"/>
          <p:cNvSpPr/>
          <p:nvPr/>
        </p:nvSpPr>
        <p:spPr>
          <a:xfrm>
            <a:off x="566928" y="4645152"/>
            <a:ext cx="1371600" cy="365760"/>
          </a:xfrm>
          <a:prstGeom prst="rect">
            <a:avLst/>
          </a:prstGeom>
          <a:noFill/>
          <a:ln/>
        </p:spPr>
        <p:txBody>
          <a:bodyPr wrap="square" lIns="0" tIns="0" rIns="0" bIns="0" rtlCol="0" anchor="t"/>
          <a:lstStyle/>
          <a:p>
            <a:pPr algn="l" indent="0" marL="0">
              <a:buNone/>
            </a:pPr>
            <a:r>
              <a:rPr lang="en-US" sz="860" b="1" dirty="0">
                <a:solidFill>
                  <a:srgbClr val="1A1A1A"/>
                </a:solidFill>
                <a:latin typeface="Arial" pitchFamily="34" charset="0"/>
                <a:ea typeface="Arial" pitchFamily="34" charset="-122"/>
                <a:cs typeface="Arial" pitchFamily="34" charset="-120"/>
              </a:rPr>
              <a:t>Clear space</a:t>
            </a:r>
            <a:endParaRPr lang="en-US" sz="860" dirty="0"/>
          </a:p>
        </p:txBody>
      </p:sp>
      <p:sp>
        <p:nvSpPr>
          <p:cNvPr id="21" name="Text 19"/>
          <p:cNvSpPr/>
          <p:nvPr/>
        </p:nvSpPr>
        <p:spPr>
          <a:xfrm>
            <a:off x="2029968" y="4645152"/>
            <a:ext cx="4965192" cy="38404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One cap height on all four sides. Nothing enters it, including the Army logo.</a:t>
            </a:r>
            <a:endParaRPr lang="en-US" sz="860" dirty="0"/>
          </a:p>
        </p:txBody>
      </p:sp>
      <p:sp>
        <p:nvSpPr>
          <p:cNvPr id="22" name="Shape 20"/>
          <p:cNvSpPr/>
          <p:nvPr/>
        </p:nvSpPr>
        <p:spPr>
          <a:xfrm>
            <a:off x="566928" y="5047488"/>
            <a:ext cx="6428232" cy="7315"/>
          </a:xfrm>
          <a:prstGeom prst="rect">
            <a:avLst/>
          </a:prstGeom>
          <a:solidFill>
            <a:srgbClr val="D2D2D2"/>
          </a:solidFill>
          <a:ln/>
        </p:spPr>
      </p:sp>
      <p:sp>
        <p:nvSpPr>
          <p:cNvPr id="23" name="Text 21"/>
          <p:cNvSpPr/>
          <p:nvPr/>
        </p:nvSpPr>
        <p:spPr>
          <a:xfrm>
            <a:off x="566928" y="5138928"/>
            <a:ext cx="1371600" cy="365760"/>
          </a:xfrm>
          <a:prstGeom prst="rect">
            <a:avLst/>
          </a:prstGeom>
          <a:noFill/>
          <a:ln/>
        </p:spPr>
        <p:txBody>
          <a:bodyPr wrap="square" lIns="0" tIns="0" rIns="0" bIns="0" rtlCol="0" anchor="t"/>
          <a:lstStyle/>
          <a:p>
            <a:pPr algn="l" indent="0" marL="0">
              <a:buNone/>
            </a:pPr>
            <a:r>
              <a:rPr lang="en-US" sz="860" b="1" dirty="0">
                <a:solidFill>
                  <a:srgbClr val="1A1A1A"/>
                </a:solidFill>
                <a:latin typeface="Arial" pitchFamily="34" charset="0"/>
                <a:ea typeface="Arial" pitchFamily="34" charset="-122"/>
                <a:cs typeface="Arial" pitchFamily="34" charset="-120"/>
              </a:rPr>
              <a:t>Minimum size</a:t>
            </a:r>
            <a:endParaRPr lang="en-US" sz="860" dirty="0"/>
          </a:p>
        </p:txBody>
      </p:sp>
      <p:sp>
        <p:nvSpPr>
          <p:cNvPr id="24" name="Text 22"/>
          <p:cNvSpPr/>
          <p:nvPr/>
        </p:nvSpPr>
        <p:spPr>
          <a:xfrm>
            <a:off x="2029968" y="5138928"/>
            <a:ext cx="4965192" cy="38404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28 mm measure in print. 180 px in digital. Below this, use the single line variant without the descriptor.</a:t>
            </a:r>
            <a:endParaRPr lang="en-US" sz="860" dirty="0"/>
          </a:p>
        </p:txBody>
      </p:sp>
      <p:sp>
        <p:nvSpPr>
          <p:cNvPr id="25" name="Shape 23"/>
          <p:cNvSpPr/>
          <p:nvPr/>
        </p:nvSpPr>
        <p:spPr>
          <a:xfrm>
            <a:off x="566928" y="5541264"/>
            <a:ext cx="6428232" cy="7315"/>
          </a:xfrm>
          <a:prstGeom prst="rect">
            <a:avLst/>
          </a:prstGeom>
          <a:solidFill>
            <a:srgbClr val="D2D2D2"/>
          </a:solidFill>
          <a:ln/>
        </p:spPr>
      </p:sp>
      <p:sp>
        <p:nvSpPr>
          <p:cNvPr id="26" name="Text 24"/>
          <p:cNvSpPr/>
          <p:nvPr/>
        </p:nvSpPr>
        <p:spPr>
          <a:xfrm>
            <a:off x="566928" y="5632704"/>
            <a:ext cx="1371600" cy="365760"/>
          </a:xfrm>
          <a:prstGeom prst="rect">
            <a:avLst/>
          </a:prstGeom>
          <a:noFill/>
          <a:ln/>
        </p:spPr>
        <p:txBody>
          <a:bodyPr wrap="square" lIns="0" tIns="0" rIns="0" bIns="0" rtlCol="0" anchor="t"/>
          <a:lstStyle/>
          <a:p>
            <a:pPr algn="l" indent="0" marL="0">
              <a:buNone/>
            </a:pPr>
            <a:r>
              <a:rPr lang="en-US" sz="860" b="1" dirty="0">
                <a:solidFill>
                  <a:srgbClr val="1A1A1A"/>
                </a:solidFill>
                <a:latin typeface="Arial" pitchFamily="34" charset="0"/>
                <a:ea typeface="Arial" pitchFamily="34" charset="-122"/>
                <a:cs typeface="Arial" pitchFamily="34" charset="-120"/>
              </a:rPr>
              <a:t>Descriptor</a:t>
            </a:r>
            <a:endParaRPr lang="en-US" sz="860" dirty="0"/>
          </a:p>
        </p:txBody>
      </p:sp>
      <p:sp>
        <p:nvSpPr>
          <p:cNvPr id="27" name="Text 25"/>
          <p:cNvSpPr/>
          <p:nvPr/>
        </p:nvSpPr>
        <p:spPr>
          <a:xfrm>
            <a:off x="2029968" y="5632704"/>
            <a:ext cx="4965192" cy="38404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One third of the title size, letterspaced 1.6. Wording settled at endorsement; until then, NZ Army Combat Mindset Framework. Omit where context establishes it; never reword locally.</a:t>
            </a:r>
            <a:endParaRPr lang="en-US" sz="860" dirty="0"/>
          </a:p>
        </p:txBody>
      </p:sp>
      <p:sp>
        <p:nvSpPr>
          <p:cNvPr id="28" name="Shape 26"/>
          <p:cNvSpPr/>
          <p:nvPr/>
        </p:nvSpPr>
        <p:spPr>
          <a:xfrm>
            <a:off x="566928" y="6035040"/>
            <a:ext cx="6428232" cy="7315"/>
          </a:xfrm>
          <a:prstGeom prst="rect">
            <a:avLst/>
          </a:prstGeom>
          <a:solidFill>
            <a:srgbClr val="D2D2D2"/>
          </a:solidFill>
          <a:ln/>
        </p:spPr>
      </p:sp>
      <p:sp>
        <p:nvSpPr>
          <p:cNvPr id="29" name="Text 27"/>
          <p:cNvSpPr/>
          <p:nvPr/>
        </p:nvSpPr>
        <p:spPr>
          <a:xfrm>
            <a:off x="566928" y="6126480"/>
            <a:ext cx="1371600" cy="365760"/>
          </a:xfrm>
          <a:prstGeom prst="rect">
            <a:avLst/>
          </a:prstGeom>
          <a:noFill/>
          <a:ln/>
        </p:spPr>
        <p:txBody>
          <a:bodyPr wrap="square" lIns="0" tIns="0" rIns="0" bIns="0" rtlCol="0" anchor="t"/>
          <a:lstStyle/>
          <a:p>
            <a:pPr algn="l" indent="0" marL="0">
              <a:buNone/>
            </a:pPr>
            <a:r>
              <a:rPr lang="en-US" sz="860" b="1" dirty="0">
                <a:solidFill>
                  <a:srgbClr val="1A1A1A"/>
                </a:solidFill>
                <a:latin typeface="Arial" pitchFamily="34" charset="0"/>
                <a:ea typeface="Arial" pitchFamily="34" charset="-122"/>
                <a:cs typeface="Arial" pitchFamily="34" charset="-120"/>
              </a:rPr>
              <a:t>Colour</a:t>
            </a:r>
            <a:endParaRPr lang="en-US" sz="860" dirty="0"/>
          </a:p>
        </p:txBody>
      </p:sp>
      <p:sp>
        <p:nvSpPr>
          <p:cNvPr id="30" name="Text 28"/>
          <p:cNvSpPr/>
          <p:nvPr/>
        </p:nvSpPr>
        <p:spPr>
          <a:xfrm>
            <a:off x="2029968" y="6126480"/>
            <a:ext cx="4965192" cy="38404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Black on light grounds, white on dark. One colour only. The treatment is never red, never tinted, never outlined and never set on a photograph without a solid panel behind it.</a:t>
            </a:r>
            <a:endParaRPr lang="en-US" sz="860" dirty="0"/>
          </a:p>
        </p:txBody>
      </p:sp>
      <p:sp>
        <p:nvSpPr>
          <p:cNvPr id="31" name="Shape 29"/>
          <p:cNvSpPr/>
          <p:nvPr/>
        </p:nvSpPr>
        <p:spPr>
          <a:xfrm>
            <a:off x="566928" y="6528816"/>
            <a:ext cx="6428232" cy="7315"/>
          </a:xfrm>
          <a:prstGeom prst="rect">
            <a:avLst/>
          </a:prstGeom>
          <a:solidFill>
            <a:srgbClr val="D2D2D2"/>
          </a:solidFill>
          <a:ln/>
        </p:spPr>
      </p:sp>
      <p:sp>
        <p:nvSpPr>
          <p:cNvPr id="32" name="Text 30"/>
          <p:cNvSpPr/>
          <p:nvPr/>
        </p:nvSpPr>
        <p:spPr>
          <a:xfrm>
            <a:off x="566928" y="6620256"/>
            <a:ext cx="1371600" cy="365760"/>
          </a:xfrm>
          <a:prstGeom prst="rect">
            <a:avLst/>
          </a:prstGeom>
          <a:noFill/>
          <a:ln/>
        </p:spPr>
        <p:txBody>
          <a:bodyPr wrap="square" lIns="0" tIns="0" rIns="0" bIns="0" rtlCol="0" anchor="t"/>
          <a:lstStyle/>
          <a:p>
            <a:pPr algn="l" indent="0" marL="0">
              <a:buNone/>
            </a:pPr>
            <a:r>
              <a:rPr lang="en-US" sz="860" b="1" dirty="0">
                <a:solidFill>
                  <a:srgbClr val="1A1A1A"/>
                </a:solidFill>
                <a:latin typeface="Arial" pitchFamily="34" charset="0"/>
                <a:ea typeface="Arial" pitchFamily="34" charset="-122"/>
                <a:cs typeface="Arial" pitchFamily="34" charset="-120"/>
              </a:rPr>
              <a:t>Relationship to the Army logo</a:t>
            </a:r>
            <a:endParaRPr lang="en-US" sz="860" dirty="0"/>
          </a:p>
        </p:txBody>
      </p:sp>
      <p:sp>
        <p:nvSpPr>
          <p:cNvPr id="33" name="Text 31"/>
          <p:cNvSpPr/>
          <p:nvPr/>
        </p:nvSpPr>
        <p:spPr>
          <a:xfrm>
            <a:off x="2029968" y="6620256"/>
            <a:ext cx="4965192" cy="38404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Appears on every complete formal artefact, at greater visual weight. It need not repeat inside every internal component or screen. The treatment stays outside the logo's clear space and off its baseline.</a:t>
            </a:r>
            <a:endParaRPr lang="en-US" sz="860" dirty="0"/>
          </a:p>
        </p:txBody>
      </p:sp>
      <p:sp>
        <p:nvSpPr>
          <p:cNvPr id="34" name="Shape 32"/>
          <p:cNvSpPr/>
          <p:nvPr/>
        </p:nvSpPr>
        <p:spPr>
          <a:xfrm>
            <a:off x="566928" y="7022592"/>
            <a:ext cx="6428232" cy="7315"/>
          </a:xfrm>
          <a:prstGeom prst="rect">
            <a:avLst/>
          </a:prstGeom>
          <a:solidFill>
            <a:srgbClr val="D2D2D2"/>
          </a:solidFill>
          <a:ln/>
        </p:spPr>
      </p:sp>
      <p:sp>
        <p:nvSpPr>
          <p:cNvPr id="35" name="Text 33"/>
          <p:cNvSpPr/>
          <p:nvPr/>
        </p:nvSpPr>
        <p:spPr>
          <a:xfrm>
            <a:off x="566928" y="716889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VARIANTS</a:t>
            </a:r>
            <a:endParaRPr lang="en-US" sz="740" dirty="0"/>
          </a:p>
        </p:txBody>
      </p:sp>
      <p:sp>
        <p:nvSpPr>
          <p:cNvPr id="36" name="Shape 34"/>
          <p:cNvSpPr/>
          <p:nvPr/>
        </p:nvSpPr>
        <p:spPr>
          <a:xfrm>
            <a:off x="566928" y="7351776"/>
            <a:ext cx="6428232" cy="7315"/>
          </a:xfrm>
          <a:prstGeom prst="rect">
            <a:avLst/>
          </a:prstGeom>
          <a:solidFill>
            <a:srgbClr val="D2D2D2"/>
          </a:solidFill>
          <a:ln/>
        </p:spPr>
      </p:sp>
      <p:sp>
        <p:nvSpPr>
          <p:cNvPr id="37" name="Shape 35"/>
          <p:cNvSpPr/>
          <p:nvPr/>
        </p:nvSpPr>
        <p:spPr>
          <a:xfrm>
            <a:off x="566928" y="7461504"/>
            <a:ext cx="2057400" cy="914400"/>
          </a:xfrm>
          <a:prstGeom prst="rect">
            <a:avLst/>
          </a:prstGeom>
          <a:solidFill>
            <a:srgbClr val="1A1A1A"/>
          </a:solidFill>
          <a:ln/>
        </p:spPr>
      </p:sp>
      <p:sp>
        <p:nvSpPr>
          <p:cNvPr id="38" name="Shape 36"/>
          <p:cNvSpPr/>
          <p:nvPr/>
        </p:nvSpPr>
        <p:spPr>
          <a:xfrm>
            <a:off x="731520" y="7735824"/>
            <a:ext cx="1234440" cy="21946"/>
          </a:xfrm>
          <a:prstGeom prst="rect">
            <a:avLst/>
          </a:prstGeom>
          <a:solidFill>
            <a:srgbClr val="FFFFFF"/>
          </a:solidFill>
          <a:ln/>
        </p:spPr>
      </p:sp>
      <p:sp>
        <p:nvSpPr>
          <p:cNvPr id="39" name="Text 37"/>
          <p:cNvSpPr/>
          <p:nvPr/>
        </p:nvSpPr>
        <p:spPr>
          <a:xfrm>
            <a:off x="731520" y="7790688"/>
            <a:ext cx="1728216" cy="219456"/>
          </a:xfrm>
          <a:prstGeom prst="rect">
            <a:avLst/>
          </a:prstGeom>
          <a:noFill/>
          <a:ln/>
        </p:spPr>
        <p:txBody>
          <a:bodyPr wrap="square" lIns="0" tIns="0" rIns="0" bIns="0" rtlCol="0" anchor="ctr"/>
          <a:lstStyle/>
          <a:p>
            <a:pPr algn="l" indent="0" marL="0">
              <a:buNone/>
            </a:pPr>
            <a:r>
              <a:rPr lang="en-US" sz="960" b="1" spc="40" kern="0" dirty="0">
                <a:solidFill>
                  <a:srgbClr val="FFFFFF"/>
                </a:solidFill>
                <a:latin typeface="Arial" pitchFamily="34" charset="0"/>
                <a:ea typeface="Arial" pitchFamily="34" charset="-122"/>
                <a:cs typeface="Arial" pitchFamily="34" charset="-120"/>
              </a:rPr>
              <a:t>COMBAT MINDSET</a:t>
            </a:r>
            <a:endParaRPr lang="en-US" sz="960" dirty="0"/>
          </a:p>
        </p:txBody>
      </p:sp>
      <p:sp>
        <p:nvSpPr>
          <p:cNvPr id="40" name="Text 38"/>
          <p:cNvSpPr/>
          <p:nvPr/>
        </p:nvSpPr>
        <p:spPr>
          <a:xfrm>
            <a:off x="731520" y="8028432"/>
            <a:ext cx="1728216" cy="164592"/>
          </a:xfrm>
          <a:prstGeom prst="rect">
            <a:avLst/>
          </a:prstGeom>
          <a:noFill/>
          <a:ln/>
        </p:spPr>
        <p:txBody>
          <a:bodyPr wrap="square" lIns="0" tIns="0" rIns="0" bIns="0" rtlCol="0" anchor="ctr"/>
          <a:lstStyle/>
          <a:p>
            <a:pPr algn="l" indent="0" marL="0">
              <a:buNone/>
            </a:pPr>
            <a:r>
              <a:rPr lang="en-US" sz="640" spc="120" kern="0" dirty="0">
                <a:solidFill>
                  <a:srgbClr val="FFFFFF"/>
                </a:solidFill>
                <a:latin typeface="Arial" pitchFamily="34" charset="0"/>
                <a:ea typeface="Arial" pitchFamily="34" charset="-122"/>
                <a:cs typeface="Arial" pitchFamily="34" charset="-120"/>
              </a:rPr>
              <a:t>FORMAL</a:t>
            </a:r>
            <a:endParaRPr lang="en-US" sz="640" dirty="0"/>
          </a:p>
        </p:txBody>
      </p:sp>
      <p:sp>
        <p:nvSpPr>
          <p:cNvPr id="41" name="Text 39"/>
          <p:cNvSpPr/>
          <p:nvPr/>
        </p:nvSpPr>
        <p:spPr>
          <a:xfrm>
            <a:off x="566928" y="8430768"/>
            <a:ext cx="2057400" cy="365760"/>
          </a:xfrm>
          <a:prstGeom prst="rect">
            <a:avLst/>
          </a:prstGeom>
          <a:noFill/>
          <a:ln/>
        </p:spPr>
        <p:txBody>
          <a:bodyPr wrap="square" lIns="0" tIns="0" rIns="0" bIns="0" rtlCol="0" anchor="t"/>
          <a:lstStyle/>
          <a:p>
            <a:pPr algn="l" indent="0" marL="0">
              <a:lnSpc>
                <a:spcPct val="122000"/>
              </a:lnSpc>
              <a:buNone/>
            </a:pPr>
            <a:r>
              <a:rPr lang="en-US" sz="760" dirty="0">
                <a:solidFill>
                  <a:srgbClr val="6E6E6E"/>
                </a:solidFill>
                <a:latin typeface="Arial" pitchFamily="34" charset="0"/>
                <a:ea typeface="Arial" pitchFamily="34" charset="-122"/>
                <a:cs typeface="Arial" pitchFamily="34" charset="-120"/>
              </a:rPr>
              <a:t>Covers and title pages. Carries the reference number.</a:t>
            </a:r>
            <a:endParaRPr lang="en-US" sz="760" dirty="0"/>
          </a:p>
        </p:txBody>
      </p:sp>
      <p:sp>
        <p:nvSpPr>
          <p:cNvPr id="42" name="Shape 40"/>
          <p:cNvSpPr/>
          <p:nvPr/>
        </p:nvSpPr>
        <p:spPr>
          <a:xfrm>
            <a:off x="2752344" y="7461504"/>
            <a:ext cx="2057400" cy="914400"/>
          </a:xfrm>
          <a:prstGeom prst="rect">
            <a:avLst/>
          </a:prstGeom>
          <a:solidFill>
            <a:srgbClr val="FFFFFF"/>
          </a:solidFill>
          <a:ln w="12700">
            <a:solidFill>
              <a:srgbClr val="D2D2D2"/>
            </a:solidFill>
            <a:prstDash val="solid"/>
          </a:ln>
        </p:spPr>
      </p:sp>
      <p:sp>
        <p:nvSpPr>
          <p:cNvPr id="43" name="Shape 41"/>
          <p:cNvSpPr/>
          <p:nvPr/>
        </p:nvSpPr>
        <p:spPr>
          <a:xfrm>
            <a:off x="2916936" y="7735824"/>
            <a:ext cx="1234440" cy="21946"/>
          </a:xfrm>
          <a:prstGeom prst="rect">
            <a:avLst/>
          </a:prstGeom>
          <a:solidFill>
            <a:srgbClr val="1A1A1A"/>
          </a:solidFill>
          <a:ln/>
        </p:spPr>
      </p:sp>
      <p:sp>
        <p:nvSpPr>
          <p:cNvPr id="44" name="Text 42"/>
          <p:cNvSpPr/>
          <p:nvPr/>
        </p:nvSpPr>
        <p:spPr>
          <a:xfrm>
            <a:off x="2916936" y="7790688"/>
            <a:ext cx="1728216" cy="219456"/>
          </a:xfrm>
          <a:prstGeom prst="rect">
            <a:avLst/>
          </a:prstGeom>
          <a:noFill/>
          <a:ln/>
        </p:spPr>
        <p:txBody>
          <a:bodyPr wrap="square" lIns="0" tIns="0" rIns="0" bIns="0" rtlCol="0" anchor="ctr"/>
          <a:lstStyle/>
          <a:p>
            <a:pPr algn="l" indent="0" marL="0">
              <a:buNone/>
            </a:pPr>
            <a:r>
              <a:rPr lang="en-US" sz="960" b="1" spc="40" kern="0" dirty="0">
                <a:solidFill>
                  <a:srgbClr val="1A1A1A"/>
                </a:solidFill>
                <a:latin typeface="Arial" pitchFamily="34" charset="0"/>
                <a:ea typeface="Arial" pitchFamily="34" charset="-122"/>
                <a:cs typeface="Arial" pitchFamily="34" charset="-120"/>
              </a:rPr>
              <a:t>COMBAT MINDSET</a:t>
            </a:r>
            <a:endParaRPr lang="en-US" sz="960" dirty="0"/>
          </a:p>
        </p:txBody>
      </p:sp>
      <p:sp>
        <p:nvSpPr>
          <p:cNvPr id="45" name="Text 43"/>
          <p:cNvSpPr/>
          <p:nvPr/>
        </p:nvSpPr>
        <p:spPr>
          <a:xfrm>
            <a:off x="2916936" y="8028432"/>
            <a:ext cx="1728216" cy="164592"/>
          </a:xfrm>
          <a:prstGeom prst="rect">
            <a:avLst/>
          </a:prstGeom>
          <a:noFill/>
          <a:ln/>
        </p:spPr>
        <p:txBody>
          <a:bodyPr wrap="square" lIns="0" tIns="0" rIns="0" bIns="0" rtlCol="0" anchor="ctr"/>
          <a:lstStyle/>
          <a:p>
            <a:pPr algn="l" indent="0" marL="0">
              <a:buNone/>
            </a:pPr>
            <a:r>
              <a:rPr lang="en-US" sz="640" spc="120" kern="0" dirty="0">
                <a:solidFill>
                  <a:srgbClr val="1A1A1A"/>
                </a:solidFill>
                <a:latin typeface="Arial" pitchFamily="34" charset="0"/>
                <a:ea typeface="Arial" pitchFamily="34" charset="-122"/>
                <a:cs typeface="Arial" pitchFamily="34" charset="-120"/>
              </a:rPr>
              <a:t>RUNNING</a:t>
            </a:r>
            <a:endParaRPr lang="en-US" sz="640" dirty="0"/>
          </a:p>
        </p:txBody>
      </p:sp>
      <p:sp>
        <p:nvSpPr>
          <p:cNvPr id="46" name="Text 44"/>
          <p:cNvSpPr/>
          <p:nvPr/>
        </p:nvSpPr>
        <p:spPr>
          <a:xfrm>
            <a:off x="2752344" y="8430768"/>
            <a:ext cx="2057400" cy="365760"/>
          </a:xfrm>
          <a:prstGeom prst="rect">
            <a:avLst/>
          </a:prstGeom>
          <a:noFill/>
          <a:ln/>
        </p:spPr>
        <p:txBody>
          <a:bodyPr wrap="square" lIns="0" tIns="0" rIns="0" bIns="0" rtlCol="0" anchor="t"/>
          <a:lstStyle/>
          <a:p>
            <a:pPr algn="l" indent="0" marL="0">
              <a:lnSpc>
                <a:spcPct val="122000"/>
              </a:lnSpc>
              <a:buNone/>
            </a:pPr>
            <a:r>
              <a:rPr lang="en-US" sz="760" dirty="0">
                <a:solidFill>
                  <a:srgbClr val="6E6E6E"/>
                </a:solidFill>
                <a:latin typeface="Arial" pitchFamily="34" charset="0"/>
                <a:ea typeface="Arial" pitchFamily="34" charset="-122"/>
                <a:cs typeface="Arial" pitchFamily="34" charset="-120"/>
              </a:rPr>
              <a:t>Headers, spines and footers. Single line, no descriptor.</a:t>
            </a:r>
            <a:endParaRPr lang="en-US" sz="760" dirty="0"/>
          </a:p>
        </p:txBody>
      </p:sp>
      <p:sp>
        <p:nvSpPr>
          <p:cNvPr id="47" name="Shape 45"/>
          <p:cNvSpPr/>
          <p:nvPr/>
        </p:nvSpPr>
        <p:spPr>
          <a:xfrm>
            <a:off x="4937760" y="7461504"/>
            <a:ext cx="2057400" cy="914400"/>
          </a:xfrm>
          <a:prstGeom prst="rect">
            <a:avLst/>
          </a:prstGeom>
          <a:solidFill>
            <a:srgbClr val="00261B"/>
          </a:solidFill>
          <a:ln/>
        </p:spPr>
      </p:sp>
      <p:sp>
        <p:nvSpPr>
          <p:cNvPr id="48" name="Shape 46"/>
          <p:cNvSpPr/>
          <p:nvPr/>
        </p:nvSpPr>
        <p:spPr>
          <a:xfrm>
            <a:off x="5102352" y="7735824"/>
            <a:ext cx="1234440" cy="21946"/>
          </a:xfrm>
          <a:prstGeom prst="rect">
            <a:avLst/>
          </a:prstGeom>
          <a:solidFill>
            <a:srgbClr val="FFFFFF"/>
          </a:solidFill>
          <a:ln/>
        </p:spPr>
      </p:sp>
      <p:sp>
        <p:nvSpPr>
          <p:cNvPr id="49" name="Text 47"/>
          <p:cNvSpPr/>
          <p:nvPr/>
        </p:nvSpPr>
        <p:spPr>
          <a:xfrm>
            <a:off x="5102352" y="7790688"/>
            <a:ext cx="1728216" cy="219456"/>
          </a:xfrm>
          <a:prstGeom prst="rect">
            <a:avLst/>
          </a:prstGeom>
          <a:noFill/>
          <a:ln/>
        </p:spPr>
        <p:txBody>
          <a:bodyPr wrap="square" lIns="0" tIns="0" rIns="0" bIns="0" rtlCol="0" anchor="ctr"/>
          <a:lstStyle/>
          <a:p>
            <a:pPr algn="l" indent="0" marL="0">
              <a:buNone/>
            </a:pPr>
            <a:r>
              <a:rPr lang="en-US" sz="960" b="1" spc="40" kern="0" dirty="0">
                <a:solidFill>
                  <a:srgbClr val="FFFFFF"/>
                </a:solidFill>
                <a:latin typeface="Arial" pitchFamily="34" charset="0"/>
                <a:ea typeface="Arial" pitchFamily="34" charset="-122"/>
                <a:cs typeface="Arial" pitchFamily="34" charset="-120"/>
              </a:rPr>
              <a:t>COMBAT MINDSET</a:t>
            </a:r>
            <a:endParaRPr lang="en-US" sz="960" dirty="0"/>
          </a:p>
        </p:txBody>
      </p:sp>
      <p:sp>
        <p:nvSpPr>
          <p:cNvPr id="50" name="Text 48"/>
          <p:cNvSpPr/>
          <p:nvPr/>
        </p:nvSpPr>
        <p:spPr>
          <a:xfrm>
            <a:off x="5102352" y="8028432"/>
            <a:ext cx="1728216" cy="164592"/>
          </a:xfrm>
          <a:prstGeom prst="rect">
            <a:avLst/>
          </a:prstGeom>
          <a:noFill/>
          <a:ln/>
        </p:spPr>
        <p:txBody>
          <a:bodyPr wrap="square" lIns="0" tIns="0" rIns="0" bIns="0" rtlCol="0" anchor="ctr"/>
          <a:lstStyle/>
          <a:p>
            <a:pPr algn="l" indent="0" marL="0">
              <a:buNone/>
            </a:pPr>
            <a:r>
              <a:rPr lang="en-US" sz="640" spc="120" kern="0" dirty="0">
                <a:solidFill>
                  <a:srgbClr val="FFFFFF"/>
                </a:solidFill>
                <a:latin typeface="Arial" pitchFamily="34" charset="0"/>
                <a:ea typeface="Arial" pitchFamily="34" charset="-122"/>
                <a:cs typeface="Arial" pitchFamily="34" charset="-120"/>
              </a:rPr>
              <a:t>REVERSED</a:t>
            </a:r>
            <a:endParaRPr lang="en-US" sz="640" dirty="0"/>
          </a:p>
        </p:txBody>
      </p:sp>
      <p:sp>
        <p:nvSpPr>
          <p:cNvPr id="51" name="Text 49"/>
          <p:cNvSpPr/>
          <p:nvPr/>
        </p:nvSpPr>
        <p:spPr>
          <a:xfrm>
            <a:off x="4937760" y="8430768"/>
            <a:ext cx="2057400" cy="365760"/>
          </a:xfrm>
          <a:prstGeom prst="rect">
            <a:avLst/>
          </a:prstGeom>
          <a:noFill/>
          <a:ln/>
        </p:spPr>
        <p:txBody>
          <a:bodyPr wrap="square" lIns="0" tIns="0" rIns="0" bIns="0" rtlCol="0" anchor="t"/>
          <a:lstStyle/>
          <a:p>
            <a:pPr algn="l" indent="0" marL="0">
              <a:lnSpc>
                <a:spcPct val="122000"/>
              </a:lnSpc>
              <a:buNone/>
            </a:pPr>
            <a:r>
              <a:rPr lang="en-US" sz="760" dirty="0">
                <a:solidFill>
                  <a:srgbClr val="6E6E6E"/>
                </a:solidFill>
                <a:latin typeface="Arial" pitchFamily="34" charset="0"/>
                <a:ea typeface="Arial" pitchFamily="34" charset="-122"/>
                <a:cs typeface="Arial" pitchFamily="34" charset="-120"/>
              </a:rPr>
              <a:t>Divider surfaces and dark applications.</a:t>
            </a:r>
            <a:endParaRPr lang="en-US" sz="76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GRAPHIC LANGUAGE</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13</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Graphic language</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Six elements. Nothing else is permitted, and each carries a fixed meaning so the language cannot drift into decoration.</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0078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PERMITTED ELEMENTS</a:t>
            </a:r>
            <a:endParaRPr lang="en-US" sz="740" dirty="0"/>
          </a:p>
        </p:txBody>
      </p:sp>
      <p:sp>
        <p:nvSpPr>
          <p:cNvPr id="10" name="Shape 8"/>
          <p:cNvSpPr/>
          <p:nvPr/>
        </p:nvSpPr>
        <p:spPr>
          <a:xfrm>
            <a:off x="566928" y="1883664"/>
            <a:ext cx="6428232" cy="7315"/>
          </a:xfrm>
          <a:prstGeom prst="rect">
            <a:avLst/>
          </a:prstGeom>
          <a:solidFill>
            <a:srgbClr val="D2D2D2"/>
          </a:solidFill>
          <a:ln/>
        </p:spPr>
      </p:sp>
      <p:sp>
        <p:nvSpPr>
          <p:cNvPr id="11" name="Shape 9"/>
          <p:cNvSpPr/>
          <p:nvPr/>
        </p:nvSpPr>
        <p:spPr>
          <a:xfrm>
            <a:off x="566928" y="1993392"/>
            <a:ext cx="27432" cy="676656"/>
          </a:xfrm>
          <a:prstGeom prst="rect">
            <a:avLst/>
          </a:prstGeom>
          <a:solidFill>
            <a:srgbClr val="1A1A1A"/>
          </a:solidFill>
          <a:ln/>
        </p:spPr>
      </p:sp>
      <p:sp>
        <p:nvSpPr>
          <p:cNvPr id="12" name="Text 10"/>
          <p:cNvSpPr/>
          <p:nvPr/>
        </p:nvSpPr>
        <p:spPr>
          <a:xfrm>
            <a:off x="731520" y="1993392"/>
            <a:ext cx="1920240" cy="201168"/>
          </a:xfrm>
          <a:prstGeom prst="rect">
            <a:avLst/>
          </a:prstGeom>
          <a:noFill/>
          <a:ln/>
        </p:spPr>
        <p:txBody>
          <a:bodyPr wrap="square" lIns="0" tIns="0" rIns="0" bIns="0" rtlCol="0" anchor="ctr"/>
          <a:lstStyle/>
          <a:p>
            <a:pPr algn="l" indent="0" marL="0">
              <a:buNone/>
            </a:pPr>
            <a:r>
              <a:rPr lang="en-US" sz="920" b="1" spc="80" kern="0" dirty="0">
                <a:solidFill>
                  <a:srgbClr val="1A1A1A"/>
                </a:solidFill>
                <a:latin typeface="Arial" pitchFamily="34" charset="0"/>
                <a:ea typeface="Arial" pitchFamily="34" charset="-122"/>
                <a:cs typeface="Arial" pitchFamily="34" charset="-120"/>
              </a:rPr>
              <a:t>THE DATUM</a:t>
            </a:r>
            <a:endParaRPr lang="en-US" sz="920" dirty="0"/>
          </a:p>
        </p:txBody>
      </p:sp>
      <p:sp>
        <p:nvSpPr>
          <p:cNvPr id="13" name="Text 11"/>
          <p:cNvSpPr/>
          <p:nvPr/>
        </p:nvSpPr>
        <p:spPr>
          <a:xfrm>
            <a:off x="731520" y="2194560"/>
            <a:ext cx="1920240" cy="365760"/>
          </a:xfrm>
          <a:prstGeom prst="rect">
            <a:avLst/>
          </a:prstGeom>
          <a:noFill/>
          <a:ln/>
        </p:spPr>
        <p:txBody>
          <a:bodyPr wrap="square" lIns="0" tIns="0" rIns="0" bIns="0" rtlCol="0" anchor="t"/>
          <a:lstStyle/>
          <a:p>
            <a:pPr algn="l" indent="0" marL="0">
              <a:lnSpc>
                <a:spcPct val="110000"/>
              </a:lnSpc>
              <a:buNone/>
            </a:pPr>
            <a:r>
              <a:rPr lang="en-US" sz="740" i="1" dirty="0">
                <a:solidFill>
                  <a:srgbClr val="6E6E6E"/>
                </a:solidFill>
                <a:latin typeface="Arial" pitchFamily="34" charset="0"/>
                <a:ea typeface="Arial" pitchFamily="34" charset="-122"/>
                <a:cs typeface="Arial" pitchFamily="34" charset="-120"/>
              </a:rPr>
              <a:t>A single black rule, weight 1.5 pt at A4.</a:t>
            </a:r>
            <a:endParaRPr lang="en-US" sz="740" dirty="0"/>
          </a:p>
        </p:txBody>
      </p:sp>
      <p:sp>
        <p:nvSpPr>
          <p:cNvPr id="14" name="Text 12"/>
          <p:cNvSpPr/>
          <p:nvPr/>
        </p:nvSpPr>
        <p:spPr>
          <a:xfrm>
            <a:off x="2852928" y="1993392"/>
            <a:ext cx="4142232" cy="65836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Governs the surface. Everything aligns to it. Its meaning is a standard being held. It is never dashed, never coloured and never curved.</a:t>
            </a:r>
            <a:endParaRPr lang="en-US" sz="860" dirty="0"/>
          </a:p>
        </p:txBody>
      </p:sp>
      <p:sp>
        <p:nvSpPr>
          <p:cNvPr id="15" name="Shape 13"/>
          <p:cNvSpPr/>
          <p:nvPr/>
        </p:nvSpPr>
        <p:spPr>
          <a:xfrm>
            <a:off x="566928" y="2743200"/>
            <a:ext cx="27432" cy="676656"/>
          </a:xfrm>
          <a:prstGeom prst="rect">
            <a:avLst/>
          </a:prstGeom>
          <a:solidFill>
            <a:srgbClr val="1A1A1A"/>
          </a:solidFill>
          <a:ln/>
        </p:spPr>
      </p:sp>
      <p:sp>
        <p:nvSpPr>
          <p:cNvPr id="16" name="Text 14"/>
          <p:cNvSpPr/>
          <p:nvPr/>
        </p:nvSpPr>
        <p:spPr>
          <a:xfrm>
            <a:off x="731520" y="2743200"/>
            <a:ext cx="1920240" cy="201168"/>
          </a:xfrm>
          <a:prstGeom prst="rect">
            <a:avLst/>
          </a:prstGeom>
          <a:noFill/>
          <a:ln/>
        </p:spPr>
        <p:txBody>
          <a:bodyPr wrap="square" lIns="0" tIns="0" rIns="0" bIns="0" rtlCol="0" anchor="ctr"/>
          <a:lstStyle/>
          <a:p>
            <a:pPr algn="l" indent="0" marL="0">
              <a:buNone/>
            </a:pPr>
            <a:r>
              <a:rPr lang="en-US" sz="920" b="1" spc="80" kern="0" dirty="0">
                <a:solidFill>
                  <a:srgbClr val="1A1A1A"/>
                </a:solidFill>
                <a:latin typeface="Arial" pitchFamily="34" charset="0"/>
                <a:ea typeface="Arial" pitchFamily="34" charset="-122"/>
                <a:cs typeface="Arial" pitchFamily="34" charset="-120"/>
              </a:rPr>
              <a:t>TICKS AND REGISTERS</a:t>
            </a:r>
            <a:endParaRPr lang="en-US" sz="920" dirty="0"/>
          </a:p>
        </p:txBody>
      </p:sp>
      <p:sp>
        <p:nvSpPr>
          <p:cNvPr id="17" name="Text 15"/>
          <p:cNvSpPr/>
          <p:nvPr/>
        </p:nvSpPr>
        <p:spPr>
          <a:xfrm>
            <a:off x="731520" y="2944368"/>
            <a:ext cx="1920240" cy="365760"/>
          </a:xfrm>
          <a:prstGeom prst="rect">
            <a:avLst/>
          </a:prstGeom>
          <a:noFill/>
          <a:ln/>
        </p:spPr>
        <p:txBody>
          <a:bodyPr wrap="square" lIns="0" tIns="0" rIns="0" bIns="0" rtlCol="0" anchor="t"/>
          <a:lstStyle/>
          <a:p>
            <a:pPr algn="l" indent="0" marL="0">
              <a:lnSpc>
                <a:spcPct val="110000"/>
              </a:lnSpc>
              <a:buNone/>
            </a:pPr>
            <a:r>
              <a:rPr lang="en-US" sz="740" i="1" dirty="0">
                <a:solidFill>
                  <a:srgbClr val="6E6E6E"/>
                </a:solidFill>
                <a:latin typeface="Arial" pitchFamily="34" charset="0"/>
                <a:ea typeface="Arial" pitchFamily="34" charset="-122"/>
                <a:cs typeface="Arial" pitchFamily="34" charset="-120"/>
              </a:rPr>
              <a:t>Short marks at a fixed interval, major every fourth.</a:t>
            </a:r>
            <a:endParaRPr lang="en-US" sz="740" dirty="0"/>
          </a:p>
        </p:txBody>
      </p:sp>
      <p:sp>
        <p:nvSpPr>
          <p:cNvPr id="18" name="Text 16"/>
          <p:cNvSpPr/>
          <p:nvPr/>
        </p:nvSpPr>
        <p:spPr>
          <a:xfrm>
            <a:off x="2852928" y="2743200"/>
            <a:ext cx="4142232" cy="65836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Provide measure. Their presence signals that something is being assessed rather than asserted. Used on evidence, assessment and progress surfaces only.</a:t>
            </a:r>
            <a:endParaRPr lang="en-US" sz="860" dirty="0"/>
          </a:p>
        </p:txBody>
      </p:sp>
      <p:sp>
        <p:nvSpPr>
          <p:cNvPr id="19" name="Shape 17"/>
          <p:cNvSpPr/>
          <p:nvPr/>
        </p:nvSpPr>
        <p:spPr>
          <a:xfrm>
            <a:off x="566928" y="3493008"/>
            <a:ext cx="27432" cy="676656"/>
          </a:xfrm>
          <a:prstGeom prst="rect">
            <a:avLst/>
          </a:prstGeom>
          <a:solidFill>
            <a:srgbClr val="D31145"/>
          </a:solidFill>
          <a:ln/>
        </p:spPr>
      </p:sp>
      <p:sp>
        <p:nvSpPr>
          <p:cNvPr id="20" name="Text 18"/>
          <p:cNvSpPr/>
          <p:nvPr/>
        </p:nvSpPr>
        <p:spPr>
          <a:xfrm>
            <a:off x="731520" y="3493008"/>
            <a:ext cx="1920240" cy="201168"/>
          </a:xfrm>
          <a:prstGeom prst="rect">
            <a:avLst/>
          </a:prstGeom>
          <a:noFill/>
          <a:ln/>
        </p:spPr>
        <p:txBody>
          <a:bodyPr wrap="square" lIns="0" tIns="0" rIns="0" bIns="0" rtlCol="0" anchor="ctr"/>
          <a:lstStyle/>
          <a:p>
            <a:pPr algn="l" indent="0" marL="0">
              <a:buNone/>
            </a:pPr>
            <a:r>
              <a:rPr lang="en-US" sz="920" b="1" spc="80" kern="0" dirty="0">
                <a:solidFill>
                  <a:srgbClr val="1A1A1A"/>
                </a:solidFill>
                <a:latin typeface="Arial" pitchFamily="34" charset="0"/>
                <a:ea typeface="Arial" pitchFamily="34" charset="-122"/>
                <a:cs typeface="Arial" pitchFamily="34" charset="-120"/>
              </a:rPr>
              <a:t>THE NODE</a:t>
            </a:r>
            <a:endParaRPr lang="en-US" sz="920" dirty="0"/>
          </a:p>
        </p:txBody>
      </p:sp>
      <p:sp>
        <p:nvSpPr>
          <p:cNvPr id="21" name="Text 19"/>
          <p:cNvSpPr/>
          <p:nvPr/>
        </p:nvSpPr>
        <p:spPr>
          <a:xfrm>
            <a:off x="731520" y="3694176"/>
            <a:ext cx="1920240" cy="365760"/>
          </a:xfrm>
          <a:prstGeom prst="rect">
            <a:avLst/>
          </a:prstGeom>
          <a:noFill/>
          <a:ln/>
        </p:spPr>
        <p:txBody>
          <a:bodyPr wrap="square" lIns="0" tIns="0" rIns="0" bIns="0" rtlCol="0" anchor="t"/>
          <a:lstStyle/>
          <a:p>
            <a:pPr algn="l" indent="0" marL="0">
              <a:lnSpc>
                <a:spcPct val="110000"/>
              </a:lnSpc>
              <a:buNone/>
            </a:pPr>
            <a:r>
              <a:rPr lang="en-US" sz="740" i="1" dirty="0">
                <a:solidFill>
                  <a:srgbClr val="6E6E6E"/>
                </a:solidFill>
                <a:latin typeface="Arial" pitchFamily="34" charset="0"/>
                <a:ea typeface="Arial" pitchFamily="34" charset="-122"/>
                <a:cs typeface="Arial" pitchFamily="34" charset="-120"/>
              </a:rPr>
              <a:t>An open circle on the datum, red stroke.</a:t>
            </a:r>
            <a:endParaRPr lang="en-US" sz="740" dirty="0"/>
          </a:p>
        </p:txBody>
      </p:sp>
      <p:sp>
        <p:nvSpPr>
          <p:cNvPr id="22" name="Text 20"/>
          <p:cNvSpPr/>
          <p:nvPr/>
        </p:nvSpPr>
        <p:spPr>
          <a:xfrm>
            <a:off x="2852928" y="3493008"/>
            <a:ext cx="4142232" cy="65836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Marks a decision point. It is the only element permitted to interrupt the datum, and the only routine use of red. A surface with four nodes is making four claims about where commitment occurs.</a:t>
            </a:r>
            <a:endParaRPr lang="en-US" sz="860" dirty="0"/>
          </a:p>
        </p:txBody>
      </p:sp>
      <p:sp>
        <p:nvSpPr>
          <p:cNvPr id="23" name="Shape 21"/>
          <p:cNvSpPr/>
          <p:nvPr/>
        </p:nvSpPr>
        <p:spPr>
          <a:xfrm>
            <a:off x="566928" y="4242816"/>
            <a:ext cx="27432" cy="676656"/>
          </a:xfrm>
          <a:prstGeom prst="rect">
            <a:avLst/>
          </a:prstGeom>
          <a:solidFill>
            <a:srgbClr val="D31145"/>
          </a:solidFill>
          <a:ln/>
        </p:spPr>
      </p:sp>
      <p:sp>
        <p:nvSpPr>
          <p:cNvPr id="24" name="Text 22"/>
          <p:cNvSpPr/>
          <p:nvPr/>
        </p:nvSpPr>
        <p:spPr>
          <a:xfrm>
            <a:off x="731520" y="4242816"/>
            <a:ext cx="1920240" cy="201168"/>
          </a:xfrm>
          <a:prstGeom prst="rect">
            <a:avLst/>
          </a:prstGeom>
          <a:noFill/>
          <a:ln/>
        </p:spPr>
        <p:txBody>
          <a:bodyPr wrap="square" lIns="0" tIns="0" rIns="0" bIns="0" rtlCol="0" anchor="ctr"/>
          <a:lstStyle/>
          <a:p>
            <a:pPr algn="l" indent="0" marL="0">
              <a:buNone/>
            </a:pPr>
            <a:r>
              <a:rPr lang="en-US" sz="920" b="1" spc="80" kern="0" dirty="0">
                <a:solidFill>
                  <a:srgbClr val="1A1A1A"/>
                </a:solidFill>
                <a:latin typeface="Arial" pitchFamily="34" charset="0"/>
                <a:ea typeface="Arial" pitchFamily="34" charset="-122"/>
                <a:cs typeface="Arial" pitchFamily="34" charset="-120"/>
              </a:rPr>
              <a:t>THE DEPARTURE</a:t>
            </a:r>
            <a:endParaRPr lang="en-US" sz="920" dirty="0"/>
          </a:p>
        </p:txBody>
      </p:sp>
      <p:sp>
        <p:nvSpPr>
          <p:cNvPr id="25" name="Text 23"/>
          <p:cNvSpPr/>
          <p:nvPr/>
        </p:nvSpPr>
        <p:spPr>
          <a:xfrm>
            <a:off x="731520" y="4443984"/>
            <a:ext cx="1920240" cy="365760"/>
          </a:xfrm>
          <a:prstGeom prst="rect">
            <a:avLst/>
          </a:prstGeom>
          <a:noFill/>
          <a:ln/>
        </p:spPr>
        <p:txBody>
          <a:bodyPr wrap="square" lIns="0" tIns="0" rIns="0" bIns="0" rtlCol="0" anchor="t"/>
          <a:lstStyle/>
          <a:p>
            <a:pPr algn="l" indent="0" marL="0">
              <a:lnSpc>
                <a:spcPct val="110000"/>
              </a:lnSpc>
              <a:buNone/>
            </a:pPr>
            <a:r>
              <a:rPr lang="en-US" sz="740" i="1" dirty="0">
                <a:solidFill>
                  <a:srgbClr val="6E6E6E"/>
                </a:solidFill>
                <a:latin typeface="Arial" pitchFamily="34" charset="0"/>
                <a:ea typeface="Arial" pitchFamily="34" charset="-122"/>
                <a:cs typeface="Arial" pitchFamily="34" charset="-120"/>
              </a:rPr>
              <a:t>A single line leaving the datum at a node.</a:t>
            </a:r>
            <a:endParaRPr lang="en-US" sz="740" dirty="0"/>
          </a:p>
        </p:txBody>
      </p:sp>
      <p:sp>
        <p:nvSpPr>
          <p:cNvPr id="26" name="Text 24"/>
          <p:cNvSpPr/>
          <p:nvPr/>
        </p:nvSpPr>
        <p:spPr>
          <a:xfrm>
            <a:off x="2852928" y="4242816"/>
            <a:ext cx="4142232" cy="65836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Represents a decision taken and its consequence. Only one departure per node. Multiple departures would represent optionality, which is a different and rarer claim.</a:t>
            </a:r>
            <a:endParaRPr lang="en-US" sz="860" dirty="0"/>
          </a:p>
        </p:txBody>
      </p:sp>
      <p:sp>
        <p:nvSpPr>
          <p:cNvPr id="27" name="Shape 25"/>
          <p:cNvSpPr/>
          <p:nvPr/>
        </p:nvSpPr>
        <p:spPr>
          <a:xfrm>
            <a:off x="566928" y="4992624"/>
            <a:ext cx="27432" cy="676656"/>
          </a:xfrm>
          <a:prstGeom prst="rect">
            <a:avLst/>
          </a:prstGeom>
          <a:solidFill>
            <a:srgbClr val="1A1A1A"/>
          </a:solidFill>
          <a:ln/>
        </p:spPr>
      </p:sp>
      <p:sp>
        <p:nvSpPr>
          <p:cNvPr id="28" name="Text 26"/>
          <p:cNvSpPr/>
          <p:nvPr/>
        </p:nvSpPr>
        <p:spPr>
          <a:xfrm>
            <a:off x="731520" y="4992624"/>
            <a:ext cx="1920240" cy="201168"/>
          </a:xfrm>
          <a:prstGeom prst="rect">
            <a:avLst/>
          </a:prstGeom>
          <a:noFill/>
          <a:ln/>
        </p:spPr>
        <p:txBody>
          <a:bodyPr wrap="square" lIns="0" tIns="0" rIns="0" bIns="0" rtlCol="0" anchor="ctr"/>
          <a:lstStyle/>
          <a:p>
            <a:pPr algn="l" indent="0" marL="0">
              <a:buNone/>
            </a:pPr>
            <a:r>
              <a:rPr lang="en-US" sz="920" b="1" spc="80" kern="0" dirty="0">
                <a:solidFill>
                  <a:srgbClr val="1A1A1A"/>
                </a:solidFill>
                <a:latin typeface="Arial" pitchFamily="34" charset="0"/>
                <a:ea typeface="Arial" pitchFamily="34" charset="-122"/>
                <a:cs typeface="Arial" pitchFamily="34" charset="-120"/>
              </a:rPr>
              <a:t>THE FIELD</a:t>
            </a:r>
            <a:endParaRPr lang="en-US" sz="920" dirty="0"/>
          </a:p>
        </p:txBody>
      </p:sp>
      <p:sp>
        <p:nvSpPr>
          <p:cNvPr id="29" name="Text 27"/>
          <p:cNvSpPr/>
          <p:nvPr/>
        </p:nvSpPr>
        <p:spPr>
          <a:xfrm>
            <a:off x="731520" y="5193792"/>
            <a:ext cx="1920240" cy="365760"/>
          </a:xfrm>
          <a:prstGeom prst="rect">
            <a:avLst/>
          </a:prstGeom>
          <a:noFill/>
          <a:ln/>
        </p:spPr>
        <p:txBody>
          <a:bodyPr wrap="square" lIns="0" tIns="0" rIns="0" bIns="0" rtlCol="0" anchor="t"/>
          <a:lstStyle/>
          <a:p>
            <a:pPr algn="l" indent="0" marL="0">
              <a:lnSpc>
                <a:spcPct val="110000"/>
              </a:lnSpc>
              <a:buNone/>
            </a:pPr>
            <a:r>
              <a:rPr lang="en-US" sz="740" i="1" dirty="0">
                <a:solidFill>
                  <a:srgbClr val="6E6E6E"/>
                </a:solidFill>
                <a:latin typeface="Arial" pitchFamily="34" charset="0"/>
                <a:ea typeface="Arial" pitchFamily="34" charset="-122"/>
                <a:cs typeface="Arial" pitchFamily="34" charset="-120"/>
              </a:rPr>
              <a:t>Halftone density drawn from the Army chevron pattern.</a:t>
            </a:r>
            <a:endParaRPr lang="en-US" sz="740" dirty="0"/>
          </a:p>
        </p:txBody>
      </p:sp>
      <p:sp>
        <p:nvSpPr>
          <p:cNvPr id="30" name="Text 28"/>
          <p:cNvSpPr/>
          <p:nvPr/>
        </p:nvSpPr>
        <p:spPr>
          <a:xfrm>
            <a:off x="2852928" y="4992624"/>
            <a:ext cx="4142232" cy="65836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Represents accumulated pressure. Permitted on covers and dividers, never behind text, never as a page background, and never at more than 18 per cent opacity.</a:t>
            </a:r>
            <a:endParaRPr lang="en-US" sz="860" dirty="0"/>
          </a:p>
        </p:txBody>
      </p:sp>
      <p:sp>
        <p:nvSpPr>
          <p:cNvPr id="31" name="Shape 29"/>
          <p:cNvSpPr/>
          <p:nvPr/>
        </p:nvSpPr>
        <p:spPr>
          <a:xfrm>
            <a:off x="566928" y="5742432"/>
            <a:ext cx="27432" cy="676656"/>
          </a:xfrm>
          <a:prstGeom prst="rect">
            <a:avLst/>
          </a:prstGeom>
          <a:solidFill>
            <a:srgbClr val="1A1A1A"/>
          </a:solidFill>
          <a:ln/>
        </p:spPr>
      </p:sp>
      <p:sp>
        <p:nvSpPr>
          <p:cNvPr id="32" name="Text 30"/>
          <p:cNvSpPr/>
          <p:nvPr/>
        </p:nvSpPr>
        <p:spPr>
          <a:xfrm>
            <a:off x="731520" y="5742432"/>
            <a:ext cx="1920240" cy="201168"/>
          </a:xfrm>
          <a:prstGeom prst="rect">
            <a:avLst/>
          </a:prstGeom>
          <a:noFill/>
          <a:ln/>
        </p:spPr>
        <p:txBody>
          <a:bodyPr wrap="square" lIns="0" tIns="0" rIns="0" bIns="0" rtlCol="0" anchor="ctr"/>
          <a:lstStyle/>
          <a:p>
            <a:pPr algn="l" indent="0" marL="0">
              <a:buNone/>
            </a:pPr>
            <a:r>
              <a:rPr lang="en-US" sz="920" b="1" spc="80" kern="0" dirty="0">
                <a:solidFill>
                  <a:srgbClr val="1A1A1A"/>
                </a:solidFill>
                <a:latin typeface="Arial" pitchFamily="34" charset="0"/>
                <a:ea typeface="Arial" pitchFamily="34" charset="-122"/>
                <a:cs typeface="Arial" pitchFamily="34" charset="-120"/>
              </a:rPr>
              <a:t>THE DISPLACEMENT TRACE</a:t>
            </a:r>
            <a:endParaRPr lang="en-US" sz="920" dirty="0"/>
          </a:p>
        </p:txBody>
      </p:sp>
      <p:sp>
        <p:nvSpPr>
          <p:cNvPr id="33" name="Text 31"/>
          <p:cNvSpPr/>
          <p:nvPr/>
        </p:nvSpPr>
        <p:spPr>
          <a:xfrm>
            <a:off x="731520" y="5943600"/>
            <a:ext cx="1920240" cy="365760"/>
          </a:xfrm>
          <a:prstGeom prst="rect">
            <a:avLst/>
          </a:prstGeom>
          <a:noFill/>
          <a:ln/>
        </p:spPr>
        <p:txBody>
          <a:bodyPr wrap="square" lIns="0" tIns="0" rIns="0" bIns="0" rtlCol="0" anchor="t"/>
          <a:lstStyle/>
          <a:p>
            <a:pPr algn="l" indent="0" marL="0">
              <a:lnSpc>
                <a:spcPct val="110000"/>
              </a:lnSpc>
              <a:buNone/>
            </a:pPr>
            <a:r>
              <a:rPr lang="en-US" sz="740" i="1" dirty="0">
                <a:solidFill>
                  <a:srgbClr val="6E6E6E"/>
                </a:solidFill>
                <a:latin typeface="Arial" pitchFamily="34" charset="0"/>
                <a:ea typeface="Arial" pitchFamily="34" charset="-122"/>
                <a:cs typeface="Arial" pitchFamily="34" charset="-120"/>
              </a:rPr>
              <a:t>A curved deviation from the datum, black, at the datum's weight.</a:t>
            </a:r>
            <a:endParaRPr lang="en-US" sz="740" dirty="0"/>
          </a:p>
        </p:txBody>
      </p:sp>
      <p:sp>
        <p:nvSpPr>
          <p:cNvPr id="34" name="Text 32"/>
          <p:cNvSpPr/>
          <p:nvPr/>
        </p:nvSpPr>
        <p:spPr>
          <a:xfrm>
            <a:off x="2852928" y="5742432"/>
            <a:ext cx="4142232" cy="65836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Represents load, interference and recovery. The only curve in the system, defined so the Datum concept can be drawn without breaking its own rules. It always returns to the datum, is never red, and is never decorative.</a:t>
            </a:r>
            <a:endParaRPr lang="en-US" sz="860" dirty="0"/>
          </a:p>
        </p:txBody>
      </p:sp>
      <p:sp>
        <p:nvSpPr>
          <p:cNvPr id="35" name="Text 33"/>
          <p:cNvSpPr/>
          <p:nvPr/>
        </p:nvSpPr>
        <p:spPr>
          <a:xfrm>
            <a:off x="566928" y="652881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GRAMMAR</a:t>
            </a:r>
            <a:endParaRPr lang="en-US" sz="740" dirty="0"/>
          </a:p>
        </p:txBody>
      </p:sp>
      <p:sp>
        <p:nvSpPr>
          <p:cNvPr id="36" name="Shape 34"/>
          <p:cNvSpPr/>
          <p:nvPr/>
        </p:nvSpPr>
        <p:spPr>
          <a:xfrm>
            <a:off x="566928" y="6711696"/>
            <a:ext cx="6428232" cy="7315"/>
          </a:xfrm>
          <a:prstGeom prst="rect">
            <a:avLst/>
          </a:prstGeom>
          <a:solidFill>
            <a:srgbClr val="D2D2D2"/>
          </a:solidFill>
          <a:ln/>
        </p:spPr>
      </p:sp>
      <p:sp>
        <p:nvSpPr>
          <p:cNvPr id="37" name="Shape 35"/>
          <p:cNvSpPr/>
          <p:nvPr/>
        </p:nvSpPr>
        <p:spPr>
          <a:xfrm>
            <a:off x="566928" y="6821424"/>
            <a:ext cx="6428232" cy="1060704"/>
          </a:xfrm>
          <a:prstGeom prst="rect">
            <a:avLst/>
          </a:prstGeom>
          <a:solidFill>
            <a:srgbClr val="F5F5F3"/>
          </a:solidFill>
          <a:ln/>
        </p:spPr>
      </p:sp>
      <p:sp>
        <p:nvSpPr>
          <p:cNvPr id="38" name="Text 36"/>
          <p:cNvSpPr/>
          <p:nvPr/>
        </p:nvSpPr>
        <p:spPr>
          <a:xfrm>
            <a:off x="768096" y="7644384"/>
            <a:ext cx="6025896" cy="182880"/>
          </a:xfrm>
          <a:prstGeom prst="rect">
            <a:avLst/>
          </a:prstGeom>
          <a:noFill/>
          <a:ln/>
        </p:spPr>
        <p:txBody>
          <a:bodyPr wrap="square" lIns="0" tIns="0" rIns="0" bIns="0" rtlCol="0" anchor="ctr"/>
          <a:lstStyle/>
          <a:p>
            <a:pPr algn="l" indent="0" marL="0">
              <a:buNone/>
            </a:pPr>
            <a:r>
              <a:rPr lang="en-US" sz="740" i="1" dirty="0">
                <a:solidFill>
                  <a:srgbClr val="6E6E6E"/>
                </a:solidFill>
                <a:latin typeface="Arial" pitchFamily="34" charset="0"/>
                <a:ea typeface="Arial" pitchFamily="34" charset="-122"/>
                <a:cs typeface="Arial" pitchFamily="34" charset="-120"/>
              </a:rPr>
              <a:t>Visual conventions for reading Combat Mindset surfaces, not definitions of the concepts they mark.</a:t>
            </a:r>
            <a:endParaRPr lang="en-US" sz="740" dirty="0"/>
          </a:p>
        </p:txBody>
      </p:sp>
      <p:sp>
        <p:nvSpPr>
          <p:cNvPr id="39" name="Text 37"/>
          <p:cNvSpPr/>
          <p:nvPr/>
        </p:nvSpPr>
        <p:spPr>
          <a:xfrm>
            <a:off x="768096" y="7040880"/>
            <a:ext cx="1113739" cy="329184"/>
          </a:xfrm>
          <a:prstGeom prst="rect">
            <a:avLst/>
          </a:prstGeom>
          <a:noFill/>
          <a:ln/>
        </p:spPr>
        <p:txBody>
          <a:bodyPr wrap="square" lIns="0" tIns="0" rIns="0" bIns="0" rtlCol="0" anchor="t"/>
          <a:lstStyle/>
          <a:p>
            <a:pPr algn="l" indent="0" marL="0">
              <a:lnSpc>
                <a:spcPct val="110000"/>
              </a:lnSpc>
              <a:buNone/>
            </a:pPr>
            <a:r>
              <a:rPr lang="en-US" sz="840" b="1" dirty="0">
                <a:solidFill>
                  <a:srgbClr val="1A1A1A"/>
                </a:solidFill>
                <a:latin typeface="Arial" pitchFamily="34" charset="0"/>
                <a:ea typeface="Arial" pitchFamily="34" charset="-122"/>
                <a:cs typeface="Arial" pitchFamily="34" charset="-120"/>
              </a:rPr>
              <a:t>Along the datum</a:t>
            </a:r>
            <a:endParaRPr lang="en-US" sz="840" dirty="0"/>
          </a:p>
        </p:txBody>
      </p:sp>
      <p:sp>
        <p:nvSpPr>
          <p:cNvPr id="40" name="Text 38"/>
          <p:cNvSpPr/>
          <p:nvPr/>
        </p:nvSpPr>
        <p:spPr>
          <a:xfrm>
            <a:off x="768096" y="7424928"/>
            <a:ext cx="1113739" cy="201168"/>
          </a:xfrm>
          <a:prstGeom prst="rect">
            <a:avLst/>
          </a:prstGeom>
          <a:noFill/>
          <a:ln/>
        </p:spPr>
        <p:txBody>
          <a:bodyPr wrap="square" lIns="0" tIns="0" rIns="0" bIns="0" rtlCol="0" anchor="ctr"/>
          <a:lstStyle/>
          <a:p>
            <a:pPr algn="l" indent="0" marL="0">
              <a:buNone/>
            </a:pPr>
            <a:r>
              <a:rPr lang="en-US" sz="800" spc="100" kern="0" dirty="0">
                <a:solidFill>
                  <a:srgbClr val="D31145"/>
                </a:solidFill>
                <a:latin typeface="Arial" pitchFamily="34" charset="0"/>
                <a:ea typeface="Arial" pitchFamily="34" charset="-122"/>
                <a:cs typeface="Arial" pitchFamily="34" charset="-120"/>
              </a:rPr>
              <a:t>SEQUENCE</a:t>
            </a:r>
            <a:endParaRPr lang="en-US" sz="800" dirty="0"/>
          </a:p>
        </p:txBody>
      </p:sp>
      <p:sp>
        <p:nvSpPr>
          <p:cNvPr id="41" name="Text 39"/>
          <p:cNvSpPr/>
          <p:nvPr/>
        </p:nvSpPr>
        <p:spPr>
          <a:xfrm>
            <a:off x="1973275" y="7040880"/>
            <a:ext cx="1113739" cy="329184"/>
          </a:xfrm>
          <a:prstGeom prst="rect">
            <a:avLst/>
          </a:prstGeom>
          <a:noFill/>
          <a:ln/>
        </p:spPr>
        <p:txBody>
          <a:bodyPr wrap="square" lIns="0" tIns="0" rIns="0" bIns="0" rtlCol="0" anchor="t"/>
          <a:lstStyle/>
          <a:p>
            <a:pPr algn="l" indent="0" marL="0">
              <a:lnSpc>
                <a:spcPct val="110000"/>
              </a:lnSpc>
              <a:buNone/>
            </a:pPr>
            <a:r>
              <a:rPr lang="en-US" sz="840" b="1" dirty="0">
                <a:solidFill>
                  <a:srgbClr val="1A1A1A"/>
                </a:solidFill>
                <a:latin typeface="Arial" pitchFamily="34" charset="0"/>
                <a:ea typeface="Arial" pitchFamily="34" charset="-122"/>
                <a:cs typeface="Arial" pitchFamily="34" charset="-120"/>
              </a:rPr>
              <a:t>Away from the datum</a:t>
            </a:r>
            <a:endParaRPr lang="en-US" sz="840" dirty="0"/>
          </a:p>
        </p:txBody>
      </p:sp>
      <p:sp>
        <p:nvSpPr>
          <p:cNvPr id="42" name="Text 40"/>
          <p:cNvSpPr/>
          <p:nvPr/>
        </p:nvSpPr>
        <p:spPr>
          <a:xfrm>
            <a:off x="1973275" y="7424928"/>
            <a:ext cx="1113739" cy="201168"/>
          </a:xfrm>
          <a:prstGeom prst="rect">
            <a:avLst/>
          </a:prstGeom>
          <a:noFill/>
          <a:ln/>
        </p:spPr>
        <p:txBody>
          <a:bodyPr wrap="square" lIns="0" tIns="0" rIns="0" bIns="0" rtlCol="0" anchor="ctr"/>
          <a:lstStyle/>
          <a:p>
            <a:pPr algn="l" indent="0" marL="0">
              <a:buNone/>
            </a:pPr>
            <a:r>
              <a:rPr lang="en-US" sz="800" spc="100" kern="0" dirty="0">
                <a:solidFill>
                  <a:srgbClr val="D31145"/>
                </a:solidFill>
                <a:latin typeface="Arial" pitchFamily="34" charset="0"/>
                <a:ea typeface="Arial" pitchFamily="34" charset="-122"/>
                <a:cs typeface="Arial" pitchFamily="34" charset="-120"/>
              </a:rPr>
              <a:t>DECISION</a:t>
            </a:r>
            <a:endParaRPr lang="en-US" sz="800" dirty="0"/>
          </a:p>
        </p:txBody>
      </p:sp>
      <p:sp>
        <p:nvSpPr>
          <p:cNvPr id="43" name="Text 41"/>
          <p:cNvSpPr/>
          <p:nvPr/>
        </p:nvSpPr>
        <p:spPr>
          <a:xfrm>
            <a:off x="3178454" y="7040880"/>
            <a:ext cx="1113739" cy="329184"/>
          </a:xfrm>
          <a:prstGeom prst="rect">
            <a:avLst/>
          </a:prstGeom>
          <a:noFill/>
          <a:ln/>
        </p:spPr>
        <p:txBody>
          <a:bodyPr wrap="square" lIns="0" tIns="0" rIns="0" bIns="0" rtlCol="0" anchor="t"/>
          <a:lstStyle/>
          <a:p>
            <a:pPr algn="l" indent="0" marL="0">
              <a:lnSpc>
                <a:spcPct val="110000"/>
              </a:lnSpc>
              <a:buNone/>
            </a:pPr>
            <a:r>
              <a:rPr lang="en-US" sz="840" b="1" dirty="0">
                <a:solidFill>
                  <a:srgbClr val="1A1A1A"/>
                </a:solidFill>
                <a:latin typeface="Arial" pitchFamily="34" charset="0"/>
                <a:ea typeface="Arial" pitchFamily="34" charset="-122"/>
                <a:cs typeface="Arial" pitchFamily="34" charset="-120"/>
              </a:rPr>
              <a:t>Break in the datum</a:t>
            </a:r>
            <a:endParaRPr lang="en-US" sz="840" dirty="0"/>
          </a:p>
        </p:txBody>
      </p:sp>
      <p:sp>
        <p:nvSpPr>
          <p:cNvPr id="44" name="Text 42"/>
          <p:cNvSpPr/>
          <p:nvPr/>
        </p:nvSpPr>
        <p:spPr>
          <a:xfrm>
            <a:off x="3178454" y="7424928"/>
            <a:ext cx="1113739" cy="201168"/>
          </a:xfrm>
          <a:prstGeom prst="rect">
            <a:avLst/>
          </a:prstGeom>
          <a:noFill/>
          <a:ln/>
        </p:spPr>
        <p:txBody>
          <a:bodyPr wrap="square" lIns="0" tIns="0" rIns="0" bIns="0" rtlCol="0" anchor="ctr"/>
          <a:lstStyle/>
          <a:p>
            <a:pPr algn="l" indent="0" marL="0">
              <a:buNone/>
            </a:pPr>
            <a:r>
              <a:rPr lang="en-US" sz="800" spc="100" kern="0" dirty="0">
                <a:solidFill>
                  <a:srgbClr val="D31145"/>
                </a:solidFill>
                <a:latin typeface="Arial" pitchFamily="34" charset="0"/>
                <a:ea typeface="Arial" pitchFamily="34" charset="-122"/>
                <a:cs typeface="Arial" pitchFamily="34" charset="-120"/>
              </a:rPr>
              <a:t>RISK</a:t>
            </a:r>
            <a:endParaRPr lang="en-US" sz="800" dirty="0"/>
          </a:p>
        </p:txBody>
      </p:sp>
      <p:sp>
        <p:nvSpPr>
          <p:cNvPr id="45" name="Text 43"/>
          <p:cNvSpPr/>
          <p:nvPr/>
        </p:nvSpPr>
        <p:spPr>
          <a:xfrm>
            <a:off x="4383634" y="7040880"/>
            <a:ext cx="1113739" cy="329184"/>
          </a:xfrm>
          <a:prstGeom prst="rect">
            <a:avLst/>
          </a:prstGeom>
          <a:noFill/>
          <a:ln/>
        </p:spPr>
        <p:txBody>
          <a:bodyPr wrap="square" lIns="0" tIns="0" rIns="0" bIns="0" rtlCol="0" anchor="t"/>
          <a:lstStyle/>
          <a:p>
            <a:pPr algn="l" indent="0" marL="0">
              <a:lnSpc>
                <a:spcPct val="110000"/>
              </a:lnSpc>
              <a:buNone/>
            </a:pPr>
            <a:r>
              <a:rPr lang="en-US" sz="840" b="1" dirty="0">
                <a:solidFill>
                  <a:srgbClr val="1A1A1A"/>
                </a:solidFill>
                <a:latin typeface="Arial" pitchFamily="34" charset="0"/>
                <a:ea typeface="Arial" pitchFamily="34" charset="-122"/>
                <a:cs typeface="Arial" pitchFamily="34" charset="-120"/>
              </a:rPr>
              <a:t>Return to the datum</a:t>
            </a:r>
            <a:endParaRPr lang="en-US" sz="840" dirty="0"/>
          </a:p>
        </p:txBody>
      </p:sp>
      <p:sp>
        <p:nvSpPr>
          <p:cNvPr id="46" name="Text 44"/>
          <p:cNvSpPr/>
          <p:nvPr/>
        </p:nvSpPr>
        <p:spPr>
          <a:xfrm>
            <a:off x="4383634" y="7424928"/>
            <a:ext cx="1113739" cy="201168"/>
          </a:xfrm>
          <a:prstGeom prst="rect">
            <a:avLst/>
          </a:prstGeom>
          <a:noFill/>
          <a:ln/>
        </p:spPr>
        <p:txBody>
          <a:bodyPr wrap="square" lIns="0" tIns="0" rIns="0" bIns="0" rtlCol="0" anchor="ctr"/>
          <a:lstStyle/>
          <a:p>
            <a:pPr algn="l" indent="0" marL="0">
              <a:buNone/>
            </a:pPr>
            <a:r>
              <a:rPr lang="en-US" sz="800" spc="100" kern="0" dirty="0">
                <a:solidFill>
                  <a:srgbClr val="D31145"/>
                </a:solidFill>
                <a:latin typeface="Arial" pitchFamily="34" charset="0"/>
                <a:ea typeface="Arial" pitchFamily="34" charset="-122"/>
                <a:cs typeface="Arial" pitchFamily="34" charset="-120"/>
              </a:rPr>
              <a:t>RECOVERY</a:t>
            </a:r>
            <a:endParaRPr lang="en-US" sz="800" dirty="0"/>
          </a:p>
        </p:txBody>
      </p:sp>
      <p:sp>
        <p:nvSpPr>
          <p:cNvPr id="47" name="Text 45"/>
          <p:cNvSpPr/>
          <p:nvPr/>
        </p:nvSpPr>
        <p:spPr>
          <a:xfrm>
            <a:off x="5588813" y="7040880"/>
            <a:ext cx="1113739" cy="329184"/>
          </a:xfrm>
          <a:prstGeom prst="rect">
            <a:avLst/>
          </a:prstGeom>
          <a:noFill/>
          <a:ln/>
        </p:spPr>
        <p:txBody>
          <a:bodyPr wrap="square" lIns="0" tIns="0" rIns="0" bIns="0" rtlCol="0" anchor="t"/>
          <a:lstStyle/>
          <a:p>
            <a:pPr algn="l" indent="0" marL="0">
              <a:lnSpc>
                <a:spcPct val="110000"/>
              </a:lnSpc>
              <a:buNone/>
            </a:pPr>
            <a:r>
              <a:rPr lang="en-US" sz="840" b="1" dirty="0">
                <a:solidFill>
                  <a:srgbClr val="1A1A1A"/>
                </a:solidFill>
                <a:latin typeface="Arial" pitchFamily="34" charset="0"/>
                <a:ea typeface="Arial" pitchFamily="34" charset="-122"/>
                <a:cs typeface="Arial" pitchFamily="34" charset="-120"/>
              </a:rPr>
              <a:t>Density above the datum</a:t>
            </a:r>
            <a:endParaRPr lang="en-US" sz="840" dirty="0"/>
          </a:p>
        </p:txBody>
      </p:sp>
      <p:sp>
        <p:nvSpPr>
          <p:cNvPr id="48" name="Text 46"/>
          <p:cNvSpPr/>
          <p:nvPr/>
        </p:nvSpPr>
        <p:spPr>
          <a:xfrm>
            <a:off x="5588813" y="7424928"/>
            <a:ext cx="1113739" cy="201168"/>
          </a:xfrm>
          <a:prstGeom prst="rect">
            <a:avLst/>
          </a:prstGeom>
          <a:noFill/>
          <a:ln/>
        </p:spPr>
        <p:txBody>
          <a:bodyPr wrap="square" lIns="0" tIns="0" rIns="0" bIns="0" rtlCol="0" anchor="ctr"/>
          <a:lstStyle/>
          <a:p>
            <a:pPr algn="l" indent="0" marL="0">
              <a:buNone/>
            </a:pPr>
            <a:r>
              <a:rPr lang="en-US" sz="800" spc="100" kern="0" dirty="0">
                <a:solidFill>
                  <a:srgbClr val="D31145"/>
                </a:solidFill>
                <a:latin typeface="Arial" pitchFamily="34" charset="0"/>
                <a:ea typeface="Arial" pitchFamily="34" charset="-122"/>
                <a:cs typeface="Arial" pitchFamily="34" charset="-120"/>
              </a:rPr>
              <a:t>PRESSURE</a:t>
            </a:r>
            <a:endParaRPr lang="en-US" sz="800" dirty="0"/>
          </a:p>
        </p:txBody>
      </p:sp>
      <p:sp>
        <p:nvSpPr>
          <p:cNvPr id="49" name="Text 47"/>
          <p:cNvSpPr/>
          <p:nvPr/>
        </p:nvSpPr>
        <p:spPr>
          <a:xfrm>
            <a:off x="566928" y="801014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WHAT IS FORBIDDEN, AND WHY</a:t>
            </a:r>
            <a:endParaRPr lang="en-US" sz="740" dirty="0"/>
          </a:p>
        </p:txBody>
      </p:sp>
      <p:sp>
        <p:nvSpPr>
          <p:cNvPr id="50" name="Shape 48"/>
          <p:cNvSpPr/>
          <p:nvPr/>
        </p:nvSpPr>
        <p:spPr>
          <a:xfrm>
            <a:off x="566928" y="8193024"/>
            <a:ext cx="6428232" cy="7315"/>
          </a:xfrm>
          <a:prstGeom prst="rect">
            <a:avLst/>
          </a:prstGeom>
          <a:solidFill>
            <a:srgbClr val="D2D2D2"/>
          </a:solidFill>
          <a:ln/>
        </p:spPr>
      </p:sp>
      <p:sp>
        <p:nvSpPr>
          <p:cNvPr id="51" name="Text 49"/>
          <p:cNvSpPr/>
          <p:nvPr/>
        </p:nvSpPr>
        <p:spPr>
          <a:xfrm>
            <a:off x="566928" y="8302752"/>
            <a:ext cx="6428232" cy="1645920"/>
          </a:xfrm>
          <a:prstGeom prst="rect">
            <a:avLst/>
          </a:prstGeom>
          <a:noFill/>
          <a:ln/>
        </p:spPr>
        <p:txBody>
          <a:bodyPr wrap="square" lIns="0" tIns="0" rIns="0" bIns="0" rtlCol="0" anchor="t"/>
          <a:lstStyle/>
          <a:p>
            <a:pPr algn="l" marL="177800" indent="-177800">
              <a:lnSpc>
                <a:spcPct val="122000"/>
              </a:lnSpc>
              <a:spcAft>
                <a:spcPts val="500"/>
              </a:spcAft>
              <a:buSzPct val="100000"/>
              <a:buChar char="–"/>
            </a:pPr>
            <a:r>
              <a:rPr lang="en-US" sz="880" dirty="0">
                <a:solidFill>
                  <a:srgbClr val="1A1A1A"/>
                </a:solidFill>
                <a:latin typeface="Arial" pitchFamily="34" charset="0"/>
                <a:ea typeface="Arial" pitchFamily="34" charset="-122"/>
                <a:cs typeface="Arial" pitchFamily="34" charset="-120"/>
              </a:rPr>
              <a:t>Curves outside the displacement trace. The datum itself is always straight, and no other element bends.</a:t>
            </a:r>
            <a:endParaRPr lang="en-US" sz="880" dirty="0"/>
          </a:p>
          <a:p>
            <a:pPr algn="l" marL="177800" indent="-177800">
              <a:lnSpc>
                <a:spcPct val="122000"/>
              </a:lnSpc>
              <a:spcAft>
                <a:spcPts val="500"/>
              </a:spcAft>
              <a:buSzPct val="100000"/>
              <a:buChar char="–"/>
            </a:pPr>
            <a:r>
              <a:rPr lang="en-US" sz="880" dirty="0">
                <a:solidFill>
                  <a:srgbClr val="1A1A1A"/>
                </a:solidFill>
                <a:latin typeface="Arial" pitchFamily="34" charset="0"/>
                <a:ea typeface="Arial" pitchFamily="34" charset="-122"/>
                <a:cs typeface="Arial" pitchFamily="34" charset="-120"/>
              </a:rPr>
              <a:t>Gradients other than the sanctioned halftone field. Gradients carry a date.</a:t>
            </a:r>
            <a:endParaRPr lang="en-US" sz="880" dirty="0"/>
          </a:p>
          <a:p>
            <a:pPr algn="l" marL="177800" indent="-177800">
              <a:lnSpc>
                <a:spcPct val="122000"/>
              </a:lnSpc>
              <a:spcAft>
                <a:spcPts val="500"/>
              </a:spcAft>
              <a:buSzPct val="100000"/>
              <a:buChar char="–"/>
            </a:pPr>
            <a:r>
              <a:rPr lang="en-US" sz="880" dirty="0">
                <a:solidFill>
                  <a:srgbClr val="1A1A1A"/>
                </a:solidFill>
                <a:latin typeface="Arial" pitchFamily="34" charset="0"/>
                <a:ea typeface="Arial" pitchFamily="34" charset="-122"/>
                <a:cs typeface="Arial" pitchFamily="34" charset="-120"/>
              </a:rPr>
              <a:t>Drop shadows, glows, bevels and any depth effect. Depth implies a physical object; this is a notation, not an artefact.</a:t>
            </a:r>
            <a:endParaRPr lang="en-US" sz="880" dirty="0"/>
          </a:p>
          <a:p>
            <a:pPr algn="l" marL="177800" indent="-177800">
              <a:lnSpc>
                <a:spcPct val="122000"/>
              </a:lnSpc>
              <a:spcAft>
                <a:spcPts val="500"/>
              </a:spcAft>
              <a:buSzPct val="100000"/>
              <a:buChar char="–"/>
            </a:pPr>
            <a:r>
              <a:rPr lang="en-US" sz="880" dirty="0">
                <a:solidFill>
                  <a:srgbClr val="1A1A1A"/>
                </a:solidFill>
                <a:latin typeface="Arial" pitchFamily="34" charset="0"/>
                <a:ea typeface="Arial" pitchFamily="34" charset="-122"/>
                <a:cs typeface="Arial" pitchFamily="34" charset="-120"/>
              </a:rPr>
              <a:t>Red used as a surface, a heading colour or a fill. Red marks decision nodes and defined threshold states; risk is otherwise carried structurally by the broken datum. Spending it elsewhere destroys the only signal in the system that carries urgency.</a:t>
            </a:r>
            <a:endParaRPr lang="en-US" sz="880" dirty="0"/>
          </a:p>
          <a:p>
            <a:pPr algn="l" marL="177800" indent="-177800">
              <a:lnSpc>
                <a:spcPct val="122000"/>
              </a:lnSpc>
              <a:spcAft>
                <a:spcPts val="500"/>
              </a:spcAft>
              <a:buSzPct val="100000"/>
              <a:buChar char="–"/>
            </a:pPr>
            <a:r>
              <a:rPr lang="en-US" sz="880" dirty="0">
                <a:solidFill>
                  <a:srgbClr val="1A1A1A"/>
                </a:solidFill>
                <a:latin typeface="Arial" pitchFamily="34" charset="0"/>
                <a:ea typeface="Arial" pitchFamily="34" charset="-122"/>
                <a:cs typeface="Arial" pitchFamily="34" charset="-120"/>
              </a:rPr>
              <a:t>Any new element added without an accompanying sentence in the specification stating what it means.</a:t>
            </a:r>
            <a:endParaRPr lang="en-US" sz="8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NOTATION</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14</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Notation family</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Twelve marks, one grammar. These are not pictograms: nothing is a picture of a thing. Each mark is a statement about how a piece of content relates to the datum.</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828800"/>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CONSTRUCTION</a:t>
            </a:r>
            <a:endParaRPr lang="en-US" sz="740" dirty="0"/>
          </a:p>
        </p:txBody>
      </p:sp>
      <p:sp>
        <p:nvSpPr>
          <p:cNvPr id="10" name="Shape 8"/>
          <p:cNvSpPr/>
          <p:nvPr/>
        </p:nvSpPr>
        <p:spPr>
          <a:xfrm>
            <a:off x="566928" y="2011680"/>
            <a:ext cx="6428232" cy="7315"/>
          </a:xfrm>
          <a:prstGeom prst="rect">
            <a:avLst/>
          </a:prstGeom>
          <a:solidFill>
            <a:srgbClr val="D2D2D2"/>
          </a:solidFill>
          <a:ln/>
        </p:spPr>
      </p:sp>
      <p:sp>
        <p:nvSpPr>
          <p:cNvPr id="11" name="Text 9"/>
          <p:cNvSpPr/>
          <p:nvPr/>
        </p:nvSpPr>
        <p:spPr>
          <a:xfrm>
            <a:off x="566928" y="2121408"/>
            <a:ext cx="6428232" cy="896112"/>
          </a:xfrm>
          <a:prstGeom prst="rect">
            <a:avLst/>
          </a:prstGeom>
          <a:noFill/>
          <a:ln/>
        </p:spPr>
        <p:txBody>
          <a:bodyPr wrap="square" lIns="0" tIns="0" rIns="0" bIns="0" rtlCol="0" anchor="t"/>
          <a:lstStyle/>
          <a:p>
            <a:pPr algn="l" indent="0" marL="0">
              <a:lnSpc>
                <a:spcPct val="122000"/>
              </a:lnSpc>
              <a:buNone/>
            </a:pPr>
            <a:r>
              <a:rPr lang="en-US" sz="900" dirty="0">
                <a:solidFill>
                  <a:srgbClr val="1A1A1A"/>
                </a:solidFill>
                <a:latin typeface="Arial" pitchFamily="34" charset="0"/>
                <a:ea typeface="Arial" pitchFamily="34" charset="-122"/>
                <a:cs typeface="Arial" pitchFamily="34" charset="-120"/>
              </a:rPr>
              <a:t>Every mark is drawn on a 24 unit grid at 2 unit stroke, and every mark contains the datum at y=17. What differs is what happens to that datum, and what sits on it. A reader who learns the grammar once can interpret a mark they have never seen, which is the property a pictogram set can never have. Six marks form the pilot set: Framework, Governance, Evidence, Assessment, Product and Decision, the minimum spread across the four families. Doctrine and the other marks are drafted to prove the grammar extends, and join when authority arrangements and repository content warrant them.</a:t>
            </a:r>
            <a:endParaRPr lang="en-US" sz="900" dirty="0"/>
          </a:p>
        </p:txBody>
      </p:sp>
      <p:sp>
        <p:nvSpPr>
          <p:cNvPr id="12" name="Text 10"/>
          <p:cNvSpPr/>
          <p:nvPr/>
        </p:nvSpPr>
        <p:spPr>
          <a:xfrm>
            <a:off x="566928" y="312724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FOUR FAMILIES</a:t>
            </a:r>
            <a:endParaRPr lang="en-US" sz="740" dirty="0"/>
          </a:p>
        </p:txBody>
      </p:sp>
      <p:sp>
        <p:nvSpPr>
          <p:cNvPr id="13" name="Shape 11"/>
          <p:cNvSpPr/>
          <p:nvPr/>
        </p:nvSpPr>
        <p:spPr>
          <a:xfrm>
            <a:off x="566928" y="3310128"/>
            <a:ext cx="6428232" cy="7315"/>
          </a:xfrm>
          <a:prstGeom prst="rect">
            <a:avLst/>
          </a:prstGeom>
          <a:solidFill>
            <a:srgbClr val="D2D2D2"/>
          </a:solidFill>
          <a:ln/>
        </p:spPr>
      </p:sp>
      <p:sp>
        <p:nvSpPr>
          <p:cNvPr id="14" name="Shape 12"/>
          <p:cNvSpPr/>
          <p:nvPr/>
        </p:nvSpPr>
        <p:spPr>
          <a:xfrm>
            <a:off x="566928" y="3419856"/>
            <a:ext cx="1524762" cy="658368"/>
          </a:xfrm>
          <a:prstGeom prst="rect">
            <a:avLst/>
          </a:prstGeom>
          <a:solidFill>
            <a:srgbClr val="FFFFFF"/>
          </a:solidFill>
          <a:ln w="12700">
            <a:solidFill>
              <a:srgbClr val="D2D2D2"/>
            </a:solidFill>
            <a:prstDash val="solid"/>
          </a:ln>
        </p:spPr>
      </p:sp>
      <p:sp>
        <p:nvSpPr>
          <p:cNvPr id="15" name="Shape 13"/>
          <p:cNvSpPr/>
          <p:nvPr/>
        </p:nvSpPr>
        <p:spPr>
          <a:xfrm>
            <a:off x="566928" y="3419856"/>
            <a:ext cx="1524762" cy="36576"/>
          </a:xfrm>
          <a:prstGeom prst="rect">
            <a:avLst/>
          </a:prstGeom>
          <a:solidFill>
            <a:srgbClr val="000000"/>
          </a:solidFill>
          <a:ln/>
        </p:spPr>
      </p:sp>
      <p:sp>
        <p:nvSpPr>
          <p:cNvPr id="16" name="Text 14"/>
          <p:cNvSpPr/>
          <p:nvPr/>
        </p:nvSpPr>
        <p:spPr>
          <a:xfrm>
            <a:off x="676656" y="3493008"/>
            <a:ext cx="1305306" cy="164592"/>
          </a:xfrm>
          <a:prstGeom prst="rect">
            <a:avLst/>
          </a:prstGeom>
          <a:noFill/>
          <a:ln/>
        </p:spPr>
        <p:txBody>
          <a:bodyPr wrap="square" lIns="0" tIns="0" rIns="0" bIns="0" rtlCol="0" anchor="ctr"/>
          <a:lstStyle/>
          <a:p>
            <a:pPr algn="l" indent="0" marL="0">
              <a:buNone/>
            </a:pPr>
            <a:r>
              <a:rPr lang="en-US" sz="760" b="1" spc="120" kern="0" dirty="0">
                <a:solidFill>
                  <a:srgbClr val="1A1A1A"/>
                </a:solidFill>
                <a:latin typeface="Arial" pitchFamily="34" charset="0"/>
                <a:ea typeface="Arial" pitchFamily="34" charset="-122"/>
                <a:cs typeface="Arial" pitchFamily="34" charset="-120"/>
              </a:rPr>
              <a:t>STRUCTURE</a:t>
            </a:r>
            <a:endParaRPr lang="en-US" sz="760" dirty="0"/>
          </a:p>
        </p:txBody>
      </p:sp>
      <p:sp>
        <p:nvSpPr>
          <p:cNvPr id="17" name="Text 15"/>
          <p:cNvSpPr/>
          <p:nvPr/>
        </p:nvSpPr>
        <p:spPr>
          <a:xfrm>
            <a:off x="676656" y="3675888"/>
            <a:ext cx="1305306" cy="365760"/>
          </a:xfrm>
          <a:prstGeom prst="rect">
            <a:avLst/>
          </a:prstGeom>
          <a:noFill/>
          <a:ln/>
        </p:spPr>
        <p:txBody>
          <a:bodyPr wrap="square" lIns="0" tIns="0" rIns="0" bIns="0" rtlCol="0" anchor="t"/>
          <a:lstStyle/>
          <a:p>
            <a:pPr algn="l" indent="0" marL="0">
              <a:lnSpc>
                <a:spcPct val="122000"/>
              </a:lnSpc>
              <a:buNone/>
            </a:pPr>
            <a:r>
              <a:rPr lang="en-US" sz="720" dirty="0">
                <a:solidFill>
                  <a:srgbClr val="3E3E3E"/>
                </a:solidFill>
                <a:latin typeface="Arial" pitchFamily="34" charset="0"/>
                <a:ea typeface="Arial" pitchFamily="34" charset="-122"/>
                <a:cs typeface="Arial" pitchFamily="34" charset="-120"/>
              </a:rPr>
              <a:t>Content that carries authority. The datum is complete and unbroken.</a:t>
            </a:r>
            <a:endParaRPr lang="en-US" sz="720" dirty="0"/>
          </a:p>
        </p:txBody>
      </p:sp>
      <p:sp>
        <p:nvSpPr>
          <p:cNvPr id="18" name="Shape 16"/>
          <p:cNvSpPr/>
          <p:nvPr/>
        </p:nvSpPr>
        <p:spPr>
          <a:xfrm>
            <a:off x="2201418" y="3419856"/>
            <a:ext cx="1524762" cy="658368"/>
          </a:xfrm>
          <a:prstGeom prst="rect">
            <a:avLst/>
          </a:prstGeom>
          <a:solidFill>
            <a:srgbClr val="FFFFFF"/>
          </a:solidFill>
          <a:ln w="12700">
            <a:solidFill>
              <a:srgbClr val="D2D2D2"/>
            </a:solidFill>
            <a:prstDash val="solid"/>
          </a:ln>
        </p:spPr>
      </p:sp>
      <p:sp>
        <p:nvSpPr>
          <p:cNvPr id="19" name="Shape 17"/>
          <p:cNvSpPr/>
          <p:nvPr/>
        </p:nvSpPr>
        <p:spPr>
          <a:xfrm>
            <a:off x="2201418" y="3419856"/>
            <a:ext cx="1524762" cy="36576"/>
          </a:xfrm>
          <a:prstGeom prst="rect">
            <a:avLst/>
          </a:prstGeom>
          <a:solidFill>
            <a:srgbClr val="00261B"/>
          </a:solidFill>
          <a:ln/>
        </p:spPr>
      </p:sp>
      <p:sp>
        <p:nvSpPr>
          <p:cNvPr id="20" name="Text 18"/>
          <p:cNvSpPr/>
          <p:nvPr/>
        </p:nvSpPr>
        <p:spPr>
          <a:xfrm>
            <a:off x="2311146" y="3493008"/>
            <a:ext cx="1305306" cy="164592"/>
          </a:xfrm>
          <a:prstGeom prst="rect">
            <a:avLst/>
          </a:prstGeom>
          <a:noFill/>
          <a:ln/>
        </p:spPr>
        <p:txBody>
          <a:bodyPr wrap="square" lIns="0" tIns="0" rIns="0" bIns="0" rtlCol="0" anchor="ctr"/>
          <a:lstStyle/>
          <a:p>
            <a:pPr algn="l" indent="0" marL="0">
              <a:buNone/>
            </a:pPr>
            <a:r>
              <a:rPr lang="en-US" sz="760" b="1" spc="120" kern="0" dirty="0">
                <a:solidFill>
                  <a:srgbClr val="1A1A1A"/>
                </a:solidFill>
                <a:latin typeface="Arial" pitchFamily="34" charset="0"/>
                <a:ea typeface="Arial" pitchFamily="34" charset="-122"/>
                <a:cs typeface="Arial" pitchFamily="34" charset="-120"/>
              </a:rPr>
              <a:t>ANALYSIS</a:t>
            </a:r>
            <a:endParaRPr lang="en-US" sz="760" dirty="0"/>
          </a:p>
        </p:txBody>
      </p:sp>
      <p:sp>
        <p:nvSpPr>
          <p:cNvPr id="21" name="Text 19"/>
          <p:cNvSpPr/>
          <p:nvPr/>
        </p:nvSpPr>
        <p:spPr>
          <a:xfrm>
            <a:off x="2311146" y="3675888"/>
            <a:ext cx="1305306" cy="365760"/>
          </a:xfrm>
          <a:prstGeom prst="rect">
            <a:avLst/>
          </a:prstGeom>
          <a:noFill/>
          <a:ln/>
        </p:spPr>
        <p:txBody>
          <a:bodyPr wrap="square" lIns="0" tIns="0" rIns="0" bIns="0" rtlCol="0" anchor="t"/>
          <a:lstStyle/>
          <a:p>
            <a:pPr algn="l" indent="0" marL="0">
              <a:lnSpc>
                <a:spcPct val="122000"/>
              </a:lnSpc>
              <a:buNone/>
            </a:pPr>
            <a:r>
              <a:rPr lang="en-US" sz="720" dirty="0">
                <a:solidFill>
                  <a:srgbClr val="3E3E3E"/>
                </a:solidFill>
                <a:latin typeface="Arial" pitchFamily="34" charset="0"/>
                <a:ea typeface="Arial" pitchFamily="34" charset="-122"/>
                <a:cs typeface="Arial" pitchFamily="34" charset="-120"/>
              </a:rPr>
              <a:t>Content that examines. The datum carries measures, intervals or returns.</a:t>
            </a:r>
            <a:endParaRPr lang="en-US" sz="720" dirty="0"/>
          </a:p>
        </p:txBody>
      </p:sp>
      <p:sp>
        <p:nvSpPr>
          <p:cNvPr id="22" name="Shape 20"/>
          <p:cNvSpPr/>
          <p:nvPr/>
        </p:nvSpPr>
        <p:spPr>
          <a:xfrm>
            <a:off x="3835908" y="3419856"/>
            <a:ext cx="1524762" cy="658368"/>
          </a:xfrm>
          <a:prstGeom prst="rect">
            <a:avLst/>
          </a:prstGeom>
          <a:solidFill>
            <a:srgbClr val="FFFFFF"/>
          </a:solidFill>
          <a:ln w="12700">
            <a:solidFill>
              <a:srgbClr val="D2D2D2"/>
            </a:solidFill>
            <a:prstDash val="solid"/>
          </a:ln>
        </p:spPr>
      </p:sp>
      <p:sp>
        <p:nvSpPr>
          <p:cNvPr id="23" name="Shape 21"/>
          <p:cNvSpPr/>
          <p:nvPr/>
        </p:nvSpPr>
        <p:spPr>
          <a:xfrm>
            <a:off x="3835908" y="3419856"/>
            <a:ext cx="1524762" cy="36576"/>
          </a:xfrm>
          <a:prstGeom prst="rect">
            <a:avLst/>
          </a:prstGeom>
          <a:solidFill>
            <a:srgbClr val="444D06"/>
          </a:solidFill>
          <a:ln/>
        </p:spPr>
      </p:sp>
      <p:sp>
        <p:nvSpPr>
          <p:cNvPr id="24" name="Text 22"/>
          <p:cNvSpPr/>
          <p:nvPr/>
        </p:nvSpPr>
        <p:spPr>
          <a:xfrm>
            <a:off x="3945636" y="3493008"/>
            <a:ext cx="1305306" cy="164592"/>
          </a:xfrm>
          <a:prstGeom prst="rect">
            <a:avLst/>
          </a:prstGeom>
          <a:noFill/>
          <a:ln/>
        </p:spPr>
        <p:txBody>
          <a:bodyPr wrap="square" lIns="0" tIns="0" rIns="0" bIns="0" rtlCol="0" anchor="ctr"/>
          <a:lstStyle/>
          <a:p>
            <a:pPr algn="l" indent="0" marL="0">
              <a:buNone/>
            </a:pPr>
            <a:r>
              <a:rPr lang="en-US" sz="760" b="1" spc="120" kern="0" dirty="0">
                <a:solidFill>
                  <a:srgbClr val="1A1A1A"/>
                </a:solidFill>
                <a:latin typeface="Arial" pitchFamily="34" charset="0"/>
                <a:ea typeface="Arial" pitchFamily="34" charset="-122"/>
                <a:cs typeface="Arial" pitchFamily="34" charset="-120"/>
              </a:rPr>
              <a:t>DELIVERY</a:t>
            </a:r>
            <a:endParaRPr lang="en-US" sz="760" dirty="0"/>
          </a:p>
        </p:txBody>
      </p:sp>
      <p:sp>
        <p:nvSpPr>
          <p:cNvPr id="25" name="Text 23"/>
          <p:cNvSpPr/>
          <p:nvPr/>
        </p:nvSpPr>
        <p:spPr>
          <a:xfrm>
            <a:off x="3945636" y="3675888"/>
            <a:ext cx="1305306" cy="365760"/>
          </a:xfrm>
          <a:prstGeom prst="rect">
            <a:avLst/>
          </a:prstGeom>
          <a:noFill/>
          <a:ln/>
        </p:spPr>
        <p:txBody>
          <a:bodyPr wrap="square" lIns="0" tIns="0" rIns="0" bIns="0" rtlCol="0" anchor="t"/>
          <a:lstStyle/>
          <a:p>
            <a:pPr algn="l" indent="0" marL="0">
              <a:lnSpc>
                <a:spcPct val="122000"/>
              </a:lnSpc>
              <a:buNone/>
            </a:pPr>
            <a:r>
              <a:rPr lang="en-US" sz="720" dirty="0">
                <a:solidFill>
                  <a:srgbClr val="3E3E3E"/>
                </a:solidFill>
                <a:latin typeface="Arial" pitchFamily="34" charset="0"/>
                <a:ea typeface="Arial" pitchFamily="34" charset="-122"/>
                <a:cs typeface="Arial" pitchFamily="34" charset="-120"/>
              </a:rPr>
              <a:t>Content that is used. Discrete objects sit on the datum.</a:t>
            </a:r>
            <a:endParaRPr lang="en-US" sz="720" dirty="0"/>
          </a:p>
        </p:txBody>
      </p:sp>
      <p:sp>
        <p:nvSpPr>
          <p:cNvPr id="26" name="Shape 24"/>
          <p:cNvSpPr/>
          <p:nvPr/>
        </p:nvSpPr>
        <p:spPr>
          <a:xfrm>
            <a:off x="5470398" y="3419856"/>
            <a:ext cx="1524762" cy="658368"/>
          </a:xfrm>
          <a:prstGeom prst="rect">
            <a:avLst/>
          </a:prstGeom>
          <a:solidFill>
            <a:srgbClr val="FFFFFF"/>
          </a:solidFill>
          <a:ln w="12700">
            <a:solidFill>
              <a:srgbClr val="D2D2D2"/>
            </a:solidFill>
            <a:prstDash val="solid"/>
          </a:ln>
        </p:spPr>
      </p:sp>
      <p:sp>
        <p:nvSpPr>
          <p:cNvPr id="27" name="Shape 25"/>
          <p:cNvSpPr/>
          <p:nvPr/>
        </p:nvSpPr>
        <p:spPr>
          <a:xfrm>
            <a:off x="5470398" y="3419856"/>
            <a:ext cx="1524762" cy="36576"/>
          </a:xfrm>
          <a:prstGeom prst="rect">
            <a:avLst/>
          </a:prstGeom>
          <a:solidFill>
            <a:srgbClr val="D31145"/>
          </a:solidFill>
          <a:ln/>
        </p:spPr>
      </p:sp>
      <p:sp>
        <p:nvSpPr>
          <p:cNvPr id="28" name="Text 26"/>
          <p:cNvSpPr/>
          <p:nvPr/>
        </p:nvSpPr>
        <p:spPr>
          <a:xfrm>
            <a:off x="5580126" y="3493008"/>
            <a:ext cx="1305306" cy="164592"/>
          </a:xfrm>
          <a:prstGeom prst="rect">
            <a:avLst/>
          </a:prstGeom>
          <a:noFill/>
          <a:ln/>
        </p:spPr>
        <p:txBody>
          <a:bodyPr wrap="square" lIns="0" tIns="0" rIns="0" bIns="0" rtlCol="0" anchor="ctr"/>
          <a:lstStyle/>
          <a:p>
            <a:pPr algn="l" indent="0" marL="0">
              <a:buNone/>
            </a:pPr>
            <a:r>
              <a:rPr lang="en-US" sz="760" b="1" spc="120" kern="0" dirty="0">
                <a:solidFill>
                  <a:srgbClr val="1A1A1A"/>
                </a:solidFill>
                <a:latin typeface="Arial" pitchFamily="34" charset="0"/>
                <a:ea typeface="Arial" pitchFamily="34" charset="-122"/>
                <a:cs typeface="Arial" pitchFamily="34" charset="-120"/>
              </a:rPr>
              <a:t>ACTION</a:t>
            </a:r>
            <a:endParaRPr lang="en-US" sz="760" dirty="0"/>
          </a:p>
        </p:txBody>
      </p:sp>
      <p:sp>
        <p:nvSpPr>
          <p:cNvPr id="29" name="Text 27"/>
          <p:cNvSpPr/>
          <p:nvPr/>
        </p:nvSpPr>
        <p:spPr>
          <a:xfrm>
            <a:off x="5580126" y="3675888"/>
            <a:ext cx="1305306" cy="365760"/>
          </a:xfrm>
          <a:prstGeom prst="rect">
            <a:avLst/>
          </a:prstGeom>
          <a:noFill/>
          <a:ln/>
        </p:spPr>
        <p:txBody>
          <a:bodyPr wrap="square" lIns="0" tIns="0" rIns="0" bIns="0" rtlCol="0" anchor="t"/>
          <a:lstStyle/>
          <a:p>
            <a:pPr algn="l" indent="0" marL="0">
              <a:lnSpc>
                <a:spcPct val="122000"/>
              </a:lnSpc>
              <a:buNone/>
            </a:pPr>
            <a:r>
              <a:rPr lang="en-US" sz="720" dirty="0">
                <a:solidFill>
                  <a:srgbClr val="3E3E3E"/>
                </a:solidFill>
                <a:latin typeface="Arial" pitchFamily="34" charset="0"/>
                <a:ea typeface="Arial" pitchFamily="34" charset="-122"/>
                <a:cs typeface="Arial" pitchFamily="34" charset="-120"/>
              </a:rPr>
              <a:t>Content that requires a person to do something. The datum is left or broken.</a:t>
            </a:r>
            <a:endParaRPr lang="en-US" sz="720" dirty="0"/>
          </a:p>
        </p:txBody>
      </p:sp>
      <p:sp>
        <p:nvSpPr>
          <p:cNvPr id="30" name="Text 28"/>
          <p:cNvSpPr/>
          <p:nvPr/>
        </p:nvSpPr>
        <p:spPr>
          <a:xfrm>
            <a:off x="566928" y="4206240"/>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TWELVE MARKS</a:t>
            </a:r>
            <a:endParaRPr lang="en-US" sz="740" dirty="0"/>
          </a:p>
        </p:txBody>
      </p:sp>
      <p:sp>
        <p:nvSpPr>
          <p:cNvPr id="31" name="Shape 29"/>
          <p:cNvSpPr/>
          <p:nvPr/>
        </p:nvSpPr>
        <p:spPr>
          <a:xfrm>
            <a:off x="566928" y="4389120"/>
            <a:ext cx="6428232" cy="7315"/>
          </a:xfrm>
          <a:prstGeom prst="rect">
            <a:avLst/>
          </a:prstGeom>
          <a:solidFill>
            <a:srgbClr val="D2D2D2"/>
          </a:solidFill>
          <a:ln/>
        </p:spPr>
      </p:sp>
      <p:sp>
        <p:nvSpPr>
          <p:cNvPr id="32" name="Shape 30"/>
          <p:cNvSpPr/>
          <p:nvPr/>
        </p:nvSpPr>
        <p:spPr>
          <a:xfrm>
            <a:off x="566928" y="4498848"/>
            <a:ext cx="1511046" cy="1207008"/>
          </a:xfrm>
          <a:prstGeom prst="rect">
            <a:avLst/>
          </a:prstGeom>
          <a:solidFill>
            <a:srgbClr val="FFFFFF"/>
          </a:solidFill>
          <a:ln w="12700">
            <a:solidFill>
              <a:srgbClr val="D2D2D2"/>
            </a:solidFill>
            <a:prstDash val="solid"/>
          </a:ln>
        </p:spPr>
      </p:sp>
      <p:pic>
        <p:nvPicPr>
          <p:cNvPr id="33" name="Image 0" descr="preencoded.png">    </p:cNvPr>
          <p:cNvPicPr>
            <a:picLocks noChangeAspect="1"/>
          </p:cNvPicPr>
          <p:nvPr/>
        </p:nvPicPr>
        <p:blipFill>
          <a:blip r:embed="rId1"/>
          <a:stretch>
            <a:fillRect/>
          </a:stretch>
        </p:blipFill>
        <p:spPr>
          <a:xfrm>
            <a:off x="694944" y="4626864"/>
            <a:ext cx="402336" cy="402336"/>
          </a:xfrm>
          <a:prstGeom prst="rect">
            <a:avLst/>
          </a:prstGeom>
        </p:spPr>
      </p:pic>
      <p:sp>
        <p:nvSpPr>
          <p:cNvPr id="34" name="Text 31"/>
          <p:cNvSpPr/>
          <p:nvPr/>
        </p:nvSpPr>
        <p:spPr>
          <a:xfrm>
            <a:off x="1170432" y="4645152"/>
            <a:ext cx="816102" cy="182880"/>
          </a:xfrm>
          <a:prstGeom prst="rect">
            <a:avLst/>
          </a:prstGeom>
          <a:noFill/>
          <a:ln/>
        </p:spPr>
        <p:txBody>
          <a:bodyPr wrap="square" lIns="0" tIns="0" rIns="0" bIns="0" rtlCol="0" anchor="ctr"/>
          <a:lstStyle/>
          <a:p>
            <a:pPr algn="l" indent="0" marL="0">
              <a:buNone/>
            </a:pPr>
            <a:r>
              <a:rPr lang="en-US" sz="800" b="1" spc="60" kern="0" dirty="0">
                <a:solidFill>
                  <a:srgbClr val="1A1A1A"/>
                </a:solidFill>
                <a:latin typeface="Arial" pitchFamily="34" charset="0"/>
                <a:ea typeface="Arial" pitchFamily="34" charset="-122"/>
                <a:cs typeface="Arial" pitchFamily="34" charset="-120"/>
              </a:rPr>
              <a:t>FRAMEWORK</a:t>
            </a:r>
            <a:endParaRPr lang="en-US" sz="800" dirty="0"/>
          </a:p>
        </p:txBody>
      </p:sp>
      <p:sp>
        <p:nvSpPr>
          <p:cNvPr id="35" name="Text 32"/>
          <p:cNvSpPr/>
          <p:nvPr/>
        </p:nvSpPr>
        <p:spPr>
          <a:xfrm>
            <a:off x="1529334" y="4572000"/>
            <a:ext cx="475488" cy="128016"/>
          </a:xfrm>
          <a:prstGeom prst="rect">
            <a:avLst/>
          </a:prstGeom>
          <a:noFill/>
          <a:ln/>
        </p:spPr>
        <p:txBody>
          <a:bodyPr wrap="square" lIns="0" tIns="0" rIns="0" bIns="0" rtlCol="0" anchor="ctr"/>
          <a:lstStyle/>
          <a:p>
            <a:pPr algn="r" indent="0" marL="0">
              <a:buNone/>
            </a:pPr>
            <a:r>
              <a:rPr lang="en-US" sz="560" b="1" spc="100" kern="0" dirty="0">
                <a:solidFill>
                  <a:srgbClr val="6E6E6E"/>
                </a:solidFill>
                <a:latin typeface="Arial" pitchFamily="34" charset="0"/>
                <a:ea typeface="Arial" pitchFamily="34" charset="-122"/>
                <a:cs typeface="Arial" pitchFamily="34" charset="-120"/>
              </a:rPr>
              <a:t>PILOT</a:t>
            </a:r>
            <a:endParaRPr lang="en-US" sz="560" dirty="0"/>
          </a:p>
        </p:txBody>
      </p:sp>
      <p:sp>
        <p:nvSpPr>
          <p:cNvPr id="36" name="Text 33"/>
          <p:cNvSpPr/>
          <p:nvPr/>
        </p:nvSpPr>
        <p:spPr>
          <a:xfrm>
            <a:off x="1170432" y="4818888"/>
            <a:ext cx="816102" cy="146304"/>
          </a:xfrm>
          <a:prstGeom prst="rect">
            <a:avLst/>
          </a:prstGeom>
          <a:noFill/>
          <a:ln/>
        </p:spPr>
        <p:txBody>
          <a:bodyPr wrap="square" lIns="0" tIns="0" rIns="0" bIns="0" rtlCol="0" anchor="ctr"/>
          <a:lstStyle/>
          <a:p>
            <a:pPr algn="l" indent="0" marL="0">
              <a:buNone/>
            </a:pPr>
            <a:r>
              <a:rPr lang="en-US" sz="600" spc="100" kern="0" dirty="0">
                <a:solidFill>
                  <a:srgbClr val="000000"/>
                </a:solidFill>
                <a:latin typeface="Arial" pitchFamily="34" charset="0"/>
                <a:ea typeface="Arial" pitchFamily="34" charset="-122"/>
                <a:cs typeface="Arial" pitchFamily="34" charset="-120"/>
              </a:rPr>
              <a:t>STRUCTURE</a:t>
            </a:r>
            <a:endParaRPr lang="en-US" sz="600" dirty="0"/>
          </a:p>
        </p:txBody>
      </p:sp>
      <p:sp>
        <p:nvSpPr>
          <p:cNvPr id="37" name="Text 34"/>
          <p:cNvSpPr/>
          <p:nvPr/>
        </p:nvSpPr>
        <p:spPr>
          <a:xfrm>
            <a:off x="694944" y="5102352"/>
            <a:ext cx="1255014" cy="548640"/>
          </a:xfrm>
          <a:prstGeom prst="rect">
            <a:avLst/>
          </a:prstGeom>
          <a:noFill/>
          <a:ln/>
        </p:spPr>
        <p:txBody>
          <a:bodyPr wrap="square" lIns="0" tIns="0" rIns="0" bIns="0" rtlCol="0" anchor="t"/>
          <a:lstStyle/>
          <a:p>
            <a:pPr algn="l" indent="0" marL="0">
              <a:lnSpc>
                <a:spcPct val="122000"/>
              </a:lnSpc>
              <a:buNone/>
            </a:pPr>
            <a:r>
              <a:rPr lang="en-US" sz="690" dirty="0">
                <a:solidFill>
                  <a:srgbClr val="3E3E3E"/>
                </a:solidFill>
                <a:latin typeface="Arial" pitchFamily="34" charset="0"/>
                <a:ea typeface="Arial" pitchFamily="34" charset="-122"/>
                <a:cs typeface="Arial" pitchFamily="34" charset="-120"/>
              </a:rPr>
              <a:t>The governing architecture. Used once, at the top of a hierarchy.</a:t>
            </a:r>
            <a:endParaRPr lang="en-US" sz="690" dirty="0"/>
          </a:p>
        </p:txBody>
      </p:sp>
      <p:sp>
        <p:nvSpPr>
          <p:cNvPr id="38" name="Shape 35"/>
          <p:cNvSpPr/>
          <p:nvPr/>
        </p:nvSpPr>
        <p:spPr>
          <a:xfrm>
            <a:off x="2205990" y="4498848"/>
            <a:ext cx="1511046" cy="1207008"/>
          </a:xfrm>
          <a:prstGeom prst="rect">
            <a:avLst/>
          </a:prstGeom>
          <a:solidFill>
            <a:srgbClr val="FFFFFF"/>
          </a:solidFill>
          <a:ln w="12700">
            <a:solidFill>
              <a:srgbClr val="D2D2D2"/>
            </a:solidFill>
            <a:prstDash val="solid"/>
          </a:ln>
        </p:spPr>
      </p:sp>
      <p:pic>
        <p:nvPicPr>
          <p:cNvPr id="39" name="Image 1" descr="preencoded.png">    </p:cNvPr>
          <p:cNvPicPr>
            <a:picLocks noChangeAspect="1"/>
          </p:cNvPicPr>
          <p:nvPr/>
        </p:nvPicPr>
        <p:blipFill>
          <a:blip r:embed="rId2"/>
          <a:stretch>
            <a:fillRect/>
          </a:stretch>
        </p:blipFill>
        <p:spPr>
          <a:xfrm>
            <a:off x="2334006" y="4626864"/>
            <a:ext cx="402336" cy="402336"/>
          </a:xfrm>
          <a:prstGeom prst="rect">
            <a:avLst/>
          </a:prstGeom>
        </p:spPr>
      </p:pic>
      <p:sp>
        <p:nvSpPr>
          <p:cNvPr id="40" name="Text 36"/>
          <p:cNvSpPr/>
          <p:nvPr/>
        </p:nvSpPr>
        <p:spPr>
          <a:xfrm>
            <a:off x="2809494" y="4645152"/>
            <a:ext cx="816102" cy="182880"/>
          </a:xfrm>
          <a:prstGeom prst="rect">
            <a:avLst/>
          </a:prstGeom>
          <a:noFill/>
          <a:ln/>
        </p:spPr>
        <p:txBody>
          <a:bodyPr wrap="square" lIns="0" tIns="0" rIns="0" bIns="0" rtlCol="0" anchor="ctr"/>
          <a:lstStyle/>
          <a:p>
            <a:pPr algn="l" indent="0" marL="0">
              <a:buNone/>
            </a:pPr>
            <a:r>
              <a:rPr lang="en-US" sz="800" b="1" spc="60" kern="0" dirty="0">
                <a:solidFill>
                  <a:srgbClr val="1A1A1A"/>
                </a:solidFill>
                <a:latin typeface="Arial" pitchFamily="34" charset="0"/>
                <a:ea typeface="Arial" pitchFamily="34" charset="-122"/>
                <a:cs typeface="Arial" pitchFamily="34" charset="-120"/>
              </a:rPr>
              <a:t>DOCTRINE</a:t>
            </a:r>
            <a:endParaRPr lang="en-US" sz="800" dirty="0"/>
          </a:p>
        </p:txBody>
      </p:sp>
      <p:sp>
        <p:nvSpPr>
          <p:cNvPr id="41" name="Text 37"/>
          <p:cNvSpPr/>
          <p:nvPr/>
        </p:nvSpPr>
        <p:spPr>
          <a:xfrm>
            <a:off x="2809494" y="4818888"/>
            <a:ext cx="816102" cy="146304"/>
          </a:xfrm>
          <a:prstGeom prst="rect">
            <a:avLst/>
          </a:prstGeom>
          <a:noFill/>
          <a:ln/>
        </p:spPr>
        <p:txBody>
          <a:bodyPr wrap="square" lIns="0" tIns="0" rIns="0" bIns="0" rtlCol="0" anchor="ctr"/>
          <a:lstStyle/>
          <a:p>
            <a:pPr algn="l" indent="0" marL="0">
              <a:buNone/>
            </a:pPr>
            <a:r>
              <a:rPr lang="en-US" sz="600" spc="100" kern="0" dirty="0">
                <a:solidFill>
                  <a:srgbClr val="000000"/>
                </a:solidFill>
                <a:latin typeface="Arial" pitchFamily="34" charset="0"/>
                <a:ea typeface="Arial" pitchFamily="34" charset="-122"/>
                <a:cs typeface="Arial" pitchFamily="34" charset="-120"/>
              </a:rPr>
              <a:t>STRUCTURE</a:t>
            </a:r>
            <a:endParaRPr lang="en-US" sz="600" dirty="0"/>
          </a:p>
        </p:txBody>
      </p:sp>
      <p:sp>
        <p:nvSpPr>
          <p:cNvPr id="42" name="Text 38"/>
          <p:cNvSpPr/>
          <p:nvPr/>
        </p:nvSpPr>
        <p:spPr>
          <a:xfrm>
            <a:off x="2334006" y="5102352"/>
            <a:ext cx="1255014" cy="548640"/>
          </a:xfrm>
          <a:prstGeom prst="rect">
            <a:avLst/>
          </a:prstGeom>
          <a:noFill/>
          <a:ln/>
        </p:spPr>
        <p:txBody>
          <a:bodyPr wrap="square" lIns="0" tIns="0" rIns="0" bIns="0" rtlCol="0" anchor="t"/>
          <a:lstStyle/>
          <a:p>
            <a:pPr algn="l" indent="0" marL="0">
              <a:lnSpc>
                <a:spcPct val="122000"/>
              </a:lnSpc>
              <a:buNone/>
            </a:pPr>
            <a:r>
              <a:rPr lang="en-US" sz="690" dirty="0">
                <a:solidFill>
                  <a:srgbClr val="3E3E3E"/>
                </a:solidFill>
                <a:latin typeface="Arial" pitchFamily="34" charset="0"/>
                <a:ea typeface="Arial" pitchFamily="34" charset="-122"/>
                <a:cs typeface="Arial" pitchFamily="34" charset="-120"/>
              </a:rPr>
              <a:t>The solid bar: endorsed institutional guidance rather than open inquiry.</a:t>
            </a:r>
            <a:endParaRPr lang="en-US" sz="690" dirty="0"/>
          </a:p>
        </p:txBody>
      </p:sp>
      <p:sp>
        <p:nvSpPr>
          <p:cNvPr id="43" name="Shape 39"/>
          <p:cNvSpPr/>
          <p:nvPr/>
        </p:nvSpPr>
        <p:spPr>
          <a:xfrm>
            <a:off x="3845052" y="4498848"/>
            <a:ext cx="1511046" cy="1207008"/>
          </a:xfrm>
          <a:prstGeom prst="rect">
            <a:avLst/>
          </a:prstGeom>
          <a:solidFill>
            <a:srgbClr val="FFFFFF"/>
          </a:solidFill>
          <a:ln w="12700">
            <a:solidFill>
              <a:srgbClr val="D2D2D2"/>
            </a:solidFill>
            <a:prstDash val="solid"/>
          </a:ln>
        </p:spPr>
      </p:sp>
      <p:pic>
        <p:nvPicPr>
          <p:cNvPr id="44" name="Image 2" descr="preencoded.png">    </p:cNvPr>
          <p:cNvPicPr>
            <a:picLocks noChangeAspect="1"/>
          </p:cNvPicPr>
          <p:nvPr/>
        </p:nvPicPr>
        <p:blipFill>
          <a:blip r:embed="rId3"/>
          <a:stretch>
            <a:fillRect/>
          </a:stretch>
        </p:blipFill>
        <p:spPr>
          <a:xfrm>
            <a:off x="3973068" y="4626864"/>
            <a:ext cx="402336" cy="402336"/>
          </a:xfrm>
          <a:prstGeom prst="rect">
            <a:avLst/>
          </a:prstGeom>
        </p:spPr>
      </p:pic>
      <p:sp>
        <p:nvSpPr>
          <p:cNvPr id="45" name="Text 40"/>
          <p:cNvSpPr/>
          <p:nvPr/>
        </p:nvSpPr>
        <p:spPr>
          <a:xfrm>
            <a:off x="4448556" y="4645152"/>
            <a:ext cx="816102" cy="182880"/>
          </a:xfrm>
          <a:prstGeom prst="rect">
            <a:avLst/>
          </a:prstGeom>
          <a:noFill/>
          <a:ln/>
        </p:spPr>
        <p:txBody>
          <a:bodyPr wrap="square" lIns="0" tIns="0" rIns="0" bIns="0" rtlCol="0" anchor="ctr"/>
          <a:lstStyle/>
          <a:p>
            <a:pPr algn="l" indent="0" marL="0">
              <a:buNone/>
            </a:pPr>
            <a:r>
              <a:rPr lang="en-US" sz="800" b="1" spc="60" kern="0" dirty="0">
                <a:solidFill>
                  <a:srgbClr val="1A1A1A"/>
                </a:solidFill>
                <a:latin typeface="Arial" pitchFamily="34" charset="0"/>
                <a:ea typeface="Arial" pitchFamily="34" charset="-122"/>
                <a:cs typeface="Arial" pitchFamily="34" charset="-120"/>
              </a:rPr>
              <a:t>POLICY</a:t>
            </a:r>
            <a:endParaRPr lang="en-US" sz="800" dirty="0"/>
          </a:p>
        </p:txBody>
      </p:sp>
      <p:sp>
        <p:nvSpPr>
          <p:cNvPr id="46" name="Text 41"/>
          <p:cNvSpPr/>
          <p:nvPr/>
        </p:nvSpPr>
        <p:spPr>
          <a:xfrm>
            <a:off x="4448556" y="4818888"/>
            <a:ext cx="816102" cy="146304"/>
          </a:xfrm>
          <a:prstGeom prst="rect">
            <a:avLst/>
          </a:prstGeom>
          <a:noFill/>
          <a:ln/>
        </p:spPr>
        <p:txBody>
          <a:bodyPr wrap="square" lIns="0" tIns="0" rIns="0" bIns="0" rtlCol="0" anchor="ctr"/>
          <a:lstStyle/>
          <a:p>
            <a:pPr algn="l" indent="0" marL="0">
              <a:buNone/>
            </a:pPr>
            <a:r>
              <a:rPr lang="en-US" sz="600" spc="100" kern="0" dirty="0">
                <a:solidFill>
                  <a:srgbClr val="000000"/>
                </a:solidFill>
                <a:latin typeface="Arial" pitchFamily="34" charset="0"/>
                <a:ea typeface="Arial" pitchFamily="34" charset="-122"/>
                <a:cs typeface="Arial" pitchFamily="34" charset="-120"/>
              </a:rPr>
              <a:t>STRUCTURE</a:t>
            </a:r>
            <a:endParaRPr lang="en-US" sz="600" dirty="0"/>
          </a:p>
        </p:txBody>
      </p:sp>
      <p:sp>
        <p:nvSpPr>
          <p:cNvPr id="47" name="Text 42"/>
          <p:cNvSpPr/>
          <p:nvPr/>
        </p:nvSpPr>
        <p:spPr>
          <a:xfrm>
            <a:off x="3973068" y="5102352"/>
            <a:ext cx="1255014" cy="548640"/>
          </a:xfrm>
          <a:prstGeom prst="rect">
            <a:avLst/>
          </a:prstGeom>
          <a:noFill/>
          <a:ln/>
        </p:spPr>
        <p:txBody>
          <a:bodyPr wrap="square" lIns="0" tIns="0" rIns="0" bIns="0" rtlCol="0" anchor="t"/>
          <a:lstStyle/>
          <a:p>
            <a:pPr algn="l" indent="0" marL="0">
              <a:lnSpc>
                <a:spcPct val="122000"/>
              </a:lnSpc>
              <a:buNone/>
            </a:pPr>
            <a:r>
              <a:rPr lang="en-US" sz="690" dirty="0">
                <a:solidFill>
                  <a:srgbClr val="3E3E3E"/>
                </a:solidFill>
                <a:latin typeface="Arial" pitchFamily="34" charset="0"/>
                <a:ea typeface="Arial" pitchFamily="34" charset="-122"/>
                <a:cs typeface="Arial" pitchFamily="34" charset="-120"/>
              </a:rPr>
              <a:t>Bounded above and below: the convention for rules that carry limits.</a:t>
            </a:r>
            <a:endParaRPr lang="en-US" sz="690" dirty="0"/>
          </a:p>
        </p:txBody>
      </p:sp>
      <p:sp>
        <p:nvSpPr>
          <p:cNvPr id="48" name="Shape 43"/>
          <p:cNvSpPr/>
          <p:nvPr/>
        </p:nvSpPr>
        <p:spPr>
          <a:xfrm>
            <a:off x="5484114" y="4498848"/>
            <a:ext cx="1511046" cy="1207008"/>
          </a:xfrm>
          <a:prstGeom prst="rect">
            <a:avLst/>
          </a:prstGeom>
          <a:solidFill>
            <a:srgbClr val="FFFFFF"/>
          </a:solidFill>
          <a:ln w="12700">
            <a:solidFill>
              <a:srgbClr val="D2D2D2"/>
            </a:solidFill>
            <a:prstDash val="solid"/>
          </a:ln>
        </p:spPr>
      </p:sp>
      <p:pic>
        <p:nvPicPr>
          <p:cNvPr id="49" name="Image 3" descr="preencoded.png">    </p:cNvPr>
          <p:cNvPicPr>
            <a:picLocks noChangeAspect="1"/>
          </p:cNvPicPr>
          <p:nvPr/>
        </p:nvPicPr>
        <p:blipFill>
          <a:blip r:embed="rId4"/>
          <a:stretch>
            <a:fillRect/>
          </a:stretch>
        </p:blipFill>
        <p:spPr>
          <a:xfrm>
            <a:off x="5612130" y="4626864"/>
            <a:ext cx="402336" cy="402336"/>
          </a:xfrm>
          <a:prstGeom prst="rect">
            <a:avLst/>
          </a:prstGeom>
        </p:spPr>
      </p:pic>
      <p:sp>
        <p:nvSpPr>
          <p:cNvPr id="50" name="Text 44"/>
          <p:cNvSpPr/>
          <p:nvPr/>
        </p:nvSpPr>
        <p:spPr>
          <a:xfrm>
            <a:off x="6087618" y="4645152"/>
            <a:ext cx="816102" cy="182880"/>
          </a:xfrm>
          <a:prstGeom prst="rect">
            <a:avLst/>
          </a:prstGeom>
          <a:noFill/>
          <a:ln/>
        </p:spPr>
        <p:txBody>
          <a:bodyPr wrap="square" lIns="0" tIns="0" rIns="0" bIns="0" rtlCol="0" anchor="ctr"/>
          <a:lstStyle/>
          <a:p>
            <a:pPr algn="l" indent="0" marL="0">
              <a:buNone/>
            </a:pPr>
            <a:r>
              <a:rPr lang="en-US" sz="800" b="1" spc="60" kern="0" dirty="0">
                <a:solidFill>
                  <a:srgbClr val="1A1A1A"/>
                </a:solidFill>
                <a:latin typeface="Arial" pitchFamily="34" charset="0"/>
                <a:ea typeface="Arial" pitchFamily="34" charset="-122"/>
                <a:cs typeface="Arial" pitchFamily="34" charset="-120"/>
              </a:rPr>
              <a:t>GOVERNANCE</a:t>
            </a:r>
            <a:endParaRPr lang="en-US" sz="800" dirty="0"/>
          </a:p>
        </p:txBody>
      </p:sp>
      <p:sp>
        <p:nvSpPr>
          <p:cNvPr id="51" name="Text 45"/>
          <p:cNvSpPr/>
          <p:nvPr/>
        </p:nvSpPr>
        <p:spPr>
          <a:xfrm>
            <a:off x="6446520" y="4572000"/>
            <a:ext cx="475488" cy="128016"/>
          </a:xfrm>
          <a:prstGeom prst="rect">
            <a:avLst/>
          </a:prstGeom>
          <a:noFill/>
          <a:ln/>
        </p:spPr>
        <p:txBody>
          <a:bodyPr wrap="square" lIns="0" tIns="0" rIns="0" bIns="0" rtlCol="0" anchor="ctr"/>
          <a:lstStyle/>
          <a:p>
            <a:pPr algn="r" indent="0" marL="0">
              <a:buNone/>
            </a:pPr>
            <a:r>
              <a:rPr lang="en-US" sz="560" b="1" spc="100" kern="0" dirty="0">
                <a:solidFill>
                  <a:srgbClr val="6E6E6E"/>
                </a:solidFill>
                <a:latin typeface="Arial" pitchFamily="34" charset="0"/>
                <a:ea typeface="Arial" pitchFamily="34" charset="-122"/>
                <a:cs typeface="Arial" pitchFamily="34" charset="-120"/>
              </a:rPr>
              <a:t>PILOT</a:t>
            </a:r>
            <a:endParaRPr lang="en-US" sz="560" dirty="0"/>
          </a:p>
        </p:txBody>
      </p:sp>
      <p:sp>
        <p:nvSpPr>
          <p:cNvPr id="52" name="Text 46"/>
          <p:cNvSpPr/>
          <p:nvPr/>
        </p:nvSpPr>
        <p:spPr>
          <a:xfrm>
            <a:off x="6087618" y="4818888"/>
            <a:ext cx="816102" cy="146304"/>
          </a:xfrm>
          <a:prstGeom prst="rect">
            <a:avLst/>
          </a:prstGeom>
          <a:noFill/>
          <a:ln/>
        </p:spPr>
        <p:txBody>
          <a:bodyPr wrap="square" lIns="0" tIns="0" rIns="0" bIns="0" rtlCol="0" anchor="ctr"/>
          <a:lstStyle/>
          <a:p>
            <a:pPr algn="l" indent="0" marL="0">
              <a:buNone/>
            </a:pPr>
            <a:r>
              <a:rPr lang="en-US" sz="600" spc="100" kern="0" dirty="0">
                <a:solidFill>
                  <a:srgbClr val="000000"/>
                </a:solidFill>
                <a:latin typeface="Arial" pitchFamily="34" charset="0"/>
                <a:ea typeface="Arial" pitchFamily="34" charset="-122"/>
                <a:cs typeface="Arial" pitchFamily="34" charset="-120"/>
              </a:rPr>
              <a:t>STRUCTURE</a:t>
            </a:r>
            <a:endParaRPr lang="en-US" sz="600" dirty="0"/>
          </a:p>
        </p:txBody>
      </p:sp>
      <p:sp>
        <p:nvSpPr>
          <p:cNvPr id="53" name="Text 47"/>
          <p:cNvSpPr/>
          <p:nvPr/>
        </p:nvSpPr>
        <p:spPr>
          <a:xfrm>
            <a:off x="5612130" y="5102352"/>
            <a:ext cx="1255014" cy="548640"/>
          </a:xfrm>
          <a:prstGeom prst="rect">
            <a:avLst/>
          </a:prstGeom>
          <a:noFill/>
          <a:ln/>
        </p:spPr>
        <p:txBody>
          <a:bodyPr wrap="square" lIns="0" tIns="0" rIns="0" bIns="0" rtlCol="0" anchor="t"/>
          <a:lstStyle/>
          <a:p>
            <a:pPr algn="l" indent="0" marL="0">
              <a:lnSpc>
                <a:spcPct val="122000"/>
              </a:lnSpc>
              <a:buNone/>
            </a:pPr>
            <a:r>
              <a:rPr lang="en-US" sz="690" dirty="0">
                <a:solidFill>
                  <a:srgbClr val="3E3E3E"/>
                </a:solidFill>
                <a:latin typeface="Arial" pitchFamily="34" charset="0"/>
                <a:ea typeface="Arial" pitchFamily="34" charset="-122"/>
                <a:cs typeface="Arial" pitchFamily="34" charset="-120"/>
              </a:rPr>
              <a:t>Brackets on both sides. Something is being held, not merely described.</a:t>
            </a:r>
            <a:endParaRPr lang="en-US" sz="690" dirty="0"/>
          </a:p>
        </p:txBody>
      </p:sp>
      <p:sp>
        <p:nvSpPr>
          <p:cNvPr id="54" name="Shape 48"/>
          <p:cNvSpPr/>
          <p:nvPr/>
        </p:nvSpPr>
        <p:spPr>
          <a:xfrm>
            <a:off x="566928" y="5833872"/>
            <a:ext cx="1511046" cy="1207008"/>
          </a:xfrm>
          <a:prstGeom prst="rect">
            <a:avLst/>
          </a:prstGeom>
          <a:solidFill>
            <a:srgbClr val="FFFFFF"/>
          </a:solidFill>
          <a:ln w="12700">
            <a:solidFill>
              <a:srgbClr val="D2D2D2"/>
            </a:solidFill>
            <a:prstDash val="solid"/>
          </a:ln>
        </p:spPr>
      </p:sp>
      <p:pic>
        <p:nvPicPr>
          <p:cNvPr id="55" name="Image 4" descr="preencoded.png">    </p:cNvPr>
          <p:cNvPicPr>
            <a:picLocks noChangeAspect="1"/>
          </p:cNvPicPr>
          <p:nvPr/>
        </p:nvPicPr>
        <p:blipFill>
          <a:blip r:embed="rId5"/>
          <a:stretch>
            <a:fillRect/>
          </a:stretch>
        </p:blipFill>
        <p:spPr>
          <a:xfrm>
            <a:off x="694944" y="5961888"/>
            <a:ext cx="402336" cy="402336"/>
          </a:xfrm>
          <a:prstGeom prst="rect">
            <a:avLst/>
          </a:prstGeom>
        </p:spPr>
      </p:pic>
      <p:sp>
        <p:nvSpPr>
          <p:cNvPr id="56" name="Text 49"/>
          <p:cNvSpPr/>
          <p:nvPr/>
        </p:nvSpPr>
        <p:spPr>
          <a:xfrm>
            <a:off x="1170432" y="5980176"/>
            <a:ext cx="816102" cy="182880"/>
          </a:xfrm>
          <a:prstGeom prst="rect">
            <a:avLst/>
          </a:prstGeom>
          <a:noFill/>
          <a:ln/>
        </p:spPr>
        <p:txBody>
          <a:bodyPr wrap="square" lIns="0" tIns="0" rIns="0" bIns="0" rtlCol="0" anchor="ctr"/>
          <a:lstStyle/>
          <a:p>
            <a:pPr algn="l" indent="0" marL="0">
              <a:buNone/>
            </a:pPr>
            <a:r>
              <a:rPr lang="en-US" sz="800" b="1" spc="60" kern="0" dirty="0">
                <a:solidFill>
                  <a:srgbClr val="1A1A1A"/>
                </a:solidFill>
                <a:latin typeface="Arial" pitchFamily="34" charset="0"/>
                <a:ea typeface="Arial" pitchFamily="34" charset="-122"/>
                <a:cs typeface="Arial" pitchFamily="34" charset="-120"/>
              </a:rPr>
              <a:t>EVIDENCE</a:t>
            </a:r>
            <a:endParaRPr lang="en-US" sz="800" dirty="0"/>
          </a:p>
        </p:txBody>
      </p:sp>
      <p:sp>
        <p:nvSpPr>
          <p:cNvPr id="57" name="Text 50"/>
          <p:cNvSpPr/>
          <p:nvPr/>
        </p:nvSpPr>
        <p:spPr>
          <a:xfrm>
            <a:off x="1529334" y="5907024"/>
            <a:ext cx="475488" cy="128016"/>
          </a:xfrm>
          <a:prstGeom prst="rect">
            <a:avLst/>
          </a:prstGeom>
          <a:noFill/>
          <a:ln/>
        </p:spPr>
        <p:txBody>
          <a:bodyPr wrap="square" lIns="0" tIns="0" rIns="0" bIns="0" rtlCol="0" anchor="ctr"/>
          <a:lstStyle/>
          <a:p>
            <a:pPr algn="r" indent="0" marL="0">
              <a:buNone/>
            </a:pPr>
            <a:r>
              <a:rPr lang="en-US" sz="560" b="1" spc="100" kern="0" dirty="0">
                <a:solidFill>
                  <a:srgbClr val="6E6E6E"/>
                </a:solidFill>
                <a:latin typeface="Arial" pitchFamily="34" charset="0"/>
                <a:ea typeface="Arial" pitchFamily="34" charset="-122"/>
                <a:cs typeface="Arial" pitchFamily="34" charset="-120"/>
              </a:rPr>
              <a:t>PILOT</a:t>
            </a:r>
            <a:endParaRPr lang="en-US" sz="560" dirty="0"/>
          </a:p>
        </p:txBody>
      </p:sp>
      <p:sp>
        <p:nvSpPr>
          <p:cNvPr id="58" name="Text 51"/>
          <p:cNvSpPr/>
          <p:nvPr/>
        </p:nvSpPr>
        <p:spPr>
          <a:xfrm>
            <a:off x="1170432" y="6153912"/>
            <a:ext cx="816102" cy="146304"/>
          </a:xfrm>
          <a:prstGeom prst="rect">
            <a:avLst/>
          </a:prstGeom>
          <a:noFill/>
          <a:ln/>
        </p:spPr>
        <p:txBody>
          <a:bodyPr wrap="square" lIns="0" tIns="0" rIns="0" bIns="0" rtlCol="0" anchor="ctr"/>
          <a:lstStyle/>
          <a:p>
            <a:pPr algn="l" indent="0" marL="0">
              <a:buNone/>
            </a:pPr>
            <a:r>
              <a:rPr lang="en-US" sz="600" spc="100" kern="0" dirty="0">
                <a:solidFill>
                  <a:srgbClr val="00261B"/>
                </a:solidFill>
                <a:latin typeface="Arial" pitchFamily="34" charset="0"/>
                <a:ea typeface="Arial" pitchFamily="34" charset="-122"/>
                <a:cs typeface="Arial" pitchFamily="34" charset="-120"/>
              </a:rPr>
              <a:t>ANALYSIS</a:t>
            </a:r>
            <a:endParaRPr lang="en-US" sz="600" dirty="0"/>
          </a:p>
        </p:txBody>
      </p:sp>
      <p:sp>
        <p:nvSpPr>
          <p:cNvPr id="59" name="Text 52"/>
          <p:cNvSpPr/>
          <p:nvPr/>
        </p:nvSpPr>
        <p:spPr>
          <a:xfrm>
            <a:off x="694944" y="6437376"/>
            <a:ext cx="1255014" cy="548640"/>
          </a:xfrm>
          <a:prstGeom prst="rect">
            <a:avLst/>
          </a:prstGeom>
          <a:noFill/>
          <a:ln/>
        </p:spPr>
        <p:txBody>
          <a:bodyPr wrap="square" lIns="0" tIns="0" rIns="0" bIns="0" rtlCol="0" anchor="t"/>
          <a:lstStyle/>
          <a:p>
            <a:pPr algn="l" indent="0" marL="0">
              <a:lnSpc>
                <a:spcPct val="122000"/>
              </a:lnSpc>
              <a:buNone/>
            </a:pPr>
            <a:r>
              <a:rPr lang="en-US" sz="690" dirty="0">
                <a:solidFill>
                  <a:srgbClr val="3E3E3E"/>
                </a:solidFill>
                <a:latin typeface="Arial" pitchFamily="34" charset="0"/>
                <a:ea typeface="Arial" pitchFamily="34" charset="-122"/>
                <a:cs typeface="Arial" pitchFamily="34" charset="-120"/>
              </a:rPr>
              <a:t>Rising measures. Evidence accumulates and is read against the datum.</a:t>
            </a:r>
            <a:endParaRPr lang="en-US" sz="690" dirty="0"/>
          </a:p>
        </p:txBody>
      </p:sp>
      <p:sp>
        <p:nvSpPr>
          <p:cNvPr id="60" name="Shape 53"/>
          <p:cNvSpPr/>
          <p:nvPr/>
        </p:nvSpPr>
        <p:spPr>
          <a:xfrm>
            <a:off x="2205990" y="5833872"/>
            <a:ext cx="1511046" cy="1207008"/>
          </a:xfrm>
          <a:prstGeom prst="rect">
            <a:avLst/>
          </a:prstGeom>
          <a:solidFill>
            <a:srgbClr val="FFFFFF"/>
          </a:solidFill>
          <a:ln w="12700">
            <a:solidFill>
              <a:srgbClr val="D2D2D2"/>
            </a:solidFill>
            <a:prstDash val="solid"/>
          </a:ln>
        </p:spPr>
      </p:sp>
      <p:pic>
        <p:nvPicPr>
          <p:cNvPr id="61" name="Image 5" descr="preencoded.png">    </p:cNvPr>
          <p:cNvPicPr>
            <a:picLocks noChangeAspect="1"/>
          </p:cNvPicPr>
          <p:nvPr/>
        </p:nvPicPr>
        <p:blipFill>
          <a:blip r:embed="rId6"/>
          <a:stretch>
            <a:fillRect/>
          </a:stretch>
        </p:blipFill>
        <p:spPr>
          <a:xfrm>
            <a:off x="2334006" y="5961888"/>
            <a:ext cx="402336" cy="402336"/>
          </a:xfrm>
          <a:prstGeom prst="rect">
            <a:avLst/>
          </a:prstGeom>
        </p:spPr>
      </p:pic>
      <p:sp>
        <p:nvSpPr>
          <p:cNvPr id="62" name="Text 54"/>
          <p:cNvSpPr/>
          <p:nvPr/>
        </p:nvSpPr>
        <p:spPr>
          <a:xfrm>
            <a:off x="2809494" y="5980176"/>
            <a:ext cx="816102" cy="182880"/>
          </a:xfrm>
          <a:prstGeom prst="rect">
            <a:avLst/>
          </a:prstGeom>
          <a:noFill/>
          <a:ln/>
        </p:spPr>
        <p:txBody>
          <a:bodyPr wrap="square" lIns="0" tIns="0" rIns="0" bIns="0" rtlCol="0" anchor="ctr"/>
          <a:lstStyle/>
          <a:p>
            <a:pPr algn="l" indent="0" marL="0">
              <a:buNone/>
            </a:pPr>
            <a:r>
              <a:rPr lang="en-US" sz="800" b="1" spc="60" kern="0" dirty="0">
                <a:solidFill>
                  <a:srgbClr val="1A1A1A"/>
                </a:solidFill>
                <a:latin typeface="Arial" pitchFamily="34" charset="0"/>
                <a:ea typeface="Arial" pitchFamily="34" charset="-122"/>
                <a:cs typeface="Arial" pitchFamily="34" charset="-120"/>
              </a:rPr>
              <a:t>RESEARCH</a:t>
            </a:r>
            <a:endParaRPr lang="en-US" sz="800" dirty="0"/>
          </a:p>
        </p:txBody>
      </p:sp>
      <p:sp>
        <p:nvSpPr>
          <p:cNvPr id="63" name="Text 55"/>
          <p:cNvSpPr/>
          <p:nvPr/>
        </p:nvSpPr>
        <p:spPr>
          <a:xfrm>
            <a:off x="2809494" y="6153912"/>
            <a:ext cx="816102" cy="146304"/>
          </a:xfrm>
          <a:prstGeom prst="rect">
            <a:avLst/>
          </a:prstGeom>
          <a:noFill/>
          <a:ln/>
        </p:spPr>
        <p:txBody>
          <a:bodyPr wrap="square" lIns="0" tIns="0" rIns="0" bIns="0" rtlCol="0" anchor="ctr"/>
          <a:lstStyle/>
          <a:p>
            <a:pPr algn="l" indent="0" marL="0">
              <a:buNone/>
            </a:pPr>
            <a:r>
              <a:rPr lang="en-US" sz="600" spc="100" kern="0" dirty="0">
                <a:solidFill>
                  <a:srgbClr val="00261B"/>
                </a:solidFill>
                <a:latin typeface="Arial" pitchFamily="34" charset="0"/>
                <a:ea typeface="Arial" pitchFamily="34" charset="-122"/>
                <a:cs typeface="Arial" pitchFamily="34" charset="-120"/>
              </a:rPr>
              <a:t>ANALYSIS</a:t>
            </a:r>
            <a:endParaRPr lang="en-US" sz="600" dirty="0"/>
          </a:p>
        </p:txBody>
      </p:sp>
      <p:sp>
        <p:nvSpPr>
          <p:cNvPr id="64" name="Text 56"/>
          <p:cNvSpPr/>
          <p:nvPr/>
        </p:nvSpPr>
        <p:spPr>
          <a:xfrm>
            <a:off x="2334006" y="6437376"/>
            <a:ext cx="1255014" cy="548640"/>
          </a:xfrm>
          <a:prstGeom prst="rect">
            <a:avLst/>
          </a:prstGeom>
          <a:noFill/>
          <a:ln/>
        </p:spPr>
        <p:txBody>
          <a:bodyPr wrap="square" lIns="0" tIns="0" rIns="0" bIns="0" rtlCol="0" anchor="t"/>
          <a:lstStyle/>
          <a:p>
            <a:pPr algn="l" indent="0" marL="0">
              <a:lnSpc>
                <a:spcPct val="122000"/>
              </a:lnSpc>
              <a:buNone/>
            </a:pPr>
            <a:r>
              <a:rPr lang="en-US" sz="690" dirty="0">
                <a:solidFill>
                  <a:srgbClr val="3E3E3E"/>
                </a:solidFill>
                <a:latin typeface="Arial" pitchFamily="34" charset="0"/>
                <a:ea typeface="Arial" pitchFamily="34" charset="-122"/>
                <a:cs typeface="Arial" pitchFamily="34" charset="-120"/>
              </a:rPr>
              <a:t>An open bracket and a dashed continuation. The question is not yet closed.</a:t>
            </a:r>
            <a:endParaRPr lang="en-US" sz="690" dirty="0"/>
          </a:p>
        </p:txBody>
      </p:sp>
      <p:sp>
        <p:nvSpPr>
          <p:cNvPr id="65" name="Shape 57"/>
          <p:cNvSpPr/>
          <p:nvPr/>
        </p:nvSpPr>
        <p:spPr>
          <a:xfrm>
            <a:off x="3845052" y="5833872"/>
            <a:ext cx="1511046" cy="1207008"/>
          </a:xfrm>
          <a:prstGeom prst="rect">
            <a:avLst/>
          </a:prstGeom>
          <a:solidFill>
            <a:srgbClr val="FFFFFF"/>
          </a:solidFill>
          <a:ln w="12700">
            <a:solidFill>
              <a:srgbClr val="D2D2D2"/>
            </a:solidFill>
            <a:prstDash val="solid"/>
          </a:ln>
        </p:spPr>
      </p:sp>
      <p:pic>
        <p:nvPicPr>
          <p:cNvPr id="66" name="Image 6" descr="preencoded.png">    </p:cNvPr>
          <p:cNvPicPr>
            <a:picLocks noChangeAspect="1"/>
          </p:cNvPicPr>
          <p:nvPr/>
        </p:nvPicPr>
        <p:blipFill>
          <a:blip r:embed="rId7"/>
          <a:stretch>
            <a:fillRect/>
          </a:stretch>
        </p:blipFill>
        <p:spPr>
          <a:xfrm>
            <a:off x="3973068" y="5961888"/>
            <a:ext cx="402336" cy="402336"/>
          </a:xfrm>
          <a:prstGeom prst="rect">
            <a:avLst/>
          </a:prstGeom>
        </p:spPr>
      </p:pic>
      <p:sp>
        <p:nvSpPr>
          <p:cNvPr id="67" name="Text 58"/>
          <p:cNvSpPr/>
          <p:nvPr/>
        </p:nvSpPr>
        <p:spPr>
          <a:xfrm>
            <a:off x="4448556" y="5980176"/>
            <a:ext cx="816102" cy="182880"/>
          </a:xfrm>
          <a:prstGeom prst="rect">
            <a:avLst/>
          </a:prstGeom>
          <a:noFill/>
          <a:ln/>
        </p:spPr>
        <p:txBody>
          <a:bodyPr wrap="square" lIns="0" tIns="0" rIns="0" bIns="0" rtlCol="0" anchor="ctr"/>
          <a:lstStyle/>
          <a:p>
            <a:pPr algn="l" indent="0" marL="0">
              <a:buNone/>
            </a:pPr>
            <a:r>
              <a:rPr lang="en-US" sz="800" b="1" spc="60" kern="0" dirty="0">
                <a:solidFill>
                  <a:srgbClr val="1A1A1A"/>
                </a:solidFill>
                <a:latin typeface="Arial" pitchFamily="34" charset="0"/>
                <a:ea typeface="Arial" pitchFamily="34" charset="-122"/>
                <a:cs typeface="Arial" pitchFamily="34" charset="-120"/>
              </a:rPr>
              <a:t>ASSESSMENT</a:t>
            </a:r>
            <a:endParaRPr lang="en-US" sz="800" dirty="0"/>
          </a:p>
        </p:txBody>
      </p:sp>
      <p:sp>
        <p:nvSpPr>
          <p:cNvPr id="68" name="Text 59"/>
          <p:cNvSpPr/>
          <p:nvPr/>
        </p:nvSpPr>
        <p:spPr>
          <a:xfrm>
            <a:off x="4807458" y="5907024"/>
            <a:ext cx="475488" cy="128016"/>
          </a:xfrm>
          <a:prstGeom prst="rect">
            <a:avLst/>
          </a:prstGeom>
          <a:noFill/>
          <a:ln/>
        </p:spPr>
        <p:txBody>
          <a:bodyPr wrap="square" lIns="0" tIns="0" rIns="0" bIns="0" rtlCol="0" anchor="ctr"/>
          <a:lstStyle/>
          <a:p>
            <a:pPr algn="r" indent="0" marL="0">
              <a:buNone/>
            </a:pPr>
            <a:r>
              <a:rPr lang="en-US" sz="560" b="1" spc="100" kern="0" dirty="0">
                <a:solidFill>
                  <a:srgbClr val="6E6E6E"/>
                </a:solidFill>
                <a:latin typeface="Arial" pitchFamily="34" charset="0"/>
                <a:ea typeface="Arial" pitchFamily="34" charset="-122"/>
                <a:cs typeface="Arial" pitchFamily="34" charset="-120"/>
              </a:rPr>
              <a:t>PILOT</a:t>
            </a:r>
            <a:endParaRPr lang="en-US" sz="560" dirty="0"/>
          </a:p>
        </p:txBody>
      </p:sp>
      <p:sp>
        <p:nvSpPr>
          <p:cNvPr id="69" name="Text 60"/>
          <p:cNvSpPr/>
          <p:nvPr/>
        </p:nvSpPr>
        <p:spPr>
          <a:xfrm>
            <a:off x="4448556" y="6153912"/>
            <a:ext cx="816102" cy="146304"/>
          </a:xfrm>
          <a:prstGeom prst="rect">
            <a:avLst/>
          </a:prstGeom>
          <a:noFill/>
          <a:ln/>
        </p:spPr>
        <p:txBody>
          <a:bodyPr wrap="square" lIns="0" tIns="0" rIns="0" bIns="0" rtlCol="0" anchor="ctr"/>
          <a:lstStyle/>
          <a:p>
            <a:pPr algn="l" indent="0" marL="0">
              <a:buNone/>
            </a:pPr>
            <a:r>
              <a:rPr lang="en-US" sz="600" spc="100" kern="0" dirty="0">
                <a:solidFill>
                  <a:srgbClr val="00261B"/>
                </a:solidFill>
                <a:latin typeface="Arial" pitchFamily="34" charset="0"/>
                <a:ea typeface="Arial" pitchFamily="34" charset="-122"/>
                <a:cs typeface="Arial" pitchFamily="34" charset="-120"/>
              </a:rPr>
              <a:t>ANALYSIS</a:t>
            </a:r>
            <a:endParaRPr lang="en-US" sz="600" dirty="0"/>
          </a:p>
        </p:txBody>
      </p:sp>
      <p:sp>
        <p:nvSpPr>
          <p:cNvPr id="70" name="Text 61"/>
          <p:cNvSpPr/>
          <p:nvPr/>
        </p:nvSpPr>
        <p:spPr>
          <a:xfrm>
            <a:off x="3973068" y="6437376"/>
            <a:ext cx="1255014" cy="548640"/>
          </a:xfrm>
          <a:prstGeom prst="rect">
            <a:avLst/>
          </a:prstGeom>
          <a:noFill/>
          <a:ln/>
        </p:spPr>
        <p:txBody>
          <a:bodyPr wrap="square" lIns="0" tIns="0" rIns="0" bIns="0" rtlCol="0" anchor="t"/>
          <a:lstStyle/>
          <a:p>
            <a:pPr algn="l" indent="0" marL="0">
              <a:lnSpc>
                <a:spcPct val="122000"/>
              </a:lnSpc>
              <a:buNone/>
            </a:pPr>
            <a:r>
              <a:rPr lang="en-US" sz="690" dirty="0">
                <a:solidFill>
                  <a:srgbClr val="3E3E3E"/>
                </a:solidFill>
                <a:latin typeface="Arial" pitchFamily="34" charset="0"/>
                <a:ea typeface="Arial" pitchFamily="34" charset="-122"/>
                <a:cs typeface="Arial" pitchFamily="34" charset="-120"/>
              </a:rPr>
              <a:t>A measured gap. Assessment is the act of reading the interval.</a:t>
            </a:r>
            <a:endParaRPr lang="en-US" sz="690" dirty="0"/>
          </a:p>
        </p:txBody>
      </p:sp>
      <p:sp>
        <p:nvSpPr>
          <p:cNvPr id="71" name="Shape 62"/>
          <p:cNvSpPr/>
          <p:nvPr/>
        </p:nvSpPr>
        <p:spPr>
          <a:xfrm>
            <a:off x="5484114" y="5833872"/>
            <a:ext cx="1511046" cy="1207008"/>
          </a:xfrm>
          <a:prstGeom prst="rect">
            <a:avLst/>
          </a:prstGeom>
          <a:solidFill>
            <a:srgbClr val="FFFFFF"/>
          </a:solidFill>
          <a:ln w="12700">
            <a:solidFill>
              <a:srgbClr val="D2D2D2"/>
            </a:solidFill>
            <a:prstDash val="solid"/>
          </a:ln>
        </p:spPr>
      </p:sp>
      <p:pic>
        <p:nvPicPr>
          <p:cNvPr id="72" name="Image 7" descr="preencoded.png">    </p:cNvPr>
          <p:cNvPicPr>
            <a:picLocks noChangeAspect="1"/>
          </p:cNvPicPr>
          <p:nvPr/>
        </p:nvPicPr>
        <p:blipFill>
          <a:blip r:embed="rId8"/>
          <a:stretch>
            <a:fillRect/>
          </a:stretch>
        </p:blipFill>
        <p:spPr>
          <a:xfrm>
            <a:off x="5612130" y="5961888"/>
            <a:ext cx="402336" cy="402336"/>
          </a:xfrm>
          <a:prstGeom prst="rect">
            <a:avLst/>
          </a:prstGeom>
        </p:spPr>
      </p:pic>
      <p:sp>
        <p:nvSpPr>
          <p:cNvPr id="73" name="Text 63"/>
          <p:cNvSpPr/>
          <p:nvPr/>
        </p:nvSpPr>
        <p:spPr>
          <a:xfrm>
            <a:off x="6087618" y="5980176"/>
            <a:ext cx="816102" cy="182880"/>
          </a:xfrm>
          <a:prstGeom prst="rect">
            <a:avLst/>
          </a:prstGeom>
          <a:noFill/>
          <a:ln/>
        </p:spPr>
        <p:txBody>
          <a:bodyPr wrap="square" lIns="0" tIns="0" rIns="0" bIns="0" rtlCol="0" anchor="ctr"/>
          <a:lstStyle/>
          <a:p>
            <a:pPr algn="l" indent="0" marL="0">
              <a:buNone/>
            </a:pPr>
            <a:r>
              <a:rPr lang="en-US" sz="800" b="1" spc="60" kern="0" dirty="0">
                <a:solidFill>
                  <a:srgbClr val="1A1A1A"/>
                </a:solidFill>
                <a:latin typeface="Arial" pitchFamily="34" charset="0"/>
                <a:ea typeface="Arial" pitchFamily="34" charset="-122"/>
                <a:cs typeface="Arial" pitchFamily="34" charset="-120"/>
              </a:rPr>
              <a:t>REVIEW</a:t>
            </a:r>
            <a:endParaRPr lang="en-US" sz="800" dirty="0"/>
          </a:p>
        </p:txBody>
      </p:sp>
      <p:sp>
        <p:nvSpPr>
          <p:cNvPr id="74" name="Text 64"/>
          <p:cNvSpPr/>
          <p:nvPr/>
        </p:nvSpPr>
        <p:spPr>
          <a:xfrm>
            <a:off x="6087618" y="6153912"/>
            <a:ext cx="816102" cy="146304"/>
          </a:xfrm>
          <a:prstGeom prst="rect">
            <a:avLst/>
          </a:prstGeom>
          <a:noFill/>
          <a:ln/>
        </p:spPr>
        <p:txBody>
          <a:bodyPr wrap="square" lIns="0" tIns="0" rIns="0" bIns="0" rtlCol="0" anchor="ctr"/>
          <a:lstStyle/>
          <a:p>
            <a:pPr algn="l" indent="0" marL="0">
              <a:buNone/>
            </a:pPr>
            <a:r>
              <a:rPr lang="en-US" sz="600" spc="100" kern="0" dirty="0">
                <a:solidFill>
                  <a:srgbClr val="00261B"/>
                </a:solidFill>
                <a:latin typeface="Arial" pitchFamily="34" charset="0"/>
                <a:ea typeface="Arial" pitchFamily="34" charset="-122"/>
                <a:cs typeface="Arial" pitchFamily="34" charset="-120"/>
              </a:rPr>
              <a:t>ANALYSIS</a:t>
            </a:r>
            <a:endParaRPr lang="en-US" sz="600" dirty="0"/>
          </a:p>
        </p:txBody>
      </p:sp>
      <p:sp>
        <p:nvSpPr>
          <p:cNvPr id="75" name="Text 65"/>
          <p:cNvSpPr/>
          <p:nvPr/>
        </p:nvSpPr>
        <p:spPr>
          <a:xfrm>
            <a:off x="5612130" y="6437376"/>
            <a:ext cx="1255014" cy="548640"/>
          </a:xfrm>
          <a:prstGeom prst="rect">
            <a:avLst/>
          </a:prstGeom>
          <a:noFill/>
          <a:ln/>
        </p:spPr>
        <p:txBody>
          <a:bodyPr wrap="square" lIns="0" tIns="0" rIns="0" bIns="0" rtlCol="0" anchor="t"/>
          <a:lstStyle/>
          <a:p>
            <a:pPr algn="l" indent="0" marL="0">
              <a:lnSpc>
                <a:spcPct val="122000"/>
              </a:lnSpc>
              <a:buNone/>
            </a:pPr>
            <a:r>
              <a:rPr lang="en-US" sz="690" dirty="0">
                <a:solidFill>
                  <a:srgbClr val="3E3E3E"/>
                </a:solidFill>
                <a:latin typeface="Arial" pitchFamily="34" charset="0"/>
                <a:ea typeface="Arial" pitchFamily="34" charset="-122"/>
                <a:cs typeface="Arial" pitchFamily="34" charset="-120"/>
              </a:rPr>
              <a:t>A return to a prior point. Review is deliberate, not repetition.</a:t>
            </a:r>
            <a:endParaRPr lang="en-US" sz="690" dirty="0"/>
          </a:p>
        </p:txBody>
      </p:sp>
      <p:sp>
        <p:nvSpPr>
          <p:cNvPr id="76" name="Shape 66"/>
          <p:cNvSpPr/>
          <p:nvPr/>
        </p:nvSpPr>
        <p:spPr>
          <a:xfrm>
            <a:off x="566928" y="7168896"/>
            <a:ext cx="1511046" cy="1207008"/>
          </a:xfrm>
          <a:prstGeom prst="rect">
            <a:avLst/>
          </a:prstGeom>
          <a:solidFill>
            <a:srgbClr val="FFFFFF"/>
          </a:solidFill>
          <a:ln w="12700">
            <a:solidFill>
              <a:srgbClr val="D2D2D2"/>
            </a:solidFill>
            <a:prstDash val="solid"/>
          </a:ln>
        </p:spPr>
      </p:sp>
      <p:pic>
        <p:nvPicPr>
          <p:cNvPr id="77" name="Image 8" descr="preencoded.png">    </p:cNvPr>
          <p:cNvPicPr>
            <a:picLocks noChangeAspect="1"/>
          </p:cNvPicPr>
          <p:nvPr/>
        </p:nvPicPr>
        <p:blipFill>
          <a:blip r:embed="rId9"/>
          <a:stretch>
            <a:fillRect/>
          </a:stretch>
        </p:blipFill>
        <p:spPr>
          <a:xfrm>
            <a:off x="694944" y="7296912"/>
            <a:ext cx="402336" cy="402336"/>
          </a:xfrm>
          <a:prstGeom prst="rect">
            <a:avLst/>
          </a:prstGeom>
        </p:spPr>
      </p:pic>
      <p:sp>
        <p:nvSpPr>
          <p:cNvPr id="78" name="Text 67"/>
          <p:cNvSpPr/>
          <p:nvPr/>
        </p:nvSpPr>
        <p:spPr>
          <a:xfrm>
            <a:off x="1170432" y="7315200"/>
            <a:ext cx="816102" cy="182880"/>
          </a:xfrm>
          <a:prstGeom prst="rect">
            <a:avLst/>
          </a:prstGeom>
          <a:noFill/>
          <a:ln/>
        </p:spPr>
        <p:txBody>
          <a:bodyPr wrap="square" lIns="0" tIns="0" rIns="0" bIns="0" rtlCol="0" anchor="ctr"/>
          <a:lstStyle/>
          <a:p>
            <a:pPr algn="l" indent="0" marL="0">
              <a:buNone/>
            </a:pPr>
            <a:r>
              <a:rPr lang="en-US" sz="800" b="1" spc="60" kern="0" dirty="0">
                <a:solidFill>
                  <a:srgbClr val="1A1A1A"/>
                </a:solidFill>
                <a:latin typeface="Arial" pitchFamily="34" charset="0"/>
                <a:ea typeface="Arial" pitchFamily="34" charset="-122"/>
                <a:cs typeface="Arial" pitchFamily="34" charset="-120"/>
              </a:rPr>
              <a:t>PRODUCT</a:t>
            </a:r>
            <a:endParaRPr lang="en-US" sz="800" dirty="0"/>
          </a:p>
        </p:txBody>
      </p:sp>
      <p:sp>
        <p:nvSpPr>
          <p:cNvPr id="79" name="Text 68"/>
          <p:cNvSpPr/>
          <p:nvPr/>
        </p:nvSpPr>
        <p:spPr>
          <a:xfrm>
            <a:off x="1529334" y="7242048"/>
            <a:ext cx="475488" cy="128016"/>
          </a:xfrm>
          <a:prstGeom prst="rect">
            <a:avLst/>
          </a:prstGeom>
          <a:noFill/>
          <a:ln/>
        </p:spPr>
        <p:txBody>
          <a:bodyPr wrap="square" lIns="0" tIns="0" rIns="0" bIns="0" rtlCol="0" anchor="ctr"/>
          <a:lstStyle/>
          <a:p>
            <a:pPr algn="r" indent="0" marL="0">
              <a:buNone/>
            </a:pPr>
            <a:r>
              <a:rPr lang="en-US" sz="560" b="1" spc="100" kern="0" dirty="0">
                <a:solidFill>
                  <a:srgbClr val="6E6E6E"/>
                </a:solidFill>
                <a:latin typeface="Arial" pitchFamily="34" charset="0"/>
                <a:ea typeface="Arial" pitchFamily="34" charset="-122"/>
                <a:cs typeface="Arial" pitchFamily="34" charset="-120"/>
              </a:rPr>
              <a:t>PILOT</a:t>
            </a:r>
            <a:endParaRPr lang="en-US" sz="560" dirty="0"/>
          </a:p>
        </p:txBody>
      </p:sp>
      <p:sp>
        <p:nvSpPr>
          <p:cNvPr id="80" name="Text 69"/>
          <p:cNvSpPr/>
          <p:nvPr/>
        </p:nvSpPr>
        <p:spPr>
          <a:xfrm>
            <a:off x="1170432" y="7488936"/>
            <a:ext cx="816102" cy="146304"/>
          </a:xfrm>
          <a:prstGeom prst="rect">
            <a:avLst/>
          </a:prstGeom>
          <a:noFill/>
          <a:ln/>
        </p:spPr>
        <p:txBody>
          <a:bodyPr wrap="square" lIns="0" tIns="0" rIns="0" bIns="0" rtlCol="0" anchor="ctr"/>
          <a:lstStyle/>
          <a:p>
            <a:pPr algn="l" indent="0" marL="0">
              <a:buNone/>
            </a:pPr>
            <a:r>
              <a:rPr lang="en-US" sz="600" spc="100" kern="0" dirty="0">
                <a:solidFill>
                  <a:srgbClr val="444D06"/>
                </a:solidFill>
                <a:latin typeface="Arial" pitchFamily="34" charset="0"/>
                <a:ea typeface="Arial" pitchFamily="34" charset="-122"/>
                <a:cs typeface="Arial" pitchFamily="34" charset="-120"/>
              </a:rPr>
              <a:t>DELIVERY</a:t>
            </a:r>
            <a:endParaRPr lang="en-US" sz="600" dirty="0"/>
          </a:p>
        </p:txBody>
      </p:sp>
      <p:sp>
        <p:nvSpPr>
          <p:cNvPr id="81" name="Text 70"/>
          <p:cNvSpPr/>
          <p:nvPr/>
        </p:nvSpPr>
        <p:spPr>
          <a:xfrm>
            <a:off x="694944" y="7772400"/>
            <a:ext cx="1255014" cy="548640"/>
          </a:xfrm>
          <a:prstGeom prst="rect">
            <a:avLst/>
          </a:prstGeom>
          <a:noFill/>
          <a:ln/>
        </p:spPr>
        <p:txBody>
          <a:bodyPr wrap="square" lIns="0" tIns="0" rIns="0" bIns="0" rtlCol="0" anchor="t"/>
          <a:lstStyle/>
          <a:p>
            <a:pPr algn="l" indent="0" marL="0">
              <a:lnSpc>
                <a:spcPct val="122000"/>
              </a:lnSpc>
              <a:buNone/>
            </a:pPr>
            <a:r>
              <a:rPr lang="en-US" sz="690" dirty="0">
                <a:solidFill>
                  <a:srgbClr val="3E3E3E"/>
                </a:solidFill>
                <a:latin typeface="Arial" pitchFamily="34" charset="0"/>
                <a:ea typeface="Arial" pitchFamily="34" charset="-122"/>
                <a:cs typeface="Arial" pitchFamily="34" charset="-120"/>
              </a:rPr>
              <a:t>A block on the datum. Products are discrete, identifiable and issued for use.</a:t>
            </a:r>
            <a:endParaRPr lang="en-US" sz="690" dirty="0"/>
          </a:p>
        </p:txBody>
      </p:sp>
      <p:sp>
        <p:nvSpPr>
          <p:cNvPr id="82" name="Shape 71"/>
          <p:cNvSpPr/>
          <p:nvPr/>
        </p:nvSpPr>
        <p:spPr>
          <a:xfrm>
            <a:off x="2205990" y="7168896"/>
            <a:ext cx="1511046" cy="1207008"/>
          </a:xfrm>
          <a:prstGeom prst="rect">
            <a:avLst/>
          </a:prstGeom>
          <a:solidFill>
            <a:srgbClr val="FFFFFF"/>
          </a:solidFill>
          <a:ln w="12700">
            <a:solidFill>
              <a:srgbClr val="D2D2D2"/>
            </a:solidFill>
            <a:prstDash val="solid"/>
          </a:ln>
        </p:spPr>
      </p:sp>
      <p:pic>
        <p:nvPicPr>
          <p:cNvPr id="83" name="Image 9" descr="preencoded.png">    </p:cNvPr>
          <p:cNvPicPr>
            <a:picLocks noChangeAspect="1"/>
          </p:cNvPicPr>
          <p:nvPr/>
        </p:nvPicPr>
        <p:blipFill>
          <a:blip r:embed="rId10"/>
          <a:stretch>
            <a:fillRect/>
          </a:stretch>
        </p:blipFill>
        <p:spPr>
          <a:xfrm>
            <a:off x="2334006" y="7296912"/>
            <a:ext cx="402336" cy="402336"/>
          </a:xfrm>
          <a:prstGeom prst="rect">
            <a:avLst/>
          </a:prstGeom>
        </p:spPr>
      </p:pic>
      <p:sp>
        <p:nvSpPr>
          <p:cNvPr id="84" name="Text 72"/>
          <p:cNvSpPr/>
          <p:nvPr/>
        </p:nvSpPr>
        <p:spPr>
          <a:xfrm>
            <a:off x="2809494" y="7315200"/>
            <a:ext cx="816102" cy="182880"/>
          </a:xfrm>
          <a:prstGeom prst="rect">
            <a:avLst/>
          </a:prstGeom>
          <a:noFill/>
          <a:ln/>
        </p:spPr>
        <p:txBody>
          <a:bodyPr wrap="square" lIns="0" tIns="0" rIns="0" bIns="0" rtlCol="0" anchor="ctr"/>
          <a:lstStyle/>
          <a:p>
            <a:pPr algn="l" indent="0" marL="0">
              <a:buNone/>
            </a:pPr>
            <a:r>
              <a:rPr lang="en-US" sz="800" b="1" spc="60" kern="0" dirty="0">
                <a:solidFill>
                  <a:srgbClr val="1A1A1A"/>
                </a:solidFill>
                <a:latin typeface="Arial" pitchFamily="34" charset="0"/>
                <a:ea typeface="Arial" pitchFamily="34" charset="-122"/>
                <a:cs typeface="Arial" pitchFamily="34" charset="-120"/>
              </a:rPr>
              <a:t>REFERENCE</a:t>
            </a:r>
            <a:endParaRPr lang="en-US" sz="800" dirty="0"/>
          </a:p>
        </p:txBody>
      </p:sp>
      <p:sp>
        <p:nvSpPr>
          <p:cNvPr id="85" name="Text 73"/>
          <p:cNvSpPr/>
          <p:nvPr/>
        </p:nvSpPr>
        <p:spPr>
          <a:xfrm>
            <a:off x="2809494" y="7488936"/>
            <a:ext cx="816102" cy="146304"/>
          </a:xfrm>
          <a:prstGeom prst="rect">
            <a:avLst/>
          </a:prstGeom>
          <a:noFill/>
          <a:ln/>
        </p:spPr>
        <p:txBody>
          <a:bodyPr wrap="square" lIns="0" tIns="0" rIns="0" bIns="0" rtlCol="0" anchor="ctr"/>
          <a:lstStyle/>
          <a:p>
            <a:pPr algn="l" indent="0" marL="0">
              <a:buNone/>
            </a:pPr>
            <a:r>
              <a:rPr lang="en-US" sz="600" spc="100" kern="0" dirty="0">
                <a:solidFill>
                  <a:srgbClr val="444D06"/>
                </a:solidFill>
                <a:latin typeface="Arial" pitchFamily="34" charset="0"/>
                <a:ea typeface="Arial" pitchFamily="34" charset="-122"/>
                <a:cs typeface="Arial" pitchFamily="34" charset="-120"/>
              </a:rPr>
              <a:t>DELIVERY</a:t>
            </a:r>
            <a:endParaRPr lang="en-US" sz="600" dirty="0"/>
          </a:p>
        </p:txBody>
      </p:sp>
      <p:sp>
        <p:nvSpPr>
          <p:cNvPr id="86" name="Text 74"/>
          <p:cNvSpPr/>
          <p:nvPr/>
        </p:nvSpPr>
        <p:spPr>
          <a:xfrm>
            <a:off x="2334006" y="7772400"/>
            <a:ext cx="1255014" cy="548640"/>
          </a:xfrm>
          <a:prstGeom prst="rect">
            <a:avLst/>
          </a:prstGeom>
          <a:noFill/>
          <a:ln/>
        </p:spPr>
        <p:txBody>
          <a:bodyPr wrap="square" lIns="0" tIns="0" rIns="0" bIns="0" rtlCol="0" anchor="t"/>
          <a:lstStyle/>
          <a:p>
            <a:pPr algn="l" indent="0" marL="0">
              <a:lnSpc>
                <a:spcPct val="122000"/>
              </a:lnSpc>
              <a:buNone/>
            </a:pPr>
            <a:r>
              <a:rPr lang="en-US" sz="690" dirty="0">
                <a:solidFill>
                  <a:srgbClr val="3E3E3E"/>
                </a:solidFill>
                <a:latin typeface="Arial" pitchFamily="34" charset="0"/>
                <a:ea typeface="Arial" pitchFamily="34" charset="-122"/>
                <a:cs typeface="Arial" pitchFamily="34" charset="-120"/>
              </a:rPr>
              <a:t>A single tick and a marker. Points elsewhere; carries no authority itself.</a:t>
            </a:r>
            <a:endParaRPr lang="en-US" sz="690" dirty="0"/>
          </a:p>
        </p:txBody>
      </p:sp>
      <p:sp>
        <p:nvSpPr>
          <p:cNvPr id="87" name="Shape 75"/>
          <p:cNvSpPr/>
          <p:nvPr/>
        </p:nvSpPr>
        <p:spPr>
          <a:xfrm>
            <a:off x="3845052" y="7168896"/>
            <a:ext cx="1511046" cy="1207008"/>
          </a:xfrm>
          <a:prstGeom prst="rect">
            <a:avLst/>
          </a:prstGeom>
          <a:solidFill>
            <a:srgbClr val="FFFFFF"/>
          </a:solidFill>
          <a:ln w="12700">
            <a:solidFill>
              <a:srgbClr val="D2D2D2"/>
            </a:solidFill>
            <a:prstDash val="solid"/>
          </a:ln>
        </p:spPr>
      </p:sp>
      <p:pic>
        <p:nvPicPr>
          <p:cNvPr id="88" name="Image 10" descr="preencoded.png">    </p:cNvPr>
          <p:cNvPicPr>
            <a:picLocks noChangeAspect="1"/>
          </p:cNvPicPr>
          <p:nvPr/>
        </p:nvPicPr>
        <p:blipFill>
          <a:blip r:embed="rId11"/>
          <a:stretch>
            <a:fillRect/>
          </a:stretch>
        </p:blipFill>
        <p:spPr>
          <a:xfrm>
            <a:off x="3973068" y="7296912"/>
            <a:ext cx="402336" cy="402336"/>
          </a:xfrm>
          <a:prstGeom prst="rect">
            <a:avLst/>
          </a:prstGeom>
        </p:spPr>
      </p:pic>
      <p:sp>
        <p:nvSpPr>
          <p:cNvPr id="89" name="Text 76"/>
          <p:cNvSpPr/>
          <p:nvPr/>
        </p:nvSpPr>
        <p:spPr>
          <a:xfrm>
            <a:off x="4448556" y="7315200"/>
            <a:ext cx="816102" cy="182880"/>
          </a:xfrm>
          <a:prstGeom prst="rect">
            <a:avLst/>
          </a:prstGeom>
          <a:noFill/>
          <a:ln/>
        </p:spPr>
        <p:txBody>
          <a:bodyPr wrap="square" lIns="0" tIns="0" rIns="0" bIns="0" rtlCol="0" anchor="ctr"/>
          <a:lstStyle/>
          <a:p>
            <a:pPr algn="l" indent="0" marL="0">
              <a:buNone/>
            </a:pPr>
            <a:r>
              <a:rPr lang="en-US" sz="800" b="1" spc="60" kern="0" dirty="0">
                <a:solidFill>
                  <a:srgbClr val="1A1A1A"/>
                </a:solidFill>
                <a:latin typeface="Arial" pitchFamily="34" charset="0"/>
                <a:ea typeface="Arial" pitchFamily="34" charset="-122"/>
                <a:cs typeface="Arial" pitchFamily="34" charset="-120"/>
              </a:rPr>
              <a:t>DECISION</a:t>
            </a:r>
            <a:endParaRPr lang="en-US" sz="800" dirty="0"/>
          </a:p>
        </p:txBody>
      </p:sp>
      <p:sp>
        <p:nvSpPr>
          <p:cNvPr id="90" name="Text 77"/>
          <p:cNvSpPr/>
          <p:nvPr/>
        </p:nvSpPr>
        <p:spPr>
          <a:xfrm>
            <a:off x="4807458" y="7242048"/>
            <a:ext cx="475488" cy="128016"/>
          </a:xfrm>
          <a:prstGeom prst="rect">
            <a:avLst/>
          </a:prstGeom>
          <a:noFill/>
          <a:ln/>
        </p:spPr>
        <p:txBody>
          <a:bodyPr wrap="square" lIns="0" tIns="0" rIns="0" bIns="0" rtlCol="0" anchor="ctr"/>
          <a:lstStyle/>
          <a:p>
            <a:pPr algn="r" indent="0" marL="0">
              <a:buNone/>
            </a:pPr>
            <a:r>
              <a:rPr lang="en-US" sz="560" b="1" spc="100" kern="0" dirty="0">
                <a:solidFill>
                  <a:srgbClr val="6E6E6E"/>
                </a:solidFill>
                <a:latin typeface="Arial" pitchFamily="34" charset="0"/>
                <a:ea typeface="Arial" pitchFamily="34" charset="-122"/>
                <a:cs typeface="Arial" pitchFamily="34" charset="-120"/>
              </a:rPr>
              <a:t>PILOT</a:t>
            </a:r>
            <a:endParaRPr lang="en-US" sz="560" dirty="0"/>
          </a:p>
        </p:txBody>
      </p:sp>
      <p:sp>
        <p:nvSpPr>
          <p:cNvPr id="91" name="Text 78"/>
          <p:cNvSpPr/>
          <p:nvPr/>
        </p:nvSpPr>
        <p:spPr>
          <a:xfrm>
            <a:off x="4448556" y="7488936"/>
            <a:ext cx="816102" cy="146304"/>
          </a:xfrm>
          <a:prstGeom prst="rect">
            <a:avLst/>
          </a:prstGeom>
          <a:noFill/>
          <a:ln/>
        </p:spPr>
        <p:txBody>
          <a:bodyPr wrap="square" lIns="0" tIns="0" rIns="0" bIns="0" rtlCol="0" anchor="ctr"/>
          <a:lstStyle/>
          <a:p>
            <a:pPr algn="l" indent="0" marL="0">
              <a:buNone/>
            </a:pPr>
            <a:r>
              <a:rPr lang="en-US" sz="600" spc="100" kern="0" dirty="0">
                <a:solidFill>
                  <a:srgbClr val="D31145"/>
                </a:solidFill>
                <a:latin typeface="Arial" pitchFamily="34" charset="0"/>
                <a:ea typeface="Arial" pitchFamily="34" charset="-122"/>
                <a:cs typeface="Arial" pitchFamily="34" charset="-120"/>
              </a:rPr>
              <a:t>ACTION</a:t>
            </a:r>
            <a:endParaRPr lang="en-US" sz="600" dirty="0"/>
          </a:p>
        </p:txBody>
      </p:sp>
      <p:sp>
        <p:nvSpPr>
          <p:cNvPr id="92" name="Text 79"/>
          <p:cNvSpPr/>
          <p:nvPr/>
        </p:nvSpPr>
        <p:spPr>
          <a:xfrm>
            <a:off x="3973068" y="7772400"/>
            <a:ext cx="1255014" cy="548640"/>
          </a:xfrm>
          <a:prstGeom prst="rect">
            <a:avLst/>
          </a:prstGeom>
          <a:noFill/>
          <a:ln/>
        </p:spPr>
        <p:txBody>
          <a:bodyPr wrap="square" lIns="0" tIns="0" rIns="0" bIns="0" rtlCol="0" anchor="t"/>
          <a:lstStyle/>
          <a:p>
            <a:pPr algn="l" indent="0" marL="0">
              <a:lnSpc>
                <a:spcPct val="122000"/>
              </a:lnSpc>
              <a:buNone/>
            </a:pPr>
            <a:r>
              <a:rPr lang="en-US" sz="690" dirty="0">
                <a:solidFill>
                  <a:srgbClr val="3E3E3E"/>
                </a:solidFill>
                <a:latin typeface="Arial" pitchFamily="34" charset="0"/>
                <a:ea typeface="Arial" pitchFamily="34" charset="-122"/>
                <a:cs typeface="Arial" pitchFamily="34" charset="-120"/>
              </a:rPr>
              <a:t>A node and a departure. The only mark that leaves the datum.</a:t>
            </a:r>
            <a:endParaRPr lang="en-US" sz="690" dirty="0"/>
          </a:p>
        </p:txBody>
      </p:sp>
      <p:sp>
        <p:nvSpPr>
          <p:cNvPr id="93" name="Shape 80"/>
          <p:cNvSpPr/>
          <p:nvPr/>
        </p:nvSpPr>
        <p:spPr>
          <a:xfrm>
            <a:off x="5484114" y="7168896"/>
            <a:ext cx="1511046" cy="1207008"/>
          </a:xfrm>
          <a:prstGeom prst="rect">
            <a:avLst/>
          </a:prstGeom>
          <a:solidFill>
            <a:srgbClr val="FFFFFF"/>
          </a:solidFill>
          <a:ln w="12700">
            <a:solidFill>
              <a:srgbClr val="D2D2D2"/>
            </a:solidFill>
            <a:prstDash val="solid"/>
          </a:ln>
        </p:spPr>
      </p:sp>
      <p:pic>
        <p:nvPicPr>
          <p:cNvPr id="94" name="Image 11" descr="preencoded.png">    </p:cNvPr>
          <p:cNvPicPr>
            <a:picLocks noChangeAspect="1"/>
          </p:cNvPicPr>
          <p:nvPr/>
        </p:nvPicPr>
        <p:blipFill>
          <a:blip r:embed="rId12"/>
          <a:stretch>
            <a:fillRect/>
          </a:stretch>
        </p:blipFill>
        <p:spPr>
          <a:xfrm>
            <a:off x="5612130" y="7296912"/>
            <a:ext cx="402336" cy="402336"/>
          </a:xfrm>
          <a:prstGeom prst="rect">
            <a:avLst/>
          </a:prstGeom>
        </p:spPr>
      </p:pic>
      <p:sp>
        <p:nvSpPr>
          <p:cNvPr id="95" name="Text 81"/>
          <p:cNvSpPr/>
          <p:nvPr/>
        </p:nvSpPr>
        <p:spPr>
          <a:xfrm>
            <a:off x="6087618" y="7315200"/>
            <a:ext cx="816102" cy="182880"/>
          </a:xfrm>
          <a:prstGeom prst="rect">
            <a:avLst/>
          </a:prstGeom>
          <a:noFill/>
          <a:ln/>
        </p:spPr>
        <p:txBody>
          <a:bodyPr wrap="square" lIns="0" tIns="0" rIns="0" bIns="0" rtlCol="0" anchor="ctr"/>
          <a:lstStyle/>
          <a:p>
            <a:pPr algn="l" indent="0" marL="0">
              <a:buNone/>
            </a:pPr>
            <a:r>
              <a:rPr lang="en-US" sz="800" b="1" spc="60" kern="0" dirty="0">
                <a:solidFill>
                  <a:srgbClr val="1A1A1A"/>
                </a:solidFill>
                <a:latin typeface="Arial" pitchFamily="34" charset="0"/>
                <a:ea typeface="Arial" pitchFamily="34" charset="-122"/>
                <a:cs typeface="Arial" pitchFamily="34" charset="-120"/>
              </a:rPr>
              <a:t>RISK</a:t>
            </a:r>
            <a:endParaRPr lang="en-US" sz="800" dirty="0"/>
          </a:p>
        </p:txBody>
      </p:sp>
      <p:sp>
        <p:nvSpPr>
          <p:cNvPr id="96" name="Text 82"/>
          <p:cNvSpPr/>
          <p:nvPr/>
        </p:nvSpPr>
        <p:spPr>
          <a:xfrm>
            <a:off x="6087618" y="7488936"/>
            <a:ext cx="816102" cy="146304"/>
          </a:xfrm>
          <a:prstGeom prst="rect">
            <a:avLst/>
          </a:prstGeom>
          <a:noFill/>
          <a:ln/>
        </p:spPr>
        <p:txBody>
          <a:bodyPr wrap="square" lIns="0" tIns="0" rIns="0" bIns="0" rtlCol="0" anchor="ctr"/>
          <a:lstStyle/>
          <a:p>
            <a:pPr algn="l" indent="0" marL="0">
              <a:buNone/>
            </a:pPr>
            <a:r>
              <a:rPr lang="en-US" sz="600" spc="100" kern="0" dirty="0">
                <a:solidFill>
                  <a:srgbClr val="D31145"/>
                </a:solidFill>
                <a:latin typeface="Arial" pitchFamily="34" charset="0"/>
                <a:ea typeface="Arial" pitchFamily="34" charset="-122"/>
                <a:cs typeface="Arial" pitchFamily="34" charset="-120"/>
              </a:rPr>
              <a:t>ACTION</a:t>
            </a:r>
            <a:endParaRPr lang="en-US" sz="600" dirty="0"/>
          </a:p>
        </p:txBody>
      </p:sp>
      <p:sp>
        <p:nvSpPr>
          <p:cNvPr id="97" name="Text 83"/>
          <p:cNvSpPr/>
          <p:nvPr/>
        </p:nvSpPr>
        <p:spPr>
          <a:xfrm>
            <a:off x="5612130" y="7772400"/>
            <a:ext cx="1255014" cy="548640"/>
          </a:xfrm>
          <a:prstGeom prst="rect">
            <a:avLst/>
          </a:prstGeom>
          <a:noFill/>
          <a:ln/>
        </p:spPr>
        <p:txBody>
          <a:bodyPr wrap="square" lIns="0" tIns="0" rIns="0" bIns="0" rtlCol="0" anchor="t"/>
          <a:lstStyle/>
          <a:p>
            <a:pPr algn="l" indent="0" marL="0">
              <a:lnSpc>
                <a:spcPct val="122000"/>
              </a:lnSpc>
              <a:buNone/>
            </a:pPr>
            <a:r>
              <a:rPr lang="en-US" sz="690" dirty="0">
                <a:solidFill>
                  <a:srgbClr val="3E3E3E"/>
                </a:solidFill>
                <a:latin typeface="Arial" pitchFamily="34" charset="0"/>
                <a:ea typeface="Arial" pitchFamily="34" charset="-122"/>
                <a:cs typeface="Arial" pitchFamily="34" charset="-120"/>
              </a:rPr>
              <a:t>A break in the datum identifies risk. A reading convention, not a definition.</a:t>
            </a:r>
            <a:endParaRPr lang="en-US" sz="690" dirty="0"/>
          </a:p>
        </p:txBody>
      </p:sp>
      <p:sp>
        <p:nvSpPr>
          <p:cNvPr id="98" name="Text 84"/>
          <p:cNvSpPr/>
          <p:nvPr/>
        </p:nvSpPr>
        <p:spPr>
          <a:xfrm>
            <a:off x="566928" y="865022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AT SIZE, AND IN MONO</a:t>
            </a:r>
            <a:endParaRPr lang="en-US" sz="740" dirty="0"/>
          </a:p>
        </p:txBody>
      </p:sp>
      <p:sp>
        <p:nvSpPr>
          <p:cNvPr id="99" name="Shape 85"/>
          <p:cNvSpPr/>
          <p:nvPr/>
        </p:nvSpPr>
        <p:spPr>
          <a:xfrm>
            <a:off x="566928" y="8833104"/>
            <a:ext cx="6428232" cy="7315"/>
          </a:xfrm>
          <a:prstGeom prst="rect">
            <a:avLst/>
          </a:prstGeom>
          <a:solidFill>
            <a:srgbClr val="D2D2D2"/>
          </a:solidFill>
          <a:ln/>
        </p:spPr>
      </p:sp>
      <p:sp>
        <p:nvSpPr>
          <p:cNvPr id="100" name="Shape 86"/>
          <p:cNvSpPr/>
          <p:nvPr/>
        </p:nvSpPr>
        <p:spPr>
          <a:xfrm>
            <a:off x="566928" y="8942832"/>
            <a:ext cx="6428232" cy="859536"/>
          </a:xfrm>
          <a:prstGeom prst="rect">
            <a:avLst/>
          </a:prstGeom>
          <a:solidFill>
            <a:srgbClr val="FFFFFF"/>
          </a:solidFill>
          <a:ln w="12700">
            <a:solidFill>
              <a:srgbClr val="D2D2D2"/>
            </a:solidFill>
            <a:prstDash val="solid"/>
          </a:ln>
        </p:spPr>
      </p:sp>
      <p:pic>
        <p:nvPicPr>
          <p:cNvPr id="101" name="Image 12" descr="preencoded.png">    </p:cNvPr>
          <p:cNvPicPr>
            <a:picLocks noChangeAspect="1"/>
          </p:cNvPicPr>
          <p:nvPr/>
        </p:nvPicPr>
        <p:blipFill>
          <a:blip r:embed="rId13"/>
          <a:stretch>
            <a:fillRect/>
          </a:stretch>
        </p:blipFill>
        <p:spPr>
          <a:xfrm>
            <a:off x="786384" y="9162288"/>
            <a:ext cx="420624" cy="420624"/>
          </a:xfrm>
          <a:prstGeom prst="rect">
            <a:avLst/>
          </a:prstGeom>
        </p:spPr>
      </p:pic>
      <p:pic>
        <p:nvPicPr>
          <p:cNvPr id="102" name="Image 13" descr="preencoded.png">    </p:cNvPr>
          <p:cNvPicPr>
            <a:picLocks noChangeAspect="1"/>
          </p:cNvPicPr>
          <p:nvPr/>
        </p:nvPicPr>
        <p:blipFill>
          <a:blip r:embed="rId14"/>
          <a:stretch>
            <a:fillRect/>
          </a:stretch>
        </p:blipFill>
        <p:spPr>
          <a:xfrm>
            <a:off x="1389888" y="9217152"/>
            <a:ext cx="310896" cy="310896"/>
          </a:xfrm>
          <a:prstGeom prst="rect">
            <a:avLst/>
          </a:prstGeom>
        </p:spPr>
      </p:pic>
      <p:pic>
        <p:nvPicPr>
          <p:cNvPr id="103" name="Image 14" descr="preencoded.png">    </p:cNvPr>
          <p:cNvPicPr>
            <a:picLocks noChangeAspect="1"/>
          </p:cNvPicPr>
          <p:nvPr/>
        </p:nvPicPr>
        <p:blipFill>
          <a:blip r:embed="rId15"/>
          <a:stretch>
            <a:fillRect/>
          </a:stretch>
        </p:blipFill>
        <p:spPr>
          <a:xfrm>
            <a:off x="1883664" y="9253728"/>
            <a:ext cx="237744" cy="237744"/>
          </a:xfrm>
          <a:prstGeom prst="rect">
            <a:avLst/>
          </a:prstGeom>
        </p:spPr>
      </p:pic>
      <p:pic>
        <p:nvPicPr>
          <p:cNvPr id="104" name="Image 15" descr="preencoded.png">    </p:cNvPr>
          <p:cNvPicPr>
            <a:picLocks noChangeAspect="1"/>
          </p:cNvPicPr>
          <p:nvPr/>
        </p:nvPicPr>
        <p:blipFill>
          <a:blip r:embed="rId16"/>
          <a:stretch>
            <a:fillRect/>
          </a:stretch>
        </p:blipFill>
        <p:spPr>
          <a:xfrm>
            <a:off x="2304288" y="9285732"/>
            <a:ext cx="173736" cy="173736"/>
          </a:xfrm>
          <a:prstGeom prst="rect">
            <a:avLst/>
          </a:prstGeom>
        </p:spPr>
      </p:pic>
      <p:sp>
        <p:nvSpPr>
          <p:cNvPr id="105" name="Text 87"/>
          <p:cNvSpPr/>
          <p:nvPr/>
        </p:nvSpPr>
        <p:spPr>
          <a:xfrm>
            <a:off x="786384" y="9619488"/>
            <a:ext cx="1828800" cy="146304"/>
          </a:xfrm>
          <a:prstGeom prst="rect">
            <a:avLst/>
          </a:prstGeom>
          <a:noFill/>
          <a:ln/>
        </p:spPr>
        <p:txBody>
          <a:bodyPr wrap="square" lIns="0" tIns="0" rIns="0" bIns="0" rtlCol="0" anchor="ctr"/>
          <a:lstStyle/>
          <a:p>
            <a:pPr algn="l" indent="0" marL="0">
              <a:buNone/>
            </a:pPr>
            <a:r>
              <a:rPr lang="en-US" sz="640" dirty="0">
                <a:solidFill>
                  <a:srgbClr val="6E6E6E"/>
                </a:solidFill>
                <a:latin typeface="Arial" pitchFamily="34" charset="0"/>
                <a:ea typeface="Arial" pitchFamily="34" charset="-122"/>
                <a:cs typeface="Arial" pitchFamily="34" charset="-120"/>
              </a:rPr>
              <a:t>48  32  24  16 px</a:t>
            </a:r>
            <a:endParaRPr lang="en-US" sz="640" dirty="0"/>
          </a:p>
        </p:txBody>
      </p:sp>
      <p:sp>
        <p:nvSpPr>
          <p:cNvPr id="106" name="Shape 88"/>
          <p:cNvSpPr/>
          <p:nvPr/>
        </p:nvSpPr>
        <p:spPr>
          <a:xfrm>
            <a:off x="2852928" y="9052560"/>
            <a:ext cx="12802" cy="640080"/>
          </a:xfrm>
          <a:prstGeom prst="rect">
            <a:avLst/>
          </a:prstGeom>
          <a:solidFill>
            <a:srgbClr val="D2D2D2"/>
          </a:solidFill>
          <a:ln/>
        </p:spPr>
      </p:sp>
      <p:pic>
        <p:nvPicPr>
          <p:cNvPr id="107" name="Image 16" descr="preencoded.png">    </p:cNvPr>
          <p:cNvPicPr>
            <a:picLocks noChangeAspect="1"/>
          </p:cNvPicPr>
          <p:nvPr/>
        </p:nvPicPr>
        <p:blipFill>
          <a:blip r:embed="rId17"/>
          <a:stretch>
            <a:fillRect/>
          </a:stretch>
        </p:blipFill>
        <p:spPr>
          <a:xfrm>
            <a:off x="3090672" y="9162288"/>
            <a:ext cx="310896" cy="310896"/>
          </a:xfrm>
          <a:prstGeom prst="rect">
            <a:avLst/>
          </a:prstGeom>
        </p:spPr>
      </p:pic>
      <p:pic>
        <p:nvPicPr>
          <p:cNvPr id="108" name="Image 17" descr="preencoded.png">    </p:cNvPr>
          <p:cNvPicPr>
            <a:picLocks noChangeAspect="1"/>
          </p:cNvPicPr>
          <p:nvPr/>
        </p:nvPicPr>
        <p:blipFill>
          <a:blip r:embed="rId18"/>
          <a:stretch>
            <a:fillRect/>
          </a:stretch>
        </p:blipFill>
        <p:spPr>
          <a:xfrm>
            <a:off x="3547872" y="9162288"/>
            <a:ext cx="310896" cy="310896"/>
          </a:xfrm>
          <a:prstGeom prst="rect">
            <a:avLst/>
          </a:prstGeom>
        </p:spPr>
      </p:pic>
      <p:pic>
        <p:nvPicPr>
          <p:cNvPr id="109" name="Image 18" descr="preencoded.png">    </p:cNvPr>
          <p:cNvPicPr>
            <a:picLocks noChangeAspect="1"/>
          </p:cNvPicPr>
          <p:nvPr/>
        </p:nvPicPr>
        <p:blipFill>
          <a:blip r:embed="rId19"/>
          <a:stretch>
            <a:fillRect/>
          </a:stretch>
        </p:blipFill>
        <p:spPr>
          <a:xfrm>
            <a:off x="4005072" y="9162288"/>
            <a:ext cx="310896" cy="310896"/>
          </a:xfrm>
          <a:prstGeom prst="rect">
            <a:avLst/>
          </a:prstGeom>
        </p:spPr>
      </p:pic>
      <p:pic>
        <p:nvPicPr>
          <p:cNvPr id="110" name="Image 19" descr="preencoded.png">    </p:cNvPr>
          <p:cNvPicPr>
            <a:picLocks noChangeAspect="1"/>
          </p:cNvPicPr>
          <p:nvPr/>
        </p:nvPicPr>
        <p:blipFill>
          <a:blip r:embed="rId20"/>
          <a:stretch>
            <a:fillRect/>
          </a:stretch>
        </p:blipFill>
        <p:spPr>
          <a:xfrm>
            <a:off x="4462272" y="9162288"/>
            <a:ext cx="310896" cy="310896"/>
          </a:xfrm>
          <a:prstGeom prst="rect">
            <a:avLst/>
          </a:prstGeom>
        </p:spPr>
      </p:pic>
      <p:sp>
        <p:nvSpPr>
          <p:cNvPr id="111" name="Text 89"/>
          <p:cNvSpPr/>
          <p:nvPr/>
        </p:nvSpPr>
        <p:spPr>
          <a:xfrm>
            <a:off x="3090672" y="9546336"/>
            <a:ext cx="1828800" cy="146304"/>
          </a:xfrm>
          <a:prstGeom prst="rect">
            <a:avLst/>
          </a:prstGeom>
          <a:noFill/>
          <a:ln/>
        </p:spPr>
        <p:txBody>
          <a:bodyPr wrap="square" lIns="0" tIns="0" rIns="0" bIns="0" rtlCol="0" anchor="ctr"/>
          <a:lstStyle/>
          <a:p>
            <a:pPr algn="l" indent="0" marL="0">
              <a:buNone/>
            </a:pPr>
            <a:r>
              <a:rPr lang="en-US" sz="640" dirty="0">
                <a:solidFill>
                  <a:srgbClr val="6E6E6E"/>
                </a:solidFill>
                <a:latin typeface="Arial" pitchFamily="34" charset="0"/>
                <a:ea typeface="Arial" pitchFamily="34" charset="-122"/>
                <a:cs typeface="Arial" pitchFamily="34" charset="-120"/>
              </a:rPr>
              <a:t>in classification colour</a:t>
            </a:r>
            <a:endParaRPr lang="en-US" sz="640" dirty="0"/>
          </a:p>
        </p:txBody>
      </p:sp>
      <p:sp>
        <p:nvSpPr>
          <p:cNvPr id="112" name="Shape 90"/>
          <p:cNvSpPr/>
          <p:nvPr/>
        </p:nvSpPr>
        <p:spPr>
          <a:xfrm>
            <a:off x="5047488" y="9052560"/>
            <a:ext cx="12802" cy="640080"/>
          </a:xfrm>
          <a:prstGeom prst="rect">
            <a:avLst/>
          </a:prstGeom>
          <a:solidFill>
            <a:srgbClr val="D2D2D2"/>
          </a:solidFill>
          <a:ln/>
        </p:spPr>
      </p:sp>
      <p:pic>
        <p:nvPicPr>
          <p:cNvPr id="113" name="Image 20" descr="preencoded.png">    </p:cNvPr>
          <p:cNvPicPr>
            <a:picLocks noChangeAspect="1"/>
          </p:cNvPicPr>
          <p:nvPr/>
        </p:nvPicPr>
        <p:blipFill>
          <a:blip r:embed="rId21"/>
          <a:stretch>
            <a:fillRect/>
          </a:stretch>
        </p:blipFill>
        <p:spPr>
          <a:xfrm>
            <a:off x="5285232" y="9162288"/>
            <a:ext cx="310896" cy="310896"/>
          </a:xfrm>
          <a:prstGeom prst="rect">
            <a:avLst/>
          </a:prstGeom>
        </p:spPr>
      </p:pic>
      <p:pic>
        <p:nvPicPr>
          <p:cNvPr id="114" name="Image 21" descr="preencoded.png">    </p:cNvPr>
          <p:cNvPicPr>
            <a:picLocks noChangeAspect="1"/>
          </p:cNvPicPr>
          <p:nvPr/>
        </p:nvPicPr>
        <p:blipFill>
          <a:blip r:embed="rId22"/>
          <a:stretch>
            <a:fillRect/>
          </a:stretch>
        </p:blipFill>
        <p:spPr>
          <a:xfrm>
            <a:off x="5742432" y="9162288"/>
            <a:ext cx="310896" cy="310896"/>
          </a:xfrm>
          <a:prstGeom prst="rect">
            <a:avLst/>
          </a:prstGeom>
        </p:spPr>
      </p:pic>
      <p:pic>
        <p:nvPicPr>
          <p:cNvPr id="115" name="Image 22" descr="preencoded.png">    </p:cNvPr>
          <p:cNvPicPr>
            <a:picLocks noChangeAspect="1"/>
          </p:cNvPicPr>
          <p:nvPr/>
        </p:nvPicPr>
        <p:blipFill>
          <a:blip r:embed="rId23"/>
          <a:stretch>
            <a:fillRect/>
          </a:stretch>
        </p:blipFill>
        <p:spPr>
          <a:xfrm>
            <a:off x="6199632" y="9162288"/>
            <a:ext cx="310896" cy="310896"/>
          </a:xfrm>
          <a:prstGeom prst="rect">
            <a:avLst/>
          </a:prstGeom>
        </p:spPr>
      </p:pic>
      <p:pic>
        <p:nvPicPr>
          <p:cNvPr id="116" name="Image 23" descr="preencoded.png">    </p:cNvPr>
          <p:cNvPicPr>
            <a:picLocks noChangeAspect="1"/>
          </p:cNvPicPr>
          <p:nvPr/>
        </p:nvPicPr>
        <p:blipFill>
          <a:blip r:embed="rId24"/>
          <a:stretch>
            <a:fillRect/>
          </a:stretch>
        </p:blipFill>
        <p:spPr>
          <a:xfrm>
            <a:off x="6656832" y="9162288"/>
            <a:ext cx="310896" cy="310896"/>
          </a:xfrm>
          <a:prstGeom prst="rect">
            <a:avLst/>
          </a:prstGeom>
        </p:spPr>
      </p:pic>
      <p:sp>
        <p:nvSpPr>
          <p:cNvPr id="117" name="Text 91"/>
          <p:cNvSpPr/>
          <p:nvPr/>
        </p:nvSpPr>
        <p:spPr>
          <a:xfrm>
            <a:off x="5285232" y="9546336"/>
            <a:ext cx="1828800" cy="146304"/>
          </a:xfrm>
          <a:prstGeom prst="rect">
            <a:avLst/>
          </a:prstGeom>
          <a:noFill/>
          <a:ln/>
        </p:spPr>
        <p:txBody>
          <a:bodyPr wrap="square" lIns="0" tIns="0" rIns="0" bIns="0" rtlCol="0" anchor="ctr"/>
          <a:lstStyle/>
          <a:p>
            <a:pPr algn="l" indent="0" marL="0">
              <a:buNone/>
            </a:pPr>
            <a:r>
              <a:rPr lang="en-US" sz="640" dirty="0">
                <a:solidFill>
                  <a:srgbClr val="6E6E6E"/>
                </a:solidFill>
                <a:latin typeface="Arial" pitchFamily="34" charset="0"/>
                <a:ea typeface="Arial" pitchFamily="34" charset="-122"/>
                <a:cs typeface="Arial" pitchFamily="34" charset="-120"/>
              </a:rPr>
              <a:t>mono, meaning intact</a:t>
            </a:r>
            <a:endParaRPr lang="en-US" sz="6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COLOUR</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15</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Colour system</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No colour is invented. Every value is published in the NZ Army Visual Identity Guidelines p58. What is added here is a set of rules about what each colour is allowed to mean.</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7393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PRIMARY</a:t>
            </a:r>
            <a:endParaRPr lang="en-US" sz="740" dirty="0"/>
          </a:p>
        </p:txBody>
      </p:sp>
      <p:sp>
        <p:nvSpPr>
          <p:cNvPr id="10" name="Shape 8"/>
          <p:cNvSpPr/>
          <p:nvPr/>
        </p:nvSpPr>
        <p:spPr>
          <a:xfrm>
            <a:off x="566928" y="1956816"/>
            <a:ext cx="6428232" cy="7315"/>
          </a:xfrm>
          <a:prstGeom prst="rect">
            <a:avLst/>
          </a:prstGeom>
          <a:solidFill>
            <a:srgbClr val="D2D2D2"/>
          </a:solidFill>
          <a:ln/>
        </p:spPr>
      </p:sp>
      <p:sp>
        <p:nvSpPr>
          <p:cNvPr id="11" name="Shape 9"/>
          <p:cNvSpPr/>
          <p:nvPr/>
        </p:nvSpPr>
        <p:spPr>
          <a:xfrm>
            <a:off x="566928" y="2066544"/>
            <a:ext cx="2057400" cy="1133856"/>
          </a:xfrm>
          <a:prstGeom prst="rect">
            <a:avLst/>
          </a:prstGeom>
          <a:solidFill>
            <a:srgbClr val="000000"/>
          </a:solidFill>
          <a:ln/>
        </p:spPr>
      </p:sp>
      <p:sp>
        <p:nvSpPr>
          <p:cNvPr id="12" name="Text 10"/>
          <p:cNvSpPr/>
          <p:nvPr/>
        </p:nvSpPr>
        <p:spPr>
          <a:xfrm>
            <a:off x="713232" y="2176272"/>
            <a:ext cx="1764792" cy="201168"/>
          </a:xfrm>
          <a:prstGeom prst="rect">
            <a:avLst/>
          </a:prstGeom>
          <a:noFill/>
          <a:ln/>
        </p:spPr>
        <p:txBody>
          <a:bodyPr wrap="square" lIns="0" tIns="0" rIns="0" bIns="0" rtlCol="0" anchor="ctr"/>
          <a:lstStyle/>
          <a:p>
            <a:pPr algn="l" indent="0" marL="0">
              <a:buNone/>
            </a:pPr>
            <a:r>
              <a:rPr lang="en-US" sz="1040" b="1" dirty="0">
                <a:solidFill>
                  <a:srgbClr val="FFFFFF"/>
                </a:solidFill>
                <a:latin typeface="Arial" pitchFamily="34" charset="0"/>
                <a:ea typeface="Arial" pitchFamily="34" charset="-122"/>
                <a:cs typeface="Arial" pitchFamily="34" charset="-120"/>
              </a:rPr>
              <a:t>Black</a:t>
            </a:r>
            <a:endParaRPr lang="en-US" sz="1040" dirty="0"/>
          </a:p>
        </p:txBody>
      </p:sp>
      <p:sp>
        <p:nvSpPr>
          <p:cNvPr id="13" name="Text 11"/>
          <p:cNvSpPr/>
          <p:nvPr/>
        </p:nvSpPr>
        <p:spPr>
          <a:xfrm>
            <a:off x="713232" y="2633472"/>
            <a:ext cx="1764792" cy="512064"/>
          </a:xfrm>
          <a:prstGeom prst="rect">
            <a:avLst/>
          </a:prstGeom>
          <a:noFill/>
          <a:ln/>
        </p:spPr>
        <p:txBody>
          <a:bodyPr wrap="square" lIns="0" tIns="0" rIns="0" bIns="0" rtlCol="0" anchor="t"/>
          <a:lstStyle/>
          <a:p>
            <a:pPr algn="l" indent="0" marL="0">
              <a:lnSpc>
                <a:spcPct val="120000"/>
              </a:lnSpc>
              <a:buNone/>
            </a:pPr>
            <a:r>
              <a:rPr lang="en-US" sz="700" dirty="0">
                <a:solidFill>
                  <a:srgbClr val="FFFFFF"/>
                </a:solidFill>
                <a:latin typeface="Arial" pitchFamily="34" charset="0"/>
                <a:ea typeface="Arial" pitchFamily="34" charset="-122"/>
                <a:cs typeface="Arial" pitchFamily="34" charset="-120"/>
              </a:rPr>
              <a:t>#000000</a:t>
            </a:r>
            <a:endParaRPr lang="en-US" sz="700" dirty="0"/>
          </a:p>
          <a:p>
            <a:pPr algn="l" indent="0" marL="0">
              <a:lnSpc>
                <a:spcPct val="120000"/>
              </a:lnSpc>
              <a:buNone/>
            </a:pPr>
            <a:r>
              <a:rPr lang="en-US" sz="700" dirty="0">
                <a:solidFill>
                  <a:srgbClr val="FFFFFF"/>
                </a:solidFill>
                <a:latin typeface="Arial" pitchFamily="34" charset="0"/>
                <a:ea typeface="Arial" pitchFamily="34" charset="-122"/>
                <a:cs typeface="Arial" pitchFamily="34" charset="-120"/>
              </a:rPr>
              <a:t>Process Black C</a:t>
            </a:r>
            <a:endParaRPr lang="en-US" sz="700" dirty="0"/>
          </a:p>
          <a:p>
            <a:pPr algn="l" indent="0" marL="0">
              <a:lnSpc>
                <a:spcPct val="120000"/>
              </a:lnSpc>
              <a:buNone/>
            </a:pPr>
            <a:r>
              <a:rPr lang="en-US" sz="700" dirty="0">
                <a:solidFill>
                  <a:srgbClr val="FFFFFF"/>
                </a:solidFill>
                <a:latin typeface="Arial" pitchFamily="34" charset="0"/>
                <a:ea typeface="Arial" pitchFamily="34" charset="-122"/>
                <a:cs typeface="Arial" pitchFamily="34" charset="-120"/>
              </a:rPr>
              <a:t>rgb 0 0 0</a:t>
            </a:r>
            <a:endParaRPr lang="en-US" sz="700" dirty="0"/>
          </a:p>
        </p:txBody>
      </p:sp>
      <p:sp>
        <p:nvSpPr>
          <p:cNvPr id="14" name="Text 12"/>
          <p:cNvSpPr/>
          <p:nvPr/>
        </p:nvSpPr>
        <p:spPr>
          <a:xfrm>
            <a:off x="566928" y="3255264"/>
            <a:ext cx="2057400" cy="457200"/>
          </a:xfrm>
          <a:prstGeom prst="rect">
            <a:avLst/>
          </a:prstGeom>
          <a:noFill/>
          <a:ln/>
        </p:spPr>
        <p:txBody>
          <a:bodyPr wrap="square" lIns="0" tIns="0" rIns="0" bIns="0" rtlCol="0" anchor="t"/>
          <a:lstStyle/>
          <a:p>
            <a:pPr algn="l" indent="0" marL="0">
              <a:lnSpc>
                <a:spcPct val="122000"/>
              </a:lnSpc>
              <a:buNone/>
            </a:pPr>
            <a:r>
              <a:rPr lang="en-US" sz="780" dirty="0">
                <a:solidFill>
                  <a:srgbClr val="3E3E3E"/>
                </a:solidFill>
                <a:latin typeface="Arial" pitchFamily="34" charset="0"/>
                <a:ea typeface="Arial" pitchFamily="34" charset="-122"/>
                <a:cs typeface="Arial" pitchFamily="34" charset="-120"/>
              </a:rPr>
              <a:t>Structure, type and the datum. The default. Carries all hierarchy.</a:t>
            </a:r>
            <a:endParaRPr lang="en-US" sz="780" dirty="0"/>
          </a:p>
        </p:txBody>
      </p:sp>
      <p:sp>
        <p:nvSpPr>
          <p:cNvPr id="15" name="Shape 13"/>
          <p:cNvSpPr/>
          <p:nvPr/>
        </p:nvSpPr>
        <p:spPr>
          <a:xfrm>
            <a:off x="2752344" y="2066544"/>
            <a:ext cx="2057400" cy="1133856"/>
          </a:xfrm>
          <a:prstGeom prst="rect">
            <a:avLst/>
          </a:prstGeom>
          <a:solidFill>
            <a:srgbClr val="FFFFFF"/>
          </a:solidFill>
          <a:ln w="12700">
            <a:solidFill>
              <a:srgbClr val="D2D2D2"/>
            </a:solidFill>
            <a:prstDash val="solid"/>
          </a:ln>
        </p:spPr>
      </p:sp>
      <p:sp>
        <p:nvSpPr>
          <p:cNvPr id="16" name="Text 14"/>
          <p:cNvSpPr/>
          <p:nvPr/>
        </p:nvSpPr>
        <p:spPr>
          <a:xfrm>
            <a:off x="2898648" y="2176272"/>
            <a:ext cx="1764792" cy="201168"/>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White</a:t>
            </a:r>
            <a:endParaRPr lang="en-US" sz="1040" dirty="0"/>
          </a:p>
        </p:txBody>
      </p:sp>
      <p:sp>
        <p:nvSpPr>
          <p:cNvPr id="17" name="Text 15"/>
          <p:cNvSpPr/>
          <p:nvPr/>
        </p:nvSpPr>
        <p:spPr>
          <a:xfrm>
            <a:off x="2898648" y="2633472"/>
            <a:ext cx="1764792" cy="512064"/>
          </a:xfrm>
          <a:prstGeom prst="rect">
            <a:avLst/>
          </a:prstGeom>
          <a:noFill/>
          <a:ln/>
        </p:spPr>
        <p:txBody>
          <a:bodyPr wrap="square" lIns="0" tIns="0" rIns="0" bIns="0" rtlCol="0" anchor="t"/>
          <a:lstStyle/>
          <a:p>
            <a:pPr algn="l" indent="0" marL="0">
              <a:lnSpc>
                <a:spcPct val="120000"/>
              </a:lnSpc>
              <a:buNone/>
            </a:pPr>
            <a:r>
              <a:rPr lang="en-US" sz="700" dirty="0">
                <a:solidFill>
                  <a:srgbClr val="1A1A1A"/>
                </a:solidFill>
                <a:latin typeface="Arial" pitchFamily="34" charset="0"/>
                <a:ea typeface="Arial" pitchFamily="34" charset="-122"/>
                <a:cs typeface="Arial" pitchFamily="34" charset="-120"/>
              </a:rPr>
              <a:t>#FFFFFF</a:t>
            </a:r>
            <a:endParaRPr lang="en-US" sz="700" dirty="0"/>
          </a:p>
          <a:p>
            <a:pPr algn="l" indent="0" marL="0">
              <a:lnSpc>
                <a:spcPct val="120000"/>
              </a:lnSpc>
              <a:buNone/>
            </a:pPr>
            <a:r>
              <a:rPr lang="en-US" sz="700" dirty="0">
                <a:solidFill>
                  <a:srgbClr val="1A1A1A"/>
                </a:solidFill>
                <a:latin typeface="Arial" pitchFamily="34" charset="0"/>
                <a:ea typeface="Arial" pitchFamily="34" charset="-122"/>
                <a:cs typeface="Arial" pitchFamily="34" charset="-120"/>
              </a:rPr>
              <a:t>White</a:t>
            </a:r>
            <a:endParaRPr lang="en-US" sz="700" dirty="0"/>
          </a:p>
          <a:p>
            <a:pPr algn="l" indent="0" marL="0">
              <a:lnSpc>
                <a:spcPct val="120000"/>
              </a:lnSpc>
              <a:buNone/>
            </a:pPr>
            <a:r>
              <a:rPr lang="en-US" sz="700" dirty="0">
                <a:solidFill>
                  <a:srgbClr val="1A1A1A"/>
                </a:solidFill>
                <a:latin typeface="Arial" pitchFamily="34" charset="0"/>
                <a:ea typeface="Arial" pitchFamily="34" charset="-122"/>
                <a:cs typeface="Arial" pitchFamily="34" charset="-120"/>
              </a:rPr>
              <a:t>rgb 255 255 255</a:t>
            </a:r>
            <a:endParaRPr lang="en-US" sz="700" dirty="0"/>
          </a:p>
        </p:txBody>
      </p:sp>
      <p:sp>
        <p:nvSpPr>
          <p:cNvPr id="18" name="Text 16"/>
          <p:cNvSpPr/>
          <p:nvPr/>
        </p:nvSpPr>
        <p:spPr>
          <a:xfrm>
            <a:off x="2752344" y="3255264"/>
            <a:ext cx="2057400" cy="457200"/>
          </a:xfrm>
          <a:prstGeom prst="rect">
            <a:avLst/>
          </a:prstGeom>
          <a:noFill/>
          <a:ln/>
        </p:spPr>
        <p:txBody>
          <a:bodyPr wrap="square" lIns="0" tIns="0" rIns="0" bIns="0" rtlCol="0" anchor="t"/>
          <a:lstStyle/>
          <a:p>
            <a:pPr algn="l" indent="0" marL="0">
              <a:lnSpc>
                <a:spcPct val="122000"/>
              </a:lnSpc>
              <a:buNone/>
            </a:pPr>
            <a:r>
              <a:rPr lang="en-US" sz="780" dirty="0">
                <a:solidFill>
                  <a:srgbClr val="3E3E3E"/>
                </a:solidFill>
                <a:latin typeface="Arial" pitchFamily="34" charset="0"/>
                <a:ea typeface="Arial" pitchFamily="34" charset="-122"/>
                <a:cs typeface="Arial" pitchFamily="34" charset="-120"/>
              </a:rPr>
              <a:t>Space, and the reversed state. Space is a material and is budgeted, not filled.</a:t>
            </a:r>
            <a:endParaRPr lang="en-US" sz="780" dirty="0"/>
          </a:p>
        </p:txBody>
      </p:sp>
      <p:sp>
        <p:nvSpPr>
          <p:cNvPr id="19" name="Shape 17"/>
          <p:cNvSpPr/>
          <p:nvPr/>
        </p:nvSpPr>
        <p:spPr>
          <a:xfrm>
            <a:off x="4937760" y="2066544"/>
            <a:ext cx="2057400" cy="1133856"/>
          </a:xfrm>
          <a:prstGeom prst="rect">
            <a:avLst/>
          </a:prstGeom>
          <a:solidFill>
            <a:srgbClr val="D31145"/>
          </a:solidFill>
          <a:ln/>
        </p:spPr>
      </p:sp>
      <p:sp>
        <p:nvSpPr>
          <p:cNvPr id="20" name="Text 18"/>
          <p:cNvSpPr/>
          <p:nvPr/>
        </p:nvSpPr>
        <p:spPr>
          <a:xfrm>
            <a:off x="5084064" y="2176272"/>
            <a:ext cx="1764792" cy="201168"/>
          </a:xfrm>
          <a:prstGeom prst="rect">
            <a:avLst/>
          </a:prstGeom>
          <a:noFill/>
          <a:ln/>
        </p:spPr>
        <p:txBody>
          <a:bodyPr wrap="square" lIns="0" tIns="0" rIns="0" bIns="0" rtlCol="0" anchor="ctr"/>
          <a:lstStyle/>
          <a:p>
            <a:pPr algn="l" indent="0" marL="0">
              <a:buNone/>
            </a:pPr>
            <a:r>
              <a:rPr lang="en-US" sz="1040" b="1" dirty="0">
                <a:solidFill>
                  <a:srgbClr val="FFFFFF"/>
                </a:solidFill>
                <a:latin typeface="Arial" pitchFamily="34" charset="0"/>
                <a:ea typeface="Arial" pitchFamily="34" charset="-122"/>
                <a:cs typeface="Arial" pitchFamily="34" charset="-120"/>
              </a:rPr>
              <a:t>Army Red</a:t>
            </a:r>
            <a:endParaRPr lang="en-US" sz="1040" dirty="0"/>
          </a:p>
        </p:txBody>
      </p:sp>
      <p:sp>
        <p:nvSpPr>
          <p:cNvPr id="21" name="Text 19"/>
          <p:cNvSpPr/>
          <p:nvPr/>
        </p:nvSpPr>
        <p:spPr>
          <a:xfrm>
            <a:off x="5084064" y="2633472"/>
            <a:ext cx="1764792" cy="512064"/>
          </a:xfrm>
          <a:prstGeom prst="rect">
            <a:avLst/>
          </a:prstGeom>
          <a:noFill/>
          <a:ln/>
        </p:spPr>
        <p:txBody>
          <a:bodyPr wrap="square" lIns="0" tIns="0" rIns="0" bIns="0" rtlCol="0" anchor="t"/>
          <a:lstStyle/>
          <a:p>
            <a:pPr algn="l" indent="0" marL="0">
              <a:lnSpc>
                <a:spcPct val="120000"/>
              </a:lnSpc>
              <a:buNone/>
            </a:pPr>
            <a:r>
              <a:rPr lang="en-US" sz="700" dirty="0">
                <a:solidFill>
                  <a:srgbClr val="FFFFFF"/>
                </a:solidFill>
                <a:latin typeface="Arial" pitchFamily="34" charset="0"/>
                <a:ea typeface="Arial" pitchFamily="34" charset="-122"/>
                <a:cs typeface="Arial" pitchFamily="34" charset="-120"/>
              </a:rPr>
              <a:t>#D31145</a:t>
            </a:r>
            <a:endParaRPr lang="en-US" sz="700" dirty="0"/>
          </a:p>
          <a:p>
            <a:pPr algn="l" indent="0" marL="0">
              <a:lnSpc>
                <a:spcPct val="120000"/>
              </a:lnSpc>
              <a:buNone/>
            </a:pPr>
            <a:r>
              <a:rPr lang="en-US" sz="700" dirty="0">
                <a:solidFill>
                  <a:srgbClr val="FFFFFF"/>
                </a:solidFill>
                <a:latin typeface="Arial" pitchFamily="34" charset="0"/>
                <a:ea typeface="Arial" pitchFamily="34" charset="-122"/>
                <a:cs typeface="Arial" pitchFamily="34" charset="-120"/>
              </a:rPr>
              <a:t>Pantone 200 C</a:t>
            </a:r>
            <a:endParaRPr lang="en-US" sz="700" dirty="0"/>
          </a:p>
          <a:p>
            <a:pPr algn="l" indent="0" marL="0">
              <a:lnSpc>
                <a:spcPct val="120000"/>
              </a:lnSpc>
              <a:buNone/>
            </a:pPr>
            <a:r>
              <a:rPr lang="en-US" sz="700" dirty="0">
                <a:solidFill>
                  <a:srgbClr val="FFFFFF"/>
                </a:solidFill>
                <a:latin typeface="Arial" pitchFamily="34" charset="0"/>
                <a:ea typeface="Arial" pitchFamily="34" charset="-122"/>
                <a:cs typeface="Arial" pitchFamily="34" charset="-120"/>
              </a:rPr>
              <a:t>rgb 211 17 69</a:t>
            </a:r>
            <a:endParaRPr lang="en-US" sz="700" dirty="0"/>
          </a:p>
        </p:txBody>
      </p:sp>
      <p:sp>
        <p:nvSpPr>
          <p:cNvPr id="22" name="Text 20"/>
          <p:cNvSpPr/>
          <p:nvPr/>
        </p:nvSpPr>
        <p:spPr>
          <a:xfrm>
            <a:off x="4937760" y="3255264"/>
            <a:ext cx="2057400" cy="457200"/>
          </a:xfrm>
          <a:prstGeom prst="rect">
            <a:avLst/>
          </a:prstGeom>
          <a:noFill/>
          <a:ln/>
        </p:spPr>
        <p:txBody>
          <a:bodyPr wrap="square" lIns="0" tIns="0" rIns="0" bIns="0" rtlCol="0" anchor="t"/>
          <a:lstStyle/>
          <a:p>
            <a:pPr algn="l" indent="0" marL="0">
              <a:lnSpc>
                <a:spcPct val="122000"/>
              </a:lnSpc>
              <a:buNone/>
            </a:pPr>
            <a:r>
              <a:rPr lang="en-US" sz="780" dirty="0">
                <a:solidFill>
                  <a:srgbClr val="3E3E3E"/>
                </a:solidFill>
                <a:latin typeface="Arial" pitchFamily="34" charset="0"/>
                <a:ea typeface="Arial" pitchFamily="34" charset="-122"/>
                <a:cs typeface="Arial" pitchFamily="34" charset="-120"/>
              </a:rPr>
              <a:t>Decision nodes, the action notation, and defined threshold states. Otherwise risk is carried by the broken datum.</a:t>
            </a:r>
            <a:endParaRPr lang="en-US" sz="780" dirty="0"/>
          </a:p>
        </p:txBody>
      </p:sp>
      <p:sp>
        <p:nvSpPr>
          <p:cNvPr id="23" name="Text 21"/>
          <p:cNvSpPr/>
          <p:nvPr/>
        </p:nvSpPr>
        <p:spPr>
          <a:xfrm>
            <a:off x="566928" y="376732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SECONDARY: CLASSIFICATION, NOT DECORATION</a:t>
            </a:r>
            <a:endParaRPr lang="en-US" sz="740" dirty="0"/>
          </a:p>
        </p:txBody>
      </p:sp>
      <p:sp>
        <p:nvSpPr>
          <p:cNvPr id="24" name="Shape 22"/>
          <p:cNvSpPr/>
          <p:nvPr/>
        </p:nvSpPr>
        <p:spPr>
          <a:xfrm>
            <a:off x="566928" y="3950208"/>
            <a:ext cx="6428232" cy="7315"/>
          </a:xfrm>
          <a:prstGeom prst="rect">
            <a:avLst/>
          </a:prstGeom>
          <a:solidFill>
            <a:srgbClr val="D2D2D2"/>
          </a:solidFill>
          <a:ln/>
        </p:spPr>
      </p:sp>
      <p:sp>
        <p:nvSpPr>
          <p:cNvPr id="25" name="Shape 23"/>
          <p:cNvSpPr/>
          <p:nvPr/>
        </p:nvSpPr>
        <p:spPr>
          <a:xfrm>
            <a:off x="566928" y="4059936"/>
            <a:ext cx="1524762" cy="585216"/>
          </a:xfrm>
          <a:prstGeom prst="rect">
            <a:avLst/>
          </a:prstGeom>
          <a:solidFill>
            <a:srgbClr val="00261B"/>
          </a:solidFill>
          <a:ln/>
        </p:spPr>
      </p:sp>
      <p:sp>
        <p:nvSpPr>
          <p:cNvPr id="26" name="Text 24"/>
          <p:cNvSpPr/>
          <p:nvPr/>
        </p:nvSpPr>
        <p:spPr>
          <a:xfrm>
            <a:off x="676656" y="4151376"/>
            <a:ext cx="1305306" cy="182880"/>
          </a:xfrm>
          <a:prstGeom prst="rect">
            <a:avLst/>
          </a:prstGeom>
          <a:noFill/>
          <a:ln/>
        </p:spPr>
        <p:txBody>
          <a:bodyPr wrap="square" lIns="0" tIns="0" rIns="0" bIns="0" rtlCol="0" anchor="ctr"/>
          <a:lstStyle/>
          <a:p>
            <a:pPr algn="l" indent="0" marL="0">
              <a:buNone/>
            </a:pPr>
            <a:r>
              <a:rPr lang="en-US" sz="760" b="1" spc="100" kern="0" dirty="0">
                <a:solidFill>
                  <a:srgbClr val="FFFFFF"/>
                </a:solidFill>
                <a:latin typeface="Arial" pitchFamily="34" charset="0"/>
                <a:ea typeface="Arial" pitchFamily="34" charset="-122"/>
                <a:cs typeface="Arial" pitchFamily="34" charset="-120"/>
              </a:rPr>
              <a:t>ANALYSIS</a:t>
            </a:r>
            <a:endParaRPr lang="en-US" sz="760" dirty="0"/>
          </a:p>
        </p:txBody>
      </p:sp>
      <p:sp>
        <p:nvSpPr>
          <p:cNvPr id="27" name="Text 25"/>
          <p:cNvSpPr/>
          <p:nvPr/>
        </p:nvSpPr>
        <p:spPr>
          <a:xfrm>
            <a:off x="676656" y="4425696"/>
            <a:ext cx="1305306" cy="146304"/>
          </a:xfrm>
          <a:prstGeom prst="rect">
            <a:avLst/>
          </a:prstGeom>
          <a:noFill/>
          <a:ln/>
        </p:spPr>
        <p:txBody>
          <a:bodyPr wrap="square" lIns="0" tIns="0" rIns="0" bIns="0" rtlCol="0" anchor="ctr"/>
          <a:lstStyle/>
          <a:p>
            <a:pPr algn="l" indent="0" marL="0">
              <a:buNone/>
            </a:pPr>
            <a:r>
              <a:rPr lang="en-US" sz="600" dirty="0">
                <a:solidFill>
                  <a:srgbClr val="D0D0D0"/>
                </a:solidFill>
                <a:latin typeface="Arial" pitchFamily="34" charset="0"/>
                <a:ea typeface="Arial" pitchFamily="34" charset="-122"/>
                <a:cs typeface="Arial" pitchFamily="34" charset="-120"/>
              </a:rPr>
              <a:t>5605 C   #00261B</a:t>
            </a:r>
            <a:endParaRPr lang="en-US" sz="600" dirty="0"/>
          </a:p>
        </p:txBody>
      </p:sp>
      <p:sp>
        <p:nvSpPr>
          <p:cNvPr id="28" name="Text 26"/>
          <p:cNvSpPr/>
          <p:nvPr/>
        </p:nvSpPr>
        <p:spPr>
          <a:xfrm>
            <a:off x="566928" y="4700016"/>
            <a:ext cx="1524762" cy="402336"/>
          </a:xfrm>
          <a:prstGeom prst="rect">
            <a:avLst/>
          </a:prstGeom>
          <a:noFill/>
          <a:ln/>
        </p:spPr>
        <p:txBody>
          <a:bodyPr wrap="square" lIns="0" tIns="0" rIns="0" bIns="0" rtlCol="0" anchor="t"/>
          <a:lstStyle/>
          <a:p>
            <a:pPr algn="l" indent="0" marL="0">
              <a:lnSpc>
                <a:spcPct val="122000"/>
              </a:lnSpc>
              <a:buNone/>
            </a:pPr>
            <a:r>
              <a:rPr lang="en-US" sz="740" dirty="0">
                <a:solidFill>
                  <a:srgbClr val="3E3E3E"/>
                </a:solidFill>
                <a:latin typeface="Arial" pitchFamily="34" charset="0"/>
                <a:ea typeface="Arial" pitchFamily="34" charset="-122"/>
                <a:cs typeface="Arial" pitchFamily="34" charset="-120"/>
              </a:rPr>
              <a:t>Evidence, research, assessment, review.</a:t>
            </a:r>
            <a:endParaRPr lang="en-US" sz="740" dirty="0"/>
          </a:p>
        </p:txBody>
      </p:sp>
      <p:sp>
        <p:nvSpPr>
          <p:cNvPr id="29" name="Shape 27"/>
          <p:cNvSpPr/>
          <p:nvPr/>
        </p:nvSpPr>
        <p:spPr>
          <a:xfrm>
            <a:off x="2201418" y="4059936"/>
            <a:ext cx="1524762" cy="585216"/>
          </a:xfrm>
          <a:prstGeom prst="rect">
            <a:avLst/>
          </a:prstGeom>
          <a:solidFill>
            <a:srgbClr val="444D06"/>
          </a:solidFill>
          <a:ln/>
        </p:spPr>
      </p:sp>
      <p:sp>
        <p:nvSpPr>
          <p:cNvPr id="30" name="Text 28"/>
          <p:cNvSpPr/>
          <p:nvPr/>
        </p:nvSpPr>
        <p:spPr>
          <a:xfrm>
            <a:off x="2311146" y="4151376"/>
            <a:ext cx="1305306" cy="182880"/>
          </a:xfrm>
          <a:prstGeom prst="rect">
            <a:avLst/>
          </a:prstGeom>
          <a:noFill/>
          <a:ln/>
        </p:spPr>
        <p:txBody>
          <a:bodyPr wrap="square" lIns="0" tIns="0" rIns="0" bIns="0" rtlCol="0" anchor="ctr"/>
          <a:lstStyle/>
          <a:p>
            <a:pPr algn="l" indent="0" marL="0">
              <a:buNone/>
            </a:pPr>
            <a:r>
              <a:rPr lang="en-US" sz="760" b="1" spc="100" kern="0" dirty="0">
                <a:solidFill>
                  <a:srgbClr val="FFFFFF"/>
                </a:solidFill>
                <a:latin typeface="Arial" pitchFamily="34" charset="0"/>
                <a:ea typeface="Arial" pitchFamily="34" charset="-122"/>
                <a:cs typeface="Arial" pitchFamily="34" charset="-120"/>
              </a:rPr>
              <a:t>DELIVERY</a:t>
            </a:r>
            <a:endParaRPr lang="en-US" sz="760" dirty="0"/>
          </a:p>
        </p:txBody>
      </p:sp>
      <p:sp>
        <p:nvSpPr>
          <p:cNvPr id="31" name="Text 29"/>
          <p:cNvSpPr/>
          <p:nvPr/>
        </p:nvSpPr>
        <p:spPr>
          <a:xfrm>
            <a:off x="2311146" y="4425696"/>
            <a:ext cx="1305306" cy="146304"/>
          </a:xfrm>
          <a:prstGeom prst="rect">
            <a:avLst/>
          </a:prstGeom>
          <a:noFill/>
          <a:ln/>
        </p:spPr>
        <p:txBody>
          <a:bodyPr wrap="square" lIns="0" tIns="0" rIns="0" bIns="0" rtlCol="0" anchor="ctr"/>
          <a:lstStyle/>
          <a:p>
            <a:pPr algn="l" indent="0" marL="0">
              <a:buNone/>
            </a:pPr>
            <a:r>
              <a:rPr lang="en-US" sz="600" dirty="0">
                <a:solidFill>
                  <a:srgbClr val="D0D0D0"/>
                </a:solidFill>
                <a:latin typeface="Arial" pitchFamily="34" charset="0"/>
                <a:ea typeface="Arial" pitchFamily="34" charset="-122"/>
                <a:cs typeface="Arial" pitchFamily="34" charset="-120"/>
              </a:rPr>
              <a:t>5747 C   #444D06</a:t>
            </a:r>
            <a:endParaRPr lang="en-US" sz="600" dirty="0"/>
          </a:p>
        </p:txBody>
      </p:sp>
      <p:sp>
        <p:nvSpPr>
          <p:cNvPr id="32" name="Text 30"/>
          <p:cNvSpPr/>
          <p:nvPr/>
        </p:nvSpPr>
        <p:spPr>
          <a:xfrm>
            <a:off x="2201418" y="4700016"/>
            <a:ext cx="1524762" cy="402336"/>
          </a:xfrm>
          <a:prstGeom prst="rect">
            <a:avLst/>
          </a:prstGeom>
          <a:noFill/>
          <a:ln/>
        </p:spPr>
        <p:txBody>
          <a:bodyPr wrap="square" lIns="0" tIns="0" rIns="0" bIns="0" rtlCol="0" anchor="t"/>
          <a:lstStyle/>
          <a:p>
            <a:pPr algn="l" indent="0" marL="0">
              <a:lnSpc>
                <a:spcPct val="122000"/>
              </a:lnSpc>
              <a:buNone/>
            </a:pPr>
            <a:r>
              <a:rPr lang="en-US" sz="740" dirty="0">
                <a:solidFill>
                  <a:srgbClr val="3E3E3E"/>
                </a:solidFill>
                <a:latin typeface="Arial" pitchFamily="34" charset="0"/>
                <a:ea typeface="Arial" pitchFamily="34" charset="-122"/>
                <a:cs typeface="Arial" pitchFamily="34" charset="-120"/>
              </a:rPr>
              <a:t>Products, references, training material.</a:t>
            </a:r>
            <a:endParaRPr lang="en-US" sz="740" dirty="0"/>
          </a:p>
        </p:txBody>
      </p:sp>
      <p:sp>
        <p:nvSpPr>
          <p:cNvPr id="33" name="Shape 31"/>
          <p:cNvSpPr/>
          <p:nvPr/>
        </p:nvSpPr>
        <p:spPr>
          <a:xfrm>
            <a:off x="3835908" y="4059936"/>
            <a:ext cx="1524762" cy="585216"/>
          </a:xfrm>
          <a:prstGeom prst="rect">
            <a:avLst/>
          </a:prstGeom>
          <a:solidFill>
            <a:srgbClr val="B3A650"/>
          </a:solidFill>
          <a:ln/>
        </p:spPr>
      </p:sp>
      <p:sp>
        <p:nvSpPr>
          <p:cNvPr id="34" name="Text 32"/>
          <p:cNvSpPr/>
          <p:nvPr/>
        </p:nvSpPr>
        <p:spPr>
          <a:xfrm>
            <a:off x="3945636" y="4151376"/>
            <a:ext cx="1305306" cy="182880"/>
          </a:xfrm>
          <a:prstGeom prst="rect">
            <a:avLst/>
          </a:prstGeom>
          <a:noFill/>
          <a:ln/>
        </p:spPr>
        <p:txBody>
          <a:bodyPr wrap="square" lIns="0" tIns="0" rIns="0" bIns="0" rtlCol="0" anchor="ctr"/>
          <a:lstStyle/>
          <a:p>
            <a:pPr algn="l" indent="0" marL="0">
              <a:buNone/>
            </a:pPr>
            <a:r>
              <a:rPr lang="en-US" sz="760" b="1" spc="100" kern="0" dirty="0">
                <a:solidFill>
                  <a:srgbClr val="1A1A1A"/>
                </a:solidFill>
                <a:latin typeface="Arial" pitchFamily="34" charset="0"/>
                <a:ea typeface="Arial" pitchFamily="34" charset="-122"/>
                <a:cs typeface="Arial" pitchFamily="34" charset="-120"/>
              </a:rPr>
              <a:t>LAYERING</a:t>
            </a:r>
            <a:endParaRPr lang="en-US" sz="760" dirty="0"/>
          </a:p>
        </p:txBody>
      </p:sp>
      <p:sp>
        <p:nvSpPr>
          <p:cNvPr id="35" name="Text 33"/>
          <p:cNvSpPr/>
          <p:nvPr/>
        </p:nvSpPr>
        <p:spPr>
          <a:xfrm>
            <a:off x="3945636" y="4425696"/>
            <a:ext cx="1305306" cy="146304"/>
          </a:xfrm>
          <a:prstGeom prst="rect">
            <a:avLst/>
          </a:prstGeom>
          <a:noFill/>
          <a:ln/>
        </p:spPr>
        <p:txBody>
          <a:bodyPr wrap="square" lIns="0" tIns="0" rIns="0" bIns="0" rtlCol="0" anchor="ctr"/>
          <a:lstStyle/>
          <a:p>
            <a:pPr algn="l" indent="0" marL="0">
              <a:buNone/>
            </a:pPr>
            <a:r>
              <a:rPr lang="en-US" sz="600" dirty="0">
                <a:solidFill>
                  <a:srgbClr val="3E3E3E"/>
                </a:solidFill>
                <a:latin typeface="Arial" pitchFamily="34" charset="0"/>
                <a:ea typeface="Arial" pitchFamily="34" charset="-122"/>
                <a:cs typeface="Arial" pitchFamily="34" charset="-120"/>
              </a:rPr>
              <a:t>5853 C   #B3A650</a:t>
            </a:r>
            <a:endParaRPr lang="en-US" sz="600" dirty="0"/>
          </a:p>
        </p:txBody>
      </p:sp>
      <p:sp>
        <p:nvSpPr>
          <p:cNvPr id="36" name="Text 34"/>
          <p:cNvSpPr/>
          <p:nvPr/>
        </p:nvSpPr>
        <p:spPr>
          <a:xfrm>
            <a:off x="3835908" y="4700016"/>
            <a:ext cx="1524762" cy="402336"/>
          </a:xfrm>
          <a:prstGeom prst="rect">
            <a:avLst/>
          </a:prstGeom>
          <a:noFill/>
          <a:ln/>
        </p:spPr>
        <p:txBody>
          <a:bodyPr wrap="square" lIns="0" tIns="0" rIns="0" bIns="0" rtlCol="0" anchor="t"/>
          <a:lstStyle/>
          <a:p>
            <a:pPr algn="l" indent="0" marL="0">
              <a:lnSpc>
                <a:spcPct val="122000"/>
              </a:lnSpc>
              <a:buNone/>
            </a:pPr>
            <a:r>
              <a:rPr lang="en-US" sz="740" dirty="0">
                <a:solidFill>
                  <a:srgbClr val="3E3E3E"/>
                </a:solidFill>
                <a:latin typeface="Arial" pitchFamily="34" charset="0"/>
                <a:ea typeface="Arial" pitchFamily="34" charset="-122"/>
                <a:cs typeface="Arial" pitchFamily="34" charset="-120"/>
              </a:rPr>
              <a:t>Secondary surfaces, table banding, inactive states.</a:t>
            </a:r>
            <a:endParaRPr lang="en-US" sz="740" dirty="0"/>
          </a:p>
        </p:txBody>
      </p:sp>
      <p:sp>
        <p:nvSpPr>
          <p:cNvPr id="37" name="Shape 35"/>
          <p:cNvSpPr/>
          <p:nvPr/>
        </p:nvSpPr>
        <p:spPr>
          <a:xfrm>
            <a:off x="5470398" y="4059936"/>
            <a:ext cx="1524762" cy="585216"/>
          </a:xfrm>
          <a:prstGeom prst="rect">
            <a:avLst/>
          </a:prstGeom>
          <a:solidFill>
            <a:srgbClr val="DFD8AD"/>
          </a:solidFill>
          <a:ln/>
        </p:spPr>
      </p:sp>
      <p:sp>
        <p:nvSpPr>
          <p:cNvPr id="38" name="Text 36"/>
          <p:cNvSpPr/>
          <p:nvPr/>
        </p:nvSpPr>
        <p:spPr>
          <a:xfrm>
            <a:off x="5580126" y="4151376"/>
            <a:ext cx="1305306" cy="182880"/>
          </a:xfrm>
          <a:prstGeom prst="rect">
            <a:avLst/>
          </a:prstGeom>
          <a:noFill/>
          <a:ln/>
        </p:spPr>
        <p:txBody>
          <a:bodyPr wrap="square" lIns="0" tIns="0" rIns="0" bIns="0" rtlCol="0" anchor="ctr"/>
          <a:lstStyle/>
          <a:p>
            <a:pPr algn="l" indent="0" marL="0">
              <a:buNone/>
            </a:pPr>
            <a:r>
              <a:rPr lang="en-US" sz="760" b="1" spc="100" kern="0" dirty="0">
                <a:solidFill>
                  <a:srgbClr val="1A1A1A"/>
                </a:solidFill>
                <a:latin typeface="Arial" pitchFamily="34" charset="0"/>
                <a:ea typeface="Arial" pitchFamily="34" charset="-122"/>
                <a:cs typeface="Arial" pitchFamily="34" charset="-120"/>
              </a:rPr>
              <a:t>GROUND</a:t>
            </a:r>
            <a:endParaRPr lang="en-US" sz="760" dirty="0"/>
          </a:p>
        </p:txBody>
      </p:sp>
      <p:sp>
        <p:nvSpPr>
          <p:cNvPr id="39" name="Text 37"/>
          <p:cNvSpPr/>
          <p:nvPr/>
        </p:nvSpPr>
        <p:spPr>
          <a:xfrm>
            <a:off x="5580126" y="4425696"/>
            <a:ext cx="1305306" cy="146304"/>
          </a:xfrm>
          <a:prstGeom prst="rect">
            <a:avLst/>
          </a:prstGeom>
          <a:noFill/>
          <a:ln/>
        </p:spPr>
        <p:txBody>
          <a:bodyPr wrap="square" lIns="0" tIns="0" rIns="0" bIns="0" rtlCol="0" anchor="ctr"/>
          <a:lstStyle/>
          <a:p>
            <a:pPr algn="l" indent="0" marL="0">
              <a:buNone/>
            </a:pPr>
            <a:r>
              <a:rPr lang="en-US" sz="600" dirty="0">
                <a:solidFill>
                  <a:srgbClr val="3E3E3E"/>
                </a:solidFill>
                <a:latin typeface="Arial" pitchFamily="34" charset="0"/>
                <a:ea typeface="Arial" pitchFamily="34" charset="-122"/>
                <a:cs typeface="Arial" pitchFamily="34" charset="-120"/>
              </a:rPr>
              <a:t>5855 C   #DFD8AD</a:t>
            </a:r>
            <a:endParaRPr lang="en-US" sz="600" dirty="0"/>
          </a:p>
        </p:txBody>
      </p:sp>
      <p:sp>
        <p:nvSpPr>
          <p:cNvPr id="40" name="Text 38"/>
          <p:cNvSpPr/>
          <p:nvPr/>
        </p:nvSpPr>
        <p:spPr>
          <a:xfrm>
            <a:off x="5470398" y="4700016"/>
            <a:ext cx="1524762" cy="402336"/>
          </a:xfrm>
          <a:prstGeom prst="rect">
            <a:avLst/>
          </a:prstGeom>
          <a:noFill/>
          <a:ln/>
        </p:spPr>
        <p:txBody>
          <a:bodyPr wrap="square" lIns="0" tIns="0" rIns="0" bIns="0" rtlCol="0" anchor="t"/>
          <a:lstStyle/>
          <a:p>
            <a:pPr algn="l" indent="0" marL="0">
              <a:lnSpc>
                <a:spcPct val="122000"/>
              </a:lnSpc>
              <a:buNone/>
            </a:pPr>
            <a:r>
              <a:rPr lang="en-US" sz="740" dirty="0">
                <a:solidFill>
                  <a:srgbClr val="3E3E3E"/>
                </a:solidFill>
                <a:latin typeface="Arial" pitchFamily="34" charset="0"/>
                <a:ea typeface="Arial" pitchFamily="34" charset="-122"/>
                <a:cs typeface="Arial" pitchFamily="34" charset="-120"/>
              </a:rPr>
              <a:t>Panels and callouts beneath text. Never text itself.</a:t>
            </a:r>
            <a:endParaRPr lang="en-US" sz="740" dirty="0"/>
          </a:p>
        </p:txBody>
      </p:sp>
      <p:sp>
        <p:nvSpPr>
          <p:cNvPr id="41" name="Text 39"/>
          <p:cNvSpPr/>
          <p:nvPr/>
        </p:nvSpPr>
        <p:spPr>
          <a:xfrm>
            <a:off x="566928" y="524865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PROPORTION RULE</a:t>
            </a:r>
            <a:endParaRPr lang="en-US" sz="740" dirty="0"/>
          </a:p>
        </p:txBody>
      </p:sp>
      <p:sp>
        <p:nvSpPr>
          <p:cNvPr id="42" name="Shape 40"/>
          <p:cNvSpPr/>
          <p:nvPr/>
        </p:nvSpPr>
        <p:spPr>
          <a:xfrm>
            <a:off x="566928" y="5431536"/>
            <a:ext cx="6428232" cy="7315"/>
          </a:xfrm>
          <a:prstGeom prst="rect">
            <a:avLst/>
          </a:prstGeom>
          <a:solidFill>
            <a:srgbClr val="D2D2D2"/>
          </a:solidFill>
          <a:ln/>
        </p:spPr>
      </p:sp>
      <p:pic>
        <p:nvPicPr>
          <p:cNvPr id="43" name="Image 0" descr="preencoded.png">    </p:cNvPr>
          <p:cNvPicPr>
            <a:picLocks noChangeAspect="1"/>
          </p:cNvPicPr>
          <p:nvPr/>
        </p:nvPicPr>
        <p:blipFill>
          <a:blip r:embed="rId1"/>
          <a:stretch>
            <a:fillRect/>
          </a:stretch>
        </p:blipFill>
        <p:spPr>
          <a:xfrm>
            <a:off x="566928" y="5541264"/>
            <a:ext cx="6428232" cy="457119"/>
          </a:xfrm>
          <a:prstGeom prst="rect">
            <a:avLst/>
          </a:prstGeom>
        </p:spPr>
      </p:pic>
      <p:sp>
        <p:nvSpPr>
          <p:cNvPr id="44" name="Text 41"/>
          <p:cNvSpPr/>
          <p:nvPr/>
        </p:nvSpPr>
        <p:spPr>
          <a:xfrm>
            <a:off x="566928" y="6108111"/>
            <a:ext cx="6428232" cy="566928"/>
          </a:xfrm>
          <a:prstGeom prst="rect">
            <a:avLst/>
          </a:prstGeom>
          <a:noFill/>
          <a:ln/>
        </p:spPr>
        <p:txBody>
          <a:bodyPr wrap="square" lIns="0" tIns="0" rIns="0" bIns="0" rtlCol="0" anchor="t"/>
          <a:lstStyle/>
          <a:p>
            <a:pPr algn="l" indent="0" marL="0">
              <a:lnSpc>
                <a:spcPct val="122000"/>
              </a:lnSpc>
              <a:buNone/>
            </a:pPr>
            <a:r>
              <a:rPr lang="en-US" sz="880" dirty="0">
                <a:solidFill>
                  <a:srgbClr val="1A1A1A"/>
                </a:solidFill>
                <a:latin typeface="Arial" pitchFamily="34" charset="0"/>
                <a:ea typeface="Arial" pitchFamily="34" charset="-122"/>
                <a:cs typeface="Arial" pitchFamily="34" charset="-120"/>
              </a:rPr>
              <a:t>Red never exceeds five per cent of any surface. This is the only hard numerical constraint in the colour system, and it is the one that keeps the signal working. A page where red marks four decision nodes tells the reader something. A page where red also carries headings, rules and callouts tells them nothing.</a:t>
            </a:r>
            <a:endParaRPr lang="en-US" sz="880" dirty="0"/>
          </a:p>
        </p:txBody>
      </p:sp>
      <p:sp>
        <p:nvSpPr>
          <p:cNvPr id="45" name="Text 42"/>
          <p:cNvSpPr/>
          <p:nvPr/>
        </p:nvSpPr>
        <p:spPr>
          <a:xfrm>
            <a:off x="566928" y="6784767"/>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MONO AND ACCESSIBILITY</a:t>
            </a:r>
            <a:endParaRPr lang="en-US" sz="740" dirty="0"/>
          </a:p>
        </p:txBody>
      </p:sp>
      <p:sp>
        <p:nvSpPr>
          <p:cNvPr id="46" name="Shape 43"/>
          <p:cNvSpPr/>
          <p:nvPr/>
        </p:nvSpPr>
        <p:spPr>
          <a:xfrm>
            <a:off x="566928" y="6967647"/>
            <a:ext cx="6428232" cy="7315"/>
          </a:xfrm>
          <a:prstGeom prst="rect">
            <a:avLst/>
          </a:prstGeom>
          <a:solidFill>
            <a:srgbClr val="D2D2D2"/>
          </a:solidFill>
          <a:ln/>
        </p:spPr>
      </p:sp>
      <p:sp>
        <p:nvSpPr>
          <p:cNvPr id="47" name="Text 44"/>
          <p:cNvSpPr/>
          <p:nvPr/>
        </p:nvSpPr>
        <p:spPr>
          <a:xfrm>
            <a:off x="566928" y="7077375"/>
            <a:ext cx="6428232" cy="1645920"/>
          </a:xfrm>
          <a:prstGeom prst="rect">
            <a:avLst/>
          </a:prstGeom>
          <a:noFill/>
          <a:ln/>
        </p:spPr>
        <p:txBody>
          <a:bodyPr wrap="square" lIns="0" tIns="0" rIns="0" bIns="0" rtlCol="0" anchor="t"/>
          <a:lstStyle/>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Every artefact must survive a mono print with no loss of meaning. Classification is therefore carried by the notation mark as well as by colour, never by colour alone.</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Body text is black on white or white on black. The greens are never used for running text.</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Army Red on white calculates at roughly 5.3 to 1, which passes AA for body text; Army Red on black fails and is not permitted for type. Every claim here is re-verified with accredited tooling at step 03, and the repository tests contrast, minimum sizes, mono output and reduced motion automatically.</a:t>
            </a:r>
            <a:endParaRPr lang="en-US" sz="860" dirty="0"/>
          </a:p>
          <a:p>
            <a:pPr algn="l" marL="177800" indent="-177800">
              <a:lnSpc>
                <a:spcPct val="122000"/>
              </a:lnSpc>
              <a:spcAft>
                <a:spcPts val="500"/>
              </a:spcAft>
              <a:buSzPct val="100000"/>
              <a:buChar char="–"/>
            </a:pPr>
            <a:r>
              <a:rPr lang="en-US" sz="860" dirty="0">
                <a:solidFill>
                  <a:srgbClr val="1A1A1A"/>
                </a:solidFill>
                <a:latin typeface="Arial" pitchFamily="34" charset="0"/>
                <a:ea typeface="Arial" pitchFamily="34" charset="-122"/>
                <a:cs typeface="Arial" pitchFamily="34" charset="-120"/>
              </a:rPr>
              <a:t>Colour blindness affects roughly one in twelve men. Red against the four greens is the least safe pairing in the palette, which is a further reason red is reserved for a marker shape rather than a fill.</a:t>
            </a:r>
            <a:endParaRPr lang="en-US" sz="8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ARCHITECTURE</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16</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Information architecture</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Twelve content types, each with a fixed treatment. A reader should be able to tell what kind of thing they are holding before they have read a word of it.</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7393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COMPONENT</a:t>
            </a:r>
            <a:endParaRPr lang="en-US" sz="740" dirty="0"/>
          </a:p>
        </p:txBody>
      </p:sp>
      <p:sp>
        <p:nvSpPr>
          <p:cNvPr id="10" name="Shape 8"/>
          <p:cNvSpPr/>
          <p:nvPr/>
        </p:nvSpPr>
        <p:spPr>
          <a:xfrm>
            <a:off x="566928" y="1956816"/>
            <a:ext cx="6428232" cy="7315"/>
          </a:xfrm>
          <a:prstGeom prst="rect">
            <a:avLst/>
          </a:prstGeom>
          <a:solidFill>
            <a:srgbClr val="D2D2D2"/>
          </a:solidFill>
          <a:ln/>
        </p:spPr>
      </p:sp>
      <p:sp>
        <p:nvSpPr>
          <p:cNvPr id="11" name="Text 9"/>
          <p:cNvSpPr/>
          <p:nvPr/>
        </p:nvSpPr>
        <p:spPr>
          <a:xfrm>
            <a:off x="566928" y="2066544"/>
            <a:ext cx="6428232" cy="914400"/>
          </a:xfrm>
          <a:prstGeom prst="rect">
            <a:avLst/>
          </a:prstGeom>
          <a:noFill/>
          <a:ln/>
        </p:spPr>
        <p:txBody>
          <a:bodyPr wrap="square" lIns="0" tIns="0" rIns="0" bIns="0" rtlCol="0" anchor="t"/>
          <a:lstStyle/>
          <a:p>
            <a:pPr algn="l" indent="0" marL="0">
              <a:lnSpc>
                <a:spcPct val="122000"/>
              </a:lnSpc>
              <a:buNone/>
            </a:pPr>
            <a:r>
              <a:rPr lang="en-US" sz="900" dirty="0">
                <a:solidFill>
                  <a:srgbClr val="1A1A1A"/>
                </a:solidFill>
                <a:latin typeface="Arial" pitchFamily="34" charset="0"/>
                <a:ea typeface="Arial" pitchFamily="34" charset="-122"/>
                <a:cs typeface="Arial" pitchFamily="34" charset="-120"/>
              </a:rPr>
              <a:t>Every piece of Combat Mindset content is presented in the same component: a notation mark, a type label, an identifier, a title, and a status line. The component is identical in print, in a slide, in a repository and on a phone; only its scale changes. Identifiers separate content type, item and version, because a number that means two things eventually means nothing. The scheme shown is illustrative: allocation authority, and its relationship to existing Army and NZDF reference series, is resolved at step 03 before any identifier is issued. The pilot also tests whether some types are better held as status or relationship metadata than as primary types.</a:t>
            </a:r>
            <a:endParaRPr lang="en-US" sz="900" dirty="0"/>
          </a:p>
        </p:txBody>
      </p:sp>
      <p:sp>
        <p:nvSpPr>
          <p:cNvPr id="12" name="Shape 10"/>
          <p:cNvSpPr/>
          <p:nvPr/>
        </p:nvSpPr>
        <p:spPr>
          <a:xfrm>
            <a:off x="566928" y="3072384"/>
            <a:ext cx="6428232" cy="914400"/>
          </a:xfrm>
          <a:prstGeom prst="rect">
            <a:avLst/>
          </a:prstGeom>
          <a:solidFill>
            <a:srgbClr val="FFFFFF"/>
          </a:solidFill>
          <a:ln w="12700">
            <a:solidFill>
              <a:srgbClr val="D2D2D2"/>
            </a:solidFill>
            <a:prstDash val="solid"/>
          </a:ln>
        </p:spPr>
      </p:sp>
      <p:sp>
        <p:nvSpPr>
          <p:cNvPr id="13" name="Shape 11"/>
          <p:cNvSpPr/>
          <p:nvPr/>
        </p:nvSpPr>
        <p:spPr>
          <a:xfrm>
            <a:off x="566928" y="3072384"/>
            <a:ext cx="45720" cy="914400"/>
          </a:xfrm>
          <a:prstGeom prst="rect">
            <a:avLst/>
          </a:prstGeom>
          <a:solidFill>
            <a:srgbClr val="00261B"/>
          </a:solidFill>
          <a:ln/>
        </p:spPr>
      </p:sp>
      <p:pic>
        <p:nvPicPr>
          <p:cNvPr id="14" name="Image 0" descr="preencoded.png">    </p:cNvPr>
          <p:cNvPicPr>
            <a:picLocks noChangeAspect="1"/>
          </p:cNvPicPr>
          <p:nvPr/>
        </p:nvPicPr>
        <p:blipFill>
          <a:blip r:embed="rId1"/>
          <a:stretch>
            <a:fillRect/>
          </a:stretch>
        </p:blipFill>
        <p:spPr>
          <a:xfrm>
            <a:off x="786384" y="3273552"/>
            <a:ext cx="457200" cy="457200"/>
          </a:xfrm>
          <a:prstGeom prst="rect">
            <a:avLst/>
          </a:prstGeom>
        </p:spPr>
      </p:pic>
      <p:sp>
        <p:nvSpPr>
          <p:cNvPr id="15" name="Text 12"/>
          <p:cNvSpPr/>
          <p:nvPr/>
        </p:nvSpPr>
        <p:spPr>
          <a:xfrm>
            <a:off x="1371600" y="3255264"/>
            <a:ext cx="1828800" cy="182880"/>
          </a:xfrm>
          <a:prstGeom prst="rect">
            <a:avLst/>
          </a:prstGeom>
          <a:noFill/>
          <a:ln/>
        </p:spPr>
        <p:txBody>
          <a:bodyPr wrap="square" lIns="0" tIns="0" rIns="0" bIns="0" rtlCol="0" anchor="ctr"/>
          <a:lstStyle/>
          <a:p>
            <a:pPr algn="l" indent="0" marL="0">
              <a:buNone/>
            </a:pPr>
            <a:r>
              <a:rPr lang="en-US" sz="740" b="1" spc="140" kern="0" dirty="0">
                <a:solidFill>
                  <a:srgbClr val="00261B"/>
                </a:solidFill>
                <a:latin typeface="Arial" pitchFamily="34" charset="0"/>
                <a:ea typeface="Arial" pitchFamily="34" charset="-122"/>
                <a:cs typeface="Arial" pitchFamily="34" charset="-120"/>
              </a:rPr>
              <a:t>EVIDENCE</a:t>
            </a:r>
            <a:endParaRPr lang="en-US" sz="740" dirty="0"/>
          </a:p>
        </p:txBody>
      </p:sp>
      <p:sp>
        <p:nvSpPr>
          <p:cNvPr id="16" name="Text 13"/>
          <p:cNvSpPr/>
          <p:nvPr/>
        </p:nvSpPr>
        <p:spPr>
          <a:xfrm>
            <a:off x="1371600" y="3419856"/>
            <a:ext cx="1828800" cy="182880"/>
          </a:xfrm>
          <a:prstGeom prst="rect">
            <a:avLst/>
          </a:prstGeom>
          <a:noFill/>
          <a:ln/>
        </p:spPr>
        <p:txBody>
          <a:bodyPr wrap="square" lIns="0" tIns="0" rIns="0" bIns="0" rtlCol="0" anchor="ctr"/>
          <a:lstStyle/>
          <a:p>
            <a:pPr algn="l" indent="0" marL="0">
              <a:buNone/>
            </a:pPr>
            <a:r>
              <a:rPr lang="en-US" sz="700" spc="80" kern="0" dirty="0">
                <a:solidFill>
                  <a:srgbClr val="6E6E6E"/>
                </a:solidFill>
                <a:latin typeface="Arial" pitchFamily="34" charset="0"/>
                <a:ea typeface="Arial" pitchFamily="34" charset="-122"/>
                <a:cs typeface="Arial" pitchFamily="34" charset="-120"/>
              </a:rPr>
              <a:t>CM-EVD-004  v0.3</a:t>
            </a:r>
            <a:endParaRPr lang="en-US" sz="700" dirty="0"/>
          </a:p>
        </p:txBody>
      </p:sp>
      <p:sp>
        <p:nvSpPr>
          <p:cNvPr id="17" name="Text 14"/>
          <p:cNvSpPr/>
          <p:nvPr/>
        </p:nvSpPr>
        <p:spPr>
          <a:xfrm>
            <a:off x="3310128" y="3255264"/>
            <a:ext cx="3319272" cy="237744"/>
          </a:xfrm>
          <a:prstGeom prst="rect">
            <a:avLst/>
          </a:prstGeom>
          <a:noFill/>
          <a:ln/>
        </p:spPr>
        <p:txBody>
          <a:bodyPr wrap="square" lIns="0" tIns="0" rIns="0" bIns="0" rtlCol="0" anchor="ctr"/>
          <a:lstStyle/>
          <a:p>
            <a:pPr algn="l" indent="0" marL="0">
              <a:buNone/>
            </a:pPr>
            <a:r>
              <a:rPr lang="en-US" sz="1040" b="1" dirty="0">
                <a:solidFill>
                  <a:srgbClr val="1A1A1A"/>
                </a:solidFill>
                <a:latin typeface="Arial" pitchFamily="34" charset="0"/>
                <a:ea typeface="Arial" pitchFamily="34" charset="-122"/>
                <a:cs typeface="Arial" pitchFamily="34" charset="-120"/>
              </a:rPr>
              <a:t>Cognitive load and decision quality under physical stress</a:t>
            </a:r>
            <a:endParaRPr lang="en-US" sz="1040" dirty="0"/>
          </a:p>
        </p:txBody>
      </p:sp>
      <p:sp>
        <p:nvSpPr>
          <p:cNvPr id="18" name="Text 15"/>
          <p:cNvSpPr/>
          <p:nvPr/>
        </p:nvSpPr>
        <p:spPr>
          <a:xfrm>
            <a:off x="3310128" y="3511296"/>
            <a:ext cx="3319272" cy="182880"/>
          </a:xfrm>
          <a:prstGeom prst="rect">
            <a:avLst/>
          </a:prstGeom>
          <a:noFill/>
          <a:ln/>
        </p:spPr>
        <p:txBody>
          <a:bodyPr wrap="square" lIns="0" tIns="0" rIns="0" bIns="0" rtlCol="0" anchor="ctr"/>
          <a:lstStyle/>
          <a:p>
            <a:pPr algn="l" indent="0" marL="0">
              <a:buNone/>
            </a:pPr>
            <a:r>
              <a:rPr lang="en-US" sz="760" dirty="0">
                <a:solidFill>
                  <a:srgbClr val="6E6E6E"/>
                </a:solidFill>
                <a:latin typeface="Arial" pitchFamily="34" charset="0"/>
                <a:ea typeface="Arial" pitchFamily="34" charset="-122"/>
                <a:cs typeface="Arial" pitchFamily="34" charset="-120"/>
              </a:rPr>
              <a:t>Endorsed  |  Reviewed Aug 2026  |  Owner NZALC</a:t>
            </a:r>
            <a:endParaRPr lang="en-US" sz="760" dirty="0"/>
          </a:p>
        </p:txBody>
      </p:sp>
      <p:sp>
        <p:nvSpPr>
          <p:cNvPr id="19" name="Text 16"/>
          <p:cNvSpPr/>
          <p:nvPr/>
        </p:nvSpPr>
        <p:spPr>
          <a:xfrm>
            <a:off x="786384" y="4005072"/>
            <a:ext cx="1828800" cy="146304"/>
          </a:xfrm>
          <a:prstGeom prst="rect">
            <a:avLst/>
          </a:prstGeom>
          <a:noFill/>
          <a:ln/>
        </p:spPr>
        <p:txBody>
          <a:bodyPr wrap="square" lIns="0" tIns="0" rIns="0" bIns="0" rtlCol="0" anchor="ctr"/>
          <a:lstStyle/>
          <a:p>
            <a:pPr algn="l" indent="0" marL="0">
              <a:buNone/>
            </a:pPr>
            <a:r>
              <a:rPr lang="en-US" sz="640" i="1" dirty="0">
                <a:solidFill>
                  <a:srgbClr val="D31145"/>
                </a:solidFill>
                <a:latin typeface="Arial" pitchFamily="34" charset="0"/>
                <a:ea typeface="Arial" pitchFamily="34" charset="-122"/>
                <a:cs typeface="Arial" pitchFamily="34" charset="-120"/>
              </a:rPr>
              <a:t>notation</a:t>
            </a:r>
            <a:endParaRPr lang="en-US" sz="640" dirty="0"/>
          </a:p>
        </p:txBody>
      </p:sp>
      <p:sp>
        <p:nvSpPr>
          <p:cNvPr id="20" name="Text 17"/>
          <p:cNvSpPr/>
          <p:nvPr/>
        </p:nvSpPr>
        <p:spPr>
          <a:xfrm>
            <a:off x="1371600" y="4005072"/>
            <a:ext cx="1828800" cy="146304"/>
          </a:xfrm>
          <a:prstGeom prst="rect">
            <a:avLst/>
          </a:prstGeom>
          <a:noFill/>
          <a:ln/>
        </p:spPr>
        <p:txBody>
          <a:bodyPr wrap="square" lIns="0" tIns="0" rIns="0" bIns="0" rtlCol="0" anchor="ctr"/>
          <a:lstStyle/>
          <a:p>
            <a:pPr algn="l" indent="0" marL="0">
              <a:buNone/>
            </a:pPr>
            <a:r>
              <a:rPr lang="en-US" sz="640" i="1" dirty="0">
                <a:solidFill>
                  <a:srgbClr val="D31145"/>
                </a:solidFill>
                <a:latin typeface="Arial" pitchFamily="34" charset="0"/>
                <a:ea typeface="Arial" pitchFamily="34" charset="-122"/>
                <a:cs typeface="Arial" pitchFamily="34" charset="-120"/>
              </a:rPr>
              <a:t>type and reference</a:t>
            </a:r>
            <a:endParaRPr lang="en-US" sz="640" dirty="0"/>
          </a:p>
        </p:txBody>
      </p:sp>
      <p:sp>
        <p:nvSpPr>
          <p:cNvPr id="21" name="Text 18"/>
          <p:cNvSpPr/>
          <p:nvPr/>
        </p:nvSpPr>
        <p:spPr>
          <a:xfrm>
            <a:off x="3310128" y="4005072"/>
            <a:ext cx="1828800" cy="146304"/>
          </a:xfrm>
          <a:prstGeom prst="rect">
            <a:avLst/>
          </a:prstGeom>
          <a:noFill/>
          <a:ln/>
        </p:spPr>
        <p:txBody>
          <a:bodyPr wrap="square" lIns="0" tIns="0" rIns="0" bIns="0" rtlCol="0" anchor="ctr"/>
          <a:lstStyle/>
          <a:p>
            <a:pPr algn="l" indent="0" marL="0">
              <a:buNone/>
            </a:pPr>
            <a:r>
              <a:rPr lang="en-US" sz="640" i="1" dirty="0">
                <a:solidFill>
                  <a:srgbClr val="D31145"/>
                </a:solidFill>
                <a:latin typeface="Arial" pitchFamily="34" charset="0"/>
                <a:ea typeface="Arial" pitchFamily="34" charset="-122"/>
                <a:cs typeface="Arial" pitchFamily="34" charset="-120"/>
              </a:rPr>
              <a:t>title and status</a:t>
            </a:r>
            <a:endParaRPr lang="en-US" sz="640" dirty="0"/>
          </a:p>
        </p:txBody>
      </p:sp>
      <p:sp>
        <p:nvSpPr>
          <p:cNvPr id="22" name="Text 19"/>
          <p:cNvSpPr/>
          <p:nvPr/>
        </p:nvSpPr>
        <p:spPr>
          <a:xfrm>
            <a:off x="566928" y="422452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TWELVE TREATMENTS</a:t>
            </a:r>
            <a:endParaRPr lang="en-US" sz="740" dirty="0"/>
          </a:p>
        </p:txBody>
      </p:sp>
      <p:sp>
        <p:nvSpPr>
          <p:cNvPr id="23" name="Shape 20"/>
          <p:cNvSpPr/>
          <p:nvPr/>
        </p:nvSpPr>
        <p:spPr>
          <a:xfrm>
            <a:off x="566928" y="4407408"/>
            <a:ext cx="6428232" cy="7315"/>
          </a:xfrm>
          <a:prstGeom prst="rect">
            <a:avLst/>
          </a:prstGeom>
          <a:solidFill>
            <a:srgbClr val="D2D2D2"/>
          </a:solidFill>
          <a:ln/>
        </p:spPr>
      </p:sp>
      <p:sp>
        <p:nvSpPr>
          <p:cNvPr id="24" name="Shape 21"/>
          <p:cNvSpPr/>
          <p:nvPr/>
        </p:nvSpPr>
        <p:spPr>
          <a:xfrm>
            <a:off x="566928" y="4517136"/>
            <a:ext cx="6428232" cy="402336"/>
          </a:xfrm>
          <a:prstGeom prst="rect">
            <a:avLst/>
          </a:prstGeom>
          <a:solidFill>
            <a:srgbClr val="FFFFFF"/>
          </a:solidFill>
          <a:ln/>
        </p:spPr>
      </p:sp>
      <p:sp>
        <p:nvSpPr>
          <p:cNvPr id="25" name="Shape 22"/>
          <p:cNvSpPr/>
          <p:nvPr/>
        </p:nvSpPr>
        <p:spPr>
          <a:xfrm>
            <a:off x="566928" y="4517136"/>
            <a:ext cx="36576" cy="402336"/>
          </a:xfrm>
          <a:prstGeom prst="rect">
            <a:avLst/>
          </a:prstGeom>
          <a:solidFill>
            <a:srgbClr val="000000"/>
          </a:solidFill>
          <a:ln/>
        </p:spPr>
      </p:sp>
      <p:pic>
        <p:nvPicPr>
          <p:cNvPr id="26" name="Image 1" descr="preencoded.png">    </p:cNvPr>
          <p:cNvPicPr>
            <a:picLocks noChangeAspect="1"/>
          </p:cNvPicPr>
          <p:nvPr/>
        </p:nvPicPr>
        <p:blipFill>
          <a:blip r:embed="rId2"/>
          <a:stretch>
            <a:fillRect/>
          </a:stretch>
        </p:blipFill>
        <p:spPr>
          <a:xfrm>
            <a:off x="731520" y="4617720"/>
            <a:ext cx="256032" cy="256032"/>
          </a:xfrm>
          <a:prstGeom prst="rect">
            <a:avLst/>
          </a:prstGeom>
        </p:spPr>
      </p:pic>
      <p:sp>
        <p:nvSpPr>
          <p:cNvPr id="27" name="Text 23"/>
          <p:cNvSpPr/>
          <p:nvPr/>
        </p:nvSpPr>
        <p:spPr>
          <a:xfrm>
            <a:off x="1097280" y="4517136"/>
            <a:ext cx="1371600" cy="402336"/>
          </a:xfrm>
          <a:prstGeom prst="rect">
            <a:avLst/>
          </a:prstGeom>
          <a:noFill/>
          <a:ln/>
        </p:spPr>
        <p:txBody>
          <a:bodyPr wrap="square" lIns="0" tIns="0" rIns="0" bIns="0" rtlCol="0" anchor="ctr"/>
          <a:lstStyle/>
          <a:p>
            <a:pPr algn="l" indent="0" marL="0">
              <a:buNone/>
            </a:pPr>
            <a:r>
              <a:rPr lang="en-US" sz="820" b="1" spc="60" kern="0" dirty="0">
                <a:solidFill>
                  <a:srgbClr val="1A1A1A"/>
                </a:solidFill>
                <a:latin typeface="Arial" pitchFamily="34" charset="0"/>
                <a:ea typeface="Arial" pitchFamily="34" charset="-122"/>
                <a:cs typeface="Arial" pitchFamily="34" charset="-120"/>
              </a:rPr>
              <a:t>FRAMEWORK</a:t>
            </a:r>
            <a:endParaRPr lang="en-US" sz="820" dirty="0"/>
          </a:p>
        </p:txBody>
      </p:sp>
      <p:sp>
        <p:nvSpPr>
          <p:cNvPr id="28" name="Text 24"/>
          <p:cNvSpPr/>
          <p:nvPr/>
        </p:nvSpPr>
        <p:spPr>
          <a:xfrm>
            <a:off x="2450592" y="4517136"/>
            <a:ext cx="914400" cy="402336"/>
          </a:xfrm>
          <a:prstGeom prst="rect">
            <a:avLst/>
          </a:prstGeom>
          <a:noFill/>
          <a:ln/>
        </p:spPr>
        <p:txBody>
          <a:bodyPr wrap="square" lIns="0" tIns="0" rIns="0" bIns="0" rtlCol="0" anchor="ctr"/>
          <a:lstStyle/>
          <a:p>
            <a:pPr algn="l" indent="0" marL="0">
              <a:buNone/>
            </a:pPr>
            <a:r>
              <a:rPr lang="en-US" sz="640" spc="100" kern="0" dirty="0">
                <a:solidFill>
                  <a:srgbClr val="000000"/>
                </a:solidFill>
                <a:latin typeface="Arial" pitchFamily="34" charset="0"/>
                <a:ea typeface="Arial" pitchFamily="34" charset="-122"/>
                <a:cs typeface="Arial" pitchFamily="34" charset="-120"/>
              </a:rPr>
              <a:t>STRUCTURE</a:t>
            </a:r>
            <a:endParaRPr lang="en-US" sz="640" dirty="0"/>
          </a:p>
        </p:txBody>
      </p:sp>
      <p:sp>
        <p:nvSpPr>
          <p:cNvPr id="29" name="Text 25"/>
          <p:cNvSpPr/>
          <p:nvPr/>
        </p:nvSpPr>
        <p:spPr>
          <a:xfrm>
            <a:off x="3310128" y="4517136"/>
            <a:ext cx="969264" cy="402336"/>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CM-FWK-001</a:t>
            </a:r>
            <a:endParaRPr lang="en-US" sz="700" dirty="0"/>
          </a:p>
        </p:txBody>
      </p:sp>
      <p:sp>
        <p:nvSpPr>
          <p:cNvPr id="30" name="Text 26"/>
          <p:cNvSpPr/>
          <p:nvPr/>
        </p:nvSpPr>
        <p:spPr>
          <a:xfrm>
            <a:off x="4352544" y="4517136"/>
            <a:ext cx="2551176" cy="402336"/>
          </a:xfrm>
          <a:prstGeom prst="rect">
            <a:avLst/>
          </a:prstGeom>
          <a:noFill/>
          <a:ln/>
        </p:spPr>
        <p:txBody>
          <a:bodyPr wrap="square" lIns="0" tIns="0" rIns="0" bIns="0" rtlCol="0" anchor="ctr"/>
          <a:lstStyle/>
          <a:p>
            <a:pPr algn="l" indent="0" marL="0">
              <a:buNone/>
            </a:pPr>
            <a:r>
              <a:rPr lang="en-US" sz="780" dirty="0">
                <a:solidFill>
                  <a:srgbClr val="3E3E3E"/>
                </a:solidFill>
                <a:latin typeface="Arial" pitchFamily="34" charset="0"/>
                <a:ea typeface="Arial" pitchFamily="34" charset="-122"/>
                <a:cs typeface="Arial" pitchFamily="34" charset="-120"/>
              </a:rPr>
              <a:t>Governing architecture</a:t>
            </a:r>
            <a:endParaRPr lang="en-US" sz="780" dirty="0"/>
          </a:p>
        </p:txBody>
      </p:sp>
      <p:sp>
        <p:nvSpPr>
          <p:cNvPr id="31" name="Shape 27"/>
          <p:cNvSpPr/>
          <p:nvPr/>
        </p:nvSpPr>
        <p:spPr>
          <a:xfrm>
            <a:off x="566928" y="4956048"/>
            <a:ext cx="6428232" cy="402336"/>
          </a:xfrm>
          <a:prstGeom prst="rect">
            <a:avLst/>
          </a:prstGeom>
          <a:solidFill>
            <a:srgbClr val="FBFBFA"/>
          </a:solidFill>
          <a:ln/>
        </p:spPr>
      </p:sp>
      <p:sp>
        <p:nvSpPr>
          <p:cNvPr id="32" name="Shape 28"/>
          <p:cNvSpPr/>
          <p:nvPr/>
        </p:nvSpPr>
        <p:spPr>
          <a:xfrm>
            <a:off x="566928" y="4956048"/>
            <a:ext cx="36576" cy="402336"/>
          </a:xfrm>
          <a:prstGeom prst="rect">
            <a:avLst/>
          </a:prstGeom>
          <a:solidFill>
            <a:srgbClr val="000000"/>
          </a:solidFill>
          <a:ln/>
        </p:spPr>
      </p:sp>
      <p:pic>
        <p:nvPicPr>
          <p:cNvPr id="33" name="Image 2" descr="preencoded.png">    </p:cNvPr>
          <p:cNvPicPr>
            <a:picLocks noChangeAspect="1"/>
          </p:cNvPicPr>
          <p:nvPr/>
        </p:nvPicPr>
        <p:blipFill>
          <a:blip r:embed="rId3"/>
          <a:stretch>
            <a:fillRect/>
          </a:stretch>
        </p:blipFill>
        <p:spPr>
          <a:xfrm>
            <a:off x="731520" y="5056632"/>
            <a:ext cx="256032" cy="256032"/>
          </a:xfrm>
          <a:prstGeom prst="rect">
            <a:avLst/>
          </a:prstGeom>
        </p:spPr>
      </p:pic>
      <p:sp>
        <p:nvSpPr>
          <p:cNvPr id="34" name="Text 29"/>
          <p:cNvSpPr/>
          <p:nvPr/>
        </p:nvSpPr>
        <p:spPr>
          <a:xfrm>
            <a:off x="1097280" y="4956048"/>
            <a:ext cx="1371600" cy="402336"/>
          </a:xfrm>
          <a:prstGeom prst="rect">
            <a:avLst/>
          </a:prstGeom>
          <a:noFill/>
          <a:ln/>
        </p:spPr>
        <p:txBody>
          <a:bodyPr wrap="square" lIns="0" tIns="0" rIns="0" bIns="0" rtlCol="0" anchor="ctr"/>
          <a:lstStyle/>
          <a:p>
            <a:pPr algn="l" indent="0" marL="0">
              <a:buNone/>
            </a:pPr>
            <a:r>
              <a:rPr lang="en-US" sz="820" b="1" spc="60" kern="0" dirty="0">
                <a:solidFill>
                  <a:srgbClr val="6E6E6E"/>
                </a:solidFill>
                <a:latin typeface="Arial" pitchFamily="34" charset="0"/>
                <a:ea typeface="Arial" pitchFamily="34" charset="-122"/>
                <a:cs typeface="Arial" pitchFamily="34" charset="-120"/>
              </a:rPr>
              <a:t>DOCTRINE</a:t>
            </a:r>
            <a:endParaRPr lang="en-US" sz="820" dirty="0"/>
          </a:p>
        </p:txBody>
      </p:sp>
      <p:sp>
        <p:nvSpPr>
          <p:cNvPr id="35" name="Text 30"/>
          <p:cNvSpPr/>
          <p:nvPr/>
        </p:nvSpPr>
        <p:spPr>
          <a:xfrm>
            <a:off x="2450592" y="4956048"/>
            <a:ext cx="914400" cy="402336"/>
          </a:xfrm>
          <a:prstGeom prst="rect">
            <a:avLst/>
          </a:prstGeom>
          <a:noFill/>
          <a:ln/>
        </p:spPr>
        <p:txBody>
          <a:bodyPr wrap="square" lIns="0" tIns="0" rIns="0" bIns="0" rtlCol="0" anchor="ctr"/>
          <a:lstStyle/>
          <a:p>
            <a:pPr algn="l" indent="0" marL="0">
              <a:buNone/>
            </a:pPr>
            <a:r>
              <a:rPr lang="en-US" sz="640" spc="100" kern="0" dirty="0">
                <a:solidFill>
                  <a:srgbClr val="000000"/>
                </a:solidFill>
                <a:latin typeface="Arial" pitchFamily="34" charset="0"/>
                <a:ea typeface="Arial" pitchFamily="34" charset="-122"/>
                <a:cs typeface="Arial" pitchFamily="34" charset="-120"/>
              </a:rPr>
              <a:t>STRUCTURE</a:t>
            </a:r>
            <a:endParaRPr lang="en-US" sz="640" dirty="0"/>
          </a:p>
        </p:txBody>
      </p:sp>
      <p:sp>
        <p:nvSpPr>
          <p:cNvPr id="36" name="Text 31"/>
          <p:cNvSpPr/>
          <p:nvPr/>
        </p:nvSpPr>
        <p:spPr>
          <a:xfrm>
            <a:off x="3310128" y="4956048"/>
            <a:ext cx="969264" cy="402336"/>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CM-DOC-001</a:t>
            </a:r>
            <a:endParaRPr lang="en-US" sz="700" dirty="0"/>
          </a:p>
        </p:txBody>
      </p:sp>
      <p:sp>
        <p:nvSpPr>
          <p:cNvPr id="37" name="Text 32"/>
          <p:cNvSpPr/>
          <p:nvPr/>
        </p:nvSpPr>
        <p:spPr>
          <a:xfrm>
            <a:off x="4352544" y="4956048"/>
            <a:ext cx="2551176" cy="402336"/>
          </a:xfrm>
          <a:prstGeom prst="rect">
            <a:avLst/>
          </a:prstGeom>
          <a:noFill/>
          <a:ln/>
        </p:spPr>
        <p:txBody>
          <a:bodyPr wrap="square" lIns="0" tIns="0" rIns="0" bIns="0" rtlCol="0" anchor="ctr"/>
          <a:lstStyle/>
          <a:p>
            <a:pPr algn="l" indent="0" marL="0">
              <a:buNone/>
            </a:pPr>
            <a:r>
              <a:rPr lang="en-US" sz="780" dirty="0">
                <a:solidFill>
                  <a:srgbClr val="9C9C9C"/>
                </a:solidFill>
                <a:latin typeface="Arial" pitchFamily="34" charset="0"/>
                <a:ea typeface="Arial" pitchFamily="34" charset="-122"/>
                <a:cs typeface="Arial" pitchFamily="34" charset="-120"/>
              </a:rPr>
              <a:t>Endorsed and enduring statements</a:t>
            </a:r>
            <a:endParaRPr lang="en-US" sz="780" dirty="0"/>
          </a:p>
        </p:txBody>
      </p:sp>
      <p:sp>
        <p:nvSpPr>
          <p:cNvPr id="38" name="Shape 33"/>
          <p:cNvSpPr/>
          <p:nvPr/>
        </p:nvSpPr>
        <p:spPr>
          <a:xfrm>
            <a:off x="566928" y="5394960"/>
            <a:ext cx="6428232" cy="402336"/>
          </a:xfrm>
          <a:prstGeom prst="rect">
            <a:avLst/>
          </a:prstGeom>
          <a:solidFill>
            <a:srgbClr val="FFFFFF"/>
          </a:solidFill>
          <a:ln/>
        </p:spPr>
      </p:sp>
      <p:sp>
        <p:nvSpPr>
          <p:cNvPr id="39" name="Shape 34"/>
          <p:cNvSpPr/>
          <p:nvPr/>
        </p:nvSpPr>
        <p:spPr>
          <a:xfrm>
            <a:off x="566928" y="5394960"/>
            <a:ext cx="36576" cy="402336"/>
          </a:xfrm>
          <a:prstGeom prst="rect">
            <a:avLst/>
          </a:prstGeom>
          <a:solidFill>
            <a:srgbClr val="000000"/>
          </a:solidFill>
          <a:ln/>
        </p:spPr>
      </p:sp>
      <p:pic>
        <p:nvPicPr>
          <p:cNvPr id="40" name="Image 3" descr="preencoded.png">    </p:cNvPr>
          <p:cNvPicPr>
            <a:picLocks noChangeAspect="1"/>
          </p:cNvPicPr>
          <p:nvPr/>
        </p:nvPicPr>
        <p:blipFill>
          <a:blip r:embed="rId4"/>
          <a:stretch>
            <a:fillRect/>
          </a:stretch>
        </p:blipFill>
        <p:spPr>
          <a:xfrm>
            <a:off x="731520" y="5495544"/>
            <a:ext cx="256032" cy="256032"/>
          </a:xfrm>
          <a:prstGeom prst="rect">
            <a:avLst/>
          </a:prstGeom>
        </p:spPr>
      </p:pic>
      <p:sp>
        <p:nvSpPr>
          <p:cNvPr id="41" name="Text 35"/>
          <p:cNvSpPr/>
          <p:nvPr/>
        </p:nvSpPr>
        <p:spPr>
          <a:xfrm>
            <a:off x="1097280" y="5394960"/>
            <a:ext cx="1371600" cy="402336"/>
          </a:xfrm>
          <a:prstGeom prst="rect">
            <a:avLst/>
          </a:prstGeom>
          <a:noFill/>
          <a:ln/>
        </p:spPr>
        <p:txBody>
          <a:bodyPr wrap="square" lIns="0" tIns="0" rIns="0" bIns="0" rtlCol="0" anchor="ctr"/>
          <a:lstStyle/>
          <a:p>
            <a:pPr algn="l" indent="0" marL="0">
              <a:buNone/>
            </a:pPr>
            <a:r>
              <a:rPr lang="en-US" sz="820" b="1" spc="60" kern="0" dirty="0">
                <a:solidFill>
                  <a:srgbClr val="6E6E6E"/>
                </a:solidFill>
                <a:latin typeface="Arial" pitchFamily="34" charset="0"/>
                <a:ea typeface="Arial" pitchFamily="34" charset="-122"/>
                <a:cs typeface="Arial" pitchFamily="34" charset="-120"/>
              </a:rPr>
              <a:t>POLICY</a:t>
            </a:r>
            <a:endParaRPr lang="en-US" sz="820" dirty="0"/>
          </a:p>
        </p:txBody>
      </p:sp>
      <p:sp>
        <p:nvSpPr>
          <p:cNvPr id="42" name="Text 36"/>
          <p:cNvSpPr/>
          <p:nvPr/>
        </p:nvSpPr>
        <p:spPr>
          <a:xfrm>
            <a:off x="2450592" y="5394960"/>
            <a:ext cx="914400" cy="402336"/>
          </a:xfrm>
          <a:prstGeom prst="rect">
            <a:avLst/>
          </a:prstGeom>
          <a:noFill/>
          <a:ln/>
        </p:spPr>
        <p:txBody>
          <a:bodyPr wrap="square" lIns="0" tIns="0" rIns="0" bIns="0" rtlCol="0" anchor="ctr"/>
          <a:lstStyle/>
          <a:p>
            <a:pPr algn="l" indent="0" marL="0">
              <a:buNone/>
            </a:pPr>
            <a:r>
              <a:rPr lang="en-US" sz="640" spc="100" kern="0" dirty="0">
                <a:solidFill>
                  <a:srgbClr val="000000"/>
                </a:solidFill>
                <a:latin typeface="Arial" pitchFamily="34" charset="0"/>
                <a:ea typeface="Arial" pitchFamily="34" charset="-122"/>
                <a:cs typeface="Arial" pitchFamily="34" charset="-120"/>
              </a:rPr>
              <a:t>STRUCTURE</a:t>
            </a:r>
            <a:endParaRPr lang="en-US" sz="640" dirty="0"/>
          </a:p>
        </p:txBody>
      </p:sp>
      <p:sp>
        <p:nvSpPr>
          <p:cNvPr id="43" name="Text 37"/>
          <p:cNvSpPr/>
          <p:nvPr/>
        </p:nvSpPr>
        <p:spPr>
          <a:xfrm>
            <a:off x="3310128" y="5394960"/>
            <a:ext cx="969264" cy="402336"/>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CM-POL-001</a:t>
            </a:r>
            <a:endParaRPr lang="en-US" sz="700" dirty="0"/>
          </a:p>
        </p:txBody>
      </p:sp>
      <p:sp>
        <p:nvSpPr>
          <p:cNvPr id="44" name="Text 38"/>
          <p:cNvSpPr/>
          <p:nvPr/>
        </p:nvSpPr>
        <p:spPr>
          <a:xfrm>
            <a:off x="4352544" y="5394960"/>
            <a:ext cx="2551176" cy="402336"/>
          </a:xfrm>
          <a:prstGeom prst="rect">
            <a:avLst/>
          </a:prstGeom>
          <a:noFill/>
          <a:ln/>
        </p:spPr>
        <p:txBody>
          <a:bodyPr wrap="square" lIns="0" tIns="0" rIns="0" bIns="0" rtlCol="0" anchor="ctr"/>
          <a:lstStyle/>
          <a:p>
            <a:pPr algn="l" indent="0" marL="0">
              <a:buNone/>
            </a:pPr>
            <a:r>
              <a:rPr lang="en-US" sz="780" dirty="0">
                <a:solidFill>
                  <a:srgbClr val="9C9C9C"/>
                </a:solidFill>
                <a:latin typeface="Arial" pitchFamily="34" charset="0"/>
                <a:ea typeface="Arial" pitchFamily="34" charset="-122"/>
                <a:cs typeface="Arial" pitchFamily="34" charset="-120"/>
              </a:rPr>
              <a:t>Rules with limits</a:t>
            </a:r>
            <a:endParaRPr lang="en-US" sz="780" dirty="0"/>
          </a:p>
        </p:txBody>
      </p:sp>
      <p:sp>
        <p:nvSpPr>
          <p:cNvPr id="45" name="Shape 39"/>
          <p:cNvSpPr/>
          <p:nvPr/>
        </p:nvSpPr>
        <p:spPr>
          <a:xfrm>
            <a:off x="566928" y="5833872"/>
            <a:ext cx="6428232" cy="402336"/>
          </a:xfrm>
          <a:prstGeom prst="rect">
            <a:avLst/>
          </a:prstGeom>
          <a:solidFill>
            <a:srgbClr val="FBFBFA"/>
          </a:solidFill>
          <a:ln/>
        </p:spPr>
      </p:sp>
      <p:sp>
        <p:nvSpPr>
          <p:cNvPr id="46" name="Shape 40"/>
          <p:cNvSpPr/>
          <p:nvPr/>
        </p:nvSpPr>
        <p:spPr>
          <a:xfrm>
            <a:off x="566928" y="5833872"/>
            <a:ext cx="36576" cy="402336"/>
          </a:xfrm>
          <a:prstGeom prst="rect">
            <a:avLst/>
          </a:prstGeom>
          <a:solidFill>
            <a:srgbClr val="000000"/>
          </a:solidFill>
          <a:ln/>
        </p:spPr>
      </p:sp>
      <p:pic>
        <p:nvPicPr>
          <p:cNvPr id="47" name="Image 4" descr="preencoded.png">    </p:cNvPr>
          <p:cNvPicPr>
            <a:picLocks noChangeAspect="1"/>
          </p:cNvPicPr>
          <p:nvPr/>
        </p:nvPicPr>
        <p:blipFill>
          <a:blip r:embed="rId5"/>
          <a:stretch>
            <a:fillRect/>
          </a:stretch>
        </p:blipFill>
        <p:spPr>
          <a:xfrm>
            <a:off x="731520" y="5934456"/>
            <a:ext cx="256032" cy="256032"/>
          </a:xfrm>
          <a:prstGeom prst="rect">
            <a:avLst/>
          </a:prstGeom>
        </p:spPr>
      </p:pic>
      <p:sp>
        <p:nvSpPr>
          <p:cNvPr id="48" name="Text 41"/>
          <p:cNvSpPr/>
          <p:nvPr/>
        </p:nvSpPr>
        <p:spPr>
          <a:xfrm>
            <a:off x="1097280" y="5833872"/>
            <a:ext cx="1371600" cy="402336"/>
          </a:xfrm>
          <a:prstGeom prst="rect">
            <a:avLst/>
          </a:prstGeom>
          <a:noFill/>
          <a:ln/>
        </p:spPr>
        <p:txBody>
          <a:bodyPr wrap="square" lIns="0" tIns="0" rIns="0" bIns="0" rtlCol="0" anchor="ctr"/>
          <a:lstStyle/>
          <a:p>
            <a:pPr algn="l" indent="0" marL="0">
              <a:buNone/>
            </a:pPr>
            <a:r>
              <a:rPr lang="en-US" sz="820" b="1" spc="60" kern="0" dirty="0">
                <a:solidFill>
                  <a:srgbClr val="1A1A1A"/>
                </a:solidFill>
                <a:latin typeface="Arial" pitchFamily="34" charset="0"/>
                <a:ea typeface="Arial" pitchFamily="34" charset="-122"/>
                <a:cs typeface="Arial" pitchFamily="34" charset="-120"/>
              </a:rPr>
              <a:t>GOVERNANCE</a:t>
            </a:r>
            <a:endParaRPr lang="en-US" sz="820" dirty="0"/>
          </a:p>
        </p:txBody>
      </p:sp>
      <p:sp>
        <p:nvSpPr>
          <p:cNvPr id="49" name="Text 42"/>
          <p:cNvSpPr/>
          <p:nvPr/>
        </p:nvSpPr>
        <p:spPr>
          <a:xfrm>
            <a:off x="2450592" y="5833872"/>
            <a:ext cx="914400" cy="402336"/>
          </a:xfrm>
          <a:prstGeom prst="rect">
            <a:avLst/>
          </a:prstGeom>
          <a:noFill/>
          <a:ln/>
        </p:spPr>
        <p:txBody>
          <a:bodyPr wrap="square" lIns="0" tIns="0" rIns="0" bIns="0" rtlCol="0" anchor="ctr"/>
          <a:lstStyle/>
          <a:p>
            <a:pPr algn="l" indent="0" marL="0">
              <a:buNone/>
            </a:pPr>
            <a:r>
              <a:rPr lang="en-US" sz="640" spc="100" kern="0" dirty="0">
                <a:solidFill>
                  <a:srgbClr val="000000"/>
                </a:solidFill>
                <a:latin typeface="Arial" pitchFamily="34" charset="0"/>
                <a:ea typeface="Arial" pitchFamily="34" charset="-122"/>
                <a:cs typeface="Arial" pitchFamily="34" charset="-120"/>
              </a:rPr>
              <a:t>STRUCTURE</a:t>
            </a:r>
            <a:endParaRPr lang="en-US" sz="640" dirty="0"/>
          </a:p>
        </p:txBody>
      </p:sp>
      <p:sp>
        <p:nvSpPr>
          <p:cNvPr id="50" name="Text 43"/>
          <p:cNvSpPr/>
          <p:nvPr/>
        </p:nvSpPr>
        <p:spPr>
          <a:xfrm>
            <a:off x="3310128" y="5833872"/>
            <a:ext cx="969264" cy="402336"/>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CM-GOV-001</a:t>
            </a:r>
            <a:endParaRPr lang="en-US" sz="700" dirty="0"/>
          </a:p>
        </p:txBody>
      </p:sp>
      <p:sp>
        <p:nvSpPr>
          <p:cNvPr id="51" name="Text 44"/>
          <p:cNvSpPr/>
          <p:nvPr/>
        </p:nvSpPr>
        <p:spPr>
          <a:xfrm>
            <a:off x="4352544" y="5833872"/>
            <a:ext cx="2551176" cy="402336"/>
          </a:xfrm>
          <a:prstGeom prst="rect">
            <a:avLst/>
          </a:prstGeom>
          <a:noFill/>
          <a:ln/>
        </p:spPr>
        <p:txBody>
          <a:bodyPr wrap="square" lIns="0" tIns="0" rIns="0" bIns="0" rtlCol="0" anchor="ctr"/>
          <a:lstStyle/>
          <a:p>
            <a:pPr algn="l" indent="0" marL="0">
              <a:buNone/>
            </a:pPr>
            <a:r>
              <a:rPr lang="en-US" sz="780" dirty="0">
                <a:solidFill>
                  <a:srgbClr val="3E3E3E"/>
                </a:solidFill>
                <a:latin typeface="Arial" pitchFamily="34" charset="0"/>
                <a:ea typeface="Arial" pitchFamily="34" charset="-122"/>
                <a:cs typeface="Arial" pitchFamily="34" charset="-120"/>
              </a:rPr>
              <a:t>Who holds and assures what</a:t>
            </a:r>
            <a:endParaRPr lang="en-US" sz="780" dirty="0"/>
          </a:p>
        </p:txBody>
      </p:sp>
      <p:sp>
        <p:nvSpPr>
          <p:cNvPr id="52" name="Shape 45"/>
          <p:cNvSpPr/>
          <p:nvPr/>
        </p:nvSpPr>
        <p:spPr>
          <a:xfrm>
            <a:off x="566928" y="6272784"/>
            <a:ext cx="6428232" cy="402336"/>
          </a:xfrm>
          <a:prstGeom prst="rect">
            <a:avLst/>
          </a:prstGeom>
          <a:solidFill>
            <a:srgbClr val="FFFFFF"/>
          </a:solidFill>
          <a:ln/>
        </p:spPr>
      </p:sp>
      <p:sp>
        <p:nvSpPr>
          <p:cNvPr id="53" name="Shape 46"/>
          <p:cNvSpPr/>
          <p:nvPr/>
        </p:nvSpPr>
        <p:spPr>
          <a:xfrm>
            <a:off x="566928" y="6272784"/>
            <a:ext cx="36576" cy="402336"/>
          </a:xfrm>
          <a:prstGeom prst="rect">
            <a:avLst/>
          </a:prstGeom>
          <a:solidFill>
            <a:srgbClr val="00261B"/>
          </a:solidFill>
          <a:ln/>
        </p:spPr>
      </p:sp>
      <p:pic>
        <p:nvPicPr>
          <p:cNvPr id="54" name="Image 5" descr="preencoded.png">    </p:cNvPr>
          <p:cNvPicPr>
            <a:picLocks noChangeAspect="1"/>
          </p:cNvPicPr>
          <p:nvPr/>
        </p:nvPicPr>
        <p:blipFill>
          <a:blip r:embed="rId6"/>
          <a:stretch>
            <a:fillRect/>
          </a:stretch>
        </p:blipFill>
        <p:spPr>
          <a:xfrm>
            <a:off x="731520" y="6373368"/>
            <a:ext cx="256032" cy="256032"/>
          </a:xfrm>
          <a:prstGeom prst="rect">
            <a:avLst/>
          </a:prstGeom>
        </p:spPr>
      </p:pic>
      <p:sp>
        <p:nvSpPr>
          <p:cNvPr id="55" name="Text 47"/>
          <p:cNvSpPr/>
          <p:nvPr/>
        </p:nvSpPr>
        <p:spPr>
          <a:xfrm>
            <a:off x="1097280" y="6272784"/>
            <a:ext cx="1371600" cy="402336"/>
          </a:xfrm>
          <a:prstGeom prst="rect">
            <a:avLst/>
          </a:prstGeom>
          <a:noFill/>
          <a:ln/>
        </p:spPr>
        <p:txBody>
          <a:bodyPr wrap="square" lIns="0" tIns="0" rIns="0" bIns="0" rtlCol="0" anchor="ctr"/>
          <a:lstStyle/>
          <a:p>
            <a:pPr algn="l" indent="0" marL="0">
              <a:buNone/>
            </a:pPr>
            <a:r>
              <a:rPr lang="en-US" sz="820" b="1" spc="60" kern="0" dirty="0">
                <a:solidFill>
                  <a:srgbClr val="1A1A1A"/>
                </a:solidFill>
                <a:latin typeface="Arial" pitchFamily="34" charset="0"/>
                <a:ea typeface="Arial" pitchFamily="34" charset="-122"/>
                <a:cs typeface="Arial" pitchFamily="34" charset="-120"/>
              </a:rPr>
              <a:t>EVIDENCE</a:t>
            </a:r>
            <a:endParaRPr lang="en-US" sz="820" dirty="0"/>
          </a:p>
        </p:txBody>
      </p:sp>
      <p:sp>
        <p:nvSpPr>
          <p:cNvPr id="56" name="Text 48"/>
          <p:cNvSpPr/>
          <p:nvPr/>
        </p:nvSpPr>
        <p:spPr>
          <a:xfrm>
            <a:off x="2450592" y="6272784"/>
            <a:ext cx="914400" cy="402336"/>
          </a:xfrm>
          <a:prstGeom prst="rect">
            <a:avLst/>
          </a:prstGeom>
          <a:noFill/>
          <a:ln/>
        </p:spPr>
        <p:txBody>
          <a:bodyPr wrap="square" lIns="0" tIns="0" rIns="0" bIns="0" rtlCol="0" anchor="ctr"/>
          <a:lstStyle/>
          <a:p>
            <a:pPr algn="l" indent="0" marL="0">
              <a:buNone/>
            </a:pPr>
            <a:r>
              <a:rPr lang="en-US" sz="640" spc="100" kern="0" dirty="0">
                <a:solidFill>
                  <a:srgbClr val="00261B"/>
                </a:solidFill>
                <a:latin typeface="Arial" pitchFamily="34" charset="0"/>
                <a:ea typeface="Arial" pitchFamily="34" charset="-122"/>
                <a:cs typeface="Arial" pitchFamily="34" charset="-120"/>
              </a:rPr>
              <a:t>ANALYSIS</a:t>
            </a:r>
            <a:endParaRPr lang="en-US" sz="640" dirty="0"/>
          </a:p>
        </p:txBody>
      </p:sp>
      <p:sp>
        <p:nvSpPr>
          <p:cNvPr id="57" name="Text 49"/>
          <p:cNvSpPr/>
          <p:nvPr/>
        </p:nvSpPr>
        <p:spPr>
          <a:xfrm>
            <a:off x="3310128" y="6272784"/>
            <a:ext cx="969264" cy="402336"/>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CM-EVD-001</a:t>
            </a:r>
            <a:endParaRPr lang="en-US" sz="700" dirty="0"/>
          </a:p>
        </p:txBody>
      </p:sp>
      <p:sp>
        <p:nvSpPr>
          <p:cNvPr id="58" name="Text 50"/>
          <p:cNvSpPr/>
          <p:nvPr/>
        </p:nvSpPr>
        <p:spPr>
          <a:xfrm>
            <a:off x="4352544" y="6272784"/>
            <a:ext cx="2551176" cy="402336"/>
          </a:xfrm>
          <a:prstGeom prst="rect">
            <a:avLst/>
          </a:prstGeom>
          <a:noFill/>
          <a:ln/>
        </p:spPr>
        <p:txBody>
          <a:bodyPr wrap="square" lIns="0" tIns="0" rIns="0" bIns="0" rtlCol="0" anchor="ctr"/>
          <a:lstStyle/>
          <a:p>
            <a:pPr algn="l" indent="0" marL="0">
              <a:buNone/>
            </a:pPr>
            <a:r>
              <a:rPr lang="en-US" sz="780" dirty="0">
                <a:solidFill>
                  <a:srgbClr val="3E3E3E"/>
                </a:solidFill>
                <a:latin typeface="Arial" pitchFamily="34" charset="0"/>
                <a:ea typeface="Arial" pitchFamily="34" charset="-122"/>
                <a:cs typeface="Arial" pitchFamily="34" charset="-120"/>
              </a:rPr>
              <a:t>Findings and their strength</a:t>
            </a:r>
            <a:endParaRPr lang="en-US" sz="780" dirty="0"/>
          </a:p>
        </p:txBody>
      </p:sp>
      <p:sp>
        <p:nvSpPr>
          <p:cNvPr id="59" name="Shape 51"/>
          <p:cNvSpPr/>
          <p:nvPr/>
        </p:nvSpPr>
        <p:spPr>
          <a:xfrm>
            <a:off x="566928" y="6711696"/>
            <a:ext cx="6428232" cy="402336"/>
          </a:xfrm>
          <a:prstGeom prst="rect">
            <a:avLst/>
          </a:prstGeom>
          <a:solidFill>
            <a:srgbClr val="FBFBFA"/>
          </a:solidFill>
          <a:ln/>
        </p:spPr>
      </p:sp>
      <p:sp>
        <p:nvSpPr>
          <p:cNvPr id="60" name="Shape 52"/>
          <p:cNvSpPr/>
          <p:nvPr/>
        </p:nvSpPr>
        <p:spPr>
          <a:xfrm>
            <a:off x="566928" y="6711696"/>
            <a:ext cx="36576" cy="402336"/>
          </a:xfrm>
          <a:prstGeom prst="rect">
            <a:avLst/>
          </a:prstGeom>
          <a:solidFill>
            <a:srgbClr val="00261B"/>
          </a:solidFill>
          <a:ln/>
        </p:spPr>
      </p:sp>
      <p:pic>
        <p:nvPicPr>
          <p:cNvPr id="61" name="Image 6" descr="preencoded.png">    </p:cNvPr>
          <p:cNvPicPr>
            <a:picLocks noChangeAspect="1"/>
          </p:cNvPicPr>
          <p:nvPr/>
        </p:nvPicPr>
        <p:blipFill>
          <a:blip r:embed="rId7"/>
          <a:stretch>
            <a:fillRect/>
          </a:stretch>
        </p:blipFill>
        <p:spPr>
          <a:xfrm>
            <a:off x="731520" y="6812280"/>
            <a:ext cx="256032" cy="256032"/>
          </a:xfrm>
          <a:prstGeom prst="rect">
            <a:avLst/>
          </a:prstGeom>
        </p:spPr>
      </p:pic>
      <p:sp>
        <p:nvSpPr>
          <p:cNvPr id="62" name="Text 53"/>
          <p:cNvSpPr/>
          <p:nvPr/>
        </p:nvSpPr>
        <p:spPr>
          <a:xfrm>
            <a:off x="1097280" y="6711696"/>
            <a:ext cx="1371600" cy="402336"/>
          </a:xfrm>
          <a:prstGeom prst="rect">
            <a:avLst/>
          </a:prstGeom>
          <a:noFill/>
          <a:ln/>
        </p:spPr>
        <p:txBody>
          <a:bodyPr wrap="square" lIns="0" tIns="0" rIns="0" bIns="0" rtlCol="0" anchor="ctr"/>
          <a:lstStyle/>
          <a:p>
            <a:pPr algn="l" indent="0" marL="0">
              <a:buNone/>
            </a:pPr>
            <a:r>
              <a:rPr lang="en-US" sz="820" b="1" spc="60" kern="0" dirty="0">
                <a:solidFill>
                  <a:srgbClr val="6E6E6E"/>
                </a:solidFill>
                <a:latin typeface="Arial" pitchFamily="34" charset="0"/>
                <a:ea typeface="Arial" pitchFamily="34" charset="-122"/>
                <a:cs typeface="Arial" pitchFamily="34" charset="-120"/>
              </a:rPr>
              <a:t>RESEARCH</a:t>
            </a:r>
            <a:endParaRPr lang="en-US" sz="820" dirty="0"/>
          </a:p>
        </p:txBody>
      </p:sp>
      <p:sp>
        <p:nvSpPr>
          <p:cNvPr id="63" name="Text 54"/>
          <p:cNvSpPr/>
          <p:nvPr/>
        </p:nvSpPr>
        <p:spPr>
          <a:xfrm>
            <a:off x="2450592" y="6711696"/>
            <a:ext cx="914400" cy="402336"/>
          </a:xfrm>
          <a:prstGeom prst="rect">
            <a:avLst/>
          </a:prstGeom>
          <a:noFill/>
          <a:ln/>
        </p:spPr>
        <p:txBody>
          <a:bodyPr wrap="square" lIns="0" tIns="0" rIns="0" bIns="0" rtlCol="0" anchor="ctr"/>
          <a:lstStyle/>
          <a:p>
            <a:pPr algn="l" indent="0" marL="0">
              <a:buNone/>
            </a:pPr>
            <a:r>
              <a:rPr lang="en-US" sz="640" spc="100" kern="0" dirty="0">
                <a:solidFill>
                  <a:srgbClr val="00261B"/>
                </a:solidFill>
                <a:latin typeface="Arial" pitchFamily="34" charset="0"/>
                <a:ea typeface="Arial" pitchFamily="34" charset="-122"/>
                <a:cs typeface="Arial" pitchFamily="34" charset="-120"/>
              </a:rPr>
              <a:t>ANALYSIS</a:t>
            </a:r>
            <a:endParaRPr lang="en-US" sz="640" dirty="0"/>
          </a:p>
        </p:txBody>
      </p:sp>
      <p:sp>
        <p:nvSpPr>
          <p:cNvPr id="64" name="Text 55"/>
          <p:cNvSpPr/>
          <p:nvPr/>
        </p:nvSpPr>
        <p:spPr>
          <a:xfrm>
            <a:off x="3310128" y="6711696"/>
            <a:ext cx="969264" cy="402336"/>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CM-RES-001</a:t>
            </a:r>
            <a:endParaRPr lang="en-US" sz="700" dirty="0"/>
          </a:p>
        </p:txBody>
      </p:sp>
      <p:sp>
        <p:nvSpPr>
          <p:cNvPr id="65" name="Text 56"/>
          <p:cNvSpPr/>
          <p:nvPr/>
        </p:nvSpPr>
        <p:spPr>
          <a:xfrm>
            <a:off x="4352544" y="6711696"/>
            <a:ext cx="2551176" cy="402336"/>
          </a:xfrm>
          <a:prstGeom prst="rect">
            <a:avLst/>
          </a:prstGeom>
          <a:noFill/>
          <a:ln/>
        </p:spPr>
        <p:txBody>
          <a:bodyPr wrap="square" lIns="0" tIns="0" rIns="0" bIns="0" rtlCol="0" anchor="ctr"/>
          <a:lstStyle/>
          <a:p>
            <a:pPr algn="l" indent="0" marL="0">
              <a:buNone/>
            </a:pPr>
            <a:r>
              <a:rPr lang="en-US" sz="780" dirty="0">
                <a:solidFill>
                  <a:srgbClr val="9C9C9C"/>
                </a:solidFill>
                <a:latin typeface="Arial" pitchFamily="34" charset="0"/>
                <a:ea typeface="Arial" pitchFamily="34" charset="-122"/>
                <a:cs typeface="Arial" pitchFamily="34" charset="-120"/>
              </a:rPr>
              <a:t>Open questions and method</a:t>
            </a:r>
            <a:endParaRPr lang="en-US" sz="780" dirty="0"/>
          </a:p>
        </p:txBody>
      </p:sp>
      <p:sp>
        <p:nvSpPr>
          <p:cNvPr id="66" name="Shape 57"/>
          <p:cNvSpPr/>
          <p:nvPr/>
        </p:nvSpPr>
        <p:spPr>
          <a:xfrm>
            <a:off x="566928" y="7150608"/>
            <a:ext cx="6428232" cy="402336"/>
          </a:xfrm>
          <a:prstGeom prst="rect">
            <a:avLst/>
          </a:prstGeom>
          <a:solidFill>
            <a:srgbClr val="FFFFFF"/>
          </a:solidFill>
          <a:ln/>
        </p:spPr>
      </p:sp>
      <p:sp>
        <p:nvSpPr>
          <p:cNvPr id="67" name="Shape 58"/>
          <p:cNvSpPr/>
          <p:nvPr/>
        </p:nvSpPr>
        <p:spPr>
          <a:xfrm>
            <a:off x="566928" y="7150608"/>
            <a:ext cx="36576" cy="402336"/>
          </a:xfrm>
          <a:prstGeom prst="rect">
            <a:avLst/>
          </a:prstGeom>
          <a:solidFill>
            <a:srgbClr val="00261B"/>
          </a:solidFill>
          <a:ln/>
        </p:spPr>
      </p:sp>
      <p:pic>
        <p:nvPicPr>
          <p:cNvPr id="68" name="Image 7" descr="preencoded.png">    </p:cNvPr>
          <p:cNvPicPr>
            <a:picLocks noChangeAspect="1"/>
          </p:cNvPicPr>
          <p:nvPr/>
        </p:nvPicPr>
        <p:blipFill>
          <a:blip r:embed="rId8"/>
          <a:stretch>
            <a:fillRect/>
          </a:stretch>
        </p:blipFill>
        <p:spPr>
          <a:xfrm>
            <a:off x="731520" y="7251192"/>
            <a:ext cx="256032" cy="256032"/>
          </a:xfrm>
          <a:prstGeom prst="rect">
            <a:avLst/>
          </a:prstGeom>
        </p:spPr>
      </p:pic>
      <p:sp>
        <p:nvSpPr>
          <p:cNvPr id="69" name="Text 59"/>
          <p:cNvSpPr/>
          <p:nvPr/>
        </p:nvSpPr>
        <p:spPr>
          <a:xfrm>
            <a:off x="1097280" y="7150608"/>
            <a:ext cx="1371600" cy="402336"/>
          </a:xfrm>
          <a:prstGeom prst="rect">
            <a:avLst/>
          </a:prstGeom>
          <a:noFill/>
          <a:ln/>
        </p:spPr>
        <p:txBody>
          <a:bodyPr wrap="square" lIns="0" tIns="0" rIns="0" bIns="0" rtlCol="0" anchor="ctr"/>
          <a:lstStyle/>
          <a:p>
            <a:pPr algn="l" indent="0" marL="0">
              <a:buNone/>
            </a:pPr>
            <a:r>
              <a:rPr lang="en-US" sz="820" b="1" spc="60" kern="0" dirty="0">
                <a:solidFill>
                  <a:srgbClr val="1A1A1A"/>
                </a:solidFill>
                <a:latin typeface="Arial" pitchFamily="34" charset="0"/>
                <a:ea typeface="Arial" pitchFamily="34" charset="-122"/>
                <a:cs typeface="Arial" pitchFamily="34" charset="-120"/>
              </a:rPr>
              <a:t>ASSESSMENT</a:t>
            </a:r>
            <a:endParaRPr lang="en-US" sz="820" dirty="0"/>
          </a:p>
        </p:txBody>
      </p:sp>
      <p:sp>
        <p:nvSpPr>
          <p:cNvPr id="70" name="Text 60"/>
          <p:cNvSpPr/>
          <p:nvPr/>
        </p:nvSpPr>
        <p:spPr>
          <a:xfrm>
            <a:off x="2450592" y="7150608"/>
            <a:ext cx="914400" cy="402336"/>
          </a:xfrm>
          <a:prstGeom prst="rect">
            <a:avLst/>
          </a:prstGeom>
          <a:noFill/>
          <a:ln/>
        </p:spPr>
        <p:txBody>
          <a:bodyPr wrap="square" lIns="0" tIns="0" rIns="0" bIns="0" rtlCol="0" anchor="ctr"/>
          <a:lstStyle/>
          <a:p>
            <a:pPr algn="l" indent="0" marL="0">
              <a:buNone/>
            </a:pPr>
            <a:r>
              <a:rPr lang="en-US" sz="640" spc="100" kern="0" dirty="0">
                <a:solidFill>
                  <a:srgbClr val="00261B"/>
                </a:solidFill>
                <a:latin typeface="Arial" pitchFamily="34" charset="0"/>
                <a:ea typeface="Arial" pitchFamily="34" charset="-122"/>
                <a:cs typeface="Arial" pitchFamily="34" charset="-120"/>
              </a:rPr>
              <a:t>ANALYSIS</a:t>
            </a:r>
            <a:endParaRPr lang="en-US" sz="640" dirty="0"/>
          </a:p>
        </p:txBody>
      </p:sp>
      <p:sp>
        <p:nvSpPr>
          <p:cNvPr id="71" name="Text 61"/>
          <p:cNvSpPr/>
          <p:nvPr/>
        </p:nvSpPr>
        <p:spPr>
          <a:xfrm>
            <a:off x="3310128" y="7150608"/>
            <a:ext cx="969264" cy="402336"/>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CM-ASM-001</a:t>
            </a:r>
            <a:endParaRPr lang="en-US" sz="700" dirty="0"/>
          </a:p>
        </p:txBody>
      </p:sp>
      <p:sp>
        <p:nvSpPr>
          <p:cNvPr id="72" name="Text 62"/>
          <p:cNvSpPr/>
          <p:nvPr/>
        </p:nvSpPr>
        <p:spPr>
          <a:xfrm>
            <a:off x="4352544" y="7150608"/>
            <a:ext cx="2551176" cy="402336"/>
          </a:xfrm>
          <a:prstGeom prst="rect">
            <a:avLst/>
          </a:prstGeom>
          <a:noFill/>
          <a:ln/>
        </p:spPr>
        <p:txBody>
          <a:bodyPr wrap="square" lIns="0" tIns="0" rIns="0" bIns="0" rtlCol="0" anchor="ctr"/>
          <a:lstStyle/>
          <a:p>
            <a:pPr algn="l" indent="0" marL="0">
              <a:buNone/>
            </a:pPr>
            <a:r>
              <a:rPr lang="en-US" sz="780" dirty="0">
                <a:solidFill>
                  <a:srgbClr val="3E3E3E"/>
                </a:solidFill>
                <a:latin typeface="Arial" pitchFamily="34" charset="0"/>
                <a:ea typeface="Arial" pitchFamily="34" charset="-122"/>
                <a:cs typeface="Arial" pitchFamily="34" charset="-120"/>
              </a:rPr>
              <a:t>Measurement against a standard</a:t>
            </a:r>
            <a:endParaRPr lang="en-US" sz="780" dirty="0"/>
          </a:p>
        </p:txBody>
      </p:sp>
      <p:sp>
        <p:nvSpPr>
          <p:cNvPr id="73" name="Shape 63"/>
          <p:cNvSpPr/>
          <p:nvPr/>
        </p:nvSpPr>
        <p:spPr>
          <a:xfrm>
            <a:off x="566928" y="7589520"/>
            <a:ext cx="6428232" cy="402336"/>
          </a:xfrm>
          <a:prstGeom prst="rect">
            <a:avLst/>
          </a:prstGeom>
          <a:solidFill>
            <a:srgbClr val="FBFBFA"/>
          </a:solidFill>
          <a:ln/>
        </p:spPr>
      </p:sp>
      <p:sp>
        <p:nvSpPr>
          <p:cNvPr id="74" name="Shape 64"/>
          <p:cNvSpPr/>
          <p:nvPr/>
        </p:nvSpPr>
        <p:spPr>
          <a:xfrm>
            <a:off x="566928" y="7589520"/>
            <a:ext cx="36576" cy="402336"/>
          </a:xfrm>
          <a:prstGeom prst="rect">
            <a:avLst/>
          </a:prstGeom>
          <a:solidFill>
            <a:srgbClr val="00261B"/>
          </a:solidFill>
          <a:ln/>
        </p:spPr>
      </p:sp>
      <p:pic>
        <p:nvPicPr>
          <p:cNvPr id="75" name="Image 8" descr="preencoded.png">    </p:cNvPr>
          <p:cNvPicPr>
            <a:picLocks noChangeAspect="1"/>
          </p:cNvPicPr>
          <p:nvPr/>
        </p:nvPicPr>
        <p:blipFill>
          <a:blip r:embed="rId9"/>
          <a:stretch>
            <a:fillRect/>
          </a:stretch>
        </p:blipFill>
        <p:spPr>
          <a:xfrm>
            <a:off x="731520" y="7690104"/>
            <a:ext cx="256032" cy="256032"/>
          </a:xfrm>
          <a:prstGeom prst="rect">
            <a:avLst/>
          </a:prstGeom>
        </p:spPr>
      </p:pic>
      <p:sp>
        <p:nvSpPr>
          <p:cNvPr id="76" name="Text 65"/>
          <p:cNvSpPr/>
          <p:nvPr/>
        </p:nvSpPr>
        <p:spPr>
          <a:xfrm>
            <a:off x="1097280" y="7589520"/>
            <a:ext cx="1371600" cy="402336"/>
          </a:xfrm>
          <a:prstGeom prst="rect">
            <a:avLst/>
          </a:prstGeom>
          <a:noFill/>
          <a:ln/>
        </p:spPr>
        <p:txBody>
          <a:bodyPr wrap="square" lIns="0" tIns="0" rIns="0" bIns="0" rtlCol="0" anchor="ctr"/>
          <a:lstStyle/>
          <a:p>
            <a:pPr algn="l" indent="0" marL="0">
              <a:buNone/>
            </a:pPr>
            <a:r>
              <a:rPr lang="en-US" sz="820" b="1" spc="60" kern="0" dirty="0">
                <a:solidFill>
                  <a:srgbClr val="6E6E6E"/>
                </a:solidFill>
                <a:latin typeface="Arial" pitchFamily="34" charset="0"/>
                <a:ea typeface="Arial" pitchFamily="34" charset="-122"/>
                <a:cs typeface="Arial" pitchFamily="34" charset="-120"/>
              </a:rPr>
              <a:t>REVIEW</a:t>
            </a:r>
            <a:endParaRPr lang="en-US" sz="820" dirty="0"/>
          </a:p>
        </p:txBody>
      </p:sp>
      <p:sp>
        <p:nvSpPr>
          <p:cNvPr id="77" name="Text 66"/>
          <p:cNvSpPr/>
          <p:nvPr/>
        </p:nvSpPr>
        <p:spPr>
          <a:xfrm>
            <a:off x="2450592" y="7589520"/>
            <a:ext cx="914400" cy="402336"/>
          </a:xfrm>
          <a:prstGeom prst="rect">
            <a:avLst/>
          </a:prstGeom>
          <a:noFill/>
          <a:ln/>
        </p:spPr>
        <p:txBody>
          <a:bodyPr wrap="square" lIns="0" tIns="0" rIns="0" bIns="0" rtlCol="0" anchor="ctr"/>
          <a:lstStyle/>
          <a:p>
            <a:pPr algn="l" indent="0" marL="0">
              <a:buNone/>
            </a:pPr>
            <a:r>
              <a:rPr lang="en-US" sz="640" spc="100" kern="0" dirty="0">
                <a:solidFill>
                  <a:srgbClr val="00261B"/>
                </a:solidFill>
                <a:latin typeface="Arial" pitchFamily="34" charset="0"/>
                <a:ea typeface="Arial" pitchFamily="34" charset="-122"/>
                <a:cs typeface="Arial" pitchFamily="34" charset="-120"/>
              </a:rPr>
              <a:t>ANALYSIS</a:t>
            </a:r>
            <a:endParaRPr lang="en-US" sz="640" dirty="0"/>
          </a:p>
        </p:txBody>
      </p:sp>
      <p:sp>
        <p:nvSpPr>
          <p:cNvPr id="78" name="Text 67"/>
          <p:cNvSpPr/>
          <p:nvPr/>
        </p:nvSpPr>
        <p:spPr>
          <a:xfrm>
            <a:off x="3310128" y="7589520"/>
            <a:ext cx="969264" cy="402336"/>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CM-REV-001</a:t>
            </a:r>
            <a:endParaRPr lang="en-US" sz="700" dirty="0"/>
          </a:p>
        </p:txBody>
      </p:sp>
      <p:sp>
        <p:nvSpPr>
          <p:cNvPr id="79" name="Text 68"/>
          <p:cNvSpPr/>
          <p:nvPr/>
        </p:nvSpPr>
        <p:spPr>
          <a:xfrm>
            <a:off x="4352544" y="7589520"/>
            <a:ext cx="2551176" cy="402336"/>
          </a:xfrm>
          <a:prstGeom prst="rect">
            <a:avLst/>
          </a:prstGeom>
          <a:noFill/>
          <a:ln/>
        </p:spPr>
        <p:txBody>
          <a:bodyPr wrap="square" lIns="0" tIns="0" rIns="0" bIns="0" rtlCol="0" anchor="ctr"/>
          <a:lstStyle/>
          <a:p>
            <a:pPr algn="l" indent="0" marL="0">
              <a:buNone/>
            </a:pPr>
            <a:r>
              <a:rPr lang="en-US" sz="780" dirty="0">
                <a:solidFill>
                  <a:srgbClr val="9C9C9C"/>
                </a:solidFill>
                <a:latin typeface="Arial" pitchFamily="34" charset="0"/>
                <a:ea typeface="Arial" pitchFamily="34" charset="-122"/>
                <a:cs typeface="Arial" pitchFamily="34" charset="-120"/>
              </a:rPr>
              <a:t>Deliberate return to a prior position</a:t>
            </a:r>
            <a:endParaRPr lang="en-US" sz="780" dirty="0"/>
          </a:p>
        </p:txBody>
      </p:sp>
      <p:sp>
        <p:nvSpPr>
          <p:cNvPr id="80" name="Shape 69"/>
          <p:cNvSpPr/>
          <p:nvPr/>
        </p:nvSpPr>
        <p:spPr>
          <a:xfrm>
            <a:off x="566928" y="8028432"/>
            <a:ext cx="6428232" cy="402336"/>
          </a:xfrm>
          <a:prstGeom prst="rect">
            <a:avLst/>
          </a:prstGeom>
          <a:solidFill>
            <a:srgbClr val="FFFFFF"/>
          </a:solidFill>
          <a:ln/>
        </p:spPr>
      </p:sp>
      <p:sp>
        <p:nvSpPr>
          <p:cNvPr id="81" name="Shape 70"/>
          <p:cNvSpPr/>
          <p:nvPr/>
        </p:nvSpPr>
        <p:spPr>
          <a:xfrm>
            <a:off x="566928" y="8028432"/>
            <a:ext cx="36576" cy="402336"/>
          </a:xfrm>
          <a:prstGeom prst="rect">
            <a:avLst/>
          </a:prstGeom>
          <a:solidFill>
            <a:srgbClr val="444D06"/>
          </a:solidFill>
          <a:ln/>
        </p:spPr>
      </p:sp>
      <p:pic>
        <p:nvPicPr>
          <p:cNvPr id="82" name="Image 9" descr="preencoded.png">    </p:cNvPr>
          <p:cNvPicPr>
            <a:picLocks noChangeAspect="1"/>
          </p:cNvPicPr>
          <p:nvPr/>
        </p:nvPicPr>
        <p:blipFill>
          <a:blip r:embed="rId10"/>
          <a:stretch>
            <a:fillRect/>
          </a:stretch>
        </p:blipFill>
        <p:spPr>
          <a:xfrm>
            <a:off x="731520" y="8129016"/>
            <a:ext cx="256032" cy="256032"/>
          </a:xfrm>
          <a:prstGeom prst="rect">
            <a:avLst/>
          </a:prstGeom>
        </p:spPr>
      </p:pic>
      <p:sp>
        <p:nvSpPr>
          <p:cNvPr id="83" name="Text 71"/>
          <p:cNvSpPr/>
          <p:nvPr/>
        </p:nvSpPr>
        <p:spPr>
          <a:xfrm>
            <a:off x="1097280" y="8028432"/>
            <a:ext cx="1371600" cy="402336"/>
          </a:xfrm>
          <a:prstGeom prst="rect">
            <a:avLst/>
          </a:prstGeom>
          <a:noFill/>
          <a:ln/>
        </p:spPr>
        <p:txBody>
          <a:bodyPr wrap="square" lIns="0" tIns="0" rIns="0" bIns="0" rtlCol="0" anchor="ctr"/>
          <a:lstStyle/>
          <a:p>
            <a:pPr algn="l" indent="0" marL="0">
              <a:buNone/>
            </a:pPr>
            <a:r>
              <a:rPr lang="en-US" sz="820" b="1" spc="60" kern="0" dirty="0">
                <a:solidFill>
                  <a:srgbClr val="1A1A1A"/>
                </a:solidFill>
                <a:latin typeface="Arial" pitchFamily="34" charset="0"/>
                <a:ea typeface="Arial" pitchFamily="34" charset="-122"/>
                <a:cs typeface="Arial" pitchFamily="34" charset="-120"/>
              </a:rPr>
              <a:t>PRODUCT</a:t>
            </a:r>
            <a:endParaRPr lang="en-US" sz="820" dirty="0"/>
          </a:p>
        </p:txBody>
      </p:sp>
      <p:sp>
        <p:nvSpPr>
          <p:cNvPr id="84" name="Text 72"/>
          <p:cNvSpPr/>
          <p:nvPr/>
        </p:nvSpPr>
        <p:spPr>
          <a:xfrm>
            <a:off x="2450592" y="8028432"/>
            <a:ext cx="914400" cy="402336"/>
          </a:xfrm>
          <a:prstGeom prst="rect">
            <a:avLst/>
          </a:prstGeom>
          <a:noFill/>
          <a:ln/>
        </p:spPr>
        <p:txBody>
          <a:bodyPr wrap="square" lIns="0" tIns="0" rIns="0" bIns="0" rtlCol="0" anchor="ctr"/>
          <a:lstStyle/>
          <a:p>
            <a:pPr algn="l" indent="0" marL="0">
              <a:buNone/>
            </a:pPr>
            <a:r>
              <a:rPr lang="en-US" sz="640" spc="100" kern="0" dirty="0">
                <a:solidFill>
                  <a:srgbClr val="444D06"/>
                </a:solidFill>
                <a:latin typeface="Arial" pitchFamily="34" charset="0"/>
                <a:ea typeface="Arial" pitchFamily="34" charset="-122"/>
                <a:cs typeface="Arial" pitchFamily="34" charset="-120"/>
              </a:rPr>
              <a:t>DELIVERY</a:t>
            </a:r>
            <a:endParaRPr lang="en-US" sz="640" dirty="0"/>
          </a:p>
        </p:txBody>
      </p:sp>
      <p:sp>
        <p:nvSpPr>
          <p:cNvPr id="85" name="Text 73"/>
          <p:cNvSpPr/>
          <p:nvPr/>
        </p:nvSpPr>
        <p:spPr>
          <a:xfrm>
            <a:off x="3310128" y="8028432"/>
            <a:ext cx="969264" cy="402336"/>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CM-PRD-001</a:t>
            </a:r>
            <a:endParaRPr lang="en-US" sz="700" dirty="0"/>
          </a:p>
        </p:txBody>
      </p:sp>
      <p:sp>
        <p:nvSpPr>
          <p:cNvPr id="86" name="Text 74"/>
          <p:cNvSpPr/>
          <p:nvPr/>
        </p:nvSpPr>
        <p:spPr>
          <a:xfrm>
            <a:off x="4352544" y="8028432"/>
            <a:ext cx="2551176" cy="402336"/>
          </a:xfrm>
          <a:prstGeom prst="rect">
            <a:avLst/>
          </a:prstGeom>
          <a:noFill/>
          <a:ln/>
        </p:spPr>
        <p:txBody>
          <a:bodyPr wrap="square" lIns="0" tIns="0" rIns="0" bIns="0" rtlCol="0" anchor="ctr"/>
          <a:lstStyle/>
          <a:p>
            <a:pPr algn="l" indent="0" marL="0">
              <a:buNone/>
            </a:pPr>
            <a:r>
              <a:rPr lang="en-US" sz="780" dirty="0">
                <a:solidFill>
                  <a:srgbClr val="3E3E3E"/>
                </a:solidFill>
                <a:latin typeface="Arial" pitchFamily="34" charset="0"/>
                <a:ea typeface="Arial" pitchFamily="34" charset="-122"/>
                <a:cs typeface="Arial" pitchFamily="34" charset="-120"/>
              </a:rPr>
              <a:t>Material issued for use</a:t>
            </a:r>
            <a:endParaRPr lang="en-US" sz="780" dirty="0"/>
          </a:p>
        </p:txBody>
      </p:sp>
      <p:sp>
        <p:nvSpPr>
          <p:cNvPr id="87" name="Shape 75"/>
          <p:cNvSpPr/>
          <p:nvPr/>
        </p:nvSpPr>
        <p:spPr>
          <a:xfrm>
            <a:off x="566928" y="8467344"/>
            <a:ext cx="6428232" cy="402336"/>
          </a:xfrm>
          <a:prstGeom prst="rect">
            <a:avLst/>
          </a:prstGeom>
          <a:solidFill>
            <a:srgbClr val="FBFBFA"/>
          </a:solidFill>
          <a:ln/>
        </p:spPr>
      </p:sp>
      <p:sp>
        <p:nvSpPr>
          <p:cNvPr id="88" name="Shape 76"/>
          <p:cNvSpPr/>
          <p:nvPr/>
        </p:nvSpPr>
        <p:spPr>
          <a:xfrm>
            <a:off x="566928" y="8467344"/>
            <a:ext cx="36576" cy="402336"/>
          </a:xfrm>
          <a:prstGeom prst="rect">
            <a:avLst/>
          </a:prstGeom>
          <a:solidFill>
            <a:srgbClr val="444D06"/>
          </a:solidFill>
          <a:ln/>
        </p:spPr>
      </p:sp>
      <p:pic>
        <p:nvPicPr>
          <p:cNvPr id="89" name="Image 10" descr="preencoded.png">    </p:cNvPr>
          <p:cNvPicPr>
            <a:picLocks noChangeAspect="1"/>
          </p:cNvPicPr>
          <p:nvPr/>
        </p:nvPicPr>
        <p:blipFill>
          <a:blip r:embed="rId11"/>
          <a:stretch>
            <a:fillRect/>
          </a:stretch>
        </p:blipFill>
        <p:spPr>
          <a:xfrm>
            <a:off x="731520" y="8567928"/>
            <a:ext cx="256032" cy="256032"/>
          </a:xfrm>
          <a:prstGeom prst="rect">
            <a:avLst/>
          </a:prstGeom>
        </p:spPr>
      </p:pic>
      <p:sp>
        <p:nvSpPr>
          <p:cNvPr id="90" name="Text 77"/>
          <p:cNvSpPr/>
          <p:nvPr/>
        </p:nvSpPr>
        <p:spPr>
          <a:xfrm>
            <a:off x="1097280" y="8467344"/>
            <a:ext cx="1371600" cy="402336"/>
          </a:xfrm>
          <a:prstGeom prst="rect">
            <a:avLst/>
          </a:prstGeom>
          <a:noFill/>
          <a:ln/>
        </p:spPr>
        <p:txBody>
          <a:bodyPr wrap="square" lIns="0" tIns="0" rIns="0" bIns="0" rtlCol="0" anchor="ctr"/>
          <a:lstStyle/>
          <a:p>
            <a:pPr algn="l" indent="0" marL="0">
              <a:buNone/>
            </a:pPr>
            <a:r>
              <a:rPr lang="en-US" sz="820" b="1" spc="60" kern="0" dirty="0">
                <a:solidFill>
                  <a:srgbClr val="6E6E6E"/>
                </a:solidFill>
                <a:latin typeface="Arial" pitchFamily="34" charset="0"/>
                <a:ea typeface="Arial" pitchFamily="34" charset="-122"/>
                <a:cs typeface="Arial" pitchFamily="34" charset="-120"/>
              </a:rPr>
              <a:t>REFERENCE</a:t>
            </a:r>
            <a:endParaRPr lang="en-US" sz="820" dirty="0"/>
          </a:p>
        </p:txBody>
      </p:sp>
      <p:sp>
        <p:nvSpPr>
          <p:cNvPr id="91" name="Text 78"/>
          <p:cNvSpPr/>
          <p:nvPr/>
        </p:nvSpPr>
        <p:spPr>
          <a:xfrm>
            <a:off x="2450592" y="8467344"/>
            <a:ext cx="914400" cy="402336"/>
          </a:xfrm>
          <a:prstGeom prst="rect">
            <a:avLst/>
          </a:prstGeom>
          <a:noFill/>
          <a:ln/>
        </p:spPr>
        <p:txBody>
          <a:bodyPr wrap="square" lIns="0" tIns="0" rIns="0" bIns="0" rtlCol="0" anchor="ctr"/>
          <a:lstStyle/>
          <a:p>
            <a:pPr algn="l" indent="0" marL="0">
              <a:buNone/>
            </a:pPr>
            <a:r>
              <a:rPr lang="en-US" sz="640" spc="100" kern="0" dirty="0">
                <a:solidFill>
                  <a:srgbClr val="444D06"/>
                </a:solidFill>
                <a:latin typeface="Arial" pitchFamily="34" charset="0"/>
                <a:ea typeface="Arial" pitchFamily="34" charset="-122"/>
                <a:cs typeface="Arial" pitchFamily="34" charset="-120"/>
              </a:rPr>
              <a:t>DELIVERY</a:t>
            </a:r>
            <a:endParaRPr lang="en-US" sz="640" dirty="0"/>
          </a:p>
        </p:txBody>
      </p:sp>
      <p:sp>
        <p:nvSpPr>
          <p:cNvPr id="92" name="Text 79"/>
          <p:cNvSpPr/>
          <p:nvPr/>
        </p:nvSpPr>
        <p:spPr>
          <a:xfrm>
            <a:off x="3310128" y="8467344"/>
            <a:ext cx="969264" cy="402336"/>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CM-REF-001</a:t>
            </a:r>
            <a:endParaRPr lang="en-US" sz="700" dirty="0"/>
          </a:p>
        </p:txBody>
      </p:sp>
      <p:sp>
        <p:nvSpPr>
          <p:cNvPr id="93" name="Text 80"/>
          <p:cNvSpPr/>
          <p:nvPr/>
        </p:nvSpPr>
        <p:spPr>
          <a:xfrm>
            <a:off x="4352544" y="8467344"/>
            <a:ext cx="2551176" cy="402336"/>
          </a:xfrm>
          <a:prstGeom prst="rect">
            <a:avLst/>
          </a:prstGeom>
          <a:noFill/>
          <a:ln/>
        </p:spPr>
        <p:txBody>
          <a:bodyPr wrap="square" lIns="0" tIns="0" rIns="0" bIns="0" rtlCol="0" anchor="ctr"/>
          <a:lstStyle/>
          <a:p>
            <a:pPr algn="l" indent="0" marL="0">
              <a:buNone/>
            </a:pPr>
            <a:r>
              <a:rPr lang="en-US" sz="780" dirty="0">
                <a:solidFill>
                  <a:srgbClr val="9C9C9C"/>
                </a:solidFill>
                <a:latin typeface="Arial" pitchFamily="34" charset="0"/>
                <a:ea typeface="Arial" pitchFamily="34" charset="-122"/>
                <a:cs typeface="Arial" pitchFamily="34" charset="-120"/>
              </a:rPr>
              <a:t>Pointers to work held elsewhere</a:t>
            </a:r>
            <a:endParaRPr lang="en-US" sz="780" dirty="0"/>
          </a:p>
        </p:txBody>
      </p:sp>
      <p:sp>
        <p:nvSpPr>
          <p:cNvPr id="94" name="Shape 81"/>
          <p:cNvSpPr/>
          <p:nvPr/>
        </p:nvSpPr>
        <p:spPr>
          <a:xfrm>
            <a:off x="566928" y="8906256"/>
            <a:ext cx="6428232" cy="402336"/>
          </a:xfrm>
          <a:prstGeom prst="rect">
            <a:avLst/>
          </a:prstGeom>
          <a:solidFill>
            <a:srgbClr val="FFFFFF"/>
          </a:solidFill>
          <a:ln/>
        </p:spPr>
      </p:sp>
      <p:sp>
        <p:nvSpPr>
          <p:cNvPr id="95" name="Shape 82"/>
          <p:cNvSpPr/>
          <p:nvPr/>
        </p:nvSpPr>
        <p:spPr>
          <a:xfrm>
            <a:off x="566928" y="8906256"/>
            <a:ext cx="36576" cy="402336"/>
          </a:xfrm>
          <a:prstGeom prst="rect">
            <a:avLst/>
          </a:prstGeom>
          <a:solidFill>
            <a:srgbClr val="D31145"/>
          </a:solidFill>
          <a:ln/>
        </p:spPr>
      </p:sp>
      <p:pic>
        <p:nvPicPr>
          <p:cNvPr id="96" name="Image 11" descr="preencoded.png">    </p:cNvPr>
          <p:cNvPicPr>
            <a:picLocks noChangeAspect="1"/>
          </p:cNvPicPr>
          <p:nvPr/>
        </p:nvPicPr>
        <p:blipFill>
          <a:blip r:embed="rId12"/>
          <a:stretch>
            <a:fillRect/>
          </a:stretch>
        </p:blipFill>
        <p:spPr>
          <a:xfrm>
            <a:off x="731520" y="9006840"/>
            <a:ext cx="256032" cy="256032"/>
          </a:xfrm>
          <a:prstGeom prst="rect">
            <a:avLst/>
          </a:prstGeom>
        </p:spPr>
      </p:pic>
      <p:sp>
        <p:nvSpPr>
          <p:cNvPr id="97" name="Text 83"/>
          <p:cNvSpPr/>
          <p:nvPr/>
        </p:nvSpPr>
        <p:spPr>
          <a:xfrm>
            <a:off x="1097280" y="8906256"/>
            <a:ext cx="1371600" cy="402336"/>
          </a:xfrm>
          <a:prstGeom prst="rect">
            <a:avLst/>
          </a:prstGeom>
          <a:noFill/>
          <a:ln/>
        </p:spPr>
        <p:txBody>
          <a:bodyPr wrap="square" lIns="0" tIns="0" rIns="0" bIns="0" rtlCol="0" anchor="ctr"/>
          <a:lstStyle/>
          <a:p>
            <a:pPr algn="l" indent="0" marL="0">
              <a:buNone/>
            </a:pPr>
            <a:r>
              <a:rPr lang="en-US" sz="820" b="1" spc="60" kern="0" dirty="0">
                <a:solidFill>
                  <a:srgbClr val="1A1A1A"/>
                </a:solidFill>
                <a:latin typeface="Arial" pitchFamily="34" charset="0"/>
                <a:ea typeface="Arial" pitchFamily="34" charset="-122"/>
                <a:cs typeface="Arial" pitchFamily="34" charset="-120"/>
              </a:rPr>
              <a:t>DECISION</a:t>
            </a:r>
            <a:endParaRPr lang="en-US" sz="820" dirty="0"/>
          </a:p>
        </p:txBody>
      </p:sp>
      <p:sp>
        <p:nvSpPr>
          <p:cNvPr id="98" name="Text 84"/>
          <p:cNvSpPr/>
          <p:nvPr/>
        </p:nvSpPr>
        <p:spPr>
          <a:xfrm>
            <a:off x="2450592" y="8906256"/>
            <a:ext cx="914400" cy="402336"/>
          </a:xfrm>
          <a:prstGeom prst="rect">
            <a:avLst/>
          </a:prstGeom>
          <a:noFill/>
          <a:ln/>
        </p:spPr>
        <p:txBody>
          <a:bodyPr wrap="square" lIns="0" tIns="0" rIns="0" bIns="0" rtlCol="0" anchor="ctr"/>
          <a:lstStyle/>
          <a:p>
            <a:pPr algn="l" indent="0" marL="0">
              <a:buNone/>
            </a:pPr>
            <a:r>
              <a:rPr lang="en-US" sz="640" spc="100" kern="0" dirty="0">
                <a:solidFill>
                  <a:srgbClr val="D31145"/>
                </a:solidFill>
                <a:latin typeface="Arial" pitchFamily="34" charset="0"/>
                <a:ea typeface="Arial" pitchFamily="34" charset="-122"/>
                <a:cs typeface="Arial" pitchFamily="34" charset="-120"/>
              </a:rPr>
              <a:t>ACTION</a:t>
            </a:r>
            <a:endParaRPr lang="en-US" sz="640" dirty="0"/>
          </a:p>
        </p:txBody>
      </p:sp>
      <p:sp>
        <p:nvSpPr>
          <p:cNvPr id="99" name="Text 85"/>
          <p:cNvSpPr/>
          <p:nvPr/>
        </p:nvSpPr>
        <p:spPr>
          <a:xfrm>
            <a:off x="3310128" y="8906256"/>
            <a:ext cx="969264" cy="402336"/>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CM-DEC-001</a:t>
            </a:r>
            <a:endParaRPr lang="en-US" sz="700" dirty="0"/>
          </a:p>
        </p:txBody>
      </p:sp>
      <p:sp>
        <p:nvSpPr>
          <p:cNvPr id="100" name="Text 86"/>
          <p:cNvSpPr/>
          <p:nvPr/>
        </p:nvSpPr>
        <p:spPr>
          <a:xfrm>
            <a:off x="4352544" y="8906256"/>
            <a:ext cx="2551176" cy="402336"/>
          </a:xfrm>
          <a:prstGeom prst="rect">
            <a:avLst/>
          </a:prstGeom>
          <a:noFill/>
          <a:ln/>
        </p:spPr>
        <p:txBody>
          <a:bodyPr wrap="square" lIns="0" tIns="0" rIns="0" bIns="0" rtlCol="0" anchor="ctr"/>
          <a:lstStyle/>
          <a:p>
            <a:pPr algn="l" indent="0" marL="0">
              <a:buNone/>
            </a:pPr>
            <a:r>
              <a:rPr lang="en-US" sz="780" dirty="0">
                <a:solidFill>
                  <a:srgbClr val="3E3E3E"/>
                </a:solidFill>
                <a:latin typeface="Arial" pitchFamily="34" charset="0"/>
                <a:ea typeface="Arial" pitchFamily="34" charset="-122"/>
                <a:cs typeface="Arial" pitchFamily="34" charset="-120"/>
              </a:rPr>
              <a:t>A point at which commitment is required</a:t>
            </a:r>
            <a:endParaRPr lang="en-US" sz="780" dirty="0"/>
          </a:p>
        </p:txBody>
      </p:sp>
      <p:sp>
        <p:nvSpPr>
          <p:cNvPr id="101" name="Shape 87"/>
          <p:cNvSpPr/>
          <p:nvPr/>
        </p:nvSpPr>
        <p:spPr>
          <a:xfrm>
            <a:off x="566928" y="9345168"/>
            <a:ext cx="6428232" cy="402336"/>
          </a:xfrm>
          <a:prstGeom prst="rect">
            <a:avLst/>
          </a:prstGeom>
          <a:solidFill>
            <a:srgbClr val="FBFBFA"/>
          </a:solidFill>
          <a:ln/>
        </p:spPr>
      </p:sp>
      <p:sp>
        <p:nvSpPr>
          <p:cNvPr id="102" name="Shape 88"/>
          <p:cNvSpPr/>
          <p:nvPr/>
        </p:nvSpPr>
        <p:spPr>
          <a:xfrm>
            <a:off x="566928" y="9345168"/>
            <a:ext cx="36576" cy="402336"/>
          </a:xfrm>
          <a:prstGeom prst="rect">
            <a:avLst/>
          </a:prstGeom>
          <a:solidFill>
            <a:srgbClr val="D31145"/>
          </a:solidFill>
          <a:ln/>
        </p:spPr>
      </p:sp>
      <p:pic>
        <p:nvPicPr>
          <p:cNvPr id="103" name="Image 12" descr="preencoded.png">    </p:cNvPr>
          <p:cNvPicPr>
            <a:picLocks noChangeAspect="1"/>
          </p:cNvPicPr>
          <p:nvPr/>
        </p:nvPicPr>
        <p:blipFill>
          <a:blip r:embed="rId13"/>
          <a:stretch>
            <a:fillRect/>
          </a:stretch>
        </p:blipFill>
        <p:spPr>
          <a:xfrm>
            <a:off x="731520" y="9445752"/>
            <a:ext cx="256032" cy="256032"/>
          </a:xfrm>
          <a:prstGeom prst="rect">
            <a:avLst/>
          </a:prstGeom>
        </p:spPr>
      </p:pic>
      <p:sp>
        <p:nvSpPr>
          <p:cNvPr id="104" name="Text 89"/>
          <p:cNvSpPr/>
          <p:nvPr/>
        </p:nvSpPr>
        <p:spPr>
          <a:xfrm>
            <a:off x="1097280" y="9345168"/>
            <a:ext cx="1371600" cy="402336"/>
          </a:xfrm>
          <a:prstGeom prst="rect">
            <a:avLst/>
          </a:prstGeom>
          <a:noFill/>
          <a:ln/>
        </p:spPr>
        <p:txBody>
          <a:bodyPr wrap="square" lIns="0" tIns="0" rIns="0" bIns="0" rtlCol="0" anchor="ctr"/>
          <a:lstStyle/>
          <a:p>
            <a:pPr algn="l" indent="0" marL="0">
              <a:buNone/>
            </a:pPr>
            <a:r>
              <a:rPr lang="en-US" sz="820" b="1" spc="60" kern="0" dirty="0">
                <a:solidFill>
                  <a:srgbClr val="6E6E6E"/>
                </a:solidFill>
                <a:latin typeface="Arial" pitchFamily="34" charset="0"/>
                <a:ea typeface="Arial" pitchFamily="34" charset="-122"/>
                <a:cs typeface="Arial" pitchFamily="34" charset="-120"/>
              </a:rPr>
              <a:t>RISK</a:t>
            </a:r>
            <a:endParaRPr lang="en-US" sz="820" dirty="0"/>
          </a:p>
        </p:txBody>
      </p:sp>
      <p:sp>
        <p:nvSpPr>
          <p:cNvPr id="105" name="Text 90"/>
          <p:cNvSpPr/>
          <p:nvPr/>
        </p:nvSpPr>
        <p:spPr>
          <a:xfrm>
            <a:off x="2450592" y="9345168"/>
            <a:ext cx="914400" cy="402336"/>
          </a:xfrm>
          <a:prstGeom prst="rect">
            <a:avLst/>
          </a:prstGeom>
          <a:noFill/>
          <a:ln/>
        </p:spPr>
        <p:txBody>
          <a:bodyPr wrap="square" lIns="0" tIns="0" rIns="0" bIns="0" rtlCol="0" anchor="ctr"/>
          <a:lstStyle/>
          <a:p>
            <a:pPr algn="l" indent="0" marL="0">
              <a:buNone/>
            </a:pPr>
            <a:r>
              <a:rPr lang="en-US" sz="640" spc="100" kern="0" dirty="0">
                <a:solidFill>
                  <a:srgbClr val="D31145"/>
                </a:solidFill>
                <a:latin typeface="Arial" pitchFamily="34" charset="0"/>
                <a:ea typeface="Arial" pitchFamily="34" charset="-122"/>
                <a:cs typeface="Arial" pitchFamily="34" charset="-120"/>
              </a:rPr>
              <a:t>ACTION</a:t>
            </a:r>
            <a:endParaRPr lang="en-US" sz="640" dirty="0"/>
          </a:p>
        </p:txBody>
      </p:sp>
      <p:sp>
        <p:nvSpPr>
          <p:cNvPr id="106" name="Text 91"/>
          <p:cNvSpPr/>
          <p:nvPr/>
        </p:nvSpPr>
        <p:spPr>
          <a:xfrm>
            <a:off x="3310128" y="9345168"/>
            <a:ext cx="969264" cy="402336"/>
          </a:xfrm>
          <a:prstGeom prst="rect">
            <a:avLst/>
          </a:prstGeom>
          <a:noFill/>
          <a:ln/>
        </p:spPr>
        <p:txBody>
          <a:bodyPr wrap="square" lIns="0" tIns="0" rIns="0" bIns="0" rtlCol="0" anchor="ctr"/>
          <a:lstStyle/>
          <a:p>
            <a:pPr algn="l" indent="0" marL="0">
              <a:buNone/>
            </a:pPr>
            <a:r>
              <a:rPr lang="en-US" sz="700" dirty="0">
                <a:solidFill>
                  <a:srgbClr val="6E6E6E"/>
                </a:solidFill>
                <a:latin typeface="Arial" pitchFamily="34" charset="0"/>
                <a:ea typeface="Arial" pitchFamily="34" charset="-122"/>
                <a:cs typeface="Arial" pitchFamily="34" charset="-120"/>
              </a:rPr>
              <a:t>CM-RSK-001</a:t>
            </a:r>
            <a:endParaRPr lang="en-US" sz="700" dirty="0"/>
          </a:p>
        </p:txBody>
      </p:sp>
      <p:sp>
        <p:nvSpPr>
          <p:cNvPr id="107" name="Text 92"/>
          <p:cNvSpPr/>
          <p:nvPr/>
        </p:nvSpPr>
        <p:spPr>
          <a:xfrm>
            <a:off x="4352544" y="9345168"/>
            <a:ext cx="2551176" cy="402336"/>
          </a:xfrm>
          <a:prstGeom prst="rect">
            <a:avLst/>
          </a:prstGeom>
          <a:noFill/>
          <a:ln/>
        </p:spPr>
        <p:txBody>
          <a:bodyPr wrap="square" lIns="0" tIns="0" rIns="0" bIns="0" rtlCol="0" anchor="ctr"/>
          <a:lstStyle/>
          <a:p>
            <a:pPr algn="l" indent="0" marL="0">
              <a:buNone/>
            </a:pPr>
            <a:r>
              <a:rPr lang="en-US" sz="780" dirty="0">
                <a:solidFill>
                  <a:srgbClr val="9C9C9C"/>
                </a:solidFill>
                <a:latin typeface="Arial" pitchFamily="34" charset="0"/>
                <a:ea typeface="Arial" pitchFamily="34" charset="-122"/>
                <a:cs typeface="Arial" pitchFamily="34" charset="-120"/>
              </a:rPr>
              <a:t>A discontinuity to be managed</a:t>
            </a:r>
            <a:endParaRPr lang="en-US" sz="780" dirty="0"/>
          </a:p>
        </p:txBody>
      </p:sp>
      <p:sp>
        <p:nvSpPr>
          <p:cNvPr id="108" name="Text 93"/>
          <p:cNvSpPr/>
          <p:nvPr/>
        </p:nvSpPr>
        <p:spPr>
          <a:xfrm>
            <a:off x="566928" y="9857232"/>
            <a:ext cx="6428232" cy="164592"/>
          </a:xfrm>
          <a:prstGeom prst="rect">
            <a:avLst/>
          </a:prstGeom>
          <a:noFill/>
          <a:ln/>
        </p:spPr>
        <p:txBody>
          <a:bodyPr wrap="square" lIns="0" tIns="0" rIns="0" bIns="0" rtlCol="0" anchor="ctr"/>
          <a:lstStyle/>
          <a:p>
            <a:pPr algn="l" indent="0" marL="0">
              <a:buNone/>
            </a:pPr>
            <a:r>
              <a:rPr lang="en-US" sz="740" i="1" dirty="0">
                <a:solidFill>
                  <a:srgbClr val="6E6E6E"/>
                </a:solidFill>
                <a:latin typeface="Arial" pitchFamily="34" charset="0"/>
                <a:ea typeface="Arial" pitchFamily="34" charset="-122"/>
                <a:cs typeface="Arial" pitchFamily="34" charset="-120"/>
              </a:rPr>
              <a:t>Greyed rows are candidate extensions: drafted to prove the grammar extends, and introduced only when the pilot shows the distinction is needed.</a:t>
            </a:r>
            <a:endParaRPr lang="en-US" sz="7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PHOTOGRAPHY</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17</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Photography direction</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Photography is the element most likely to break this system, because it is the element most often chosen by someone in a hurry. The direction below is written to be enforceable.</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7393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GOVERNING INSTRUCTION</a:t>
            </a:r>
            <a:endParaRPr lang="en-US" sz="740" dirty="0"/>
          </a:p>
        </p:txBody>
      </p:sp>
      <p:sp>
        <p:nvSpPr>
          <p:cNvPr id="10" name="Shape 8"/>
          <p:cNvSpPr/>
          <p:nvPr/>
        </p:nvSpPr>
        <p:spPr>
          <a:xfrm>
            <a:off x="566928" y="1956816"/>
            <a:ext cx="6428232" cy="7315"/>
          </a:xfrm>
          <a:prstGeom prst="rect">
            <a:avLst/>
          </a:prstGeom>
          <a:solidFill>
            <a:srgbClr val="D2D2D2"/>
          </a:solidFill>
          <a:ln/>
        </p:spPr>
      </p:sp>
      <p:sp>
        <p:nvSpPr>
          <p:cNvPr id="11" name="Shape 9"/>
          <p:cNvSpPr/>
          <p:nvPr/>
        </p:nvSpPr>
        <p:spPr>
          <a:xfrm>
            <a:off x="566928" y="2066544"/>
            <a:ext cx="6428232" cy="859536"/>
          </a:xfrm>
          <a:prstGeom prst="rect">
            <a:avLst/>
          </a:prstGeom>
          <a:solidFill>
            <a:srgbClr val="1A1A1A"/>
          </a:solidFill>
          <a:ln/>
        </p:spPr>
      </p:sp>
      <p:sp>
        <p:nvSpPr>
          <p:cNvPr id="12" name="Text 10"/>
          <p:cNvSpPr/>
          <p:nvPr/>
        </p:nvSpPr>
        <p:spPr>
          <a:xfrm>
            <a:off x="841248" y="2212848"/>
            <a:ext cx="5879592" cy="274320"/>
          </a:xfrm>
          <a:prstGeom prst="rect">
            <a:avLst/>
          </a:prstGeom>
          <a:noFill/>
          <a:ln/>
        </p:spPr>
        <p:txBody>
          <a:bodyPr wrap="square" lIns="0" tIns="0" rIns="0" bIns="0" rtlCol="0" anchor="ctr"/>
          <a:lstStyle/>
          <a:p>
            <a:pPr algn="l" indent="0" marL="0">
              <a:buNone/>
            </a:pPr>
            <a:r>
              <a:rPr lang="en-US" sz="1500" b="1" dirty="0">
                <a:solidFill>
                  <a:srgbClr val="FFFFFF"/>
                </a:solidFill>
                <a:latin typeface="Arial" pitchFamily="34" charset="0"/>
                <a:ea typeface="Arial" pitchFamily="34" charset="-122"/>
                <a:cs typeface="Arial" pitchFamily="34" charset="-120"/>
              </a:rPr>
              <a:t>Photograph the load, not the outcome.</a:t>
            </a:r>
            <a:endParaRPr lang="en-US" sz="1500" dirty="0"/>
          </a:p>
        </p:txBody>
      </p:sp>
      <p:sp>
        <p:nvSpPr>
          <p:cNvPr id="13" name="Text 11"/>
          <p:cNvSpPr/>
          <p:nvPr/>
        </p:nvSpPr>
        <p:spPr>
          <a:xfrm>
            <a:off x="841248" y="2523744"/>
            <a:ext cx="5879592" cy="329184"/>
          </a:xfrm>
          <a:prstGeom prst="rect">
            <a:avLst/>
          </a:prstGeom>
          <a:noFill/>
          <a:ln/>
        </p:spPr>
        <p:txBody>
          <a:bodyPr wrap="square" lIns="0" tIns="0" rIns="0" bIns="0" rtlCol="0" anchor="t"/>
          <a:lstStyle/>
          <a:p>
            <a:pPr algn="l" indent="0" marL="0">
              <a:lnSpc>
                <a:spcPct val="120000"/>
              </a:lnSpc>
              <a:buNone/>
            </a:pPr>
            <a:r>
              <a:rPr lang="en-US" sz="900" dirty="0">
                <a:solidFill>
                  <a:srgbClr val="C8C8C8"/>
                </a:solidFill>
                <a:latin typeface="Arial" pitchFamily="34" charset="0"/>
                <a:ea typeface="Arial" pitchFamily="34" charset="-122"/>
                <a:cs typeface="Arial" pitchFamily="34" charset="-120"/>
              </a:rPr>
              <a:t>The framework is about what happens to people under pressure. The imagery should show pressure being carried, not victory being celebrated.</a:t>
            </a:r>
            <a:endParaRPr lang="en-US" sz="900" dirty="0"/>
          </a:p>
        </p:txBody>
      </p:sp>
      <p:sp>
        <p:nvSpPr>
          <p:cNvPr id="14" name="Text 12"/>
          <p:cNvSpPr/>
          <p:nvPr/>
        </p:nvSpPr>
        <p:spPr>
          <a:xfrm>
            <a:off x="566928" y="307238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DIRECTION</a:t>
            </a:r>
            <a:endParaRPr lang="en-US" sz="740" dirty="0"/>
          </a:p>
        </p:txBody>
      </p:sp>
      <p:sp>
        <p:nvSpPr>
          <p:cNvPr id="15" name="Shape 13"/>
          <p:cNvSpPr/>
          <p:nvPr/>
        </p:nvSpPr>
        <p:spPr>
          <a:xfrm>
            <a:off x="566928" y="3255264"/>
            <a:ext cx="6428232" cy="7315"/>
          </a:xfrm>
          <a:prstGeom prst="rect">
            <a:avLst/>
          </a:prstGeom>
          <a:solidFill>
            <a:srgbClr val="D2D2D2"/>
          </a:solidFill>
          <a:ln/>
        </p:spPr>
      </p:sp>
      <p:sp>
        <p:nvSpPr>
          <p:cNvPr id="16" name="Text 14"/>
          <p:cNvSpPr/>
          <p:nvPr/>
        </p:nvSpPr>
        <p:spPr>
          <a:xfrm>
            <a:off x="566928" y="3364992"/>
            <a:ext cx="1188720" cy="457200"/>
          </a:xfrm>
          <a:prstGeom prst="rect">
            <a:avLst/>
          </a:prstGeom>
          <a:noFill/>
          <a:ln/>
        </p:spPr>
        <p:txBody>
          <a:bodyPr wrap="square" lIns="0" tIns="0" rIns="0" bIns="0" rtlCol="0" anchor="t"/>
          <a:lstStyle/>
          <a:p>
            <a:pPr algn="l" indent="0" marL="0">
              <a:buNone/>
            </a:pPr>
            <a:r>
              <a:rPr lang="en-US" sz="760" b="1" spc="100" kern="0" dirty="0">
                <a:solidFill>
                  <a:srgbClr val="1A1A1A"/>
                </a:solidFill>
                <a:latin typeface="Arial" pitchFamily="34" charset="0"/>
                <a:ea typeface="Arial" pitchFamily="34" charset="-122"/>
                <a:cs typeface="Arial" pitchFamily="34" charset="-120"/>
              </a:rPr>
              <a:t>LIGHTING</a:t>
            </a:r>
            <a:endParaRPr lang="en-US" sz="760" dirty="0"/>
          </a:p>
        </p:txBody>
      </p:sp>
      <p:sp>
        <p:nvSpPr>
          <p:cNvPr id="17" name="Text 15"/>
          <p:cNvSpPr/>
          <p:nvPr/>
        </p:nvSpPr>
        <p:spPr>
          <a:xfrm>
            <a:off x="1847088" y="3364992"/>
            <a:ext cx="5148072" cy="47548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Available light only. Overcast, dawn, dusk, interior fluorescent, vehicle interior. No fill, no flash, no colour grading beyond correction. If the light was poor, the photograph shows poor light.</a:t>
            </a:r>
            <a:endParaRPr lang="en-US" sz="860" dirty="0"/>
          </a:p>
        </p:txBody>
      </p:sp>
      <p:sp>
        <p:nvSpPr>
          <p:cNvPr id="18" name="Shape 16"/>
          <p:cNvSpPr/>
          <p:nvPr/>
        </p:nvSpPr>
        <p:spPr>
          <a:xfrm>
            <a:off x="566928" y="3858768"/>
            <a:ext cx="6428232" cy="7315"/>
          </a:xfrm>
          <a:prstGeom prst="rect">
            <a:avLst/>
          </a:prstGeom>
          <a:solidFill>
            <a:srgbClr val="D2D2D2"/>
          </a:solidFill>
          <a:ln/>
        </p:spPr>
      </p:sp>
      <p:sp>
        <p:nvSpPr>
          <p:cNvPr id="19" name="Text 17"/>
          <p:cNvSpPr/>
          <p:nvPr/>
        </p:nvSpPr>
        <p:spPr>
          <a:xfrm>
            <a:off x="566928" y="3950208"/>
            <a:ext cx="1188720" cy="457200"/>
          </a:xfrm>
          <a:prstGeom prst="rect">
            <a:avLst/>
          </a:prstGeom>
          <a:noFill/>
          <a:ln/>
        </p:spPr>
        <p:txBody>
          <a:bodyPr wrap="square" lIns="0" tIns="0" rIns="0" bIns="0" rtlCol="0" anchor="t"/>
          <a:lstStyle/>
          <a:p>
            <a:pPr algn="l" indent="0" marL="0">
              <a:buNone/>
            </a:pPr>
            <a:r>
              <a:rPr lang="en-US" sz="760" b="1" spc="100" kern="0" dirty="0">
                <a:solidFill>
                  <a:srgbClr val="1A1A1A"/>
                </a:solidFill>
                <a:latin typeface="Arial" pitchFamily="34" charset="0"/>
                <a:ea typeface="Arial" pitchFamily="34" charset="-122"/>
                <a:cs typeface="Arial" pitchFamily="34" charset="-120"/>
              </a:rPr>
              <a:t>COMPOSITION</a:t>
            </a:r>
            <a:endParaRPr lang="en-US" sz="760" dirty="0"/>
          </a:p>
        </p:txBody>
      </p:sp>
      <p:sp>
        <p:nvSpPr>
          <p:cNvPr id="20" name="Text 18"/>
          <p:cNvSpPr/>
          <p:nvPr/>
        </p:nvSpPr>
        <p:spPr>
          <a:xfrm>
            <a:off x="1847088" y="3950208"/>
            <a:ext cx="5148072" cy="47548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Eye level. The camera stands where another soldier would stand. High and low angles are permitted only where the operational reality requires it, never for drama.</a:t>
            </a:r>
            <a:endParaRPr lang="en-US" sz="860" dirty="0"/>
          </a:p>
        </p:txBody>
      </p:sp>
      <p:sp>
        <p:nvSpPr>
          <p:cNvPr id="21" name="Shape 19"/>
          <p:cNvSpPr/>
          <p:nvPr/>
        </p:nvSpPr>
        <p:spPr>
          <a:xfrm>
            <a:off x="566928" y="4443984"/>
            <a:ext cx="6428232" cy="7315"/>
          </a:xfrm>
          <a:prstGeom prst="rect">
            <a:avLst/>
          </a:prstGeom>
          <a:solidFill>
            <a:srgbClr val="D2D2D2"/>
          </a:solidFill>
          <a:ln/>
        </p:spPr>
      </p:sp>
      <p:sp>
        <p:nvSpPr>
          <p:cNvPr id="22" name="Text 20"/>
          <p:cNvSpPr/>
          <p:nvPr/>
        </p:nvSpPr>
        <p:spPr>
          <a:xfrm>
            <a:off x="566928" y="4535424"/>
            <a:ext cx="1188720" cy="457200"/>
          </a:xfrm>
          <a:prstGeom prst="rect">
            <a:avLst/>
          </a:prstGeom>
          <a:noFill/>
          <a:ln/>
        </p:spPr>
        <p:txBody>
          <a:bodyPr wrap="square" lIns="0" tIns="0" rIns="0" bIns="0" rtlCol="0" anchor="t"/>
          <a:lstStyle/>
          <a:p>
            <a:pPr algn="l" indent="0" marL="0">
              <a:buNone/>
            </a:pPr>
            <a:r>
              <a:rPr lang="en-US" sz="760" b="1" spc="100" kern="0" dirty="0">
                <a:solidFill>
                  <a:srgbClr val="1A1A1A"/>
                </a:solidFill>
                <a:latin typeface="Arial" pitchFamily="34" charset="0"/>
                <a:ea typeface="Arial" pitchFamily="34" charset="-122"/>
                <a:cs typeface="Arial" pitchFamily="34" charset="-120"/>
              </a:rPr>
              <a:t>FRAMING</a:t>
            </a:r>
            <a:endParaRPr lang="en-US" sz="760" dirty="0"/>
          </a:p>
        </p:txBody>
      </p:sp>
      <p:sp>
        <p:nvSpPr>
          <p:cNvPr id="23" name="Text 21"/>
          <p:cNvSpPr/>
          <p:nvPr/>
        </p:nvSpPr>
        <p:spPr>
          <a:xfrm>
            <a:off x="1847088" y="4535424"/>
            <a:ext cx="5148072" cy="47548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Wide enough to show the environment doing the work. The context is the pressure; a tight portrait removes the very thing being documented.</a:t>
            </a:r>
            <a:endParaRPr lang="en-US" sz="860" dirty="0"/>
          </a:p>
        </p:txBody>
      </p:sp>
      <p:sp>
        <p:nvSpPr>
          <p:cNvPr id="24" name="Shape 22"/>
          <p:cNvSpPr/>
          <p:nvPr/>
        </p:nvSpPr>
        <p:spPr>
          <a:xfrm>
            <a:off x="566928" y="5029200"/>
            <a:ext cx="6428232" cy="7315"/>
          </a:xfrm>
          <a:prstGeom prst="rect">
            <a:avLst/>
          </a:prstGeom>
          <a:solidFill>
            <a:srgbClr val="D2D2D2"/>
          </a:solidFill>
          <a:ln/>
        </p:spPr>
      </p:sp>
      <p:sp>
        <p:nvSpPr>
          <p:cNvPr id="25" name="Text 23"/>
          <p:cNvSpPr/>
          <p:nvPr/>
        </p:nvSpPr>
        <p:spPr>
          <a:xfrm>
            <a:off x="566928" y="5120640"/>
            <a:ext cx="1188720" cy="457200"/>
          </a:xfrm>
          <a:prstGeom prst="rect">
            <a:avLst/>
          </a:prstGeom>
          <a:noFill/>
          <a:ln/>
        </p:spPr>
        <p:txBody>
          <a:bodyPr wrap="square" lIns="0" tIns="0" rIns="0" bIns="0" rtlCol="0" anchor="t"/>
          <a:lstStyle/>
          <a:p>
            <a:pPr algn="l" indent="0" marL="0">
              <a:buNone/>
            </a:pPr>
            <a:r>
              <a:rPr lang="en-US" sz="760" b="1" spc="100" kern="0" dirty="0">
                <a:solidFill>
                  <a:srgbClr val="1A1A1A"/>
                </a:solidFill>
                <a:latin typeface="Arial" pitchFamily="34" charset="0"/>
                <a:ea typeface="Arial" pitchFamily="34" charset="-122"/>
                <a:cs typeface="Arial" pitchFamily="34" charset="-120"/>
              </a:rPr>
              <a:t>SUBJECT</a:t>
            </a:r>
            <a:endParaRPr lang="en-US" sz="760" dirty="0"/>
          </a:p>
        </p:txBody>
      </p:sp>
      <p:sp>
        <p:nvSpPr>
          <p:cNvPr id="26" name="Text 24"/>
          <p:cNvSpPr/>
          <p:nvPr/>
        </p:nvSpPr>
        <p:spPr>
          <a:xfrm>
            <a:off x="1847088" y="5120640"/>
            <a:ext cx="5148072" cy="47548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The whole Army. Ranks from private to colonel, all trades, all body types, both regular and reserve. If the imagery set skews young, male and infantry, the framework will be read as belonging to them.</a:t>
            </a:r>
            <a:endParaRPr lang="en-US" sz="860" dirty="0"/>
          </a:p>
        </p:txBody>
      </p:sp>
      <p:sp>
        <p:nvSpPr>
          <p:cNvPr id="27" name="Shape 25"/>
          <p:cNvSpPr/>
          <p:nvPr/>
        </p:nvSpPr>
        <p:spPr>
          <a:xfrm>
            <a:off x="566928" y="5614416"/>
            <a:ext cx="6428232" cy="7315"/>
          </a:xfrm>
          <a:prstGeom prst="rect">
            <a:avLst/>
          </a:prstGeom>
          <a:solidFill>
            <a:srgbClr val="D2D2D2"/>
          </a:solidFill>
          <a:ln/>
        </p:spPr>
      </p:sp>
      <p:sp>
        <p:nvSpPr>
          <p:cNvPr id="28" name="Text 26"/>
          <p:cNvSpPr/>
          <p:nvPr/>
        </p:nvSpPr>
        <p:spPr>
          <a:xfrm>
            <a:off x="566928" y="5705856"/>
            <a:ext cx="1188720" cy="457200"/>
          </a:xfrm>
          <a:prstGeom prst="rect">
            <a:avLst/>
          </a:prstGeom>
          <a:noFill/>
          <a:ln/>
        </p:spPr>
        <p:txBody>
          <a:bodyPr wrap="square" lIns="0" tIns="0" rIns="0" bIns="0" rtlCol="0" anchor="t"/>
          <a:lstStyle/>
          <a:p>
            <a:pPr algn="l" indent="0" marL="0">
              <a:buNone/>
            </a:pPr>
            <a:r>
              <a:rPr lang="en-US" sz="760" b="1" spc="100" kern="0" dirty="0">
                <a:solidFill>
                  <a:srgbClr val="1A1A1A"/>
                </a:solidFill>
                <a:latin typeface="Arial" pitchFamily="34" charset="0"/>
                <a:ea typeface="Arial" pitchFamily="34" charset="-122"/>
                <a:cs typeface="Arial" pitchFamily="34" charset="-120"/>
              </a:rPr>
              <a:t>EMOTION</a:t>
            </a:r>
            <a:endParaRPr lang="en-US" sz="760" dirty="0"/>
          </a:p>
        </p:txBody>
      </p:sp>
      <p:sp>
        <p:nvSpPr>
          <p:cNvPr id="29" name="Text 27"/>
          <p:cNvSpPr/>
          <p:nvPr/>
        </p:nvSpPr>
        <p:spPr>
          <a:xfrm>
            <a:off x="1847088" y="5705856"/>
            <a:ext cx="5148072" cy="47548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Concentration, fatigue, recovery, deliberation, the flat expression of someone thinking hard. Never aggression, never triumph, never the shouted moment.</a:t>
            </a:r>
            <a:endParaRPr lang="en-US" sz="860" dirty="0"/>
          </a:p>
        </p:txBody>
      </p:sp>
      <p:sp>
        <p:nvSpPr>
          <p:cNvPr id="30" name="Shape 28"/>
          <p:cNvSpPr/>
          <p:nvPr/>
        </p:nvSpPr>
        <p:spPr>
          <a:xfrm>
            <a:off x="566928" y="6199632"/>
            <a:ext cx="6428232" cy="7315"/>
          </a:xfrm>
          <a:prstGeom prst="rect">
            <a:avLst/>
          </a:prstGeom>
          <a:solidFill>
            <a:srgbClr val="D2D2D2"/>
          </a:solidFill>
          <a:ln/>
        </p:spPr>
      </p:sp>
      <p:sp>
        <p:nvSpPr>
          <p:cNvPr id="31" name="Text 29"/>
          <p:cNvSpPr/>
          <p:nvPr/>
        </p:nvSpPr>
        <p:spPr>
          <a:xfrm>
            <a:off x="566928" y="6291072"/>
            <a:ext cx="1188720" cy="457200"/>
          </a:xfrm>
          <a:prstGeom prst="rect">
            <a:avLst/>
          </a:prstGeom>
          <a:noFill/>
          <a:ln/>
        </p:spPr>
        <p:txBody>
          <a:bodyPr wrap="square" lIns="0" tIns="0" rIns="0" bIns="0" rtlCol="0" anchor="t"/>
          <a:lstStyle/>
          <a:p>
            <a:pPr algn="l" indent="0" marL="0">
              <a:buNone/>
            </a:pPr>
            <a:r>
              <a:rPr lang="en-US" sz="760" b="1" spc="100" kern="0" dirty="0">
                <a:solidFill>
                  <a:srgbClr val="1A1A1A"/>
                </a:solidFill>
                <a:latin typeface="Arial" pitchFamily="34" charset="0"/>
                <a:ea typeface="Arial" pitchFamily="34" charset="-122"/>
                <a:cs typeface="Arial" pitchFamily="34" charset="-120"/>
              </a:rPr>
              <a:t>MOMENT</a:t>
            </a:r>
            <a:endParaRPr lang="en-US" sz="760" dirty="0"/>
          </a:p>
        </p:txBody>
      </p:sp>
      <p:sp>
        <p:nvSpPr>
          <p:cNvPr id="32" name="Text 30"/>
          <p:cNvSpPr/>
          <p:nvPr/>
        </p:nvSpPr>
        <p:spPr>
          <a:xfrm>
            <a:off x="1847088" y="6291072"/>
            <a:ext cx="5148072" cy="47548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The moment before or the moment after. The moment itself is almost always the least informative frame and the most theatrical.</a:t>
            </a:r>
            <a:endParaRPr lang="en-US" sz="860" dirty="0"/>
          </a:p>
        </p:txBody>
      </p:sp>
      <p:sp>
        <p:nvSpPr>
          <p:cNvPr id="33" name="Shape 31"/>
          <p:cNvSpPr/>
          <p:nvPr/>
        </p:nvSpPr>
        <p:spPr>
          <a:xfrm>
            <a:off x="566928" y="6784848"/>
            <a:ext cx="6428232" cy="7315"/>
          </a:xfrm>
          <a:prstGeom prst="rect">
            <a:avLst/>
          </a:prstGeom>
          <a:solidFill>
            <a:srgbClr val="D2D2D2"/>
          </a:solidFill>
          <a:ln/>
        </p:spPr>
      </p:sp>
      <p:sp>
        <p:nvSpPr>
          <p:cNvPr id="34" name="Text 32"/>
          <p:cNvSpPr/>
          <p:nvPr/>
        </p:nvSpPr>
        <p:spPr>
          <a:xfrm>
            <a:off x="566928" y="6876288"/>
            <a:ext cx="1188720" cy="457200"/>
          </a:xfrm>
          <a:prstGeom prst="rect">
            <a:avLst/>
          </a:prstGeom>
          <a:noFill/>
          <a:ln/>
        </p:spPr>
        <p:txBody>
          <a:bodyPr wrap="square" lIns="0" tIns="0" rIns="0" bIns="0" rtlCol="0" anchor="t"/>
          <a:lstStyle/>
          <a:p>
            <a:pPr algn="l" indent="0" marL="0">
              <a:buNone/>
            </a:pPr>
            <a:r>
              <a:rPr lang="en-US" sz="760" b="1" spc="100" kern="0" dirty="0">
                <a:solidFill>
                  <a:srgbClr val="1A1A1A"/>
                </a:solidFill>
                <a:latin typeface="Arial" pitchFamily="34" charset="0"/>
                <a:ea typeface="Arial" pitchFamily="34" charset="-122"/>
                <a:cs typeface="Arial" pitchFamily="34" charset="-120"/>
              </a:rPr>
              <a:t>EYE CONTACT</a:t>
            </a:r>
            <a:endParaRPr lang="en-US" sz="760" dirty="0"/>
          </a:p>
        </p:txBody>
      </p:sp>
      <p:sp>
        <p:nvSpPr>
          <p:cNvPr id="35" name="Text 33"/>
          <p:cNvSpPr/>
          <p:nvPr/>
        </p:nvSpPr>
        <p:spPr>
          <a:xfrm>
            <a:off x="1847088" y="6876288"/>
            <a:ext cx="5148072" cy="47548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None, except in a named environmental portrait where a person is being quoted or credited. A soldier looking into the lens is performing.</a:t>
            </a:r>
            <a:endParaRPr lang="en-US" sz="860" dirty="0"/>
          </a:p>
        </p:txBody>
      </p:sp>
      <p:sp>
        <p:nvSpPr>
          <p:cNvPr id="36" name="Shape 34"/>
          <p:cNvSpPr/>
          <p:nvPr/>
        </p:nvSpPr>
        <p:spPr>
          <a:xfrm>
            <a:off x="566928" y="7370064"/>
            <a:ext cx="6428232" cy="7315"/>
          </a:xfrm>
          <a:prstGeom prst="rect">
            <a:avLst/>
          </a:prstGeom>
          <a:solidFill>
            <a:srgbClr val="D2D2D2"/>
          </a:solidFill>
          <a:ln/>
        </p:spPr>
      </p:sp>
      <p:sp>
        <p:nvSpPr>
          <p:cNvPr id="37" name="Text 35"/>
          <p:cNvSpPr/>
          <p:nvPr/>
        </p:nvSpPr>
        <p:spPr>
          <a:xfrm>
            <a:off x="566928" y="7461504"/>
            <a:ext cx="1188720" cy="457200"/>
          </a:xfrm>
          <a:prstGeom prst="rect">
            <a:avLst/>
          </a:prstGeom>
          <a:noFill/>
          <a:ln/>
        </p:spPr>
        <p:txBody>
          <a:bodyPr wrap="square" lIns="0" tIns="0" rIns="0" bIns="0" rtlCol="0" anchor="t"/>
          <a:lstStyle/>
          <a:p>
            <a:pPr algn="l" indent="0" marL="0">
              <a:buNone/>
            </a:pPr>
            <a:r>
              <a:rPr lang="en-US" sz="760" b="1" spc="100" kern="0" dirty="0">
                <a:solidFill>
                  <a:srgbClr val="1A1A1A"/>
                </a:solidFill>
                <a:latin typeface="Arial" pitchFamily="34" charset="0"/>
                <a:ea typeface="Arial" pitchFamily="34" charset="-122"/>
                <a:cs typeface="Arial" pitchFamily="34" charset="-120"/>
              </a:rPr>
              <a:t>POST</a:t>
            </a:r>
            <a:endParaRPr lang="en-US" sz="760" dirty="0"/>
          </a:p>
        </p:txBody>
      </p:sp>
      <p:sp>
        <p:nvSpPr>
          <p:cNvPr id="38" name="Text 36"/>
          <p:cNvSpPr/>
          <p:nvPr/>
        </p:nvSpPr>
        <p:spPr>
          <a:xfrm>
            <a:off x="1847088" y="7461504"/>
            <a:ext cx="5148072" cy="475488"/>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Correction only. No vignettes, no crushed blacks, no teal and orange, no monochrome conversion to add gravity.</a:t>
            </a:r>
            <a:endParaRPr lang="en-US" sz="860" dirty="0"/>
          </a:p>
        </p:txBody>
      </p:sp>
      <p:sp>
        <p:nvSpPr>
          <p:cNvPr id="39" name="Shape 37"/>
          <p:cNvSpPr/>
          <p:nvPr/>
        </p:nvSpPr>
        <p:spPr>
          <a:xfrm>
            <a:off x="566928" y="7955280"/>
            <a:ext cx="6428232" cy="7315"/>
          </a:xfrm>
          <a:prstGeom prst="rect">
            <a:avLst/>
          </a:prstGeom>
          <a:solidFill>
            <a:srgbClr val="D2D2D2"/>
          </a:solidFill>
          <a:ln/>
        </p:spPr>
      </p:sp>
      <p:sp>
        <p:nvSpPr>
          <p:cNvPr id="40" name="Text 38"/>
          <p:cNvSpPr/>
          <p:nvPr/>
        </p:nvSpPr>
        <p:spPr>
          <a:xfrm>
            <a:off x="566928" y="808329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AUTOMATIC REJECTIONS</a:t>
            </a:r>
            <a:endParaRPr lang="en-US" sz="740" dirty="0"/>
          </a:p>
        </p:txBody>
      </p:sp>
      <p:sp>
        <p:nvSpPr>
          <p:cNvPr id="41" name="Shape 39"/>
          <p:cNvSpPr/>
          <p:nvPr/>
        </p:nvSpPr>
        <p:spPr>
          <a:xfrm>
            <a:off x="566928" y="8266176"/>
            <a:ext cx="6428232" cy="7315"/>
          </a:xfrm>
          <a:prstGeom prst="rect">
            <a:avLst/>
          </a:prstGeom>
          <a:solidFill>
            <a:srgbClr val="D2D2D2"/>
          </a:solidFill>
          <a:ln/>
        </p:spPr>
      </p:sp>
      <p:sp>
        <p:nvSpPr>
          <p:cNvPr id="42" name="Shape 40"/>
          <p:cNvSpPr/>
          <p:nvPr/>
        </p:nvSpPr>
        <p:spPr>
          <a:xfrm>
            <a:off x="566928" y="8375904"/>
            <a:ext cx="1538478" cy="347472"/>
          </a:xfrm>
          <a:prstGeom prst="rect">
            <a:avLst/>
          </a:prstGeom>
          <a:solidFill>
            <a:srgbClr val="F5F5F3"/>
          </a:solidFill>
          <a:ln/>
        </p:spPr>
      </p:sp>
      <p:sp>
        <p:nvSpPr>
          <p:cNvPr id="43" name="Shape 41"/>
          <p:cNvSpPr/>
          <p:nvPr/>
        </p:nvSpPr>
        <p:spPr>
          <a:xfrm>
            <a:off x="566928" y="8375904"/>
            <a:ext cx="22860" cy="347472"/>
          </a:xfrm>
          <a:prstGeom prst="rect">
            <a:avLst/>
          </a:prstGeom>
          <a:solidFill>
            <a:srgbClr val="D31145"/>
          </a:solidFill>
          <a:ln/>
        </p:spPr>
      </p:sp>
      <p:sp>
        <p:nvSpPr>
          <p:cNvPr id="44" name="Text 42"/>
          <p:cNvSpPr/>
          <p:nvPr/>
        </p:nvSpPr>
        <p:spPr>
          <a:xfrm>
            <a:off x="676656" y="8375904"/>
            <a:ext cx="1355598" cy="347472"/>
          </a:xfrm>
          <a:prstGeom prst="rect">
            <a:avLst/>
          </a:prstGeom>
          <a:noFill/>
          <a:ln/>
        </p:spPr>
        <p:txBody>
          <a:bodyPr wrap="square" lIns="0" tIns="0" rIns="0" bIns="0" rtlCol="0" anchor="ctr"/>
          <a:lstStyle/>
          <a:p>
            <a:pPr algn="l" indent="0" marL="0">
              <a:buNone/>
            </a:pPr>
            <a:r>
              <a:rPr lang="en-US" sz="700" dirty="0">
                <a:solidFill>
                  <a:srgbClr val="1A1A1A"/>
                </a:solidFill>
                <a:latin typeface="Arial" pitchFamily="34" charset="0"/>
                <a:ea typeface="Arial" pitchFamily="34" charset="-122"/>
                <a:cs typeface="Arial" pitchFamily="34" charset="-120"/>
              </a:rPr>
              <a:t>Silhouettes against a sunset</a:t>
            </a:r>
            <a:endParaRPr lang="en-US" sz="700" dirty="0"/>
          </a:p>
        </p:txBody>
      </p:sp>
      <p:sp>
        <p:nvSpPr>
          <p:cNvPr id="45" name="Shape 43"/>
          <p:cNvSpPr/>
          <p:nvPr/>
        </p:nvSpPr>
        <p:spPr>
          <a:xfrm>
            <a:off x="2196846" y="8375904"/>
            <a:ext cx="1538478" cy="347472"/>
          </a:xfrm>
          <a:prstGeom prst="rect">
            <a:avLst/>
          </a:prstGeom>
          <a:solidFill>
            <a:srgbClr val="F5F5F3"/>
          </a:solidFill>
          <a:ln/>
        </p:spPr>
      </p:sp>
      <p:sp>
        <p:nvSpPr>
          <p:cNvPr id="46" name="Shape 44"/>
          <p:cNvSpPr/>
          <p:nvPr/>
        </p:nvSpPr>
        <p:spPr>
          <a:xfrm>
            <a:off x="2196846" y="8375904"/>
            <a:ext cx="22860" cy="347472"/>
          </a:xfrm>
          <a:prstGeom prst="rect">
            <a:avLst/>
          </a:prstGeom>
          <a:solidFill>
            <a:srgbClr val="D31145"/>
          </a:solidFill>
          <a:ln/>
        </p:spPr>
      </p:sp>
      <p:sp>
        <p:nvSpPr>
          <p:cNvPr id="47" name="Text 45"/>
          <p:cNvSpPr/>
          <p:nvPr/>
        </p:nvSpPr>
        <p:spPr>
          <a:xfrm>
            <a:off x="2306574" y="8375904"/>
            <a:ext cx="1355598" cy="347472"/>
          </a:xfrm>
          <a:prstGeom prst="rect">
            <a:avLst/>
          </a:prstGeom>
          <a:noFill/>
          <a:ln/>
        </p:spPr>
        <p:txBody>
          <a:bodyPr wrap="square" lIns="0" tIns="0" rIns="0" bIns="0" rtlCol="0" anchor="ctr"/>
          <a:lstStyle/>
          <a:p>
            <a:pPr algn="l" indent="0" marL="0">
              <a:buNone/>
            </a:pPr>
            <a:r>
              <a:rPr lang="en-US" sz="700" dirty="0">
                <a:solidFill>
                  <a:srgbClr val="1A1A1A"/>
                </a:solidFill>
                <a:latin typeface="Arial" pitchFamily="34" charset="0"/>
                <a:ea typeface="Arial" pitchFamily="34" charset="-122"/>
                <a:cs typeface="Arial" pitchFamily="34" charset="-120"/>
              </a:rPr>
              <a:t>Generic gym imagery as shorthand for performance</a:t>
            </a:r>
            <a:endParaRPr lang="en-US" sz="700" dirty="0"/>
          </a:p>
        </p:txBody>
      </p:sp>
      <p:sp>
        <p:nvSpPr>
          <p:cNvPr id="48" name="Shape 46"/>
          <p:cNvSpPr/>
          <p:nvPr/>
        </p:nvSpPr>
        <p:spPr>
          <a:xfrm>
            <a:off x="3826764" y="8375904"/>
            <a:ext cx="1538478" cy="347472"/>
          </a:xfrm>
          <a:prstGeom prst="rect">
            <a:avLst/>
          </a:prstGeom>
          <a:solidFill>
            <a:srgbClr val="F5F5F3"/>
          </a:solidFill>
          <a:ln/>
        </p:spPr>
      </p:sp>
      <p:sp>
        <p:nvSpPr>
          <p:cNvPr id="49" name="Shape 47"/>
          <p:cNvSpPr/>
          <p:nvPr/>
        </p:nvSpPr>
        <p:spPr>
          <a:xfrm>
            <a:off x="3826764" y="8375904"/>
            <a:ext cx="22860" cy="347472"/>
          </a:xfrm>
          <a:prstGeom prst="rect">
            <a:avLst/>
          </a:prstGeom>
          <a:solidFill>
            <a:srgbClr val="D31145"/>
          </a:solidFill>
          <a:ln/>
        </p:spPr>
      </p:sp>
      <p:sp>
        <p:nvSpPr>
          <p:cNvPr id="50" name="Text 48"/>
          <p:cNvSpPr/>
          <p:nvPr/>
        </p:nvSpPr>
        <p:spPr>
          <a:xfrm>
            <a:off x="3936492" y="8375904"/>
            <a:ext cx="1355598" cy="347472"/>
          </a:xfrm>
          <a:prstGeom prst="rect">
            <a:avLst/>
          </a:prstGeom>
          <a:noFill/>
          <a:ln/>
        </p:spPr>
        <p:txBody>
          <a:bodyPr wrap="square" lIns="0" tIns="0" rIns="0" bIns="0" rtlCol="0" anchor="ctr"/>
          <a:lstStyle/>
          <a:p>
            <a:pPr algn="l" indent="0" marL="0">
              <a:buNone/>
            </a:pPr>
            <a:r>
              <a:rPr lang="en-US" sz="700" dirty="0">
                <a:solidFill>
                  <a:srgbClr val="1A1A1A"/>
                </a:solidFill>
                <a:latin typeface="Arial" pitchFamily="34" charset="0"/>
                <a:ea typeface="Arial" pitchFamily="34" charset="-122"/>
                <a:cs typeface="Arial" pitchFamily="34" charset="-120"/>
              </a:rPr>
              <a:t>Weapon-forward hero framing</a:t>
            </a:r>
            <a:endParaRPr lang="en-US" sz="700" dirty="0"/>
          </a:p>
        </p:txBody>
      </p:sp>
      <p:sp>
        <p:nvSpPr>
          <p:cNvPr id="51" name="Shape 49"/>
          <p:cNvSpPr/>
          <p:nvPr/>
        </p:nvSpPr>
        <p:spPr>
          <a:xfrm>
            <a:off x="5456682" y="8375904"/>
            <a:ext cx="1538478" cy="347472"/>
          </a:xfrm>
          <a:prstGeom prst="rect">
            <a:avLst/>
          </a:prstGeom>
          <a:solidFill>
            <a:srgbClr val="F5F5F3"/>
          </a:solidFill>
          <a:ln/>
        </p:spPr>
      </p:sp>
      <p:sp>
        <p:nvSpPr>
          <p:cNvPr id="52" name="Shape 50"/>
          <p:cNvSpPr/>
          <p:nvPr/>
        </p:nvSpPr>
        <p:spPr>
          <a:xfrm>
            <a:off x="5456682" y="8375904"/>
            <a:ext cx="22860" cy="347472"/>
          </a:xfrm>
          <a:prstGeom prst="rect">
            <a:avLst/>
          </a:prstGeom>
          <a:solidFill>
            <a:srgbClr val="D31145"/>
          </a:solidFill>
          <a:ln/>
        </p:spPr>
      </p:sp>
      <p:sp>
        <p:nvSpPr>
          <p:cNvPr id="53" name="Text 51"/>
          <p:cNvSpPr/>
          <p:nvPr/>
        </p:nvSpPr>
        <p:spPr>
          <a:xfrm>
            <a:off x="5566410" y="8375904"/>
            <a:ext cx="1355598" cy="347472"/>
          </a:xfrm>
          <a:prstGeom prst="rect">
            <a:avLst/>
          </a:prstGeom>
          <a:noFill/>
          <a:ln/>
        </p:spPr>
        <p:txBody>
          <a:bodyPr wrap="square" lIns="0" tIns="0" rIns="0" bIns="0" rtlCol="0" anchor="ctr"/>
          <a:lstStyle/>
          <a:p>
            <a:pPr algn="l" indent="0" marL="0">
              <a:buNone/>
            </a:pPr>
            <a:r>
              <a:rPr lang="en-US" sz="700" dirty="0">
                <a:solidFill>
                  <a:srgbClr val="1A1A1A"/>
                </a:solidFill>
                <a:latin typeface="Arial" pitchFamily="34" charset="0"/>
                <a:ea typeface="Arial" pitchFamily="34" charset="-122"/>
                <a:cs typeface="Arial" pitchFamily="34" charset="-120"/>
              </a:rPr>
              <a:t>Shouted faces</a:t>
            </a:r>
            <a:endParaRPr lang="en-US" sz="700" dirty="0"/>
          </a:p>
        </p:txBody>
      </p:sp>
      <p:sp>
        <p:nvSpPr>
          <p:cNvPr id="54" name="Shape 52"/>
          <p:cNvSpPr/>
          <p:nvPr/>
        </p:nvSpPr>
        <p:spPr>
          <a:xfrm>
            <a:off x="566928" y="8796528"/>
            <a:ext cx="1538478" cy="347472"/>
          </a:xfrm>
          <a:prstGeom prst="rect">
            <a:avLst/>
          </a:prstGeom>
          <a:solidFill>
            <a:srgbClr val="F5F5F3"/>
          </a:solidFill>
          <a:ln/>
        </p:spPr>
      </p:sp>
      <p:sp>
        <p:nvSpPr>
          <p:cNvPr id="55" name="Shape 53"/>
          <p:cNvSpPr/>
          <p:nvPr/>
        </p:nvSpPr>
        <p:spPr>
          <a:xfrm>
            <a:off x="566928" y="8796528"/>
            <a:ext cx="22860" cy="347472"/>
          </a:xfrm>
          <a:prstGeom prst="rect">
            <a:avLst/>
          </a:prstGeom>
          <a:solidFill>
            <a:srgbClr val="D31145"/>
          </a:solidFill>
          <a:ln/>
        </p:spPr>
      </p:sp>
      <p:sp>
        <p:nvSpPr>
          <p:cNvPr id="56" name="Text 54"/>
          <p:cNvSpPr/>
          <p:nvPr/>
        </p:nvSpPr>
        <p:spPr>
          <a:xfrm>
            <a:off x="676656" y="8796528"/>
            <a:ext cx="1355598" cy="347472"/>
          </a:xfrm>
          <a:prstGeom prst="rect">
            <a:avLst/>
          </a:prstGeom>
          <a:noFill/>
          <a:ln/>
        </p:spPr>
        <p:txBody>
          <a:bodyPr wrap="square" lIns="0" tIns="0" rIns="0" bIns="0" rtlCol="0" anchor="ctr"/>
          <a:lstStyle/>
          <a:p>
            <a:pPr algn="l" indent="0" marL="0">
              <a:buNone/>
            </a:pPr>
            <a:r>
              <a:rPr lang="en-US" sz="700" dirty="0">
                <a:solidFill>
                  <a:srgbClr val="1A1A1A"/>
                </a:solidFill>
                <a:latin typeface="Arial" pitchFamily="34" charset="0"/>
                <a:ea typeface="Arial" pitchFamily="34" charset="-122"/>
                <a:cs typeface="Arial" pitchFamily="34" charset="-120"/>
              </a:rPr>
              <a:t>Staged planning shots around a map</a:t>
            </a:r>
            <a:endParaRPr lang="en-US" sz="700" dirty="0"/>
          </a:p>
        </p:txBody>
      </p:sp>
      <p:sp>
        <p:nvSpPr>
          <p:cNvPr id="57" name="Shape 55"/>
          <p:cNvSpPr/>
          <p:nvPr/>
        </p:nvSpPr>
        <p:spPr>
          <a:xfrm>
            <a:off x="2196846" y="8796528"/>
            <a:ext cx="1538478" cy="347472"/>
          </a:xfrm>
          <a:prstGeom prst="rect">
            <a:avLst/>
          </a:prstGeom>
          <a:solidFill>
            <a:srgbClr val="F5F5F3"/>
          </a:solidFill>
          <a:ln/>
        </p:spPr>
      </p:sp>
      <p:sp>
        <p:nvSpPr>
          <p:cNvPr id="58" name="Shape 56"/>
          <p:cNvSpPr/>
          <p:nvPr/>
        </p:nvSpPr>
        <p:spPr>
          <a:xfrm>
            <a:off x="2196846" y="8796528"/>
            <a:ext cx="22860" cy="347472"/>
          </a:xfrm>
          <a:prstGeom prst="rect">
            <a:avLst/>
          </a:prstGeom>
          <a:solidFill>
            <a:srgbClr val="D31145"/>
          </a:solidFill>
          <a:ln/>
        </p:spPr>
      </p:sp>
      <p:sp>
        <p:nvSpPr>
          <p:cNvPr id="59" name="Text 57"/>
          <p:cNvSpPr/>
          <p:nvPr/>
        </p:nvSpPr>
        <p:spPr>
          <a:xfrm>
            <a:off x="2306574" y="8796528"/>
            <a:ext cx="1355598" cy="347472"/>
          </a:xfrm>
          <a:prstGeom prst="rect">
            <a:avLst/>
          </a:prstGeom>
          <a:noFill/>
          <a:ln/>
        </p:spPr>
        <p:txBody>
          <a:bodyPr wrap="square" lIns="0" tIns="0" rIns="0" bIns="0" rtlCol="0" anchor="ctr"/>
          <a:lstStyle/>
          <a:p>
            <a:pPr algn="l" indent="0" marL="0">
              <a:buNone/>
            </a:pPr>
            <a:r>
              <a:rPr lang="en-US" sz="700" dirty="0">
                <a:solidFill>
                  <a:srgbClr val="1A1A1A"/>
                </a:solidFill>
                <a:latin typeface="Arial" pitchFamily="34" charset="0"/>
                <a:ea typeface="Arial" pitchFamily="34" charset="-122"/>
                <a:cs typeface="Arial" pitchFamily="34" charset="-120"/>
              </a:rPr>
              <a:t>Stock imagery of any kind</a:t>
            </a:r>
            <a:endParaRPr lang="en-US" sz="700" dirty="0"/>
          </a:p>
        </p:txBody>
      </p:sp>
      <p:sp>
        <p:nvSpPr>
          <p:cNvPr id="60" name="Shape 58"/>
          <p:cNvSpPr/>
          <p:nvPr/>
        </p:nvSpPr>
        <p:spPr>
          <a:xfrm>
            <a:off x="3826764" y="8796528"/>
            <a:ext cx="1538478" cy="347472"/>
          </a:xfrm>
          <a:prstGeom prst="rect">
            <a:avLst/>
          </a:prstGeom>
          <a:solidFill>
            <a:srgbClr val="F5F5F3"/>
          </a:solidFill>
          <a:ln/>
        </p:spPr>
      </p:sp>
      <p:sp>
        <p:nvSpPr>
          <p:cNvPr id="61" name="Shape 59"/>
          <p:cNvSpPr/>
          <p:nvPr/>
        </p:nvSpPr>
        <p:spPr>
          <a:xfrm>
            <a:off x="3826764" y="8796528"/>
            <a:ext cx="22860" cy="347472"/>
          </a:xfrm>
          <a:prstGeom prst="rect">
            <a:avLst/>
          </a:prstGeom>
          <a:solidFill>
            <a:srgbClr val="D31145"/>
          </a:solidFill>
          <a:ln/>
        </p:spPr>
      </p:sp>
      <p:sp>
        <p:nvSpPr>
          <p:cNvPr id="62" name="Text 60"/>
          <p:cNvSpPr/>
          <p:nvPr/>
        </p:nvSpPr>
        <p:spPr>
          <a:xfrm>
            <a:off x="3936492" y="8796528"/>
            <a:ext cx="1355598" cy="347472"/>
          </a:xfrm>
          <a:prstGeom prst="rect">
            <a:avLst/>
          </a:prstGeom>
          <a:noFill/>
          <a:ln/>
        </p:spPr>
        <p:txBody>
          <a:bodyPr wrap="square" lIns="0" tIns="0" rIns="0" bIns="0" rtlCol="0" anchor="ctr"/>
          <a:lstStyle/>
          <a:p>
            <a:pPr algn="l" indent="0" marL="0">
              <a:buNone/>
            </a:pPr>
            <a:r>
              <a:rPr lang="en-US" sz="700" dirty="0">
                <a:solidFill>
                  <a:srgbClr val="1A1A1A"/>
                </a:solidFill>
                <a:latin typeface="Arial" pitchFamily="34" charset="0"/>
                <a:ea typeface="Arial" pitchFamily="34" charset="-122"/>
                <a:cs typeface="Arial" pitchFamily="34" charset="-120"/>
              </a:rPr>
              <a:t>Anything shot for recruitment</a:t>
            </a:r>
            <a:endParaRPr lang="en-US" sz="700" dirty="0"/>
          </a:p>
        </p:txBody>
      </p:sp>
      <p:sp>
        <p:nvSpPr>
          <p:cNvPr id="63" name="Shape 61"/>
          <p:cNvSpPr/>
          <p:nvPr/>
        </p:nvSpPr>
        <p:spPr>
          <a:xfrm>
            <a:off x="5456682" y="8796528"/>
            <a:ext cx="1538478" cy="347472"/>
          </a:xfrm>
          <a:prstGeom prst="rect">
            <a:avLst/>
          </a:prstGeom>
          <a:solidFill>
            <a:srgbClr val="F5F5F3"/>
          </a:solidFill>
          <a:ln/>
        </p:spPr>
      </p:sp>
      <p:sp>
        <p:nvSpPr>
          <p:cNvPr id="64" name="Shape 62"/>
          <p:cNvSpPr/>
          <p:nvPr/>
        </p:nvSpPr>
        <p:spPr>
          <a:xfrm>
            <a:off x="5456682" y="8796528"/>
            <a:ext cx="22860" cy="347472"/>
          </a:xfrm>
          <a:prstGeom prst="rect">
            <a:avLst/>
          </a:prstGeom>
          <a:solidFill>
            <a:srgbClr val="D31145"/>
          </a:solidFill>
          <a:ln/>
        </p:spPr>
      </p:sp>
      <p:sp>
        <p:nvSpPr>
          <p:cNvPr id="65" name="Text 63"/>
          <p:cNvSpPr/>
          <p:nvPr/>
        </p:nvSpPr>
        <p:spPr>
          <a:xfrm>
            <a:off x="5566410" y="8796528"/>
            <a:ext cx="1355598" cy="347472"/>
          </a:xfrm>
          <a:prstGeom prst="rect">
            <a:avLst/>
          </a:prstGeom>
          <a:noFill/>
          <a:ln/>
        </p:spPr>
        <p:txBody>
          <a:bodyPr wrap="square" lIns="0" tIns="0" rIns="0" bIns="0" rtlCol="0" anchor="ctr"/>
          <a:lstStyle/>
          <a:p>
            <a:pPr algn="l" indent="0" marL="0">
              <a:buNone/>
            </a:pPr>
            <a:r>
              <a:rPr lang="en-US" sz="700" dirty="0">
                <a:solidFill>
                  <a:srgbClr val="1A1A1A"/>
                </a:solidFill>
                <a:latin typeface="Arial" pitchFamily="34" charset="0"/>
                <a:ea typeface="Arial" pitchFamily="34" charset="-122"/>
                <a:cs typeface="Arial" pitchFamily="34" charset="-120"/>
              </a:rPr>
              <a:t>Composites and montage</a:t>
            </a:r>
            <a:endParaRPr lang="en-US" sz="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MOTION</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18</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Motion language</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Motion is the newest part of the system and the part most likely to date it. The specification is therefore deliberately narrow.</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7393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PRINCIPLE</a:t>
            </a:r>
            <a:endParaRPr lang="en-US" sz="740" dirty="0"/>
          </a:p>
        </p:txBody>
      </p:sp>
      <p:sp>
        <p:nvSpPr>
          <p:cNvPr id="10" name="Shape 8"/>
          <p:cNvSpPr/>
          <p:nvPr/>
        </p:nvSpPr>
        <p:spPr>
          <a:xfrm>
            <a:off x="566928" y="1956816"/>
            <a:ext cx="6428232" cy="7315"/>
          </a:xfrm>
          <a:prstGeom prst="rect">
            <a:avLst/>
          </a:prstGeom>
          <a:solidFill>
            <a:srgbClr val="D2D2D2"/>
          </a:solidFill>
          <a:ln/>
        </p:spPr>
      </p:sp>
      <p:sp>
        <p:nvSpPr>
          <p:cNvPr id="11" name="Shape 9"/>
          <p:cNvSpPr/>
          <p:nvPr/>
        </p:nvSpPr>
        <p:spPr>
          <a:xfrm>
            <a:off x="566928" y="2066544"/>
            <a:ext cx="6428232" cy="621792"/>
          </a:xfrm>
          <a:prstGeom prst="rect">
            <a:avLst/>
          </a:prstGeom>
          <a:solidFill>
            <a:srgbClr val="F5F5F3"/>
          </a:solidFill>
          <a:ln/>
        </p:spPr>
      </p:sp>
      <p:sp>
        <p:nvSpPr>
          <p:cNvPr id="12" name="Text 10"/>
          <p:cNvSpPr/>
          <p:nvPr/>
        </p:nvSpPr>
        <p:spPr>
          <a:xfrm>
            <a:off x="841248" y="2066544"/>
            <a:ext cx="5879592" cy="621792"/>
          </a:xfrm>
          <a:prstGeom prst="rect">
            <a:avLst/>
          </a:prstGeom>
          <a:noFill/>
          <a:ln/>
        </p:spPr>
        <p:txBody>
          <a:bodyPr wrap="square" lIns="0" tIns="0" rIns="0" bIns="0" rtlCol="0" anchor="ctr"/>
          <a:lstStyle/>
          <a:p>
            <a:pPr algn="l" indent="0" marL="0">
              <a:buNone/>
            </a:pPr>
            <a:r>
              <a:rPr lang="en-US" sz="1500" b="1" dirty="0">
                <a:solidFill>
                  <a:srgbClr val="1A1A1A"/>
                </a:solidFill>
                <a:latin typeface="Arial" pitchFamily="34" charset="0"/>
                <a:ea typeface="Arial" pitchFamily="34" charset="-122"/>
                <a:cs typeface="Arial" pitchFamily="34" charset="-120"/>
              </a:rPr>
              <a:t>Motion confirms. It does not perform.</a:t>
            </a:r>
            <a:endParaRPr lang="en-US" sz="1500" dirty="0"/>
          </a:p>
        </p:txBody>
      </p:sp>
      <p:pic>
        <p:nvPicPr>
          <p:cNvPr id="13" name="Image 0" descr="preencoded.png">    </p:cNvPr>
          <p:cNvPicPr>
            <a:picLocks noChangeAspect="1"/>
          </p:cNvPicPr>
          <p:nvPr/>
        </p:nvPicPr>
        <p:blipFill>
          <a:blip r:embed="rId1"/>
          <a:stretch>
            <a:fillRect/>
          </a:stretch>
        </p:blipFill>
        <p:spPr>
          <a:xfrm>
            <a:off x="566928" y="2852928"/>
            <a:ext cx="2743200" cy="1698171"/>
          </a:xfrm>
          <a:prstGeom prst="rect">
            <a:avLst/>
          </a:prstGeom>
        </p:spPr>
      </p:pic>
      <p:sp>
        <p:nvSpPr>
          <p:cNvPr id="14" name="Text 11"/>
          <p:cNvSpPr/>
          <p:nvPr/>
        </p:nvSpPr>
        <p:spPr>
          <a:xfrm>
            <a:off x="3529584" y="2889504"/>
            <a:ext cx="914400" cy="347472"/>
          </a:xfrm>
          <a:prstGeom prst="rect">
            <a:avLst/>
          </a:prstGeom>
          <a:noFill/>
          <a:ln/>
        </p:spPr>
        <p:txBody>
          <a:bodyPr wrap="square" lIns="0" tIns="0" rIns="0" bIns="0" rtlCol="0" anchor="t"/>
          <a:lstStyle/>
          <a:p>
            <a:pPr algn="l" indent="0" marL="0">
              <a:buNone/>
            </a:pPr>
            <a:r>
              <a:rPr lang="en-US" sz="800" b="1" dirty="0">
                <a:solidFill>
                  <a:srgbClr val="1A1A1A"/>
                </a:solidFill>
                <a:latin typeface="Arial" pitchFamily="34" charset="0"/>
                <a:ea typeface="Arial" pitchFamily="34" charset="-122"/>
                <a:cs typeface="Arial" pitchFamily="34" charset="-120"/>
              </a:rPr>
              <a:t>Easing</a:t>
            </a:r>
            <a:endParaRPr lang="en-US" sz="800" dirty="0"/>
          </a:p>
        </p:txBody>
      </p:sp>
      <p:sp>
        <p:nvSpPr>
          <p:cNvPr id="15" name="Text 12"/>
          <p:cNvSpPr/>
          <p:nvPr/>
        </p:nvSpPr>
        <p:spPr>
          <a:xfrm>
            <a:off x="4498848" y="2889504"/>
            <a:ext cx="2496312" cy="365760"/>
          </a:xfrm>
          <a:prstGeom prst="rect">
            <a:avLst/>
          </a:prstGeom>
          <a:noFill/>
          <a:ln/>
        </p:spPr>
        <p:txBody>
          <a:bodyPr wrap="square" lIns="0" tIns="0" rIns="0" bIns="0" rtlCol="0" anchor="t"/>
          <a:lstStyle/>
          <a:p>
            <a:pPr algn="l" indent="0" marL="0">
              <a:lnSpc>
                <a:spcPct val="122000"/>
              </a:lnSpc>
              <a:buNone/>
            </a:pPr>
            <a:r>
              <a:rPr lang="en-US" sz="820" dirty="0">
                <a:solidFill>
                  <a:srgbClr val="3E3E3E"/>
                </a:solidFill>
                <a:latin typeface="Arial" pitchFamily="34" charset="0"/>
                <a:ea typeface="Arial" pitchFamily="34" charset="-122"/>
                <a:cs typeface="Arial" pitchFamily="34" charset="-120"/>
              </a:rPr>
              <a:t>cubic-bezier(0.2, 0, 0, 1). Decelerate into position. No overshoot, no bounce, no elastic.</a:t>
            </a:r>
            <a:endParaRPr lang="en-US" sz="820" dirty="0"/>
          </a:p>
        </p:txBody>
      </p:sp>
      <p:sp>
        <p:nvSpPr>
          <p:cNvPr id="16" name="Text 13"/>
          <p:cNvSpPr/>
          <p:nvPr/>
        </p:nvSpPr>
        <p:spPr>
          <a:xfrm>
            <a:off x="3529584" y="3273552"/>
            <a:ext cx="914400" cy="347472"/>
          </a:xfrm>
          <a:prstGeom prst="rect">
            <a:avLst/>
          </a:prstGeom>
          <a:noFill/>
          <a:ln/>
        </p:spPr>
        <p:txBody>
          <a:bodyPr wrap="square" lIns="0" tIns="0" rIns="0" bIns="0" rtlCol="0" anchor="t"/>
          <a:lstStyle/>
          <a:p>
            <a:pPr algn="l" indent="0" marL="0">
              <a:buNone/>
            </a:pPr>
            <a:r>
              <a:rPr lang="en-US" sz="800" b="1" dirty="0">
                <a:solidFill>
                  <a:srgbClr val="1A1A1A"/>
                </a:solidFill>
                <a:latin typeface="Arial" pitchFamily="34" charset="0"/>
                <a:ea typeface="Arial" pitchFamily="34" charset="-122"/>
                <a:cs typeface="Arial" pitchFamily="34" charset="-120"/>
              </a:rPr>
              <a:t>Duration</a:t>
            </a:r>
            <a:endParaRPr lang="en-US" sz="800" dirty="0"/>
          </a:p>
        </p:txBody>
      </p:sp>
      <p:sp>
        <p:nvSpPr>
          <p:cNvPr id="17" name="Text 14"/>
          <p:cNvSpPr/>
          <p:nvPr/>
        </p:nvSpPr>
        <p:spPr>
          <a:xfrm>
            <a:off x="4498848" y="3273552"/>
            <a:ext cx="2496312" cy="365760"/>
          </a:xfrm>
          <a:prstGeom prst="rect">
            <a:avLst/>
          </a:prstGeom>
          <a:noFill/>
          <a:ln/>
        </p:spPr>
        <p:txBody>
          <a:bodyPr wrap="square" lIns="0" tIns="0" rIns="0" bIns="0" rtlCol="0" anchor="t"/>
          <a:lstStyle/>
          <a:p>
            <a:pPr algn="l" indent="0" marL="0">
              <a:lnSpc>
                <a:spcPct val="122000"/>
              </a:lnSpc>
              <a:buNone/>
            </a:pPr>
            <a:r>
              <a:rPr lang="en-US" sz="820" dirty="0">
                <a:solidFill>
                  <a:srgbClr val="3E3E3E"/>
                </a:solidFill>
                <a:latin typeface="Arial" pitchFamily="34" charset="0"/>
                <a:ea typeface="Arial" pitchFamily="34" charset="-122"/>
                <a:cs typeface="Arial" pitchFamily="34" charset="-120"/>
              </a:rPr>
              <a:t>180 ms for state change. 240 ms for element entry. 320 ms for view transition. Nothing exceeds 400 ms.</a:t>
            </a:r>
            <a:endParaRPr lang="en-US" sz="820" dirty="0"/>
          </a:p>
        </p:txBody>
      </p:sp>
      <p:sp>
        <p:nvSpPr>
          <p:cNvPr id="18" name="Text 15"/>
          <p:cNvSpPr/>
          <p:nvPr/>
        </p:nvSpPr>
        <p:spPr>
          <a:xfrm>
            <a:off x="3529584" y="3657600"/>
            <a:ext cx="914400" cy="347472"/>
          </a:xfrm>
          <a:prstGeom prst="rect">
            <a:avLst/>
          </a:prstGeom>
          <a:noFill/>
          <a:ln/>
        </p:spPr>
        <p:txBody>
          <a:bodyPr wrap="square" lIns="0" tIns="0" rIns="0" bIns="0" rtlCol="0" anchor="t"/>
          <a:lstStyle/>
          <a:p>
            <a:pPr algn="l" indent="0" marL="0">
              <a:buNone/>
            </a:pPr>
            <a:r>
              <a:rPr lang="en-US" sz="800" b="1" dirty="0">
                <a:solidFill>
                  <a:srgbClr val="1A1A1A"/>
                </a:solidFill>
                <a:latin typeface="Arial" pitchFamily="34" charset="0"/>
                <a:ea typeface="Arial" pitchFamily="34" charset="-122"/>
                <a:cs typeface="Arial" pitchFamily="34" charset="-120"/>
              </a:rPr>
              <a:t>Entry</a:t>
            </a:r>
            <a:endParaRPr lang="en-US" sz="800" dirty="0"/>
          </a:p>
        </p:txBody>
      </p:sp>
      <p:sp>
        <p:nvSpPr>
          <p:cNvPr id="19" name="Text 16"/>
          <p:cNvSpPr/>
          <p:nvPr/>
        </p:nvSpPr>
        <p:spPr>
          <a:xfrm>
            <a:off x="4498848" y="3657600"/>
            <a:ext cx="2496312" cy="365760"/>
          </a:xfrm>
          <a:prstGeom prst="rect">
            <a:avLst/>
          </a:prstGeom>
          <a:noFill/>
          <a:ln/>
        </p:spPr>
        <p:txBody>
          <a:bodyPr wrap="square" lIns="0" tIns="0" rIns="0" bIns="0" rtlCol="0" anchor="t"/>
          <a:lstStyle/>
          <a:p>
            <a:pPr algn="l" indent="0" marL="0">
              <a:lnSpc>
                <a:spcPct val="122000"/>
              </a:lnSpc>
              <a:buNone/>
            </a:pPr>
            <a:r>
              <a:rPr lang="en-US" sz="820" dirty="0">
                <a:solidFill>
                  <a:srgbClr val="3E3E3E"/>
                </a:solidFill>
                <a:latin typeface="Arial" pitchFamily="34" charset="0"/>
                <a:ea typeface="Arial" pitchFamily="34" charset="-122"/>
                <a:cs typeface="Arial" pitchFamily="34" charset="-120"/>
              </a:rPr>
              <a:t>Elements arrive along the datum, by wipe or by translation on one axis. Nothing fades in from nowhere and nothing scales up.</a:t>
            </a:r>
            <a:endParaRPr lang="en-US" sz="820" dirty="0"/>
          </a:p>
        </p:txBody>
      </p:sp>
      <p:sp>
        <p:nvSpPr>
          <p:cNvPr id="20" name="Text 17"/>
          <p:cNvSpPr/>
          <p:nvPr/>
        </p:nvSpPr>
        <p:spPr>
          <a:xfrm>
            <a:off x="3529584" y="4041648"/>
            <a:ext cx="914400" cy="347472"/>
          </a:xfrm>
          <a:prstGeom prst="rect">
            <a:avLst/>
          </a:prstGeom>
          <a:noFill/>
          <a:ln/>
        </p:spPr>
        <p:txBody>
          <a:bodyPr wrap="square" lIns="0" tIns="0" rIns="0" bIns="0" rtlCol="0" anchor="t"/>
          <a:lstStyle/>
          <a:p>
            <a:pPr algn="l" indent="0" marL="0">
              <a:buNone/>
            </a:pPr>
            <a:r>
              <a:rPr lang="en-US" sz="800" b="1" dirty="0">
                <a:solidFill>
                  <a:srgbClr val="1A1A1A"/>
                </a:solidFill>
                <a:latin typeface="Arial" pitchFamily="34" charset="0"/>
                <a:ea typeface="Arial" pitchFamily="34" charset="-122"/>
                <a:cs typeface="Arial" pitchFamily="34" charset="-120"/>
              </a:rPr>
              <a:t>Emphasis</a:t>
            </a:r>
            <a:endParaRPr lang="en-US" sz="800" dirty="0"/>
          </a:p>
        </p:txBody>
      </p:sp>
      <p:sp>
        <p:nvSpPr>
          <p:cNvPr id="21" name="Text 18"/>
          <p:cNvSpPr/>
          <p:nvPr/>
        </p:nvSpPr>
        <p:spPr>
          <a:xfrm>
            <a:off x="4498848" y="4041648"/>
            <a:ext cx="2496312" cy="365760"/>
          </a:xfrm>
          <a:prstGeom prst="rect">
            <a:avLst/>
          </a:prstGeom>
          <a:noFill/>
          <a:ln/>
        </p:spPr>
        <p:txBody>
          <a:bodyPr wrap="square" lIns="0" tIns="0" rIns="0" bIns="0" rtlCol="0" anchor="t"/>
          <a:lstStyle/>
          <a:p>
            <a:pPr algn="l" indent="0" marL="0">
              <a:lnSpc>
                <a:spcPct val="122000"/>
              </a:lnSpc>
              <a:buNone/>
            </a:pPr>
            <a:r>
              <a:rPr lang="en-US" sz="820" dirty="0">
                <a:solidFill>
                  <a:srgbClr val="3E3E3E"/>
                </a:solidFill>
                <a:latin typeface="Arial" pitchFamily="34" charset="0"/>
                <a:ea typeface="Arial" pitchFamily="34" charset="-122"/>
                <a:cs typeface="Arial" pitchFamily="34" charset="-120"/>
              </a:rPr>
              <a:t>A node may draw its stroke once, in 240 ms, on first appearance only. It never pulses, never loops and never glows.</a:t>
            </a:r>
            <a:endParaRPr lang="en-US" sz="820" dirty="0"/>
          </a:p>
        </p:txBody>
      </p:sp>
      <p:sp>
        <p:nvSpPr>
          <p:cNvPr id="22" name="Text 19"/>
          <p:cNvSpPr/>
          <p:nvPr/>
        </p:nvSpPr>
        <p:spPr>
          <a:xfrm>
            <a:off x="3529584" y="4425696"/>
            <a:ext cx="914400" cy="347472"/>
          </a:xfrm>
          <a:prstGeom prst="rect">
            <a:avLst/>
          </a:prstGeom>
          <a:noFill/>
          <a:ln/>
        </p:spPr>
        <p:txBody>
          <a:bodyPr wrap="square" lIns="0" tIns="0" rIns="0" bIns="0" rtlCol="0" anchor="t"/>
          <a:lstStyle/>
          <a:p>
            <a:pPr algn="l" indent="0" marL="0">
              <a:buNone/>
            </a:pPr>
            <a:r>
              <a:rPr lang="en-US" sz="800" b="1" dirty="0">
                <a:solidFill>
                  <a:srgbClr val="1A1A1A"/>
                </a:solidFill>
                <a:latin typeface="Arial" pitchFamily="34" charset="0"/>
                <a:ea typeface="Arial" pitchFamily="34" charset="-122"/>
                <a:cs typeface="Arial" pitchFamily="34" charset="-120"/>
              </a:rPr>
              <a:t>Reduced motion</a:t>
            </a:r>
            <a:endParaRPr lang="en-US" sz="800" dirty="0"/>
          </a:p>
        </p:txBody>
      </p:sp>
      <p:sp>
        <p:nvSpPr>
          <p:cNvPr id="23" name="Text 20"/>
          <p:cNvSpPr/>
          <p:nvPr/>
        </p:nvSpPr>
        <p:spPr>
          <a:xfrm>
            <a:off x="4498848" y="4425696"/>
            <a:ext cx="2496312" cy="365760"/>
          </a:xfrm>
          <a:prstGeom prst="rect">
            <a:avLst/>
          </a:prstGeom>
          <a:noFill/>
          <a:ln/>
        </p:spPr>
        <p:txBody>
          <a:bodyPr wrap="square" lIns="0" tIns="0" rIns="0" bIns="0" rtlCol="0" anchor="t"/>
          <a:lstStyle/>
          <a:p>
            <a:pPr algn="l" indent="0" marL="0">
              <a:lnSpc>
                <a:spcPct val="122000"/>
              </a:lnSpc>
              <a:buNone/>
            </a:pPr>
            <a:r>
              <a:rPr lang="en-US" sz="820" dirty="0">
                <a:solidFill>
                  <a:srgbClr val="3E3E3E"/>
                </a:solidFill>
                <a:latin typeface="Arial" pitchFamily="34" charset="0"/>
                <a:ea typeface="Arial" pitchFamily="34" charset="-122"/>
                <a:cs typeface="Arial" pitchFamily="34" charset="-120"/>
              </a:rPr>
              <a:t>Honour the operating system preference. With reduced motion set, every transition becomes an instant state change with no substitute effect.</a:t>
            </a:r>
            <a:endParaRPr lang="en-US" sz="820" dirty="0"/>
          </a:p>
        </p:txBody>
      </p:sp>
      <p:sp>
        <p:nvSpPr>
          <p:cNvPr id="24" name="Text 21"/>
          <p:cNvSpPr/>
          <p:nvPr/>
        </p:nvSpPr>
        <p:spPr>
          <a:xfrm>
            <a:off x="566928" y="4733979"/>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WHY SO NARROW</a:t>
            </a:r>
            <a:endParaRPr lang="en-US" sz="740" dirty="0"/>
          </a:p>
        </p:txBody>
      </p:sp>
      <p:sp>
        <p:nvSpPr>
          <p:cNvPr id="25" name="Shape 22"/>
          <p:cNvSpPr/>
          <p:nvPr/>
        </p:nvSpPr>
        <p:spPr>
          <a:xfrm>
            <a:off x="566928" y="4916859"/>
            <a:ext cx="6428232" cy="7315"/>
          </a:xfrm>
          <a:prstGeom prst="rect">
            <a:avLst/>
          </a:prstGeom>
          <a:solidFill>
            <a:srgbClr val="D2D2D2"/>
          </a:solidFill>
          <a:ln/>
        </p:spPr>
      </p:sp>
      <p:sp>
        <p:nvSpPr>
          <p:cNvPr id="26" name="Text 23"/>
          <p:cNvSpPr/>
          <p:nvPr/>
        </p:nvSpPr>
        <p:spPr>
          <a:xfrm>
            <a:off x="566928" y="5026587"/>
            <a:ext cx="6428232" cy="566928"/>
          </a:xfrm>
          <a:prstGeom prst="rect">
            <a:avLst/>
          </a:prstGeom>
          <a:noFill/>
          <a:ln/>
        </p:spPr>
        <p:txBody>
          <a:bodyPr wrap="square" lIns="0" tIns="0" rIns="0" bIns="0" rtlCol="0" anchor="t"/>
          <a:lstStyle/>
          <a:p>
            <a:pPr algn="l" indent="0" marL="0">
              <a:lnSpc>
                <a:spcPct val="122000"/>
              </a:lnSpc>
              <a:buNone/>
            </a:pPr>
            <a:r>
              <a:rPr lang="en-US" sz="900" dirty="0">
                <a:solidFill>
                  <a:srgbClr val="1A1A1A"/>
                </a:solidFill>
                <a:latin typeface="Arial" pitchFamily="34" charset="0"/>
                <a:ea typeface="Arial" pitchFamily="34" charset="-122"/>
                <a:cs typeface="Arial" pitchFamily="34" charset="-120"/>
              </a:rPr>
              <a:t>Every generation of interface has an animation signature, and it is always the first thing that makes an old product look old. Skeuomorphic easing dated in five years. Material motion dated in seven. A system intended to run for twenty must spend as little as possible on motion, so that when the signature of this decade becomes visible, there is almost nothing of it to remove.</a:t>
            </a:r>
            <a:endParaRPr lang="en-US" sz="900" dirty="0"/>
          </a:p>
        </p:txBody>
      </p:sp>
      <p:sp>
        <p:nvSpPr>
          <p:cNvPr id="27" name="Text 24"/>
          <p:cNvSpPr/>
          <p:nvPr/>
        </p:nvSpPr>
        <p:spPr>
          <a:xfrm>
            <a:off x="566928" y="5703243"/>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FORBIDDEN</a:t>
            </a:r>
            <a:endParaRPr lang="en-US" sz="740" dirty="0"/>
          </a:p>
        </p:txBody>
      </p:sp>
      <p:sp>
        <p:nvSpPr>
          <p:cNvPr id="28" name="Shape 25"/>
          <p:cNvSpPr/>
          <p:nvPr/>
        </p:nvSpPr>
        <p:spPr>
          <a:xfrm>
            <a:off x="566928" y="5886123"/>
            <a:ext cx="6428232" cy="7315"/>
          </a:xfrm>
          <a:prstGeom prst="rect">
            <a:avLst/>
          </a:prstGeom>
          <a:solidFill>
            <a:srgbClr val="D2D2D2"/>
          </a:solidFill>
          <a:ln/>
        </p:spPr>
      </p:sp>
      <p:sp>
        <p:nvSpPr>
          <p:cNvPr id="29" name="Text 26"/>
          <p:cNvSpPr/>
          <p:nvPr/>
        </p:nvSpPr>
        <p:spPr>
          <a:xfrm>
            <a:off x="566928" y="5995851"/>
            <a:ext cx="6428232" cy="1371600"/>
          </a:xfrm>
          <a:prstGeom prst="rect">
            <a:avLst/>
          </a:prstGeom>
          <a:noFill/>
          <a:ln/>
        </p:spPr>
        <p:txBody>
          <a:bodyPr wrap="square" lIns="0" tIns="0" rIns="0" bIns="0" rtlCol="0" anchor="t"/>
          <a:lstStyle/>
          <a:p>
            <a:pPr algn="l" marL="177800" indent="-177800">
              <a:lnSpc>
                <a:spcPct val="122000"/>
              </a:lnSpc>
              <a:spcAft>
                <a:spcPts val="500"/>
              </a:spcAft>
              <a:buSzPct val="100000"/>
              <a:buChar char="–"/>
            </a:pPr>
            <a:r>
              <a:rPr lang="en-US" sz="880" dirty="0">
                <a:solidFill>
                  <a:srgbClr val="1A1A1A"/>
                </a:solidFill>
                <a:latin typeface="Arial" pitchFamily="34" charset="0"/>
                <a:ea typeface="Arial" pitchFamily="34" charset="-122"/>
                <a:cs typeface="Arial" pitchFamily="34" charset="-120"/>
              </a:rPr>
              <a:t>Parallax, particles, glow, blur transitions, and anything that draws attention to the transition itself.</a:t>
            </a:r>
            <a:endParaRPr lang="en-US" sz="880" dirty="0"/>
          </a:p>
          <a:p>
            <a:pPr algn="l" marL="177800" indent="-177800">
              <a:lnSpc>
                <a:spcPct val="122000"/>
              </a:lnSpc>
              <a:spcAft>
                <a:spcPts val="500"/>
              </a:spcAft>
              <a:buSzPct val="100000"/>
              <a:buChar char="–"/>
            </a:pPr>
            <a:r>
              <a:rPr lang="en-US" sz="880" dirty="0">
                <a:solidFill>
                  <a:srgbClr val="1A1A1A"/>
                </a:solidFill>
                <a:latin typeface="Arial" pitchFamily="34" charset="0"/>
                <a:ea typeface="Arial" pitchFamily="34" charset="-122"/>
                <a:cs typeface="Arial" pitchFamily="34" charset="-120"/>
              </a:rPr>
              <a:t>Looping animation of any kind. A loop is a demand for attention, and these products are read by people who have somewhere to be.</a:t>
            </a:r>
            <a:endParaRPr lang="en-US" sz="880" dirty="0"/>
          </a:p>
          <a:p>
            <a:pPr algn="l" marL="177800" indent="-177800">
              <a:lnSpc>
                <a:spcPct val="122000"/>
              </a:lnSpc>
              <a:spcAft>
                <a:spcPts val="500"/>
              </a:spcAft>
              <a:buSzPct val="100000"/>
              <a:buChar char="–"/>
            </a:pPr>
            <a:r>
              <a:rPr lang="en-US" sz="880" dirty="0">
                <a:solidFill>
                  <a:srgbClr val="1A1A1A"/>
                </a:solidFill>
                <a:latin typeface="Arial" pitchFamily="34" charset="0"/>
                <a:ea typeface="Arial" pitchFamily="34" charset="-122"/>
                <a:cs typeface="Arial" pitchFamily="34" charset="-120"/>
              </a:rPr>
              <a:t>Motion that conveys information not otherwise available. If a reader with reduced motion enabled loses meaning, the design has failed.</a:t>
            </a:r>
            <a:endParaRPr lang="en-US" sz="880" dirty="0"/>
          </a:p>
          <a:p>
            <a:pPr algn="l" marL="177800" indent="-177800">
              <a:lnSpc>
                <a:spcPct val="122000"/>
              </a:lnSpc>
              <a:spcAft>
                <a:spcPts val="500"/>
              </a:spcAft>
              <a:buSzPct val="100000"/>
              <a:buChar char="–"/>
            </a:pPr>
            <a:r>
              <a:rPr lang="en-US" sz="880" dirty="0">
                <a:solidFill>
                  <a:srgbClr val="1A1A1A"/>
                </a:solidFill>
                <a:latin typeface="Arial" pitchFamily="34" charset="0"/>
                <a:ea typeface="Arial" pitchFamily="34" charset="-122"/>
                <a:cs typeface="Arial" pitchFamily="34" charset="-120"/>
              </a:rPr>
              <a:t>Animated logos or title treatments. The title treatment is a fixed thing; animating it makes it a performance.</a:t>
            </a:r>
            <a:endParaRPr lang="en-US" sz="88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DIGITAL</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19</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Digital application</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The system is digital-first, which means the specification must survive contact with markdown, a repository theme and a phone screen.</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810512"/>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APPLICATION BY SURFACE</a:t>
            </a:r>
            <a:endParaRPr lang="en-US" sz="740" dirty="0"/>
          </a:p>
        </p:txBody>
      </p:sp>
      <p:sp>
        <p:nvSpPr>
          <p:cNvPr id="10" name="Shape 8"/>
          <p:cNvSpPr/>
          <p:nvPr/>
        </p:nvSpPr>
        <p:spPr>
          <a:xfrm>
            <a:off x="566928" y="1993392"/>
            <a:ext cx="6428232" cy="7315"/>
          </a:xfrm>
          <a:prstGeom prst="rect">
            <a:avLst/>
          </a:prstGeom>
          <a:solidFill>
            <a:srgbClr val="D2D2D2"/>
          </a:solidFill>
          <a:ln/>
        </p:spPr>
      </p:sp>
      <p:sp>
        <p:nvSpPr>
          <p:cNvPr id="11" name="Text 9"/>
          <p:cNvSpPr/>
          <p:nvPr/>
        </p:nvSpPr>
        <p:spPr>
          <a:xfrm>
            <a:off x="566928" y="2103120"/>
            <a:ext cx="310896" cy="182880"/>
          </a:xfrm>
          <a:prstGeom prst="rect">
            <a:avLst/>
          </a:prstGeom>
          <a:noFill/>
          <a:ln/>
        </p:spPr>
        <p:txBody>
          <a:bodyPr wrap="square" lIns="0" tIns="0" rIns="0" bIns="0" rtlCol="0" anchor="ctr"/>
          <a:lstStyle/>
          <a:p>
            <a:pPr algn="l" indent="0" marL="0">
              <a:buNone/>
            </a:pPr>
            <a:r>
              <a:rPr lang="en-US" sz="760" b="1" dirty="0">
                <a:solidFill>
                  <a:srgbClr val="D31145"/>
                </a:solidFill>
                <a:latin typeface="Arial" pitchFamily="34" charset="0"/>
                <a:ea typeface="Arial" pitchFamily="34" charset="-122"/>
                <a:cs typeface="Arial" pitchFamily="34" charset="-120"/>
              </a:rPr>
              <a:t>01</a:t>
            </a:r>
            <a:endParaRPr lang="en-US" sz="760" dirty="0"/>
          </a:p>
        </p:txBody>
      </p:sp>
      <p:sp>
        <p:nvSpPr>
          <p:cNvPr id="12" name="Text 10"/>
          <p:cNvSpPr/>
          <p:nvPr/>
        </p:nvSpPr>
        <p:spPr>
          <a:xfrm>
            <a:off x="896112" y="2103120"/>
            <a:ext cx="6099048" cy="182880"/>
          </a:xfrm>
          <a:prstGeom prst="rect">
            <a:avLst/>
          </a:prstGeom>
          <a:noFill/>
          <a:ln/>
        </p:spPr>
        <p:txBody>
          <a:bodyPr wrap="square" lIns="0" tIns="0" rIns="0" bIns="0" rtlCol="0" anchor="ctr"/>
          <a:lstStyle/>
          <a:p>
            <a:pPr algn="l" indent="0" marL="0">
              <a:buNone/>
            </a:pPr>
            <a:r>
              <a:rPr lang="en-US" sz="860" b="1" spc="60" kern="0" dirty="0">
                <a:solidFill>
                  <a:srgbClr val="1A1A1A"/>
                </a:solidFill>
                <a:latin typeface="Arial" pitchFamily="34" charset="0"/>
                <a:ea typeface="Arial" pitchFamily="34" charset="-122"/>
                <a:cs typeface="Arial" pitchFamily="34" charset="-120"/>
              </a:rPr>
              <a:t>REPOSITORY AND GITHUB DOCUMENTATION</a:t>
            </a:r>
            <a:endParaRPr lang="en-US" sz="860" dirty="0"/>
          </a:p>
        </p:txBody>
      </p:sp>
      <p:sp>
        <p:nvSpPr>
          <p:cNvPr id="13" name="Text 11"/>
          <p:cNvSpPr/>
          <p:nvPr/>
        </p:nvSpPr>
        <p:spPr>
          <a:xfrm>
            <a:off x="896112" y="2286000"/>
            <a:ext cx="5971032" cy="566928"/>
          </a:xfrm>
          <a:prstGeom prst="rect">
            <a:avLst/>
          </a:prstGeom>
          <a:noFill/>
          <a:ln/>
        </p:spPr>
        <p:txBody>
          <a:bodyPr wrap="square" lIns="0" tIns="0" rIns="0" bIns="0" rtlCol="0" anchor="t"/>
          <a:lstStyle/>
          <a:p>
            <a:pPr algn="l" indent="0" marL="0">
              <a:lnSpc>
                <a:spcPct val="122000"/>
              </a:lnSpc>
              <a:buNone/>
            </a:pPr>
            <a:r>
              <a:rPr lang="en-US" sz="840" dirty="0">
                <a:solidFill>
                  <a:srgbClr val="3E3E3E"/>
                </a:solidFill>
                <a:latin typeface="Arial" pitchFamily="34" charset="0"/>
                <a:ea typeface="Arial" pitchFamily="34" charset="-122"/>
                <a:cs typeface="Arial" pitchFamily="34" charset="-120"/>
              </a:rPr>
              <a:t>Markdown is the constraint. The notation family is issued as inline SVG so a mark can precede a heading in a README without an image pipeline. The datum becomes a horizontal rule. The reference number goes in the front matter and the file name, so a document remains identifiable when detached from its interface.</a:t>
            </a:r>
            <a:endParaRPr lang="en-US" sz="840" dirty="0"/>
          </a:p>
        </p:txBody>
      </p:sp>
      <p:sp>
        <p:nvSpPr>
          <p:cNvPr id="14" name="Text 12"/>
          <p:cNvSpPr/>
          <p:nvPr/>
        </p:nvSpPr>
        <p:spPr>
          <a:xfrm>
            <a:off x="566928" y="2852928"/>
            <a:ext cx="310896" cy="182880"/>
          </a:xfrm>
          <a:prstGeom prst="rect">
            <a:avLst/>
          </a:prstGeom>
          <a:noFill/>
          <a:ln/>
        </p:spPr>
        <p:txBody>
          <a:bodyPr wrap="square" lIns="0" tIns="0" rIns="0" bIns="0" rtlCol="0" anchor="ctr"/>
          <a:lstStyle/>
          <a:p>
            <a:pPr algn="l" indent="0" marL="0">
              <a:buNone/>
            </a:pPr>
            <a:r>
              <a:rPr lang="en-US" sz="760" b="1" dirty="0">
                <a:solidFill>
                  <a:srgbClr val="D31145"/>
                </a:solidFill>
                <a:latin typeface="Arial" pitchFamily="34" charset="0"/>
                <a:ea typeface="Arial" pitchFamily="34" charset="-122"/>
                <a:cs typeface="Arial" pitchFamily="34" charset="-120"/>
              </a:rPr>
              <a:t>02</a:t>
            </a:r>
            <a:endParaRPr lang="en-US" sz="760" dirty="0"/>
          </a:p>
        </p:txBody>
      </p:sp>
      <p:sp>
        <p:nvSpPr>
          <p:cNvPr id="15" name="Text 13"/>
          <p:cNvSpPr/>
          <p:nvPr/>
        </p:nvSpPr>
        <p:spPr>
          <a:xfrm>
            <a:off x="896112" y="2852928"/>
            <a:ext cx="6099048" cy="182880"/>
          </a:xfrm>
          <a:prstGeom prst="rect">
            <a:avLst/>
          </a:prstGeom>
          <a:noFill/>
          <a:ln/>
        </p:spPr>
        <p:txBody>
          <a:bodyPr wrap="square" lIns="0" tIns="0" rIns="0" bIns="0" rtlCol="0" anchor="ctr"/>
          <a:lstStyle/>
          <a:p>
            <a:pPr algn="l" indent="0" marL="0">
              <a:buNone/>
            </a:pPr>
            <a:r>
              <a:rPr lang="en-US" sz="860" b="1" spc="60" kern="0" dirty="0">
                <a:solidFill>
                  <a:srgbClr val="1A1A1A"/>
                </a:solidFill>
                <a:latin typeface="Arial" pitchFamily="34" charset="0"/>
                <a:ea typeface="Arial" pitchFamily="34" charset="-122"/>
                <a:cs typeface="Arial" pitchFamily="34" charset="-120"/>
              </a:rPr>
              <a:t>FRAMEWORK BROWSER</a:t>
            </a:r>
            <a:endParaRPr lang="en-US" sz="860" dirty="0"/>
          </a:p>
        </p:txBody>
      </p:sp>
      <p:sp>
        <p:nvSpPr>
          <p:cNvPr id="16" name="Text 14"/>
          <p:cNvSpPr/>
          <p:nvPr/>
        </p:nvSpPr>
        <p:spPr>
          <a:xfrm>
            <a:off x="896112" y="3035808"/>
            <a:ext cx="5971032" cy="566928"/>
          </a:xfrm>
          <a:prstGeom prst="rect">
            <a:avLst/>
          </a:prstGeom>
          <a:noFill/>
          <a:ln/>
        </p:spPr>
        <p:txBody>
          <a:bodyPr wrap="square" lIns="0" tIns="0" rIns="0" bIns="0" rtlCol="0" anchor="t"/>
          <a:lstStyle/>
          <a:p>
            <a:pPr algn="l" indent="0" marL="0">
              <a:lnSpc>
                <a:spcPct val="122000"/>
              </a:lnSpc>
              <a:buNone/>
            </a:pPr>
            <a:r>
              <a:rPr lang="en-US" sz="840" dirty="0">
                <a:solidFill>
                  <a:srgbClr val="3E3E3E"/>
                </a:solidFill>
                <a:latin typeface="Arial" pitchFamily="34" charset="0"/>
                <a:ea typeface="Arial" pitchFamily="34" charset="-122"/>
                <a:cs typeface="Arial" pitchFamily="34" charset="-120"/>
              </a:rPr>
              <a:t>The pilot content types form the initial primary filter, not a search box. A user arrives asking what kind of thing they need before they know its title. Left rail carries the notation; content pane carries the component.</a:t>
            </a:r>
            <a:endParaRPr lang="en-US" sz="840" dirty="0"/>
          </a:p>
        </p:txBody>
      </p:sp>
      <p:sp>
        <p:nvSpPr>
          <p:cNvPr id="17" name="Text 15"/>
          <p:cNvSpPr/>
          <p:nvPr/>
        </p:nvSpPr>
        <p:spPr>
          <a:xfrm>
            <a:off x="566928" y="3602736"/>
            <a:ext cx="310896" cy="182880"/>
          </a:xfrm>
          <a:prstGeom prst="rect">
            <a:avLst/>
          </a:prstGeom>
          <a:noFill/>
          <a:ln/>
        </p:spPr>
        <p:txBody>
          <a:bodyPr wrap="square" lIns="0" tIns="0" rIns="0" bIns="0" rtlCol="0" anchor="ctr"/>
          <a:lstStyle/>
          <a:p>
            <a:pPr algn="l" indent="0" marL="0">
              <a:buNone/>
            </a:pPr>
            <a:r>
              <a:rPr lang="en-US" sz="760" b="1" dirty="0">
                <a:solidFill>
                  <a:srgbClr val="D31145"/>
                </a:solidFill>
                <a:latin typeface="Arial" pitchFamily="34" charset="0"/>
                <a:ea typeface="Arial" pitchFamily="34" charset="-122"/>
                <a:cs typeface="Arial" pitchFamily="34" charset="-120"/>
              </a:rPr>
              <a:t>03</a:t>
            </a:r>
            <a:endParaRPr lang="en-US" sz="760" dirty="0"/>
          </a:p>
        </p:txBody>
      </p:sp>
      <p:sp>
        <p:nvSpPr>
          <p:cNvPr id="18" name="Text 16"/>
          <p:cNvSpPr/>
          <p:nvPr/>
        </p:nvSpPr>
        <p:spPr>
          <a:xfrm>
            <a:off x="896112" y="3602736"/>
            <a:ext cx="6099048" cy="182880"/>
          </a:xfrm>
          <a:prstGeom prst="rect">
            <a:avLst/>
          </a:prstGeom>
          <a:noFill/>
          <a:ln/>
        </p:spPr>
        <p:txBody>
          <a:bodyPr wrap="square" lIns="0" tIns="0" rIns="0" bIns="0" rtlCol="0" anchor="ctr"/>
          <a:lstStyle/>
          <a:p>
            <a:pPr algn="l" indent="0" marL="0">
              <a:buNone/>
            </a:pPr>
            <a:r>
              <a:rPr lang="en-US" sz="860" b="1" spc="60" kern="0" dirty="0">
                <a:solidFill>
                  <a:srgbClr val="1A1A1A"/>
                </a:solidFill>
                <a:latin typeface="Arial" pitchFamily="34" charset="0"/>
                <a:ea typeface="Arial" pitchFamily="34" charset="-122"/>
                <a:cs typeface="Arial" pitchFamily="34" charset="-120"/>
              </a:rPr>
              <a:t>CONTROLLED CONTENT READER</a:t>
            </a:r>
            <a:endParaRPr lang="en-US" sz="860" dirty="0"/>
          </a:p>
        </p:txBody>
      </p:sp>
      <p:sp>
        <p:nvSpPr>
          <p:cNvPr id="19" name="Text 17"/>
          <p:cNvSpPr/>
          <p:nvPr/>
        </p:nvSpPr>
        <p:spPr>
          <a:xfrm>
            <a:off x="896112" y="3785616"/>
            <a:ext cx="5971032" cy="566928"/>
          </a:xfrm>
          <a:prstGeom prst="rect">
            <a:avLst/>
          </a:prstGeom>
          <a:noFill/>
          <a:ln/>
        </p:spPr>
        <p:txBody>
          <a:bodyPr wrap="square" lIns="0" tIns="0" rIns="0" bIns="0" rtlCol="0" anchor="t"/>
          <a:lstStyle/>
          <a:p>
            <a:pPr algn="l" indent="0" marL="0">
              <a:lnSpc>
                <a:spcPct val="122000"/>
              </a:lnSpc>
              <a:buNone/>
            </a:pPr>
            <a:r>
              <a:rPr lang="en-US" sz="840" dirty="0">
                <a:solidFill>
                  <a:srgbClr val="3E3E3E"/>
                </a:solidFill>
                <a:latin typeface="Arial" pitchFamily="34" charset="0"/>
                <a:ea typeface="Arial" pitchFamily="34" charset="-122"/>
                <a:cs typeface="Arial" pitchFamily="34" charset="-120"/>
              </a:rPr>
              <a:t>Endorsed text at full measure, with evidence and assessment collapsed beneath it and marked with their own notation. Doctrine is one content class this reader eventually carries. The reader can see that evidence exists without being made to read it, which is the behaviour the framework wants to encourage.</a:t>
            </a:r>
            <a:endParaRPr lang="en-US" sz="840" dirty="0"/>
          </a:p>
        </p:txBody>
      </p:sp>
      <p:sp>
        <p:nvSpPr>
          <p:cNvPr id="20" name="Text 18"/>
          <p:cNvSpPr/>
          <p:nvPr/>
        </p:nvSpPr>
        <p:spPr>
          <a:xfrm>
            <a:off x="566928" y="4352544"/>
            <a:ext cx="310896" cy="182880"/>
          </a:xfrm>
          <a:prstGeom prst="rect">
            <a:avLst/>
          </a:prstGeom>
          <a:noFill/>
          <a:ln/>
        </p:spPr>
        <p:txBody>
          <a:bodyPr wrap="square" lIns="0" tIns="0" rIns="0" bIns="0" rtlCol="0" anchor="ctr"/>
          <a:lstStyle/>
          <a:p>
            <a:pPr algn="l" indent="0" marL="0">
              <a:buNone/>
            </a:pPr>
            <a:r>
              <a:rPr lang="en-US" sz="760" b="1" dirty="0">
                <a:solidFill>
                  <a:srgbClr val="D31145"/>
                </a:solidFill>
                <a:latin typeface="Arial" pitchFamily="34" charset="0"/>
                <a:ea typeface="Arial" pitchFamily="34" charset="-122"/>
                <a:cs typeface="Arial" pitchFamily="34" charset="-120"/>
              </a:rPr>
              <a:t>04</a:t>
            </a:r>
            <a:endParaRPr lang="en-US" sz="760" dirty="0"/>
          </a:p>
        </p:txBody>
      </p:sp>
      <p:sp>
        <p:nvSpPr>
          <p:cNvPr id="21" name="Text 19"/>
          <p:cNvSpPr/>
          <p:nvPr/>
        </p:nvSpPr>
        <p:spPr>
          <a:xfrm>
            <a:off x="896112" y="4352544"/>
            <a:ext cx="6099048" cy="182880"/>
          </a:xfrm>
          <a:prstGeom prst="rect">
            <a:avLst/>
          </a:prstGeom>
          <a:noFill/>
          <a:ln/>
        </p:spPr>
        <p:txBody>
          <a:bodyPr wrap="square" lIns="0" tIns="0" rIns="0" bIns="0" rtlCol="0" anchor="ctr"/>
          <a:lstStyle/>
          <a:p>
            <a:pPr algn="l" indent="0" marL="0">
              <a:buNone/>
            </a:pPr>
            <a:r>
              <a:rPr lang="en-US" sz="860" b="1" spc="60" kern="0" dirty="0">
                <a:solidFill>
                  <a:srgbClr val="1A1A1A"/>
                </a:solidFill>
                <a:latin typeface="Arial" pitchFamily="34" charset="0"/>
                <a:ea typeface="Arial" pitchFamily="34" charset="-122"/>
                <a:cs typeface="Arial" pitchFamily="34" charset="-120"/>
              </a:rPr>
              <a:t>DECISION SUPPORT</a:t>
            </a:r>
            <a:endParaRPr lang="en-US" sz="860" dirty="0"/>
          </a:p>
        </p:txBody>
      </p:sp>
      <p:sp>
        <p:nvSpPr>
          <p:cNvPr id="22" name="Text 20"/>
          <p:cNvSpPr/>
          <p:nvPr/>
        </p:nvSpPr>
        <p:spPr>
          <a:xfrm>
            <a:off x="896112" y="4535424"/>
            <a:ext cx="5971032" cy="566928"/>
          </a:xfrm>
          <a:prstGeom prst="rect">
            <a:avLst/>
          </a:prstGeom>
          <a:noFill/>
          <a:ln/>
        </p:spPr>
        <p:txBody>
          <a:bodyPr wrap="square" lIns="0" tIns="0" rIns="0" bIns="0" rtlCol="0" anchor="t"/>
          <a:lstStyle/>
          <a:p>
            <a:pPr algn="l" indent="0" marL="0">
              <a:lnSpc>
                <a:spcPct val="122000"/>
              </a:lnSpc>
              <a:buNone/>
            </a:pPr>
            <a:r>
              <a:rPr lang="en-US" sz="840" dirty="0">
                <a:solidFill>
                  <a:srgbClr val="3E3E3E"/>
                </a:solidFill>
                <a:latin typeface="Arial" pitchFamily="34" charset="0"/>
                <a:ea typeface="Arial" pitchFamily="34" charset="-122"/>
                <a:cs typeface="Arial" pitchFamily="34" charset="-120"/>
              </a:rPr>
              <a:t>The only place the departure element is used interactively. A node expands to show what commitment at that point entails. No wizard, no scoring, no recommendation engine; the tool documents the decision, it does not make it.</a:t>
            </a:r>
            <a:endParaRPr lang="en-US" sz="840" dirty="0"/>
          </a:p>
        </p:txBody>
      </p:sp>
      <p:sp>
        <p:nvSpPr>
          <p:cNvPr id="23" name="Text 21"/>
          <p:cNvSpPr/>
          <p:nvPr/>
        </p:nvSpPr>
        <p:spPr>
          <a:xfrm>
            <a:off x="566928" y="5102352"/>
            <a:ext cx="310896" cy="182880"/>
          </a:xfrm>
          <a:prstGeom prst="rect">
            <a:avLst/>
          </a:prstGeom>
          <a:noFill/>
          <a:ln/>
        </p:spPr>
        <p:txBody>
          <a:bodyPr wrap="square" lIns="0" tIns="0" rIns="0" bIns="0" rtlCol="0" anchor="ctr"/>
          <a:lstStyle/>
          <a:p>
            <a:pPr algn="l" indent="0" marL="0">
              <a:buNone/>
            </a:pPr>
            <a:r>
              <a:rPr lang="en-US" sz="760" b="1" dirty="0">
                <a:solidFill>
                  <a:srgbClr val="D31145"/>
                </a:solidFill>
                <a:latin typeface="Arial" pitchFamily="34" charset="0"/>
                <a:ea typeface="Arial" pitchFamily="34" charset="-122"/>
                <a:cs typeface="Arial" pitchFamily="34" charset="-120"/>
              </a:rPr>
              <a:t>05</a:t>
            </a:r>
            <a:endParaRPr lang="en-US" sz="760" dirty="0"/>
          </a:p>
        </p:txBody>
      </p:sp>
      <p:sp>
        <p:nvSpPr>
          <p:cNvPr id="24" name="Text 22"/>
          <p:cNvSpPr/>
          <p:nvPr/>
        </p:nvSpPr>
        <p:spPr>
          <a:xfrm>
            <a:off x="896112" y="5102352"/>
            <a:ext cx="6099048" cy="182880"/>
          </a:xfrm>
          <a:prstGeom prst="rect">
            <a:avLst/>
          </a:prstGeom>
          <a:noFill/>
          <a:ln/>
        </p:spPr>
        <p:txBody>
          <a:bodyPr wrap="square" lIns="0" tIns="0" rIns="0" bIns="0" rtlCol="0" anchor="ctr"/>
          <a:lstStyle/>
          <a:p>
            <a:pPr algn="l" indent="0" marL="0">
              <a:buNone/>
            </a:pPr>
            <a:r>
              <a:rPr lang="en-US" sz="860" b="1" spc="60" kern="0" dirty="0">
                <a:solidFill>
                  <a:srgbClr val="1A1A1A"/>
                </a:solidFill>
                <a:latin typeface="Arial" pitchFamily="34" charset="0"/>
                <a:ea typeface="Arial" pitchFamily="34" charset="-122"/>
                <a:cs typeface="Arial" pitchFamily="34" charset="-120"/>
              </a:rPr>
              <a:t>DASHBOARDS</a:t>
            </a:r>
            <a:endParaRPr lang="en-US" sz="860" dirty="0"/>
          </a:p>
        </p:txBody>
      </p:sp>
      <p:sp>
        <p:nvSpPr>
          <p:cNvPr id="25" name="Text 23"/>
          <p:cNvSpPr/>
          <p:nvPr/>
        </p:nvSpPr>
        <p:spPr>
          <a:xfrm>
            <a:off x="896112" y="5285232"/>
            <a:ext cx="5971032" cy="566928"/>
          </a:xfrm>
          <a:prstGeom prst="rect">
            <a:avLst/>
          </a:prstGeom>
          <a:noFill/>
          <a:ln/>
        </p:spPr>
        <p:txBody>
          <a:bodyPr wrap="square" lIns="0" tIns="0" rIns="0" bIns="0" rtlCol="0" anchor="t"/>
          <a:lstStyle/>
          <a:p>
            <a:pPr algn="l" indent="0" marL="0">
              <a:lnSpc>
                <a:spcPct val="122000"/>
              </a:lnSpc>
              <a:buNone/>
            </a:pPr>
            <a:r>
              <a:rPr lang="en-US" sz="840" dirty="0">
                <a:solidFill>
                  <a:srgbClr val="3E3E3E"/>
                </a:solidFill>
                <a:latin typeface="Arial" pitchFamily="34" charset="0"/>
                <a:ea typeface="Arial" pitchFamily="34" charset="-122"/>
                <a:cs typeface="Arial" pitchFamily="34" charset="-120"/>
              </a:rPr>
              <a:t>Ticks and registers, black on white, no chart junk. Red marks only thresholds crossed. A dashboard where several things are red is reporting a genuine problem, not a styling choice.</a:t>
            </a:r>
            <a:endParaRPr lang="en-US" sz="840" dirty="0"/>
          </a:p>
        </p:txBody>
      </p:sp>
      <p:sp>
        <p:nvSpPr>
          <p:cNvPr id="26" name="Text 24"/>
          <p:cNvSpPr/>
          <p:nvPr/>
        </p:nvSpPr>
        <p:spPr>
          <a:xfrm>
            <a:off x="566928" y="5852160"/>
            <a:ext cx="310896" cy="182880"/>
          </a:xfrm>
          <a:prstGeom prst="rect">
            <a:avLst/>
          </a:prstGeom>
          <a:noFill/>
          <a:ln/>
        </p:spPr>
        <p:txBody>
          <a:bodyPr wrap="square" lIns="0" tIns="0" rIns="0" bIns="0" rtlCol="0" anchor="ctr"/>
          <a:lstStyle/>
          <a:p>
            <a:pPr algn="l" indent="0" marL="0">
              <a:buNone/>
            </a:pPr>
            <a:r>
              <a:rPr lang="en-US" sz="760" b="1" dirty="0">
                <a:solidFill>
                  <a:srgbClr val="D31145"/>
                </a:solidFill>
                <a:latin typeface="Arial" pitchFamily="34" charset="0"/>
                <a:ea typeface="Arial" pitchFamily="34" charset="-122"/>
                <a:cs typeface="Arial" pitchFamily="34" charset="-120"/>
              </a:rPr>
              <a:t>06</a:t>
            </a:r>
            <a:endParaRPr lang="en-US" sz="760" dirty="0"/>
          </a:p>
        </p:txBody>
      </p:sp>
      <p:sp>
        <p:nvSpPr>
          <p:cNvPr id="27" name="Text 25"/>
          <p:cNvSpPr/>
          <p:nvPr/>
        </p:nvSpPr>
        <p:spPr>
          <a:xfrm>
            <a:off x="896112" y="5852160"/>
            <a:ext cx="6099048" cy="182880"/>
          </a:xfrm>
          <a:prstGeom prst="rect">
            <a:avLst/>
          </a:prstGeom>
          <a:noFill/>
          <a:ln/>
        </p:spPr>
        <p:txBody>
          <a:bodyPr wrap="square" lIns="0" tIns="0" rIns="0" bIns="0" rtlCol="0" anchor="ctr"/>
          <a:lstStyle/>
          <a:p>
            <a:pPr algn="l" indent="0" marL="0">
              <a:buNone/>
            </a:pPr>
            <a:r>
              <a:rPr lang="en-US" sz="860" b="1" spc="60" kern="0" dirty="0">
                <a:solidFill>
                  <a:srgbClr val="1A1A1A"/>
                </a:solidFill>
                <a:latin typeface="Arial" pitchFamily="34" charset="0"/>
                <a:ea typeface="Arial" pitchFamily="34" charset="-122"/>
                <a:cs typeface="Arial" pitchFamily="34" charset="-120"/>
              </a:rPr>
              <a:t>PRESENTATIONS</a:t>
            </a:r>
            <a:endParaRPr lang="en-US" sz="860" dirty="0"/>
          </a:p>
        </p:txBody>
      </p:sp>
      <p:sp>
        <p:nvSpPr>
          <p:cNvPr id="28" name="Text 26"/>
          <p:cNvSpPr/>
          <p:nvPr/>
        </p:nvSpPr>
        <p:spPr>
          <a:xfrm>
            <a:off x="896112" y="6035040"/>
            <a:ext cx="5971032" cy="566928"/>
          </a:xfrm>
          <a:prstGeom prst="rect">
            <a:avLst/>
          </a:prstGeom>
          <a:noFill/>
          <a:ln/>
        </p:spPr>
        <p:txBody>
          <a:bodyPr wrap="square" lIns="0" tIns="0" rIns="0" bIns="0" rtlCol="0" anchor="t"/>
          <a:lstStyle/>
          <a:p>
            <a:pPr algn="l" indent="0" marL="0">
              <a:lnSpc>
                <a:spcPct val="122000"/>
              </a:lnSpc>
              <a:buNone/>
            </a:pPr>
            <a:r>
              <a:rPr lang="en-US" sz="840" dirty="0">
                <a:solidFill>
                  <a:srgbClr val="3E3E3E"/>
                </a:solidFill>
                <a:latin typeface="Arial" pitchFamily="34" charset="0"/>
                <a:ea typeface="Arial" pitchFamily="34" charset="-122"/>
                <a:cs typeface="Arial" pitchFamily="34" charset="-120"/>
              </a:rPr>
              <a:t>One template, three slide types: statement, component list, diagram. The datum runs across every slide at a fixed height so a deck reads as one continuous surface.</a:t>
            </a:r>
            <a:endParaRPr lang="en-US" sz="840" dirty="0"/>
          </a:p>
        </p:txBody>
      </p:sp>
      <p:sp>
        <p:nvSpPr>
          <p:cNvPr id="29" name="Text 27"/>
          <p:cNvSpPr/>
          <p:nvPr/>
        </p:nvSpPr>
        <p:spPr>
          <a:xfrm>
            <a:off x="566928" y="6601968"/>
            <a:ext cx="310896" cy="182880"/>
          </a:xfrm>
          <a:prstGeom prst="rect">
            <a:avLst/>
          </a:prstGeom>
          <a:noFill/>
          <a:ln/>
        </p:spPr>
        <p:txBody>
          <a:bodyPr wrap="square" lIns="0" tIns="0" rIns="0" bIns="0" rtlCol="0" anchor="ctr"/>
          <a:lstStyle/>
          <a:p>
            <a:pPr algn="l" indent="0" marL="0">
              <a:buNone/>
            </a:pPr>
            <a:r>
              <a:rPr lang="en-US" sz="760" b="1" dirty="0">
                <a:solidFill>
                  <a:srgbClr val="D31145"/>
                </a:solidFill>
                <a:latin typeface="Arial" pitchFamily="34" charset="0"/>
                <a:ea typeface="Arial" pitchFamily="34" charset="-122"/>
                <a:cs typeface="Arial" pitchFamily="34" charset="-120"/>
              </a:rPr>
              <a:t>07</a:t>
            </a:r>
            <a:endParaRPr lang="en-US" sz="760" dirty="0"/>
          </a:p>
        </p:txBody>
      </p:sp>
      <p:sp>
        <p:nvSpPr>
          <p:cNvPr id="30" name="Text 28"/>
          <p:cNvSpPr/>
          <p:nvPr/>
        </p:nvSpPr>
        <p:spPr>
          <a:xfrm>
            <a:off x="896112" y="6601968"/>
            <a:ext cx="6099048" cy="182880"/>
          </a:xfrm>
          <a:prstGeom prst="rect">
            <a:avLst/>
          </a:prstGeom>
          <a:noFill/>
          <a:ln/>
        </p:spPr>
        <p:txBody>
          <a:bodyPr wrap="square" lIns="0" tIns="0" rIns="0" bIns="0" rtlCol="0" anchor="ctr"/>
          <a:lstStyle/>
          <a:p>
            <a:pPr algn="l" indent="0" marL="0">
              <a:buNone/>
            </a:pPr>
            <a:r>
              <a:rPr lang="en-US" sz="860" b="1" spc="60" kern="0" dirty="0">
                <a:solidFill>
                  <a:srgbClr val="1A1A1A"/>
                </a:solidFill>
                <a:latin typeface="Arial" pitchFamily="34" charset="0"/>
                <a:ea typeface="Arial" pitchFamily="34" charset="-122"/>
                <a:cs typeface="Arial" pitchFamily="34" charset="-120"/>
              </a:rPr>
              <a:t>TRAINING PRODUCTS</a:t>
            </a:r>
            <a:endParaRPr lang="en-US" sz="860" dirty="0"/>
          </a:p>
        </p:txBody>
      </p:sp>
      <p:sp>
        <p:nvSpPr>
          <p:cNvPr id="31" name="Text 29"/>
          <p:cNvSpPr/>
          <p:nvPr/>
        </p:nvSpPr>
        <p:spPr>
          <a:xfrm>
            <a:off x="896112" y="6784848"/>
            <a:ext cx="5971032" cy="566928"/>
          </a:xfrm>
          <a:prstGeom prst="rect">
            <a:avLst/>
          </a:prstGeom>
          <a:noFill/>
          <a:ln/>
        </p:spPr>
        <p:txBody>
          <a:bodyPr wrap="square" lIns="0" tIns="0" rIns="0" bIns="0" rtlCol="0" anchor="t"/>
          <a:lstStyle/>
          <a:p>
            <a:pPr algn="l" indent="0" marL="0">
              <a:lnSpc>
                <a:spcPct val="122000"/>
              </a:lnSpc>
              <a:buNone/>
            </a:pPr>
            <a:r>
              <a:rPr lang="en-US" sz="840" dirty="0">
                <a:solidFill>
                  <a:srgbClr val="3E3E3E"/>
                </a:solidFill>
                <a:latin typeface="Arial" pitchFamily="34" charset="0"/>
                <a:ea typeface="Arial" pitchFamily="34" charset="-122"/>
                <a:cs typeface="Arial" pitchFamily="34" charset="-120"/>
              </a:rPr>
              <a:t>Printable at unit level on a mono printer. Every classification survives without colour because the notation carries it. This is the constraint that most often breaks identity systems in a training establishment, and it is designed for rather than discovered.</a:t>
            </a:r>
            <a:endParaRPr lang="en-US" sz="840" dirty="0"/>
          </a:p>
        </p:txBody>
      </p:sp>
      <p:sp>
        <p:nvSpPr>
          <p:cNvPr id="32" name="Text 30"/>
          <p:cNvSpPr/>
          <p:nvPr/>
        </p:nvSpPr>
        <p:spPr>
          <a:xfrm>
            <a:off x="566928" y="7351776"/>
            <a:ext cx="310896" cy="182880"/>
          </a:xfrm>
          <a:prstGeom prst="rect">
            <a:avLst/>
          </a:prstGeom>
          <a:noFill/>
          <a:ln/>
        </p:spPr>
        <p:txBody>
          <a:bodyPr wrap="square" lIns="0" tIns="0" rIns="0" bIns="0" rtlCol="0" anchor="ctr"/>
          <a:lstStyle/>
          <a:p>
            <a:pPr algn="l" indent="0" marL="0">
              <a:buNone/>
            </a:pPr>
            <a:r>
              <a:rPr lang="en-US" sz="760" b="1" dirty="0">
                <a:solidFill>
                  <a:srgbClr val="D31145"/>
                </a:solidFill>
                <a:latin typeface="Arial" pitchFamily="34" charset="0"/>
                <a:ea typeface="Arial" pitchFamily="34" charset="-122"/>
                <a:cs typeface="Arial" pitchFamily="34" charset="-120"/>
              </a:rPr>
              <a:t>08</a:t>
            </a:r>
            <a:endParaRPr lang="en-US" sz="760" dirty="0"/>
          </a:p>
        </p:txBody>
      </p:sp>
      <p:sp>
        <p:nvSpPr>
          <p:cNvPr id="33" name="Text 31"/>
          <p:cNvSpPr/>
          <p:nvPr/>
        </p:nvSpPr>
        <p:spPr>
          <a:xfrm>
            <a:off x="896112" y="7351776"/>
            <a:ext cx="6099048" cy="182880"/>
          </a:xfrm>
          <a:prstGeom prst="rect">
            <a:avLst/>
          </a:prstGeom>
          <a:noFill/>
          <a:ln/>
        </p:spPr>
        <p:txBody>
          <a:bodyPr wrap="square" lIns="0" tIns="0" rIns="0" bIns="0" rtlCol="0" anchor="ctr"/>
          <a:lstStyle/>
          <a:p>
            <a:pPr algn="l" indent="0" marL="0">
              <a:buNone/>
            </a:pPr>
            <a:r>
              <a:rPr lang="en-US" sz="860" b="1" spc="60" kern="0" dirty="0">
                <a:solidFill>
                  <a:srgbClr val="1A1A1A"/>
                </a:solidFill>
                <a:latin typeface="Arial" pitchFamily="34" charset="0"/>
                <a:ea typeface="Arial" pitchFamily="34" charset="-122"/>
                <a:cs typeface="Arial" pitchFamily="34" charset="-120"/>
              </a:rPr>
              <a:t>MOBILE</a:t>
            </a:r>
            <a:endParaRPr lang="en-US" sz="860" dirty="0"/>
          </a:p>
        </p:txBody>
      </p:sp>
      <p:sp>
        <p:nvSpPr>
          <p:cNvPr id="34" name="Text 32"/>
          <p:cNvSpPr/>
          <p:nvPr/>
        </p:nvSpPr>
        <p:spPr>
          <a:xfrm>
            <a:off x="896112" y="7534656"/>
            <a:ext cx="5971032" cy="566928"/>
          </a:xfrm>
          <a:prstGeom prst="rect">
            <a:avLst/>
          </a:prstGeom>
          <a:noFill/>
          <a:ln/>
        </p:spPr>
        <p:txBody>
          <a:bodyPr wrap="square" lIns="0" tIns="0" rIns="0" bIns="0" rtlCol="0" anchor="t"/>
          <a:lstStyle/>
          <a:p>
            <a:pPr algn="l" indent="0" marL="0">
              <a:lnSpc>
                <a:spcPct val="122000"/>
              </a:lnSpc>
              <a:buNone/>
            </a:pPr>
            <a:r>
              <a:rPr lang="en-US" sz="840" dirty="0">
                <a:solidFill>
                  <a:srgbClr val="3E3E3E"/>
                </a:solidFill>
                <a:latin typeface="Arial" pitchFamily="34" charset="0"/>
                <a:ea typeface="Arial" pitchFamily="34" charset="-122"/>
                <a:cs typeface="Arial" pitchFamily="34" charset="-120"/>
              </a:rPr>
              <a:t>Single column, datum at the top of the viewport, notation at 24 px. Content types collapse to the mark and the reference number. Offline first, because the reader is frequently somewhere without signal.</a:t>
            </a:r>
            <a:endParaRPr lang="en-US" sz="840" dirty="0"/>
          </a:p>
        </p:txBody>
      </p:sp>
      <p:sp>
        <p:nvSpPr>
          <p:cNvPr id="35" name="Text 33"/>
          <p:cNvSpPr/>
          <p:nvPr/>
        </p:nvSpPr>
        <p:spPr>
          <a:xfrm>
            <a:off x="566928" y="8119872"/>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SINGLE SOURCE</a:t>
            </a:r>
            <a:endParaRPr lang="en-US" sz="740" dirty="0"/>
          </a:p>
        </p:txBody>
      </p:sp>
      <p:sp>
        <p:nvSpPr>
          <p:cNvPr id="36" name="Shape 34"/>
          <p:cNvSpPr/>
          <p:nvPr/>
        </p:nvSpPr>
        <p:spPr>
          <a:xfrm>
            <a:off x="566928" y="8302752"/>
            <a:ext cx="6428232" cy="7315"/>
          </a:xfrm>
          <a:prstGeom prst="rect">
            <a:avLst/>
          </a:prstGeom>
          <a:solidFill>
            <a:srgbClr val="D2D2D2"/>
          </a:solidFill>
          <a:ln/>
        </p:spPr>
      </p:sp>
      <p:sp>
        <p:nvSpPr>
          <p:cNvPr id="37" name="Shape 35"/>
          <p:cNvSpPr/>
          <p:nvPr/>
        </p:nvSpPr>
        <p:spPr>
          <a:xfrm>
            <a:off x="566928" y="8412480"/>
            <a:ext cx="6428232" cy="822960"/>
          </a:xfrm>
          <a:prstGeom prst="rect">
            <a:avLst/>
          </a:prstGeom>
          <a:solidFill>
            <a:srgbClr val="F5F5F3"/>
          </a:solidFill>
          <a:ln/>
        </p:spPr>
      </p:sp>
      <p:sp>
        <p:nvSpPr>
          <p:cNvPr id="38" name="Text 36"/>
          <p:cNvSpPr/>
          <p:nvPr/>
        </p:nvSpPr>
        <p:spPr>
          <a:xfrm>
            <a:off x="786384" y="8558784"/>
            <a:ext cx="5989320" cy="640080"/>
          </a:xfrm>
          <a:prstGeom prst="rect">
            <a:avLst/>
          </a:prstGeom>
          <a:noFill/>
          <a:ln/>
        </p:spPr>
        <p:txBody>
          <a:bodyPr wrap="square" lIns="0" tIns="0" rIns="0" bIns="0" rtlCol="0" anchor="t"/>
          <a:lstStyle/>
          <a:p>
            <a:pPr algn="l" indent="0" marL="0">
              <a:lnSpc>
                <a:spcPct val="122000"/>
              </a:lnSpc>
              <a:buNone/>
            </a:pPr>
            <a:r>
              <a:rPr lang="en-US" sz="880" dirty="0">
                <a:solidFill>
                  <a:srgbClr val="1A1A1A"/>
                </a:solidFill>
                <a:latin typeface="Arial" pitchFamily="34" charset="0"/>
                <a:ea typeface="Arial" pitchFamily="34" charset="-122"/>
                <a:cs typeface="Arial" pitchFamily="34" charset="-120"/>
              </a:rPr>
              <a:t>The specification, the notation family, the colour tokens and the component markup are held in one repository and consumed by every surface. Nothing is redrawn per product. This is what makes the twenty year claim credible: the identity is maintained as code with a version number, not as a PDF that people copy from.</a:t>
            </a:r>
            <a:endParaRPr lang="en-US" sz="8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VOICE</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20</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Brand voice</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The identity fails at the first sentence if the writing does not match it. Voice is specified here as pairs, because writers learn faster from contrast than from adjectives.</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7393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HOW COMBAT MINDSET SPEAKS</a:t>
            </a:r>
            <a:endParaRPr lang="en-US" sz="740" dirty="0"/>
          </a:p>
        </p:txBody>
      </p:sp>
      <p:sp>
        <p:nvSpPr>
          <p:cNvPr id="10" name="Shape 8"/>
          <p:cNvSpPr/>
          <p:nvPr/>
        </p:nvSpPr>
        <p:spPr>
          <a:xfrm>
            <a:off x="566928" y="1956816"/>
            <a:ext cx="6428232" cy="7315"/>
          </a:xfrm>
          <a:prstGeom prst="rect">
            <a:avLst/>
          </a:prstGeom>
          <a:solidFill>
            <a:srgbClr val="D2D2D2"/>
          </a:solidFill>
          <a:ln/>
        </p:spPr>
      </p:sp>
      <p:sp>
        <p:nvSpPr>
          <p:cNvPr id="11" name="Text 9"/>
          <p:cNvSpPr/>
          <p:nvPr/>
        </p:nvSpPr>
        <p:spPr>
          <a:xfrm>
            <a:off x="566928" y="2066544"/>
            <a:ext cx="1371600" cy="402336"/>
          </a:xfrm>
          <a:prstGeom prst="rect">
            <a:avLst/>
          </a:prstGeom>
          <a:noFill/>
          <a:ln/>
        </p:spPr>
        <p:txBody>
          <a:bodyPr wrap="square" lIns="0" tIns="0" rIns="0" bIns="0" rtlCol="0" anchor="t"/>
          <a:lstStyle/>
          <a:p>
            <a:pPr algn="l" indent="0" marL="0">
              <a:buNone/>
            </a:pPr>
            <a:r>
              <a:rPr lang="en-US" sz="960" b="1" dirty="0">
                <a:solidFill>
                  <a:srgbClr val="1A1A1A"/>
                </a:solidFill>
                <a:latin typeface="Arial" pitchFamily="34" charset="0"/>
                <a:ea typeface="Arial" pitchFamily="34" charset="-122"/>
                <a:cs typeface="Arial" pitchFamily="34" charset="-120"/>
              </a:rPr>
              <a:t>Confident</a:t>
            </a:r>
            <a:endParaRPr lang="en-US" sz="960" dirty="0"/>
          </a:p>
        </p:txBody>
      </p:sp>
      <p:sp>
        <p:nvSpPr>
          <p:cNvPr id="12" name="Text 10"/>
          <p:cNvSpPr/>
          <p:nvPr/>
        </p:nvSpPr>
        <p:spPr>
          <a:xfrm>
            <a:off x="2029968" y="2066544"/>
            <a:ext cx="4965192" cy="42062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It states. It does not argue with an imagined sceptic, and it does not hedge every claim into meaninglessness.</a:t>
            </a:r>
            <a:endParaRPr lang="en-US" sz="880" dirty="0"/>
          </a:p>
        </p:txBody>
      </p:sp>
      <p:sp>
        <p:nvSpPr>
          <p:cNvPr id="13" name="Shape 11"/>
          <p:cNvSpPr/>
          <p:nvPr/>
        </p:nvSpPr>
        <p:spPr>
          <a:xfrm>
            <a:off x="566928" y="2523744"/>
            <a:ext cx="6428232" cy="7315"/>
          </a:xfrm>
          <a:prstGeom prst="rect">
            <a:avLst/>
          </a:prstGeom>
          <a:solidFill>
            <a:srgbClr val="D2D2D2"/>
          </a:solidFill>
          <a:ln/>
        </p:spPr>
      </p:sp>
      <p:sp>
        <p:nvSpPr>
          <p:cNvPr id="14" name="Text 12"/>
          <p:cNvSpPr/>
          <p:nvPr/>
        </p:nvSpPr>
        <p:spPr>
          <a:xfrm>
            <a:off x="566928" y="2615184"/>
            <a:ext cx="1371600" cy="402336"/>
          </a:xfrm>
          <a:prstGeom prst="rect">
            <a:avLst/>
          </a:prstGeom>
          <a:noFill/>
          <a:ln/>
        </p:spPr>
        <p:txBody>
          <a:bodyPr wrap="square" lIns="0" tIns="0" rIns="0" bIns="0" rtlCol="0" anchor="t"/>
          <a:lstStyle/>
          <a:p>
            <a:pPr algn="l" indent="0" marL="0">
              <a:buNone/>
            </a:pPr>
            <a:r>
              <a:rPr lang="en-US" sz="960" b="1" dirty="0">
                <a:solidFill>
                  <a:srgbClr val="1A1A1A"/>
                </a:solidFill>
                <a:latin typeface="Arial" pitchFamily="34" charset="0"/>
                <a:ea typeface="Arial" pitchFamily="34" charset="-122"/>
                <a:cs typeface="Arial" pitchFamily="34" charset="-120"/>
              </a:rPr>
              <a:t>Measured</a:t>
            </a:r>
            <a:endParaRPr lang="en-US" sz="960" dirty="0"/>
          </a:p>
        </p:txBody>
      </p:sp>
      <p:sp>
        <p:nvSpPr>
          <p:cNvPr id="15" name="Text 13"/>
          <p:cNvSpPr/>
          <p:nvPr/>
        </p:nvSpPr>
        <p:spPr>
          <a:xfrm>
            <a:off x="2029968" y="2615184"/>
            <a:ext cx="4965192" cy="42062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Short sentences. One idea each. The register of a good set of orders, not a good speech.</a:t>
            </a:r>
            <a:endParaRPr lang="en-US" sz="880" dirty="0"/>
          </a:p>
        </p:txBody>
      </p:sp>
      <p:sp>
        <p:nvSpPr>
          <p:cNvPr id="16" name="Shape 14"/>
          <p:cNvSpPr/>
          <p:nvPr/>
        </p:nvSpPr>
        <p:spPr>
          <a:xfrm>
            <a:off x="566928" y="3072384"/>
            <a:ext cx="6428232" cy="7315"/>
          </a:xfrm>
          <a:prstGeom prst="rect">
            <a:avLst/>
          </a:prstGeom>
          <a:solidFill>
            <a:srgbClr val="D2D2D2"/>
          </a:solidFill>
          <a:ln/>
        </p:spPr>
      </p:sp>
      <p:sp>
        <p:nvSpPr>
          <p:cNvPr id="17" name="Text 15"/>
          <p:cNvSpPr/>
          <p:nvPr/>
        </p:nvSpPr>
        <p:spPr>
          <a:xfrm>
            <a:off x="566928" y="3163824"/>
            <a:ext cx="1371600" cy="402336"/>
          </a:xfrm>
          <a:prstGeom prst="rect">
            <a:avLst/>
          </a:prstGeom>
          <a:noFill/>
          <a:ln/>
        </p:spPr>
        <p:txBody>
          <a:bodyPr wrap="square" lIns="0" tIns="0" rIns="0" bIns="0" rtlCol="0" anchor="t"/>
          <a:lstStyle/>
          <a:p>
            <a:pPr algn="l" indent="0" marL="0">
              <a:buNone/>
            </a:pPr>
            <a:r>
              <a:rPr lang="en-US" sz="960" b="1" dirty="0">
                <a:solidFill>
                  <a:srgbClr val="1A1A1A"/>
                </a:solidFill>
                <a:latin typeface="Arial" pitchFamily="34" charset="0"/>
                <a:ea typeface="Arial" pitchFamily="34" charset="-122"/>
                <a:cs typeface="Arial" pitchFamily="34" charset="-120"/>
              </a:rPr>
              <a:t>Evidence-based</a:t>
            </a:r>
            <a:endParaRPr lang="en-US" sz="960" dirty="0"/>
          </a:p>
        </p:txBody>
      </p:sp>
      <p:sp>
        <p:nvSpPr>
          <p:cNvPr id="18" name="Text 16"/>
          <p:cNvSpPr/>
          <p:nvPr/>
        </p:nvSpPr>
        <p:spPr>
          <a:xfrm>
            <a:off x="2029968" y="3163824"/>
            <a:ext cx="4965192" cy="42062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Claims carry their strength. Where the evidence is thin, the text says so, because a framework that overclaims once is discounted permanently.</a:t>
            </a:r>
            <a:endParaRPr lang="en-US" sz="880" dirty="0"/>
          </a:p>
        </p:txBody>
      </p:sp>
      <p:sp>
        <p:nvSpPr>
          <p:cNvPr id="19" name="Shape 17"/>
          <p:cNvSpPr/>
          <p:nvPr/>
        </p:nvSpPr>
        <p:spPr>
          <a:xfrm>
            <a:off x="566928" y="3621024"/>
            <a:ext cx="6428232" cy="7315"/>
          </a:xfrm>
          <a:prstGeom prst="rect">
            <a:avLst/>
          </a:prstGeom>
          <a:solidFill>
            <a:srgbClr val="D2D2D2"/>
          </a:solidFill>
          <a:ln/>
        </p:spPr>
      </p:sp>
      <p:sp>
        <p:nvSpPr>
          <p:cNvPr id="20" name="Text 18"/>
          <p:cNvSpPr/>
          <p:nvPr/>
        </p:nvSpPr>
        <p:spPr>
          <a:xfrm>
            <a:off x="566928" y="3712464"/>
            <a:ext cx="1371600" cy="402336"/>
          </a:xfrm>
          <a:prstGeom prst="rect">
            <a:avLst/>
          </a:prstGeom>
          <a:noFill/>
          <a:ln/>
        </p:spPr>
        <p:txBody>
          <a:bodyPr wrap="square" lIns="0" tIns="0" rIns="0" bIns="0" rtlCol="0" anchor="t"/>
          <a:lstStyle/>
          <a:p>
            <a:pPr algn="l" indent="0" marL="0">
              <a:buNone/>
            </a:pPr>
            <a:r>
              <a:rPr lang="en-US" sz="960" b="1" dirty="0">
                <a:solidFill>
                  <a:srgbClr val="1A1A1A"/>
                </a:solidFill>
                <a:latin typeface="Arial" pitchFamily="34" charset="0"/>
                <a:ea typeface="Arial" pitchFamily="34" charset="-122"/>
                <a:cs typeface="Arial" pitchFamily="34" charset="-120"/>
              </a:rPr>
              <a:t>Operational</a:t>
            </a:r>
            <a:endParaRPr lang="en-US" sz="960" dirty="0"/>
          </a:p>
        </p:txBody>
      </p:sp>
      <p:sp>
        <p:nvSpPr>
          <p:cNvPr id="21" name="Text 19"/>
          <p:cNvSpPr/>
          <p:nvPr/>
        </p:nvSpPr>
        <p:spPr>
          <a:xfrm>
            <a:off x="2029968" y="3712464"/>
            <a:ext cx="4965192" cy="42062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Written for someone who will act on it. Every paragraph should survive the question: what does the reader do differently now.</a:t>
            </a:r>
            <a:endParaRPr lang="en-US" sz="880" dirty="0"/>
          </a:p>
        </p:txBody>
      </p:sp>
      <p:sp>
        <p:nvSpPr>
          <p:cNvPr id="22" name="Shape 20"/>
          <p:cNvSpPr/>
          <p:nvPr/>
        </p:nvSpPr>
        <p:spPr>
          <a:xfrm>
            <a:off x="566928" y="4169664"/>
            <a:ext cx="6428232" cy="7315"/>
          </a:xfrm>
          <a:prstGeom prst="rect">
            <a:avLst/>
          </a:prstGeom>
          <a:solidFill>
            <a:srgbClr val="D2D2D2"/>
          </a:solidFill>
          <a:ln/>
        </p:spPr>
      </p:sp>
      <p:sp>
        <p:nvSpPr>
          <p:cNvPr id="23" name="Text 21"/>
          <p:cNvSpPr/>
          <p:nvPr/>
        </p:nvSpPr>
        <p:spPr>
          <a:xfrm>
            <a:off x="566928" y="4261104"/>
            <a:ext cx="1371600" cy="402336"/>
          </a:xfrm>
          <a:prstGeom prst="rect">
            <a:avLst/>
          </a:prstGeom>
          <a:noFill/>
          <a:ln/>
        </p:spPr>
        <p:txBody>
          <a:bodyPr wrap="square" lIns="0" tIns="0" rIns="0" bIns="0" rtlCol="0" anchor="t"/>
          <a:lstStyle/>
          <a:p>
            <a:pPr algn="l" indent="0" marL="0">
              <a:buNone/>
            </a:pPr>
            <a:r>
              <a:rPr lang="en-US" sz="960" b="1" dirty="0">
                <a:solidFill>
                  <a:srgbClr val="1A1A1A"/>
                </a:solidFill>
                <a:latin typeface="Arial" pitchFamily="34" charset="0"/>
                <a:ea typeface="Arial" pitchFamily="34" charset="-122"/>
                <a:cs typeface="Arial" pitchFamily="34" charset="-120"/>
              </a:rPr>
              <a:t>Plain</a:t>
            </a:r>
            <a:endParaRPr lang="en-US" sz="960" dirty="0"/>
          </a:p>
        </p:txBody>
      </p:sp>
      <p:sp>
        <p:nvSpPr>
          <p:cNvPr id="24" name="Text 22"/>
          <p:cNvSpPr/>
          <p:nvPr/>
        </p:nvSpPr>
        <p:spPr>
          <a:xfrm>
            <a:off x="2029968" y="4261104"/>
            <a:ext cx="4965192" cy="42062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No jargon that a corporal would have to look up, and no psychology terminology used decoratively.</a:t>
            </a:r>
            <a:endParaRPr lang="en-US" sz="880" dirty="0"/>
          </a:p>
        </p:txBody>
      </p:sp>
      <p:sp>
        <p:nvSpPr>
          <p:cNvPr id="25" name="Shape 23"/>
          <p:cNvSpPr/>
          <p:nvPr/>
        </p:nvSpPr>
        <p:spPr>
          <a:xfrm>
            <a:off x="566928" y="4718304"/>
            <a:ext cx="6428232" cy="7315"/>
          </a:xfrm>
          <a:prstGeom prst="rect">
            <a:avLst/>
          </a:prstGeom>
          <a:solidFill>
            <a:srgbClr val="D2D2D2"/>
          </a:solidFill>
          <a:ln/>
        </p:spPr>
      </p:sp>
      <p:sp>
        <p:nvSpPr>
          <p:cNvPr id="26" name="Text 24"/>
          <p:cNvSpPr/>
          <p:nvPr/>
        </p:nvSpPr>
        <p:spPr>
          <a:xfrm>
            <a:off x="566928" y="4809744"/>
            <a:ext cx="1371600" cy="402336"/>
          </a:xfrm>
          <a:prstGeom prst="rect">
            <a:avLst/>
          </a:prstGeom>
          <a:noFill/>
          <a:ln/>
        </p:spPr>
        <p:txBody>
          <a:bodyPr wrap="square" lIns="0" tIns="0" rIns="0" bIns="0" rtlCol="0" anchor="t"/>
          <a:lstStyle/>
          <a:p>
            <a:pPr algn="l" indent="0" marL="0">
              <a:buNone/>
            </a:pPr>
            <a:r>
              <a:rPr lang="en-US" sz="960" b="1" dirty="0">
                <a:solidFill>
                  <a:srgbClr val="D31145"/>
                </a:solidFill>
                <a:latin typeface="Arial" pitchFamily="34" charset="0"/>
                <a:ea typeface="Arial" pitchFamily="34" charset="-122"/>
                <a:cs typeface="Arial" pitchFamily="34" charset="-120"/>
              </a:rPr>
              <a:t>Never motivational</a:t>
            </a:r>
            <a:endParaRPr lang="en-US" sz="960" dirty="0"/>
          </a:p>
        </p:txBody>
      </p:sp>
      <p:sp>
        <p:nvSpPr>
          <p:cNvPr id="27" name="Text 25"/>
          <p:cNvSpPr/>
          <p:nvPr/>
        </p:nvSpPr>
        <p:spPr>
          <a:xfrm>
            <a:off x="2029968" y="4809744"/>
            <a:ext cx="4965192" cy="420624"/>
          </a:xfrm>
          <a:prstGeom prst="rect">
            <a:avLst/>
          </a:prstGeom>
          <a:noFill/>
          <a:ln/>
        </p:spPr>
        <p:txBody>
          <a:bodyPr wrap="square" lIns="0" tIns="0" rIns="0" bIns="0" rtlCol="0" anchor="t"/>
          <a:lstStyle/>
          <a:p>
            <a:pPr algn="l" indent="0" marL="0">
              <a:lnSpc>
                <a:spcPct val="122000"/>
              </a:lnSpc>
              <a:buNone/>
            </a:pPr>
            <a:r>
              <a:rPr lang="en-US" sz="880" dirty="0">
                <a:solidFill>
                  <a:srgbClr val="3E3E3E"/>
                </a:solidFill>
                <a:latin typeface="Arial" pitchFamily="34" charset="0"/>
                <a:ea typeface="Arial" pitchFamily="34" charset="-122"/>
                <a:cs typeface="Arial" pitchFamily="34" charset="-120"/>
              </a:rPr>
              <a:t>It does not exhort, inspire, challenge or remind anyone what they are capable of. The moment it does, it becomes a poster, and posters are ignored.</a:t>
            </a:r>
            <a:endParaRPr lang="en-US" sz="880" dirty="0"/>
          </a:p>
        </p:txBody>
      </p:sp>
      <p:sp>
        <p:nvSpPr>
          <p:cNvPr id="28" name="Shape 26"/>
          <p:cNvSpPr/>
          <p:nvPr/>
        </p:nvSpPr>
        <p:spPr>
          <a:xfrm>
            <a:off x="566928" y="5266944"/>
            <a:ext cx="6428232" cy="7315"/>
          </a:xfrm>
          <a:prstGeom prst="rect">
            <a:avLst/>
          </a:prstGeom>
          <a:solidFill>
            <a:srgbClr val="D2D2D2"/>
          </a:solidFill>
          <a:ln/>
        </p:spPr>
      </p:sp>
      <p:sp>
        <p:nvSpPr>
          <p:cNvPr id="29" name="Text 27"/>
          <p:cNvSpPr/>
          <p:nvPr/>
        </p:nvSpPr>
        <p:spPr>
          <a:xfrm>
            <a:off x="566928" y="541324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WRITE THIS, NOT THAT</a:t>
            </a:r>
            <a:endParaRPr lang="en-US" sz="740" dirty="0"/>
          </a:p>
        </p:txBody>
      </p:sp>
      <p:sp>
        <p:nvSpPr>
          <p:cNvPr id="30" name="Shape 28"/>
          <p:cNvSpPr/>
          <p:nvPr/>
        </p:nvSpPr>
        <p:spPr>
          <a:xfrm>
            <a:off x="566928" y="5596128"/>
            <a:ext cx="6428232" cy="7315"/>
          </a:xfrm>
          <a:prstGeom prst="rect">
            <a:avLst/>
          </a:prstGeom>
          <a:solidFill>
            <a:srgbClr val="D2D2D2"/>
          </a:solidFill>
          <a:ln/>
        </p:spPr>
      </p:sp>
      <p:sp>
        <p:nvSpPr>
          <p:cNvPr id="31" name="Text 29"/>
          <p:cNvSpPr/>
          <p:nvPr/>
        </p:nvSpPr>
        <p:spPr>
          <a:xfrm>
            <a:off x="566928" y="5705856"/>
            <a:ext cx="3104388" cy="182880"/>
          </a:xfrm>
          <a:prstGeom prst="rect">
            <a:avLst/>
          </a:prstGeom>
          <a:noFill/>
          <a:ln/>
        </p:spPr>
        <p:txBody>
          <a:bodyPr wrap="square" lIns="0" tIns="0" rIns="0" bIns="0" rtlCol="0" anchor="ctr"/>
          <a:lstStyle/>
          <a:p>
            <a:pPr algn="l" indent="0" marL="0">
              <a:buNone/>
            </a:pPr>
            <a:r>
              <a:rPr lang="en-US" sz="700" b="1" spc="140" kern="0" dirty="0">
                <a:solidFill>
                  <a:srgbClr val="00261B"/>
                </a:solidFill>
                <a:latin typeface="Arial" pitchFamily="34" charset="0"/>
                <a:ea typeface="Arial" pitchFamily="34" charset="-122"/>
                <a:cs typeface="Arial" pitchFamily="34" charset="-120"/>
              </a:rPr>
              <a:t>WRITE</a:t>
            </a:r>
            <a:endParaRPr lang="en-US" sz="700" dirty="0"/>
          </a:p>
        </p:txBody>
      </p:sp>
      <p:sp>
        <p:nvSpPr>
          <p:cNvPr id="32" name="Text 30"/>
          <p:cNvSpPr/>
          <p:nvPr/>
        </p:nvSpPr>
        <p:spPr>
          <a:xfrm>
            <a:off x="3890772" y="5705856"/>
            <a:ext cx="3104388" cy="182880"/>
          </a:xfrm>
          <a:prstGeom prst="rect">
            <a:avLst/>
          </a:prstGeom>
          <a:noFill/>
          <a:ln/>
        </p:spPr>
        <p:txBody>
          <a:bodyPr wrap="square" lIns="0" tIns="0" rIns="0" bIns="0" rtlCol="0" anchor="ctr"/>
          <a:lstStyle/>
          <a:p>
            <a:pPr algn="l" indent="0" marL="0">
              <a:buNone/>
            </a:pPr>
            <a:r>
              <a:rPr lang="en-US" sz="700" b="1" spc="140" kern="0" dirty="0">
                <a:solidFill>
                  <a:srgbClr val="D31145"/>
                </a:solidFill>
                <a:latin typeface="Arial" pitchFamily="34" charset="0"/>
                <a:ea typeface="Arial" pitchFamily="34" charset="-122"/>
                <a:cs typeface="Arial" pitchFamily="34" charset="-120"/>
              </a:rPr>
              <a:t>NOT</a:t>
            </a:r>
            <a:endParaRPr lang="en-US" sz="700" dirty="0"/>
          </a:p>
        </p:txBody>
      </p:sp>
      <p:sp>
        <p:nvSpPr>
          <p:cNvPr id="33" name="Shape 31"/>
          <p:cNvSpPr/>
          <p:nvPr/>
        </p:nvSpPr>
        <p:spPr>
          <a:xfrm>
            <a:off x="566928" y="5925312"/>
            <a:ext cx="3104388" cy="603504"/>
          </a:xfrm>
          <a:prstGeom prst="rect">
            <a:avLst/>
          </a:prstGeom>
          <a:solidFill>
            <a:srgbClr val="FFFFFF"/>
          </a:solidFill>
          <a:ln w="12700">
            <a:solidFill>
              <a:srgbClr val="D2D2D2"/>
            </a:solidFill>
            <a:prstDash val="solid"/>
          </a:ln>
        </p:spPr>
      </p:sp>
      <p:sp>
        <p:nvSpPr>
          <p:cNvPr id="34" name="Shape 32"/>
          <p:cNvSpPr/>
          <p:nvPr/>
        </p:nvSpPr>
        <p:spPr>
          <a:xfrm>
            <a:off x="566928" y="5925312"/>
            <a:ext cx="27432" cy="603504"/>
          </a:xfrm>
          <a:prstGeom prst="rect">
            <a:avLst/>
          </a:prstGeom>
          <a:solidFill>
            <a:srgbClr val="00261B"/>
          </a:solidFill>
          <a:ln/>
        </p:spPr>
      </p:sp>
      <p:sp>
        <p:nvSpPr>
          <p:cNvPr id="35" name="Text 33"/>
          <p:cNvSpPr/>
          <p:nvPr/>
        </p:nvSpPr>
        <p:spPr>
          <a:xfrm>
            <a:off x="713232" y="6016752"/>
            <a:ext cx="2830068" cy="457200"/>
          </a:xfrm>
          <a:prstGeom prst="rect">
            <a:avLst/>
          </a:prstGeom>
          <a:noFill/>
          <a:ln/>
        </p:spPr>
        <p:txBody>
          <a:bodyPr wrap="square" lIns="0" tIns="0" rIns="0" bIns="0" rtlCol="0" anchor="t"/>
          <a:lstStyle/>
          <a:p>
            <a:pPr algn="l" indent="0" marL="0">
              <a:lnSpc>
                <a:spcPct val="122000"/>
              </a:lnSpc>
              <a:buNone/>
            </a:pPr>
            <a:r>
              <a:rPr lang="en-US" sz="820" dirty="0">
                <a:solidFill>
                  <a:srgbClr val="1A1A1A"/>
                </a:solidFill>
                <a:latin typeface="Arial" pitchFamily="34" charset="0"/>
                <a:ea typeface="Arial" pitchFamily="34" charset="-122"/>
                <a:cs typeface="Arial" pitchFamily="34" charset="-120"/>
              </a:rPr>
              <a:t>Under pressure, trained people lose access to capability they demonstrably hold.</a:t>
            </a:r>
            <a:endParaRPr lang="en-US" sz="820" dirty="0"/>
          </a:p>
        </p:txBody>
      </p:sp>
      <p:sp>
        <p:nvSpPr>
          <p:cNvPr id="36" name="Shape 34"/>
          <p:cNvSpPr/>
          <p:nvPr/>
        </p:nvSpPr>
        <p:spPr>
          <a:xfrm>
            <a:off x="3890772" y="5925312"/>
            <a:ext cx="3104388" cy="603504"/>
          </a:xfrm>
          <a:prstGeom prst="rect">
            <a:avLst/>
          </a:prstGeom>
          <a:solidFill>
            <a:srgbClr val="FBFBFA"/>
          </a:solidFill>
          <a:ln w="12700">
            <a:solidFill>
              <a:srgbClr val="D2D2D2"/>
            </a:solidFill>
            <a:prstDash val="solid"/>
          </a:ln>
        </p:spPr>
      </p:sp>
      <p:sp>
        <p:nvSpPr>
          <p:cNvPr id="37" name="Shape 35"/>
          <p:cNvSpPr/>
          <p:nvPr/>
        </p:nvSpPr>
        <p:spPr>
          <a:xfrm>
            <a:off x="3890772" y="5925312"/>
            <a:ext cx="27432" cy="603504"/>
          </a:xfrm>
          <a:prstGeom prst="rect">
            <a:avLst/>
          </a:prstGeom>
          <a:solidFill>
            <a:srgbClr val="D31145"/>
          </a:solidFill>
          <a:ln/>
        </p:spPr>
      </p:sp>
      <p:sp>
        <p:nvSpPr>
          <p:cNvPr id="38" name="Text 36"/>
          <p:cNvSpPr/>
          <p:nvPr/>
        </p:nvSpPr>
        <p:spPr>
          <a:xfrm>
            <a:off x="4037076" y="6016752"/>
            <a:ext cx="2830068" cy="457200"/>
          </a:xfrm>
          <a:prstGeom prst="rect">
            <a:avLst/>
          </a:prstGeom>
          <a:noFill/>
          <a:ln/>
        </p:spPr>
        <p:txBody>
          <a:bodyPr wrap="square" lIns="0" tIns="0" rIns="0" bIns="0" rtlCol="0" anchor="t"/>
          <a:lstStyle/>
          <a:p>
            <a:pPr algn="l" indent="0" marL="0">
              <a:lnSpc>
                <a:spcPct val="122000"/>
              </a:lnSpc>
              <a:buNone/>
            </a:pPr>
            <a:r>
              <a:rPr lang="en-US" sz="820" dirty="0">
                <a:solidFill>
                  <a:srgbClr val="6E6E6E"/>
                </a:solidFill>
                <a:latin typeface="Arial" pitchFamily="34" charset="0"/>
                <a:ea typeface="Arial" pitchFamily="34" charset="-122"/>
                <a:cs typeface="Arial" pitchFamily="34" charset="-120"/>
              </a:rPr>
              <a:t>Unlock your true potential when it matters most.</a:t>
            </a:r>
            <a:endParaRPr lang="en-US" sz="820" dirty="0"/>
          </a:p>
        </p:txBody>
      </p:sp>
      <p:sp>
        <p:nvSpPr>
          <p:cNvPr id="39" name="Shape 37"/>
          <p:cNvSpPr/>
          <p:nvPr/>
        </p:nvSpPr>
        <p:spPr>
          <a:xfrm>
            <a:off x="566928" y="6620256"/>
            <a:ext cx="3104388" cy="603504"/>
          </a:xfrm>
          <a:prstGeom prst="rect">
            <a:avLst/>
          </a:prstGeom>
          <a:solidFill>
            <a:srgbClr val="FFFFFF"/>
          </a:solidFill>
          <a:ln w="12700">
            <a:solidFill>
              <a:srgbClr val="D2D2D2"/>
            </a:solidFill>
            <a:prstDash val="solid"/>
          </a:ln>
        </p:spPr>
      </p:sp>
      <p:sp>
        <p:nvSpPr>
          <p:cNvPr id="40" name="Shape 38"/>
          <p:cNvSpPr/>
          <p:nvPr/>
        </p:nvSpPr>
        <p:spPr>
          <a:xfrm>
            <a:off x="566928" y="6620256"/>
            <a:ext cx="27432" cy="603504"/>
          </a:xfrm>
          <a:prstGeom prst="rect">
            <a:avLst/>
          </a:prstGeom>
          <a:solidFill>
            <a:srgbClr val="00261B"/>
          </a:solidFill>
          <a:ln/>
        </p:spPr>
      </p:sp>
      <p:sp>
        <p:nvSpPr>
          <p:cNvPr id="41" name="Text 39"/>
          <p:cNvSpPr/>
          <p:nvPr/>
        </p:nvSpPr>
        <p:spPr>
          <a:xfrm>
            <a:off x="713232" y="6711696"/>
            <a:ext cx="2830068" cy="457200"/>
          </a:xfrm>
          <a:prstGeom prst="rect">
            <a:avLst/>
          </a:prstGeom>
          <a:noFill/>
          <a:ln/>
        </p:spPr>
        <p:txBody>
          <a:bodyPr wrap="square" lIns="0" tIns="0" rIns="0" bIns="0" rtlCol="0" anchor="t"/>
          <a:lstStyle/>
          <a:p>
            <a:pPr algn="l" indent="0" marL="0">
              <a:lnSpc>
                <a:spcPct val="122000"/>
              </a:lnSpc>
              <a:buNone/>
            </a:pPr>
            <a:r>
              <a:rPr lang="en-US" sz="820" dirty="0">
                <a:solidFill>
                  <a:srgbClr val="1A1A1A"/>
                </a:solidFill>
                <a:latin typeface="Arial" pitchFamily="34" charset="0"/>
                <a:ea typeface="Arial" pitchFamily="34" charset="-122"/>
                <a:cs typeface="Arial" pitchFamily="34" charset="-120"/>
              </a:rPr>
              <a:t>The evidence for transfer to operational performance is currently limited.</a:t>
            </a:r>
            <a:endParaRPr lang="en-US" sz="820" dirty="0"/>
          </a:p>
        </p:txBody>
      </p:sp>
      <p:sp>
        <p:nvSpPr>
          <p:cNvPr id="42" name="Shape 40"/>
          <p:cNvSpPr/>
          <p:nvPr/>
        </p:nvSpPr>
        <p:spPr>
          <a:xfrm>
            <a:off x="3890772" y="6620256"/>
            <a:ext cx="3104388" cy="603504"/>
          </a:xfrm>
          <a:prstGeom prst="rect">
            <a:avLst/>
          </a:prstGeom>
          <a:solidFill>
            <a:srgbClr val="FBFBFA"/>
          </a:solidFill>
          <a:ln w="12700">
            <a:solidFill>
              <a:srgbClr val="D2D2D2"/>
            </a:solidFill>
            <a:prstDash val="solid"/>
          </a:ln>
        </p:spPr>
      </p:sp>
      <p:sp>
        <p:nvSpPr>
          <p:cNvPr id="43" name="Shape 41"/>
          <p:cNvSpPr/>
          <p:nvPr/>
        </p:nvSpPr>
        <p:spPr>
          <a:xfrm>
            <a:off x="3890772" y="6620256"/>
            <a:ext cx="27432" cy="603504"/>
          </a:xfrm>
          <a:prstGeom prst="rect">
            <a:avLst/>
          </a:prstGeom>
          <a:solidFill>
            <a:srgbClr val="D31145"/>
          </a:solidFill>
          <a:ln/>
        </p:spPr>
      </p:sp>
      <p:sp>
        <p:nvSpPr>
          <p:cNvPr id="44" name="Text 42"/>
          <p:cNvSpPr/>
          <p:nvPr/>
        </p:nvSpPr>
        <p:spPr>
          <a:xfrm>
            <a:off x="4037076" y="6711696"/>
            <a:ext cx="2830068" cy="457200"/>
          </a:xfrm>
          <a:prstGeom prst="rect">
            <a:avLst/>
          </a:prstGeom>
          <a:noFill/>
          <a:ln/>
        </p:spPr>
        <p:txBody>
          <a:bodyPr wrap="square" lIns="0" tIns="0" rIns="0" bIns="0" rtlCol="0" anchor="t"/>
          <a:lstStyle/>
          <a:p>
            <a:pPr algn="l" indent="0" marL="0">
              <a:lnSpc>
                <a:spcPct val="122000"/>
              </a:lnSpc>
              <a:buNone/>
            </a:pPr>
            <a:r>
              <a:rPr lang="en-US" sz="820" dirty="0">
                <a:solidFill>
                  <a:srgbClr val="6E6E6E"/>
                </a:solidFill>
                <a:latin typeface="Arial" pitchFamily="34" charset="0"/>
                <a:ea typeface="Arial" pitchFamily="34" charset="-122"/>
                <a:cs typeface="Arial" pitchFamily="34" charset="-120"/>
              </a:rPr>
              <a:t>Proven to deliver results on operations.</a:t>
            </a:r>
            <a:endParaRPr lang="en-US" sz="820" dirty="0"/>
          </a:p>
        </p:txBody>
      </p:sp>
      <p:sp>
        <p:nvSpPr>
          <p:cNvPr id="45" name="Shape 43"/>
          <p:cNvSpPr/>
          <p:nvPr/>
        </p:nvSpPr>
        <p:spPr>
          <a:xfrm>
            <a:off x="566928" y="7315200"/>
            <a:ext cx="3104388" cy="603504"/>
          </a:xfrm>
          <a:prstGeom prst="rect">
            <a:avLst/>
          </a:prstGeom>
          <a:solidFill>
            <a:srgbClr val="FFFFFF"/>
          </a:solidFill>
          <a:ln w="12700">
            <a:solidFill>
              <a:srgbClr val="D2D2D2"/>
            </a:solidFill>
            <a:prstDash val="solid"/>
          </a:ln>
        </p:spPr>
      </p:sp>
      <p:sp>
        <p:nvSpPr>
          <p:cNvPr id="46" name="Shape 44"/>
          <p:cNvSpPr/>
          <p:nvPr/>
        </p:nvSpPr>
        <p:spPr>
          <a:xfrm>
            <a:off x="566928" y="7315200"/>
            <a:ext cx="27432" cy="603504"/>
          </a:xfrm>
          <a:prstGeom prst="rect">
            <a:avLst/>
          </a:prstGeom>
          <a:solidFill>
            <a:srgbClr val="00261B"/>
          </a:solidFill>
          <a:ln/>
        </p:spPr>
      </p:sp>
      <p:sp>
        <p:nvSpPr>
          <p:cNvPr id="47" name="Text 45"/>
          <p:cNvSpPr/>
          <p:nvPr/>
        </p:nvSpPr>
        <p:spPr>
          <a:xfrm>
            <a:off x="713232" y="7406640"/>
            <a:ext cx="2830068" cy="457200"/>
          </a:xfrm>
          <a:prstGeom prst="rect">
            <a:avLst/>
          </a:prstGeom>
          <a:noFill/>
          <a:ln/>
        </p:spPr>
        <p:txBody>
          <a:bodyPr wrap="square" lIns="0" tIns="0" rIns="0" bIns="0" rtlCol="0" anchor="t"/>
          <a:lstStyle/>
          <a:p>
            <a:pPr algn="l" indent="0" marL="0">
              <a:lnSpc>
                <a:spcPct val="122000"/>
              </a:lnSpc>
              <a:buNone/>
            </a:pPr>
            <a:r>
              <a:rPr lang="en-US" sz="820" dirty="0">
                <a:solidFill>
                  <a:srgbClr val="1A1A1A"/>
                </a:solidFill>
                <a:latin typeface="Arial" pitchFamily="34" charset="0"/>
                <a:ea typeface="Arial" pitchFamily="34" charset="-122"/>
                <a:cs typeface="Arial" pitchFamily="34" charset="-120"/>
              </a:rPr>
              <a:t>Phase 2 assesses existing products against the endorsed outcomes.</a:t>
            </a:r>
            <a:endParaRPr lang="en-US" sz="820" dirty="0"/>
          </a:p>
        </p:txBody>
      </p:sp>
      <p:sp>
        <p:nvSpPr>
          <p:cNvPr id="48" name="Shape 46"/>
          <p:cNvSpPr/>
          <p:nvPr/>
        </p:nvSpPr>
        <p:spPr>
          <a:xfrm>
            <a:off x="3890772" y="7315200"/>
            <a:ext cx="3104388" cy="603504"/>
          </a:xfrm>
          <a:prstGeom prst="rect">
            <a:avLst/>
          </a:prstGeom>
          <a:solidFill>
            <a:srgbClr val="FBFBFA"/>
          </a:solidFill>
          <a:ln w="12700">
            <a:solidFill>
              <a:srgbClr val="D2D2D2"/>
            </a:solidFill>
            <a:prstDash val="solid"/>
          </a:ln>
        </p:spPr>
      </p:sp>
      <p:sp>
        <p:nvSpPr>
          <p:cNvPr id="49" name="Shape 47"/>
          <p:cNvSpPr/>
          <p:nvPr/>
        </p:nvSpPr>
        <p:spPr>
          <a:xfrm>
            <a:off x="3890772" y="7315200"/>
            <a:ext cx="27432" cy="603504"/>
          </a:xfrm>
          <a:prstGeom prst="rect">
            <a:avLst/>
          </a:prstGeom>
          <a:solidFill>
            <a:srgbClr val="D31145"/>
          </a:solidFill>
          <a:ln/>
        </p:spPr>
      </p:sp>
      <p:sp>
        <p:nvSpPr>
          <p:cNvPr id="50" name="Text 48"/>
          <p:cNvSpPr/>
          <p:nvPr/>
        </p:nvSpPr>
        <p:spPr>
          <a:xfrm>
            <a:off x="4037076" y="7406640"/>
            <a:ext cx="2830068" cy="457200"/>
          </a:xfrm>
          <a:prstGeom prst="rect">
            <a:avLst/>
          </a:prstGeom>
          <a:noFill/>
          <a:ln/>
        </p:spPr>
        <p:txBody>
          <a:bodyPr wrap="square" lIns="0" tIns="0" rIns="0" bIns="0" rtlCol="0" anchor="t"/>
          <a:lstStyle/>
          <a:p>
            <a:pPr algn="l" indent="0" marL="0">
              <a:lnSpc>
                <a:spcPct val="122000"/>
              </a:lnSpc>
              <a:buNone/>
            </a:pPr>
            <a:r>
              <a:rPr lang="en-US" sz="820" dirty="0">
                <a:solidFill>
                  <a:srgbClr val="6E6E6E"/>
                </a:solidFill>
                <a:latin typeface="Arial" pitchFamily="34" charset="0"/>
                <a:ea typeface="Arial" pitchFamily="34" charset="-122"/>
                <a:cs typeface="Arial" pitchFamily="34" charset="-120"/>
              </a:rPr>
              <a:t>We are on an exciting journey to transform how Army thinks about performance.</a:t>
            </a:r>
            <a:endParaRPr lang="en-US" sz="820" dirty="0"/>
          </a:p>
        </p:txBody>
      </p:sp>
      <p:sp>
        <p:nvSpPr>
          <p:cNvPr id="51" name="Shape 49"/>
          <p:cNvSpPr/>
          <p:nvPr/>
        </p:nvSpPr>
        <p:spPr>
          <a:xfrm>
            <a:off x="566928" y="8010144"/>
            <a:ext cx="3104388" cy="603504"/>
          </a:xfrm>
          <a:prstGeom prst="rect">
            <a:avLst/>
          </a:prstGeom>
          <a:solidFill>
            <a:srgbClr val="FFFFFF"/>
          </a:solidFill>
          <a:ln w="12700">
            <a:solidFill>
              <a:srgbClr val="D2D2D2"/>
            </a:solidFill>
            <a:prstDash val="solid"/>
          </a:ln>
        </p:spPr>
      </p:sp>
      <p:sp>
        <p:nvSpPr>
          <p:cNvPr id="52" name="Shape 50"/>
          <p:cNvSpPr/>
          <p:nvPr/>
        </p:nvSpPr>
        <p:spPr>
          <a:xfrm>
            <a:off x="566928" y="8010144"/>
            <a:ext cx="27432" cy="603504"/>
          </a:xfrm>
          <a:prstGeom prst="rect">
            <a:avLst/>
          </a:prstGeom>
          <a:solidFill>
            <a:srgbClr val="00261B"/>
          </a:solidFill>
          <a:ln/>
        </p:spPr>
      </p:sp>
      <p:sp>
        <p:nvSpPr>
          <p:cNvPr id="53" name="Text 51"/>
          <p:cNvSpPr/>
          <p:nvPr/>
        </p:nvSpPr>
        <p:spPr>
          <a:xfrm>
            <a:off x="713232" y="8101584"/>
            <a:ext cx="2830068" cy="457200"/>
          </a:xfrm>
          <a:prstGeom prst="rect">
            <a:avLst/>
          </a:prstGeom>
          <a:noFill/>
          <a:ln/>
        </p:spPr>
        <p:txBody>
          <a:bodyPr wrap="square" lIns="0" tIns="0" rIns="0" bIns="0" rtlCol="0" anchor="t"/>
          <a:lstStyle/>
          <a:p>
            <a:pPr algn="l" indent="0" marL="0">
              <a:lnSpc>
                <a:spcPct val="122000"/>
              </a:lnSpc>
              <a:buNone/>
            </a:pPr>
            <a:r>
              <a:rPr lang="en-US" sz="820" dirty="0">
                <a:solidFill>
                  <a:srgbClr val="1A1A1A"/>
                </a:solidFill>
                <a:latin typeface="Arial" pitchFamily="34" charset="0"/>
                <a:ea typeface="Arial" pitchFamily="34" charset="-122"/>
                <a:cs typeface="Arial" pitchFamily="34" charset="-120"/>
              </a:rPr>
              <a:t>Do this before the serial. Record what happened. Review it within 48 hours.</a:t>
            </a:r>
            <a:endParaRPr lang="en-US" sz="820" dirty="0"/>
          </a:p>
        </p:txBody>
      </p:sp>
      <p:sp>
        <p:nvSpPr>
          <p:cNvPr id="54" name="Shape 52"/>
          <p:cNvSpPr/>
          <p:nvPr/>
        </p:nvSpPr>
        <p:spPr>
          <a:xfrm>
            <a:off x="3890772" y="8010144"/>
            <a:ext cx="3104388" cy="603504"/>
          </a:xfrm>
          <a:prstGeom prst="rect">
            <a:avLst/>
          </a:prstGeom>
          <a:solidFill>
            <a:srgbClr val="FBFBFA"/>
          </a:solidFill>
          <a:ln w="12700">
            <a:solidFill>
              <a:srgbClr val="D2D2D2"/>
            </a:solidFill>
            <a:prstDash val="solid"/>
          </a:ln>
        </p:spPr>
      </p:sp>
      <p:sp>
        <p:nvSpPr>
          <p:cNvPr id="55" name="Shape 53"/>
          <p:cNvSpPr/>
          <p:nvPr/>
        </p:nvSpPr>
        <p:spPr>
          <a:xfrm>
            <a:off x="3890772" y="8010144"/>
            <a:ext cx="27432" cy="603504"/>
          </a:xfrm>
          <a:prstGeom prst="rect">
            <a:avLst/>
          </a:prstGeom>
          <a:solidFill>
            <a:srgbClr val="D31145"/>
          </a:solidFill>
          <a:ln/>
        </p:spPr>
      </p:sp>
      <p:sp>
        <p:nvSpPr>
          <p:cNvPr id="56" name="Text 54"/>
          <p:cNvSpPr/>
          <p:nvPr/>
        </p:nvSpPr>
        <p:spPr>
          <a:xfrm>
            <a:off x="4037076" y="8101584"/>
            <a:ext cx="2830068" cy="457200"/>
          </a:xfrm>
          <a:prstGeom prst="rect">
            <a:avLst/>
          </a:prstGeom>
          <a:noFill/>
          <a:ln/>
        </p:spPr>
        <p:txBody>
          <a:bodyPr wrap="square" lIns="0" tIns="0" rIns="0" bIns="0" rtlCol="0" anchor="t"/>
          <a:lstStyle/>
          <a:p>
            <a:pPr algn="l" indent="0" marL="0">
              <a:lnSpc>
                <a:spcPct val="122000"/>
              </a:lnSpc>
              <a:buNone/>
            </a:pPr>
            <a:r>
              <a:rPr lang="en-US" sz="820" dirty="0">
                <a:solidFill>
                  <a:srgbClr val="6E6E6E"/>
                </a:solidFill>
                <a:latin typeface="Arial" pitchFamily="34" charset="0"/>
                <a:ea typeface="Arial" pitchFamily="34" charset="-122"/>
                <a:cs typeface="Arial" pitchFamily="34" charset="-120"/>
              </a:rPr>
              <a:t>Embrace the challenge and push through your limits.</a:t>
            </a:r>
            <a:endParaRPr lang="en-US" sz="820" dirty="0"/>
          </a:p>
        </p:txBody>
      </p:sp>
      <p:sp>
        <p:nvSpPr>
          <p:cNvPr id="57" name="Text 55"/>
          <p:cNvSpPr/>
          <p:nvPr/>
        </p:nvSpPr>
        <p:spPr>
          <a:xfrm>
            <a:off x="566928" y="870508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TAGLINE</a:t>
            </a:r>
            <a:endParaRPr lang="en-US" sz="740" dirty="0"/>
          </a:p>
        </p:txBody>
      </p:sp>
      <p:sp>
        <p:nvSpPr>
          <p:cNvPr id="58" name="Shape 56"/>
          <p:cNvSpPr/>
          <p:nvPr/>
        </p:nvSpPr>
        <p:spPr>
          <a:xfrm>
            <a:off x="566928" y="8887968"/>
            <a:ext cx="6428232" cy="7315"/>
          </a:xfrm>
          <a:prstGeom prst="rect">
            <a:avLst/>
          </a:prstGeom>
          <a:solidFill>
            <a:srgbClr val="D2D2D2"/>
          </a:solidFill>
          <a:ln/>
        </p:spPr>
      </p:sp>
      <p:sp>
        <p:nvSpPr>
          <p:cNvPr id="59" name="Text 57"/>
          <p:cNvSpPr/>
          <p:nvPr/>
        </p:nvSpPr>
        <p:spPr>
          <a:xfrm>
            <a:off x="566928" y="8997696"/>
            <a:ext cx="6428232" cy="548640"/>
          </a:xfrm>
          <a:prstGeom prst="rect">
            <a:avLst/>
          </a:prstGeom>
          <a:noFill/>
          <a:ln/>
        </p:spPr>
        <p:txBody>
          <a:bodyPr wrap="square" lIns="0" tIns="0" rIns="0" bIns="0" rtlCol="0" anchor="t"/>
          <a:lstStyle/>
          <a:p>
            <a:pPr algn="l" indent="0" marL="0">
              <a:lnSpc>
                <a:spcPct val="122000"/>
              </a:lnSpc>
              <a:buNone/>
            </a:pPr>
            <a:r>
              <a:rPr lang="en-US" sz="880" dirty="0">
                <a:solidFill>
                  <a:srgbClr val="1A1A1A"/>
                </a:solidFill>
                <a:latin typeface="Arial" pitchFamily="34" charset="0"/>
                <a:ea typeface="Arial" pitchFamily="34" charset="-122"/>
                <a:cs typeface="Arial" pitchFamily="34" charset="-120"/>
              </a:rPr>
              <a:t>Remain effective. Act decisively. Harder to kill. It works because the first two lines are instructions and the third is a consequence, not a boast. It should be used sparingly, on covers and dividers, and never as a heading inside a document. Overused, it becomes the motivational register the rest of the voice is written to avoid.</a:t>
            </a:r>
            <a:endParaRPr lang="en-US" sz="8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EVOLUTION</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21</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Identity evolution</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How the system matures over ten years, and why it should never need a redesign.</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7393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MECHANISM</a:t>
            </a:r>
            <a:endParaRPr lang="en-US" sz="740" dirty="0"/>
          </a:p>
        </p:txBody>
      </p:sp>
      <p:sp>
        <p:nvSpPr>
          <p:cNvPr id="10" name="Shape 8"/>
          <p:cNvSpPr/>
          <p:nvPr/>
        </p:nvSpPr>
        <p:spPr>
          <a:xfrm>
            <a:off x="566928" y="1956816"/>
            <a:ext cx="6428232" cy="7315"/>
          </a:xfrm>
          <a:prstGeom prst="rect">
            <a:avLst/>
          </a:prstGeom>
          <a:solidFill>
            <a:srgbClr val="D2D2D2"/>
          </a:solidFill>
          <a:ln/>
        </p:spPr>
      </p:sp>
      <p:sp>
        <p:nvSpPr>
          <p:cNvPr id="11" name="Text 9"/>
          <p:cNvSpPr/>
          <p:nvPr/>
        </p:nvSpPr>
        <p:spPr>
          <a:xfrm>
            <a:off x="566928" y="2066544"/>
            <a:ext cx="6428232" cy="548640"/>
          </a:xfrm>
          <a:prstGeom prst="rect">
            <a:avLst/>
          </a:prstGeom>
          <a:noFill/>
          <a:ln/>
        </p:spPr>
        <p:txBody>
          <a:bodyPr wrap="square" lIns="0" tIns="0" rIns="0" bIns="0" rtlCol="0" anchor="t"/>
          <a:lstStyle/>
          <a:p>
            <a:pPr algn="l" indent="0" marL="0">
              <a:lnSpc>
                <a:spcPct val="122000"/>
              </a:lnSpc>
              <a:buNone/>
            </a:pPr>
            <a:r>
              <a:rPr lang="en-US" sz="900" dirty="0">
                <a:solidFill>
                  <a:srgbClr val="1A1A1A"/>
                </a:solidFill>
                <a:latin typeface="Arial" pitchFamily="34" charset="0"/>
                <a:ea typeface="Arial" pitchFamily="34" charset="-122"/>
                <a:cs typeface="Arial" pitchFamily="34" charset="-120"/>
              </a:rPr>
              <a:t>The system is a grammar, not a set of assets. New content types are added by extending the notation according to the existing rules, not by commissioning new marks. New surfaces are built from the datum, the grid and the component. Because meaning lives in the grammar rather than in any particular drawing, the drawings can be replaced without the identity changing.</a:t>
            </a:r>
            <a:endParaRPr lang="en-US" sz="900" dirty="0"/>
          </a:p>
        </p:txBody>
      </p:sp>
      <p:pic>
        <p:nvPicPr>
          <p:cNvPr id="12" name="Image 0" descr="preencoded.png">    </p:cNvPr>
          <p:cNvPicPr>
            <a:picLocks noChangeAspect="1"/>
          </p:cNvPicPr>
          <p:nvPr/>
        </p:nvPicPr>
        <p:blipFill>
          <a:blip r:embed="rId1"/>
          <a:stretch>
            <a:fillRect/>
          </a:stretch>
        </p:blipFill>
        <p:spPr>
          <a:xfrm>
            <a:off x="566928" y="2724912"/>
            <a:ext cx="6428232" cy="1785620"/>
          </a:xfrm>
          <a:prstGeom prst="rect">
            <a:avLst/>
          </a:prstGeom>
        </p:spPr>
      </p:pic>
      <p:sp>
        <p:nvSpPr>
          <p:cNvPr id="13" name="Text 10"/>
          <p:cNvSpPr/>
          <p:nvPr/>
        </p:nvSpPr>
        <p:spPr>
          <a:xfrm>
            <a:off x="566928" y="465683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WHAT IS ALLOWED TO CHANGE, AND WHAT IS NOT</a:t>
            </a:r>
            <a:endParaRPr lang="en-US" sz="740" dirty="0"/>
          </a:p>
        </p:txBody>
      </p:sp>
      <p:sp>
        <p:nvSpPr>
          <p:cNvPr id="14" name="Shape 11"/>
          <p:cNvSpPr/>
          <p:nvPr/>
        </p:nvSpPr>
        <p:spPr>
          <a:xfrm>
            <a:off x="566928" y="4839716"/>
            <a:ext cx="6428232" cy="7315"/>
          </a:xfrm>
          <a:prstGeom prst="rect">
            <a:avLst/>
          </a:prstGeom>
          <a:solidFill>
            <a:srgbClr val="D2D2D2"/>
          </a:solidFill>
          <a:ln/>
        </p:spPr>
      </p:sp>
      <p:sp>
        <p:nvSpPr>
          <p:cNvPr id="15" name="Text 12"/>
          <p:cNvSpPr/>
          <p:nvPr/>
        </p:nvSpPr>
        <p:spPr>
          <a:xfrm>
            <a:off x="566928" y="4949444"/>
            <a:ext cx="3104388" cy="182880"/>
          </a:xfrm>
          <a:prstGeom prst="rect">
            <a:avLst/>
          </a:prstGeom>
          <a:noFill/>
          <a:ln/>
        </p:spPr>
        <p:txBody>
          <a:bodyPr wrap="square" lIns="0" tIns="0" rIns="0" bIns="0" rtlCol="0" anchor="ctr"/>
          <a:lstStyle/>
          <a:p>
            <a:pPr algn="l" indent="0" marL="0">
              <a:buNone/>
            </a:pPr>
            <a:r>
              <a:rPr lang="en-US" sz="720" b="1" spc="140" kern="0" dirty="0">
                <a:solidFill>
                  <a:srgbClr val="00261B"/>
                </a:solidFill>
                <a:latin typeface="Arial" pitchFamily="34" charset="0"/>
                <a:ea typeface="Arial" pitchFamily="34" charset="-122"/>
                <a:cs typeface="Arial" pitchFamily="34" charset="-120"/>
              </a:rPr>
              <a:t>MAY CHANGE</a:t>
            </a:r>
            <a:endParaRPr lang="en-US" sz="720" dirty="0"/>
          </a:p>
        </p:txBody>
      </p:sp>
      <p:sp>
        <p:nvSpPr>
          <p:cNvPr id="16" name="Shape 13"/>
          <p:cNvSpPr/>
          <p:nvPr/>
        </p:nvSpPr>
        <p:spPr>
          <a:xfrm>
            <a:off x="566928" y="5132324"/>
            <a:ext cx="3104388" cy="18288"/>
          </a:xfrm>
          <a:prstGeom prst="rect">
            <a:avLst/>
          </a:prstGeom>
          <a:solidFill>
            <a:srgbClr val="00261B"/>
          </a:solidFill>
          <a:ln/>
        </p:spPr>
      </p:sp>
      <p:sp>
        <p:nvSpPr>
          <p:cNvPr id="17" name="Text 14"/>
          <p:cNvSpPr/>
          <p:nvPr/>
        </p:nvSpPr>
        <p:spPr>
          <a:xfrm>
            <a:off x="566928" y="5223764"/>
            <a:ext cx="3104388" cy="1828800"/>
          </a:xfrm>
          <a:prstGeom prst="rect">
            <a:avLst/>
          </a:prstGeom>
          <a:noFill/>
          <a:ln/>
        </p:spPr>
        <p:txBody>
          <a:bodyPr wrap="square" lIns="0" tIns="0" rIns="0" bIns="0" rtlCol="0" anchor="t"/>
          <a:lstStyle/>
          <a:p>
            <a:pPr algn="l" marL="177800" indent="-177800">
              <a:lnSpc>
                <a:spcPct val="122000"/>
              </a:lnSpc>
              <a:spcAft>
                <a:spcPts val="500"/>
              </a:spcAft>
              <a:buSzPct val="100000"/>
              <a:buChar char="–"/>
            </a:pPr>
            <a:r>
              <a:rPr lang="en-US" sz="840" dirty="0">
                <a:solidFill>
                  <a:srgbClr val="1A1A1A"/>
                </a:solidFill>
                <a:latin typeface="Arial" pitchFamily="34" charset="0"/>
                <a:ea typeface="Arial" pitchFamily="34" charset="-122"/>
                <a:cs typeface="Arial" pitchFamily="34" charset="-120"/>
              </a:rPr>
              <a:t>The typeface, if NZDF changes its own. The system specifies weight relationships and measure, not a named font.</a:t>
            </a:r>
            <a:endParaRPr lang="en-US" sz="840" dirty="0"/>
          </a:p>
          <a:p>
            <a:pPr algn="l" marL="177800" indent="-177800">
              <a:lnSpc>
                <a:spcPct val="122000"/>
              </a:lnSpc>
              <a:spcAft>
                <a:spcPts val="500"/>
              </a:spcAft>
              <a:buSzPct val="100000"/>
              <a:buChar char="–"/>
            </a:pPr>
            <a:r>
              <a:rPr lang="en-US" sz="840" dirty="0">
                <a:solidFill>
                  <a:srgbClr val="1A1A1A"/>
                </a:solidFill>
                <a:latin typeface="Arial" pitchFamily="34" charset="0"/>
                <a:ea typeface="Arial" pitchFamily="34" charset="-122"/>
                <a:cs typeface="Arial" pitchFamily="34" charset="-120"/>
              </a:rPr>
              <a:t>The medium. Print, web, native application, whatever follows. The component survives the transport.</a:t>
            </a:r>
            <a:endParaRPr lang="en-US" sz="840" dirty="0"/>
          </a:p>
          <a:p>
            <a:pPr algn="l" marL="177800" indent="-177800">
              <a:lnSpc>
                <a:spcPct val="122000"/>
              </a:lnSpc>
              <a:spcAft>
                <a:spcPts val="500"/>
              </a:spcAft>
              <a:buSzPct val="100000"/>
              <a:buChar char="–"/>
            </a:pPr>
            <a:r>
              <a:rPr lang="en-US" sz="840" dirty="0">
                <a:solidFill>
                  <a:srgbClr val="1A1A1A"/>
                </a:solidFill>
                <a:latin typeface="Arial" pitchFamily="34" charset="0"/>
                <a:ea typeface="Arial" pitchFamily="34" charset="-122"/>
                <a:cs typeface="Arial" pitchFamily="34" charset="-120"/>
              </a:rPr>
              <a:t>The notation set, by extension. New marks are added when new content types genuinely appear.</a:t>
            </a:r>
            <a:endParaRPr lang="en-US" sz="840" dirty="0"/>
          </a:p>
          <a:p>
            <a:pPr algn="l" marL="177800" indent="-177800">
              <a:lnSpc>
                <a:spcPct val="122000"/>
              </a:lnSpc>
              <a:spcAft>
                <a:spcPts val="500"/>
              </a:spcAft>
              <a:buSzPct val="100000"/>
              <a:buChar char="–"/>
            </a:pPr>
            <a:r>
              <a:rPr lang="en-US" sz="840" dirty="0">
                <a:solidFill>
                  <a:srgbClr val="1A1A1A"/>
                </a:solidFill>
                <a:latin typeface="Arial" pitchFamily="34" charset="0"/>
                <a:ea typeface="Arial" pitchFamily="34" charset="-122"/>
                <a:cs typeface="Arial" pitchFamily="34" charset="-120"/>
              </a:rPr>
              <a:t>Photography, continuously. Imagery should always look like this year's Army.</a:t>
            </a:r>
            <a:endParaRPr lang="en-US" sz="840" dirty="0"/>
          </a:p>
        </p:txBody>
      </p:sp>
      <p:sp>
        <p:nvSpPr>
          <p:cNvPr id="18" name="Text 15"/>
          <p:cNvSpPr/>
          <p:nvPr/>
        </p:nvSpPr>
        <p:spPr>
          <a:xfrm>
            <a:off x="3890772" y="4949444"/>
            <a:ext cx="3104388" cy="182880"/>
          </a:xfrm>
          <a:prstGeom prst="rect">
            <a:avLst/>
          </a:prstGeom>
          <a:noFill/>
          <a:ln/>
        </p:spPr>
        <p:txBody>
          <a:bodyPr wrap="square" lIns="0" tIns="0" rIns="0" bIns="0" rtlCol="0" anchor="ctr"/>
          <a:lstStyle/>
          <a:p>
            <a:pPr algn="l" indent="0" marL="0">
              <a:buNone/>
            </a:pPr>
            <a:r>
              <a:rPr lang="en-US" sz="720" b="1" spc="140" kern="0" dirty="0">
                <a:solidFill>
                  <a:srgbClr val="D31145"/>
                </a:solidFill>
                <a:latin typeface="Arial" pitchFamily="34" charset="0"/>
                <a:ea typeface="Arial" pitchFamily="34" charset="-122"/>
                <a:cs typeface="Arial" pitchFamily="34" charset="-120"/>
              </a:rPr>
              <a:t>MUST NOT CHANGE</a:t>
            </a:r>
            <a:endParaRPr lang="en-US" sz="720" dirty="0"/>
          </a:p>
        </p:txBody>
      </p:sp>
      <p:sp>
        <p:nvSpPr>
          <p:cNvPr id="19" name="Shape 16"/>
          <p:cNvSpPr/>
          <p:nvPr/>
        </p:nvSpPr>
        <p:spPr>
          <a:xfrm>
            <a:off x="3890772" y="5132324"/>
            <a:ext cx="3104388" cy="18288"/>
          </a:xfrm>
          <a:prstGeom prst="rect">
            <a:avLst/>
          </a:prstGeom>
          <a:solidFill>
            <a:srgbClr val="D31145"/>
          </a:solidFill>
          <a:ln/>
        </p:spPr>
      </p:sp>
      <p:sp>
        <p:nvSpPr>
          <p:cNvPr id="20" name="Text 17"/>
          <p:cNvSpPr/>
          <p:nvPr/>
        </p:nvSpPr>
        <p:spPr>
          <a:xfrm>
            <a:off x="3890772" y="5223764"/>
            <a:ext cx="3104388" cy="1828800"/>
          </a:xfrm>
          <a:prstGeom prst="rect">
            <a:avLst/>
          </a:prstGeom>
          <a:noFill/>
          <a:ln/>
        </p:spPr>
        <p:txBody>
          <a:bodyPr wrap="square" lIns="0" tIns="0" rIns="0" bIns="0" rtlCol="0" anchor="t"/>
          <a:lstStyle/>
          <a:p>
            <a:pPr algn="l" marL="177800" indent="-177800">
              <a:lnSpc>
                <a:spcPct val="122000"/>
              </a:lnSpc>
              <a:spcAft>
                <a:spcPts val="500"/>
              </a:spcAft>
              <a:buSzPct val="100000"/>
              <a:buChar char="–"/>
            </a:pPr>
            <a:r>
              <a:rPr lang="en-US" sz="840" dirty="0">
                <a:solidFill>
                  <a:srgbClr val="1A1A1A"/>
                </a:solidFill>
                <a:latin typeface="Arial" pitchFamily="34" charset="0"/>
                <a:ea typeface="Arial" pitchFamily="34" charset="-122"/>
                <a:cs typeface="Arial" pitchFamily="34" charset="-120"/>
              </a:rPr>
              <a:t>The meaning of the grammar. Away from the datum is decision, permanently.</a:t>
            </a:r>
            <a:endParaRPr lang="en-US" sz="840" dirty="0"/>
          </a:p>
          <a:p>
            <a:pPr algn="l" marL="177800" indent="-177800">
              <a:lnSpc>
                <a:spcPct val="122000"/>
              </a:lnSpc>
              <a:spcAft>
                <a:spcPts val="500"/>
              </a:spcAft>
              <a:buSzPct val="100000"/>
              <a:buChar char="–"/>
            </a:pPr>
            <a:r>
              <a:rPr lang="en-US" sz="840" dirty="0">
                <a:solidFill>
                  <a:srgbClr val="1A1A1A"/>
                </a:solidFill>
                <a:latin typeface="Arial" pitchFamily="34" charset="0"/>
                <a:ea typeface="Arial" pitchFamily="34" charset="-122"/>
                <a:cs typeface="Arial" pitchFamily="34" charset="-120"/>
              </a:rPr>
              <a:t>The reservation of red for decision, action and defined threshold states, with risk otherwise identified structurally by the broken datum. This is the single constraint that keeps the system readable.</a:t>
            </a:r>
            <a:endParaRPr lang="en-US" sz="840" dirty="0"/>
          </a:p>
          <a:p>
            <a:pPr algn="l" marL="177800" indent="-177800">
              <a:lnSpc>
                <a:spcPct val="122000"/>
              </a:lnSpc>
              <a:spcAft>
                <a:spcPts val="500"/>
              </a:spcAft>
              <a:buSzPct val="100000"/>
              <a:buChar char="–"/>
            </a:pPr>
            <a:r>
              <a:rPr lang="en-US" sz="840" dirty="0">
                <a:solidFill>
                  <a:srgbClr val="1A1A1A"/>
                </a:solidFill>
                <a:latin typeface="Arial" pitchFamily="34" charset="0"/>
                <a:ea typeface="Arial" pitchFamily="34" charset="-122"/>
                <a:cs typeface="Arial" pitchFamily="34" charset="-120"/>
              </a:rPr>
              <a:t>The primacy of the Army logo, and the absence of a Combat Mindset logo.</a:t>
            </a:r>
            <a:endParaRPr lang="en-US" sz="840" dirty="0"/>
          </a:p>
          <a:p>
            <a:pPr algn="l" marL="177800" indent="-177800">
              <a:lnSpc>
                <a:spcPct val="122000"/>
              </a:lnSpc>
              <a:spcAft>
                <a:spcPts val="500"/>
              </a:spcAft>
              <a:buSzPct val="100000"/>
              <a:buChar char="–"/>
            </a:pPr>
            <a:r>
              <a:rPr lang="en-US" sz="840" dirty="0">
                <a:solidFill>
                  <a:srgbClr val="1A1A1A"/>
                </a:solidFill>
                <a:latin typeface="Arial" pitchFamily="34" charset="0"/>
                <a:ea typeface="Arial" pitchFamily="34" charset="-122"/>
                <a:cs typeface="Arial" pitchFamily="34" charset="-120"/>
              </a:rPr>
              <a:t>The requirement that every artefact survives a mono print.</a:t>
            </a:r>
            <a:endParaRPr lang="en-US" sz="840" dirty="0"/>
          </a:p>
        </p:txBody>
      </p:sp>
      <p:sp>
        <p:nvSpPr>
          <p:cNvPr id="21" name="Text 18"/>
          <p:cNvSpPr/>
          <p:nvPr/>
        </p:nvSpPr>
        <p:spPr>
          <a:xfrm>
            <a:off x="566928" y="7052564"/>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FAILURE MODE TO WATCH FOR</a:t>
            </a:r>
            <a:endParaRPr lang="en-US" sz="740" dirty="0"/>
          </a:p>
        </p:txBody>
      </p:sp>
      <p:sp>
        <p:nvSpPr>
          <p:cNvPr id="22" name="Shape 19"/>
          <p:cNvSpPr/>
          <p:nvPr/>
        </p:nvSpPr>
        <p:spPr>
          <a:xfrm>
            <a:off x="566928" y="7235444"/>
            <a:ext cx="6428232" cy="7315"/>
          </a:xfrm>
          <a:prstGeom prst="rect">
            <a:avLst/>
          </a:prstGeom>
          <a:solidFill>
            <a:srgbClr val="D2D2D2"/>
          </a:solidFill>
          <a:ln/>
        </p:spPr>
      </p:sp>
      <p:sp>
        <p:nvSpPr>
          <p:cNvPr id="23" name="Shape 20"/>
          <p:cNvSpPr/>
          <p:nvPr/>
        </p:nvSpPr>
        <p:spPr>
          <a:xfrm>
            <a:off x="566928" y="7345172"/>
            <a:ext cx="6428232" cy="841248"/>
          </a:xfrm>
          <a:prstGeom prst="rect">
            <a:avLst/>
          </a:prstGeom>
          <a:solidFill>
            <a:srgbClr val="F5F5F3"/>
          </a:solidFill>
          <a:ln/>
        </p:spPr>
      </p:sp>
      <p:sp>
        <p:nvSpPr>
          <p:cNvPr id="24" name="Text 21"/>
          <p:cNvSpPr/>
          <p:nvPr/>
        </p:nvSpPr>
        <p:spPr>
          <a:xfrm>
            <a:off x="786384" y="7473188"/>
            <a:ext cx="5989320" cy="603504"/>
          </a:xfrm>
          <a:prstGeom prst="rect">
            <a:avLst/>
          </a:prstGeom>
          <a:noFill/>
          <a:ln/>
        </p:spPr>
        <p:txBody>
          <a:bodyPr wrap="square" lIns="0" tIns="0" rIns="0" bIns="0" rtlCol="0" anchor="t"/>
          <a:lstStyle/>
          <a:p>
            <a:pPr algn="l" indent="0" marL="0">
              <a:lnSpc>
                <a:spcPct val="122000"/>
              </a:lnSpc>
              <a:buNone/>
            </a:pPr>
            <a:r>
              <a:rPr lang="en-US" sz="880" dirty="0">
                <a:solidFill>
                  <a:srgbClr val="1A1A1A"/>
                </a:solidFill>
                <a:latin typeface="Arial" pitchFamily="34" charset="0"/>
                <a:ea typeface="Arial" pitchFamily="34" charset="-122"/>
                <a:cs typeface="Arial" pitchFamily="34" charset="-120"/>
              </a:rPr>
              <a:t>Identity systems in defence do not usually die of obsolescence. They die when a capable person arrives, finds the system constraining, and improves it locally. Within three years there are four versions and the signal is gone. The defence against this is not enforcement, it is making the specification good enough, and available enough, that improvising is more work than complying.</a:t>
            </a:r>
            <a:endParaRPr lang="en-US" sz="8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5330952" cy="164592"/>
          </a:xfrm>
          <a:prstGeom prst="rect">
            <a:avLst/>
          </a:prstGeom>
          <a:noFill/>
          <a:ln/>
        </p:spPr>
        <p:txBody>
          <a:bodyPr wrap="square" lIns="0" tIns="0" rIns="0" bIns="0" rtlCol="0" anchor="ctr"/>
          <a:lstStyle/>
          <a:p>
            <a:pPr algn="l" indent="0" marL="0">
              <a:buNone/>
            </a:pPr>
            <a:r>
              <a:rPr lang="en-US" sz="700" b="1" spc="180" kern="0" dirty="0">
                <a:solidFill>
                  <a:srgbClr val="D31145"/>
                </a:solidFill>
                <a:latin typeface="Arial" pitchFamily="34" charset="0"/>
                <a:ea typeface="Arial" pitchFamily="34" charset="-122"/>
                <a:cs typeface="Arial" pitchFamily="34" charset="-120"/>
              </a:rPr>
              <a:t>GOVERNANCE</a:t>
            </a:r>
            <a:endParaRPr lang="en-US" sz="700" dirty="0"/>
          </a:p>
        </p:txBody>
      </p:sp>
      <p:sp>
        <p:nvSpPr>
          <p:cNvPr id="3" name="Text 1"/>
          <p:cNvSpPr/>
          <p:nvPr/>
        </p:nvSpPr>
        <p:spPr>
          <a:xfrm>
            <a:off x="6446520" y="384048"/>
            <a:ext cx="548640" cy="164592"/>
          </a:xfrm>
          <a:prstGeom prst="rect">
            <a:avLst/>
          </a:prstGeom>
          <a:noFill/>
          <a:ln/>
        </p:spPr>
        <p:txBody>
          <a:bodyPr wrap="square" lIns="0" tIns="0" rIns="0" bIns="0" rtlCol="0" anchor="ctr"/>
          <a:lstStyle/>
          <a:p>
            <a:pPr algn="r" indent="0" marL="0">
              <a:buNone/>
            </a:pPr>
            <a:r>
              <a:rPr lang="en-US" sz="700" b="1" dirty="0">
                <a:solidFill>
                  <a:srgbClr val="6E6E6E"/>
                </a:solidFill>
                <a:latin typeface="Arial" pitchFamily="34" charset="0"/>
                <a:ea typeface="Arial" pitchFamily="34" charset="-122"/>
                <a:cs typeface="Arial" pitchFamily="34" charset="-120"/>
              </a:rPr>
              <a:t>22</a:t>
            </a:r>
            <a:endParaRPr lang="en-US" sz="700" dirty="0"/>
          </a:p>
        </p:txBody>
      </p:sp>
      <p:sp>
        <p:nvSpPr>
          <p:cNvPr id="4" name="Shape 2"/>
          <p:cNvSpPr/>
          <p:nvPr/>
        </p:nvSpPr>
        <p:spPr>
          <a:xfrm>
            <a:off x="566928" y="585216"/>
            <a:ext cx="6428232" cy="10973"/>
          </a:xfrm>
          <a:prstGeom prst="rect">
            <a:avLst/>
          </a:prstGeom>
          <a:solidFill>
            <a:srgbClr val="1A1A1A"/>
          </a:solidFill>
          <a:ln/>
        </p:spPr>
      </p:sp>
      <p:sp>
        <p:nvSpPr>
          <p:cNvPr id="5" name="Text 3"/>
          <p:cNvSpPr/>
          <p:nvPr/>
        </p:nvSpPr>
        <p:spPr>
          <a:xfrm>
            <a:off x="566928" y="731520"/>
            <a:ext cx="6428232" cy="310896"/>
          </a:xfrm>
          <a:prstGeom prst="rect">
            <a:avLst/>
          </a:prstGeom>
          <a:noFill/>
          <a:ln/>
        </p:spPr>
        <p:txBody>
          <a:bodyPr wrap="square" lIns="0" tIns="0" rIns="0" bIns="0" rtlCol="0" anchor="ctr"/>
          <a:lstStyle/>
          <a:p>
            <a:pPr algn="l" indent="0" marL="0">
              <a:buNone/>
            </a:pPr>
            <a:r>
              <a:rPr lang="en-US" sz="1900" b="1" dirty="0">
                <a:solidFill>
                  <a:srgbClr val="1A1A1A"/>
                </a:solidFill>
                <a:latin typeface="Arial" pitchFamily="34" charset="0"/>
                <a:ea typeface="Arial" pitchFamily="34" charset="-122"/>
                <a:cs typeface="Arial" pitchFamily="34" charset="-120"/>
              </a:rPr>
              <a:t>Governance and next steps</a:t>
            </a:r>
            <a:endParaRPr lang="en-US" sz="1900" dirty="0"/>
          </a:p>
        </p:txBody>
      </p:sp>
      <p:sp>
        <p:nvSpPr>
          <p:cNvPr id="6" name="Text 4"/>
          <p:cNvSpPr/>
          <p:nvPr/>
        </p:nvSpPr>
        <p:spPr>
          <a:xfrm>
            <a:off x="566928" y="1060704"/>
            <a:ext cx="6062472" cy="384048"/>
          </a:xfrm>
          <a:prstGeom prst="rect">
            <a:avLst/>
          </a:prstGeom>
          <a:noFill/>
          <a:ln/>
        </p:spPr>
        <p:txBody>
          <a:bodyPr wrap="square" lIns="0" tIns="0" rIns="0" bIns="0" rtlCol="0" anchor="t"/>
          <a:lstStyle/>
          <a:p>
            <a:pPr algn="l" indent="0" marL="0">
              <a:lnSpc>
                <a:spcPct val="120000"/>
              </a:lnSpc>
              <a:buNone/>
            </a:pPr>
            <a:r>
              <a:rPr lang="en-US" sz="960" dirty="0">
                <a:solidFill>
                  <a:srgbClr val="6E6E6E"/>
                </a:solidFill>
                <a:latin typeface="Arial" pitchFamily="34" charset="0"/>
                <a:ea typeface="Arial" pitchFamily="34" charset="-122"/>
                <a:cs typeface="Arial" pitchFamily="34" charset="-120"/>
              </a:rPr>
              <a:t>What this document is, what it is not, and what would have to happen for it to become a standard.</a:t>
            </a:r>
            <a:endParaRPr lang="en-US" sz="960" dirty="0"/>
          </a:p>
        </p:txBody>
      </p:sp>
      <p:sp>
        <p:nvSpPr>
          <p:cNvPr id="7" name="Text 5"/>
          <p:cNvSpPr/>
          <p:nvPr/>
        </p:nvSpPr>
        <p:spPr>
          <a:xfrm>
            <a:off x="566928" y="10204704"/>
            <a:ext cx="4572000" cy="146304"/>
          </a:xfrm>
          <a:prstGeom prst="rect">
            <a:avLst/>
          </a:prstGeom>
          <a:noFill/>
          <a:ln/>
        </p:spPr>
        <p:txBody>
          <a:bodyPr wrap="square" lIns="0" tIns="0" rIns="0" bIns="0" rtlCol="0" anchor="ctr"/>
          <a:lstStyle/>
          <a:p>
            <a:pPr algn="l" indent="0" marL="0">
              <a:buNone/>
            </a:pPr>
            <a:r>
              <a:rPr lang="en-US" sz="600" spc="60" kern="0" dirty="0">
                <a:solidFill>
                  <a:srgbClr val="6E6E6E"/>
                </a:solidFill>
                <a:latin typeface="Arial" pitchFamily="34" charset="0"/>
                <a:ea typeface="Arial" pitchFamily="34" charset="-122"/>
                <a:cs typeface="Arial" pitchFamily="34" charset="-120"/>
              </a:rPr>
              <a:t>COMBAT MINDSET   VISUAL IDENTITY</a:t>
            </a:r>
            <a:endParaRPr lang="en-US" sz="600" dirty="0"/>
          </a:p>
        </p:txBody>
      </p:sp>
      <p:sp>
        <p:nvSpPr>
          <p:cNvPr id="8" name="Text 6"/>
          <p:cNvSpPr/>
          <p:nvPr/>
        </p:nvSpPr>
        <p:spPr>
          <a:xfrm>
            <a:off x="4251960" y="10204704"/>
            <a:ext cx="2743200" cy="146304"/>
          </a:xfrm>
          <a:prstGeom prst="rect">
            <a:avLst/>
          </a:prstGeom>
          <a:noFill/>
          <a:ln/>
        </p:spPr>
        <p:txBody>
          <a:bodyPr wrap="square" lIns="0" tIns="0" rIns="0" bIns="0" rtlCol="0" anchor="ctr"/>
          <a:lstStyle/>
          <a:p>
            <a:pPr algn="r" indent="0" marL="0">
              <a:buNone/>
            </a:pPr>
            <a:r>
              <a:rPr lang="en-US" sz="600" spc="90" kern="0" dirty="0">
                <a:solidFill>
                  <a:srgbClr val="6E6E6E"/>
                </a:solidFill>
                <a:latin typeface="Arial" pitchFamily="34" charset="0"/>
                <a:ea typeface="Arial" pitchFamily="34" charset="-122"/>
                <a:cs typeface="Arial" pitchFamily="34" charset="-120"/>
              </a:rPr>
              <a:t>DRAFT V0.5   |   AUGUST 2026</a:t>
            </a:r>
            <a:endParaRPr lang="en-US" sz="600" dirty="0"/>
          </a:p>
        </p:txBody>
      </p:sp>
      <p:sp>
        <p:nvSpPr>
          <p:cNvPr id="9" name="Text 7"/>
          <p:cNvSpPr/>
          <p:nvPr/>
        </p:nvSpPr>
        <p:spPr>
          <a:xfrm>
            <a:off x="566928" y="177393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STATUS OF THIS DOCUMENT</a:t>
            </a:r>
            <a:endParaRPr lang="en-US" sz="740" dirty="0"/>
          </a:p>
        </p:txBody>
      </p:sp>
      <p:sp>
        <p:nvSpPr>
          <p:cNvPr id="10" name="Shape 8"/>
          <p:cNvSpPr/>
          <p:nvPr/>
        </p:nvSpPr>
        <p:spPr>
          <a:xfrm>
            <a:off x="566928" y="1956816"/>
            <a:ext cx="6428232" cy="7315"/>
          </a:xfrm>
          <a:prstGeom prst="rect">
            <a:avLst/>
          </a:prstGeom>
          <a:solidFill>
            <a:srgbClr val="D2D2D2"/>
          </a:solidFill>
          <a:ln/>
        </p:spPr>
      </p:sp>
      <p:sp>
        <p:nvSpPr>
          <p:cNvPr id="11" name="Shape 9"/>
          <p:cNvSpPr/>
          <p:nvPr/>
        </p:nvSpPr>
        <p:spPr>
          <a:xfrm>
            <a:off x="566928" y="2066544"/>
            <a:ext cx="6428232" cy="914400"/>
          </a:xfrm>
          <a:prstGeom prst="rect">
            <a:avLst/>
          </a:prstGeom>
          <a:solidFill>
            <a:srgbClr val="1A1A1A"/>
          </a:solidFill>
          <a:ln/>
        </p:spPr>
      </p:sp>
      <p:sp>
        <p:nvSpPr>
          <p:cNvPr id="12" name="Text 10"/>
          <p:cNvSpPr/>
          <p:nvPr/>
        </p:nvSpPr>
        <p:spPr>
          <a:xfrm>
            <a:off x="841248" y="2212848"/>
            <a:ext cx="5879592" cy="256032"/>
          </a:xfrm>
          <a:prstGeom prst="rect">
            <a:avLst/>
          </a:prstGeom>
          <a:noFill/>
          <a:ln/>
        </p:spPr>
        <p:txBody>
          <a:bodyPr wrap="square" lIns="0" tIns="0" rIns="0" bIns="0" rtlCol="0" anchor="ctr"/>
          <a:lstStyle/>
          <a:p>
            <a:pPr algn="l" indent="0" marL="0">
              <a:buNone/>
            </a:pPr>
            <a:r>
              <a:rPr lang="en-US" sz="1300" b="1" dirty="0">
                <a:solidFill>
                  <a:srgbClr val="FFFFFF"/>
                </a:solidFill>
                <a:latin typeface="Arial" pitchFamily="34" charset="0"/>
                <a:ea typeface="Arial" pitchFamily="34" charset="-122"/>
                <a:cs typeface="Arial" pitchFamily="34" charset="-120"/>
              </a:rPr>
              <a:t>This is a proposal, not an approved standard.</a:t>
            </a:r>
            <a:endParaRPr lang="en-US" sz="1300" dirty="0"/>
          </a:p>
        </p:txBody>
      </p:sp>
      <p:sp>
        <p:nvSpPr>
          <p:cNvPr id="13" name="Text 11"/>
          <p:cNvSpPr/>
          <p:nvPr/>
        </p:nvSpPr>
        <p:spPr>
          <a:xfrm>
            <a:off x="841248" y="2505456"/>
            <a:ext cx="5879592" cy="402336"/>
          </a:xfrm>
          <a:prstGeom prst="rect">
            <a:avLst/>
          </a:prstGeom>
          <a:noFill/>
          <a:ln/>
        </p:spPr>
        <p:txBody>
          <a:bodyPr wrap="square" lIns="0" tIns="0" rIns="0" bIns="0" rtlCol="0" anchor="t"/>
          <a:lstStyle/>
          <a:p>
            <a:pPr algn="l" indent="0" marL="0">
              <a:lnSpc>
                <a:spcPct val="120000"/>
              </a:lnSpc>
              <a:buNone/>
            </a:pPr>
            <a:r>
              <a:rPr lang="en-US" sz="880" dirty="0">
                <a:solidFill>
                  <a:srgbClr val="C8C8C8"/>
                </a:solidFill>
                <a:latin typeface="Arial" pitchFamily="34" charset="0"/>
                <a:ea typeface="Arial" pitchFamily="34" charset="-122"/>
                <a:cs typeface="Arial" pitchFamily="34" charset="-120"/>
              </a:rPr>
              <a:t>It was developed inside ACS and NZALC against the published guidelines. It has not been reviewed by Defence Public Affairs, and no part of it should be issued as authoritative until it has been.</a:t>
            </a:r>
            <a:endParaRPr lang="en-US" sz="880" dirty="0"/>
          </a:p>
        </p:txBody>
      </p:sp>
      <p:sp>
        <p:nvSpPr>
          <p:cNvPr id="14" name="Text 12"/>
          <p:cNvSpPr/>
          <p:nvPr/>
        </p:nvSpPr>
        <p:spPr>
          <a:xfrm>
            <a:off x="566928" y="3145536"/>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SEQUENCE</a:t>
            </a:r>
            <a:endParaRPr lang="en-US" sz="740" dirty="0"/>
          </a:p>
        </p:txBody>
      </p:sp>
      <p:sp>
        <p:nvSpPr>
          <p:cNvPr id="15" name="Shape 13"/>
          <p:cNvSpPr/>
          <p:nvPr/>
        </p:nvSpPr>
        <p:spPr>
          <a:xfrm>
            <a:off x="566928" y="3328416"/>
            <a:ext cx="6428232" cy="7315"/>
          </a:xfrm>
          <a:prstGeom prst="rect">
            <a:avLst/>
          </a:prstGeom>
          <a:solidFill>
            <a:srgbClr val="D2D2D2"/>
          </a:solidFill>
          <a:ln/>
        </p:spPr>
      </p:sp>
      <p:sp>
        <p:nvSpPr>
          <p:cNvPr id="16" name="Shape 14"/>
          <p:cNvSpPr/>
          <p:nvPr/>
        </p:nvSpPr>
        <p:spPr>
          <a:xfrm>
            <a:off x="566928" y="3456432"/>
            <a:ext cx="274320" cy="274320"/>
          </a:xfrm>
          <a:prstGeom prst="ellipse">
            <a:avLst/>
          </a:prstGeom>
          <a:solidFill>
            <a:srgbClr val="D31145"/>
          </a:solidFill>
          <a:ln/>
        </p:spPr>
      </p:sp>
      <p:sp>
        <p:nvSpPr>
          <p:cNvPr id="17" name="Text 15"/>
          <p:cNvSpPr/>
          <p:nvPr/>
        </p:nvSpPr>
        <p:spPr>
          <a:xfrm>
            <a:off x="566928" y="345643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01</a:t>
            </a:r>
            <a:endParaRPr lang="en-US" sz="800" dirty="0"/>
          </a:p>
        </p:txBody>
      </p:sp>
      <p:sp>
        <p:nvSpPr>
          <p:cNvPr id="18" name="Text 16"/>
          <p:cNvSpPr/>
          <p:nvPr/>
        </p:nvSpPr>
        <p:spPr>
          <a:xfrm>
            <a:off x="969264" y="3438144"/>
            <a:ext cx="4416552" cy="20116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Internal agreement on position</a:t>
            </a:r>
            <a:endParaRPr lang="en-US" sz="1000" dirty="0"/>
          </a:p>
        </p:txBody>
      </p:sp>
      <p:sp>
        <p:nvSpPr>
          <p:cNvPr id="19" name="Text 17"/>
          <p:cNvSpPr/>
          <p:nvPr/>
        </p:nvSpPr>
        <p:spPr>
          <a:xfrm>
            <a:off x="5166360" y="3438144"/>
            <a:ext cx="1828800" cy="201168"/>
          </a:xfrm>
          <a:prstGeom prst="rect">
            <a:avLst/>
          </a:prstGeom>
          <a:noFill/>
          <a:ln/>
        </p:spPr>
        <p:txBody>
          <a:bodyPr wrap="square" lIns="0" tIns="0" rIns="0" bIns="0" rtlCol="0" anchor="ctr"/>
          <a:lstStyle/>
          <a:p>
            <a:pPr algn="r" indent="0" marL="0">
              <a:buNone/>
            </a:pPr>
            <a:r>
              <a:rPr lang="en-US" sz="740" i="1" dirty="0">
                <a:solidFill>
                  <a:srgbClr val="6E6E6E"/>
                </a:solidFill>
                <a:latin typeface="Arial" pitchFamily="34" charset="0"/>
                <a:ea typeface="Arial" pitchFamily="34" charset="-122"/>
                <a:cs typeface="Arial" pitchFamily="34" charset="-120"/>
              </a:rPr>
              <a:t>ACS, NZALC, HPC</a:t>
            </a:r>
            <a:endParaRPr lang="en-US" sz="740" dirty="0"/>
          </a:p>
        </p:txBody>
      </p:sp>
      <p:sp>
        <p:nvSpPr>
          <p:cNvPr id="20" name="Text 18"/>
          <p:cNvSpPr/>
          <p:nvPr/>
        </p:nvSpPr>
        <p:spPr>
          <a:xfrm>
            <a:off x="969264" y="3648456"/>
            <a:ext cx="5843016" cy="493776"/>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Agree that doctrine and controlled information systems are the visual precedent, without claiming doctrinal status for the framework itself. Everything else follows from this position, and no production assets or enduring templates should be issued before it is settled.</a:t>
            </a:r>
            <a:endParaRPr lang="en-US" sz="860" dirty="0"/>
          </a:p>
        </p:txBody>
      </p:sp>
      <p:sp>
        <p:nvSpPr>
          <p:cNvPr id="21" name="Shape 19"/>
          <p:cNvSpPr/>
          <p:nvPr/>
        </p:nvSpPr>
        <p:spPr>
          <a:xfrm>
            <a:off x="566928" y="4279392"/>
            <a:ext cx="274320" cy="274320"/>
          </a:xfrm>
          <a:prstGeom prst="ellipse">
            <a:avLst/>
          </a:prstGeom>
          <a:solidFill>
            <a:srgbClr val="D31145"/>
          </a:solidFill>
          <a:ln/>
        </p:spPr>
      </p:sp>
      <p:sp>
        <p:nvSpPr>
          <p:cNvPr id="22" name="Text 20"/>
          <p:cNvSpPr/>
          <p:nvPr/>
        </p:nvSpPr>
        <p:spPr>
          <a:xfrm>
            <a:off x="566928" y="427939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02</a:t>
            </a:r>
            <a:endParaRPr lang="en-US" sz="800" dirty="0"/>
          </a:p>
        </p:txBody>
      </p:sp>
      <p:sp>
        <p:nvSpPr>
          <p:cNvPr id="23" name="Text 21"/>
          <p:cNvSpPr/>
          <p:nvPr/>
        </p:nvSpPr>
        <p:spPr>
          <a:xfrm>
            <a:off x="969264" y="4261104"/>
            <a:ext cx="4416552" cy="20116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Review by Defence Public Affairs</a:t>
            </a:r>
            <a:endParaRPr lang="en-US" sz="1000" dirty="0"/>
          </a:p>
        </p:txBody>
      </p:sp>
      <p:sp>
        <p:nvSpPr>
          <p:cNvPr id="24" name="Text 22"/>
          <p:cNvSpPr/>
          <p:nvPr/>
        </p:nvSpPr>
        <p:spPr>
          <a:xfrm>
            <a:off x="5166360" y="4261104"/>
            <a:ext cx="1828800" cy="201168"/>
          </a:xfrm>
          <a:prstGeom prst="rect">
            <a:avLst/>
          </a:prstGeom>
          <a:noFill/>
          <a:ln/>
        </p:spPr>
        <p:txBody>
          <a:bodyPr wrap="square" lIns="0" tIns="0" rIns="0" bIns="0" rtlCol="0" anchor="ctr"/>
          <a:lstStyle/>
          <a:p>
            <a:pPr algn="r" indent="0" marL="0">
              <a:buNone/>
            </a:pPr>
            <a:r>
              <a:rPr lang="en-US" sz="740" i="1" dirty="0">
                <a:solidFill>
                  <a:srgbClr val="6E6E6E"/>
                </a:solidFill>
                <a:latin typeface="Arial" pitchFamily="34" charset="0"/>
                <a:ea typeface="Arial" pitchFamily="34" charset="-122"/>
                <a:cs typeface="Arial" pitchFamily="34" charset="-120"/>
              </a:rPr>
              <a:t>Head of Visual Identity and Design</a:t>
            </a:r>
            <a:endParaRPr lang="en-US" sz="740" dirty="0"/>
          </a:p>
        </p:txBody>
      </p:sp>
      <p:sp>
        <p:nvSpPr>
          <p:cNvPr id="25" name="Text 23"/>
          <p:cNvSpPr/>
          <p:nvPr/>
        </p:nvSpPr>
        <p:spPr>
          <a:xfrm>
            <a:off x="969264" y="4471416"/>
            <a:ext cx="5843016" cy="493776"/>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Put the position and the specification to DPA. Expect challenge on the title treatment, the notation family, and the derivation of the field from the Army chevron pattern. Obtain the vector Army logo at the same time.</a:t>
            </a:r>
            <a:endParaRPr lang="en-US" sz="860" dirty="0"/>
          </a:p>
        </p:txBody>
      </p:sp>
      <p:sp>
        <p:nvSpPr>
          <p:cNvPr id="26" name="Shape 24"/>
          <p:cNvSpPr/>
          <p:nvPr/>
        </p:nvSpPr>
        <p:spPr>
          <a:xfrm>
            <a:off x="566928" y="5102352"/>
            <a:ext cx="274320" cy="274320"/>
          </a:xfrm>
          <a:prstGeom prst="ellipse">
            <a:avLst/>
          </a:prstGeom>
          <a:solidFill>
            <a:srgbClr val="D31145"/>
          </a:solidFill>
          <a:ln/>
        </p:spPr>
      </p:sp>
      <p:sp>
        <p:nvSpPr>
          <p:cNvPr id="27" name="Text 25"/>
          <p:cNvSpPr/>
          <p:nvPr/>
        </p:nvSpPr>
        <p:spPr>
          <a:xfrm>
            <a:off x="566928" y="510235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03</a:t>
            </a:r>
            <a:endParaRPr lang="en-US" sz="800" dirty="0"/>
          </a:p>
        </p:txBody>
      </p:sp>
      <p:sp>
        <p:nvSpPr>
          <p:cNvPr id="28" name="Text 26"/>
          <p:cNvSpPr/>
          <p:nvPr/>
        </p:nvSpPr>
        <p:spPr>
          <a:xfrm>
            <a:off x="969264" y="5084064"/>
            <a:ext cx="4416552" cy="20116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Specification written</a:t>
            </a:r>
            <a:endParaRPr lang="en-US" sz="1000" dirty="0"/>
          </a:p>
        </p:txBody>
      </p:sp>
      <p:sp>
        <p:nvSpPr>
          <p:cNvPr id="29" name="Text 27"/>
          <p:cNvSpPr/>
          <p:nvPr/>
        </p:nvSpPr>
        <p:spPr>
          <a:xfrm>
            <a:off x="5166360" y="5084064"/>
            <a:ext cx="1828800" cy="201168"/>
          </a:xfrm>
          <a:prstGeom prst="rect">
            <a:avLst/>
          </a:prstGeom>
          <a:noFill/>
          <a:ln/>
        </p:spPr>
        <p:txBody>
          <a:bodyPr wrap="square" lIns="0" tIns="0" rIns="0" bIns="0" rtlCol="0" anchor="ctr"/>
          <a:lstStyle/>
          <a:p>
            <a:pPr algn="r" indent="0" marL="0">
              <a:buNone/>
            </a:pPr>
            <a:r>
              <a:rPr lang="en-US" sz="740" i="1" dirty="0">
                <a:solidFill>
                  <a:srgbClr val="6E6E6E"/>
                </a:solidFill>
                <a:latin typeface="Arial" pitchFamily="34" charset="0"/>
                <a:ea typeface="Arial" pitchFamily="34" charset="-122"/>
                <a:cs typeface="Arial" pitchFamily="34" charset="-120"/>
              </a:rPr>
              <a:t>ACS with a design agency</a:t>
            </a:r>
            <a:endParaRPr lang="en-US" sz="740" dirty="0"/>
          </a:p>
        </p:txBody>
      </p:sp>
      <p:sp>
        <p:nvSpPr>
          <p:cNvPr id="30" name="Text 28"/>
          <p:cNvSpPr/>
          <p:nvPr/>
        </p:nvSpPr>
        <p:spPr>
          <a:xfrm>
            <a:off x="969264" y="5294376"/>
            <a:ext cx="5843016" cy="493776"/>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Convert this document into a written standard with measurable rules, plus the asset set: notation SVGs, colour tokens, component markup, templates.</a:t>
            </a:r>
            <a:endParaRPr lang="en-US" sz="860" dirty="0"/>
          </a:p>
        </p:txBody>
      </p:sp>
      <p:sp>
        <p:nvSpPr>
          <p:cNvPr id="31" name="Shape 29"/>
          <p:cNvSpPr/>
          <p:nvPr/>
        </p:nvSpPr>
        <p:spPr>
          <a:xfrm>
            <a:off x="566928" y="5925312"/>
            <a:ext cx="274320" cy="274320"/>
          </a:xfrm>
          <a:prstGeom prst="ellipse">
            <a:avLst/>
          </a:prstGeom>
          <a:solidFill>
            <a:srgbClr val="D31145"/>
          </a:solidFill>
          <a:ln/>
        </p:spPr>
      </p:sp>
      <p:sp>
        <p:nvSpPr>
          <p:cNvPr id="32" name="Text 30"/>
          <p:cNvSpPr/>
          <p:nvPr/>
        </p:nvSpPr>
        <p:spPr>
          <a:xfrm>
            <a:off x="566928" y="592531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04</a:t>
            </a:r>
            <a:endParaRPr lang="en-US" sz="800" dirty="0"/>
          </a:p>
        </p:txBody>
      </p:sp>
      <p:sp>
        <p:nvSpPr>
          <p:cNvPr id="33" name="Text 31"/>
          <p:cNvSpPr/>
          <p:nvPr/>
        </p:nvSpPr>
        <p:spPr>
          <a:xfrm>
            <a:off x="969264" y="5907024"/>
            <a:ext cx="4416552" cy="20116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Pilot on real products</a:t>
            </a:r>
            <a:endParaRPr lang="en-US" sz="1000" dirty="0"/>
          </a:p>
        </p:txBody>
      </p:sp>
      <p:sp>
        <p:nvSpPr>
          <p:cNvPr id="34" name="Text 32"/>
          <p:cNvSpPr/>
          <p:nvPr/>
        </p:nvSpPr>
        <p:spPr>
          <a:xfrm>
            <a:off x="5166360" y="5907024"/>
            <a:ext cx="1828800" cy="201168"/>
          </a:xfrm>
          <a:prstGeom prst="rect">
            <a:avLst/>
          </a:prstGeom>
          <a:noFill/>
          <a:ln/>
        </p:spPr>
        <p:txBody>
          <a:bodyPr wrap="square" lIns="0" tIns="0" rIns="0" bIns="0" rtlCol="0" anchor="ctr"/>
          <a:lstStyle/>
          <a:p>
            <a:pPr algn="r" indent="0" marL="0">
              <a:buNone/>
            </a:pPr>
            <a:r>
              <a:rPr lang="en-US" sz="740" i="1" dirty="0">
                <a:solidFill>
                  <a:srgbClr val="6E6E6E"/>
                </a:solidFill>
                <a:latin typeface="Arial" pitchFamily="34" charset="0"/>
                <a:ea typeface="Arial" pitchFamily="34" charset="-122"/>
                <a:cs typeface="Arial" pitchFamily="34" charset="-120"/>
              </a:rPr>
              <a:t>The framework proposal and ELDA material</a:t>
            </a:r>
            <a:endParaRPr lang="en-US" sz="740" dirty="0"/>
          </a:p>
        </p:txBody>
      </p:sp>
      <p:sp>
        <p:nvSpPr>
          <p:cNvPr id="35" name="Text 33"/>
          <p:cNvSpPr/>
          <p:nvPr/>
        </p:nvSpPr>
        <p:spPr>
          <a:xfrm>
            <a:off x="969264" y="6117336"/>
            <a:ext cx="5843016" cy="493776"/>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Apply it to two live products before issuing it. A system that has never been used is a system that has never been tested.</a:t>
            </a:r>
            <a:endParaRPr lang="en-US" sz="860" dirty="0"/>
          </a:p>
        </p:txBody>
      </p:sp>
      <p:sp>
        <p:nvSpPr>
          <p:cNvPr id="36" name="Shape 34"/>
          <p:cNvSpPr/>
          <p:nvPr/>
        </p:nvSpPr>
        <p:spPr>
          <a:xfrm>
            <a:off x="566928" y="6748272"/>
            <a:ext cx="274320" cy="274320"/>
          </a:xfrm>
          <a:prstGeom prst="ellipse">
            <a:avLst/>
          </a:prstGeom>
          <a:solidFill>
            <a:srgbClr val="D31145"/>
          </a:solidFill>
          <a:ln/>
        </p:spPr>
      </p:sp>
      <p:sp>
        <p:nvSpPr>
          <p:cNvPr id="37" name="Text 35"/>
          <p:cNvSpPr/>
          <p:nvPr/>
        </p:nvSpPr>
        <p:spPr>
          <a:xfrm>
            <a:off x="566928" y="6748272"/>
            <a:ext cx="274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05</a:t>
            </a:r>
            <a:endParaRPr lang="en-US" sz="800" dirty="0"/>
          </a:p>
        </p:txBody>
      </p:sp>
      <p:sp>
        <p:nvSpPr>
          <p:cNvPr id="38" name="Text 36"/>
          <p:cNvSpPr/>
          <p:nvPr/>
        </p:nvSpPr>
        <p:spPr>
          <a:xfrm>
            <a:off x="969264" y="6729984"/>
            <a:ext cx="4416552" cy="201168"/>
          </a:xfrm>
          <a:prstGeom prst="rect">
            <a:avLst/>
          </a:prstGeom>
          <a:noFill/>
          <a:ln/>
        </p:spPr>
        <p:txBody>
          <a:bodyPr wrap="square" lIns="0" tIns="0" rIns="0" bIns="0" rtlCol="0" anchor="ctr"/>
          <a:lstStyle/>
          <a:p>
            <a:pPr algn="l" indent="0" marL="0">
              <a:buNone/>
            </a:pPr>
            <a:r>
              <a:rPr lang="en-US" sz="1000" b="1" dirty="0">
                <a:solidFill>
                  <a:srgbClr val="1A1A1A"/>
                </a:solidFill>
                <a:latin typeface="Arial" pitchFamily="34" charset="0"/>
                <a:ea typeface="Arial" pitchFamily="34" charset="-122"/>
                <a:cs typeface="Arial" pitchFamily="34" charset="-120"/>
              </a:rPr>
              <a:t>Issue and version</a:t>
            </a:r>
            <a:endParaRPr lang="en-US" sz="1000" dirty="0"/>
          </a:p>
        </p:txBody>
      </p:sp>
      <p:sp>
        <p:nvSpPr>
          <p:cNvPr id="39" name="Text 37"/>
          <p:cNvSpPr/>
          <p:nvPr/>
        </p:nvSpPr>
        <p:spPr>
          <a:xfrm>
            <a:off x="5166360" y="6729984"/>
            <a:ext cx="1828800" cy="201168"/>
          </a:xfrm>
          <a:prstGeom prst="rect">
            <a:avLst/>
          </a:prstGeom>
          <a:noFill/>
          <a:ln/>
        </p:spPr>
        <p:txBody>
          <a:bodyPr wrap="square" lIns="0" tIns="0" rIns="0" bIns="0" rtlCol="0" anchor="ctr"/>
          <a:lstStyle/>
          <a:p>
            <a:pPr algn="r" indent="0" marL="0">
              <a:buNone/>
            </a:pPr>
            <a:r>
              <a:rPr lang="en-US" sz="740" i="1" dirty="0">
                <a:solidFill>
                  <a:srgbClr val="6E6E6E"/>
                </a:solidFill>
                <a:latin typeface="Arial" pitchFamily="34" charset="0"/>
                <a:ea typeface="Arial" pitchFamily="34" charset="-122"/>
                <a:cs typeface="Arial" pitchFamily="34" charset="-120"/>
              </a:rPr>
              <a:t>NZALC as custodian</a:t>
            </a:r>
            <a:endParaRPr lang="en-US" sz="740" dirty="0"/>
          </a:p>
        </p:txBody>
      </p:sp>
      <p:sp>
        <p:nvSpPr>
          <p:cNvPr id="40" name="Text 38"/>
          <p:cNvSpPr/>
          <p:nvPr/>
        </p:nvSpPr>
        <p:spPr>
          <a:xfrm>
            <a:off x="969264" y="6940296"/>
            <a:ext cx="5843016" cy="493776"/>
          </a:xfrm>
          <a:prstGeom prst="rect">
            <a:avLst/>
          </a:prstGeom>
          <a:noFill/>
          <a:ln/>
        </p:spPr>
        <p:txBody>
          <a:bodyPr wrap="square" lIns="0" tIns="0" rIns="0" bIns="0" rtlCol="0" anchor="t"/>
          <a:lstStyle/>
          <a:p>
            <a:pPr algn="l" indent="0" marL="0">
              <a:lnSpc>
                <a:spcPct val="122000"/>
              </a:lnSpc>
              <a:buNone/>
            </a:pPr>
            <a:r>
              <a:rPr lang="en-US" sz="860" dirty="0">
                <a:solidFill>
                  <a:srgbClr val="3E3E3E"/>
                </a:solidFill>
                <a:latin typeface="Arial" pitchFamily="34" charset="0"/>
                <a:ea typeface="Arial" pitchFamily="34" charset="-122"/>
                <a:cs typeface="Arial" pitchFamily="34" charset="-120"/>
              </a:rPr>
              <a:t>Publish under a validated identifier with a version number and a named owner. Review annually, extend by amendment, and resist redesign.</a:t>
            </a:r>
            <a:endParaRPr lang="en-US" sz="860" dirty="0"/>
          </a:p>
        </p:txBody>
      </p:sp>
      <p:sp>
        <p:nvSpPr>
          <p:cNvPr id="41" name="Text 39"/>
          <p:cNvSpPr/>
          <p:nvPr/>
        </p:nvSpPr>
        <p:spPr>
          <a:xfrm>
            <a:off x="566928" y="7516368"/>
            <a:ext cx="6428232" cy="182880"/>
          </a:xfrm>
          <a:prstGeom prst="rect">
            <a:avLst/>
          </a:prstGeom>
          <a:noFill/>
          <a:ln/>
        </p:spPr>
        <p:txBody>
          <a:bodyPr wrap="square" lIns="0" tIns="0" rIns="0" bIns="0" rtlCol="0" anchor="ctr"/>
          <a:lstStyle/>
          <a:p>
            <a:pPr algn="l" indent="0" marL="0">
              <a:buNone/>
            </a:pPr>
            <a:r>
              <a:rPr lang="en-US" sz="740" b="1" spc="120" kern="0" dirty="0">
                <a:solidFill>
                  <a:srgbClr val="1A1A1A"/>
                </a:solidFill>
                <a:latin typeface="Arial" pitchFamily="34" charset="0"/>
                <a:ea typeface="Arial" pitchFamily="34" charset="-122"/>
                <a:cs typeface="Arial" pitchFamily="34" charset="-120"/>
              </a:rPr>
              <a:t>THE TEST TO APPLY IN TEN YEARS</a:t>
            </a:r>
            <a:endParaRPr lang="en-US" sz="740" dirty="0"/>
          </a:p>
        </p:txBody>
      </p:sp>
      <p:sp>
        <p:nvSpPr>
          <p:cNvPr id="42" name="Shape 40"/>
          <p:cNvSpPr/>
          <p:nvPr/>
        </p:nvSpPr>
        <p:spPr>
          <a:xfrm>
            <a:off x="566928" y="7699248"/>
            <a:ext cx="6428232" cy="7315"/>
          </a:xfrm>
          <a:prstGeom prst="rect">
            <a:avLst/>
          </a:prstGeom>
          <a:solidFill>
            <a:srgbClr val="D2D2D2"/>
          </a:solidFill>
          <a:ln/>
        </p:spPr>
      </p:sp>
      <p:sp>
        <p:nvSpPr>
          <p:cNvPr id="43" name="Shape 41"/>
          <p:cNvSpPr/>
          <p:nvPr/>
        </p:nvSpPr>
        <p:spPr>
          <a:xfrm>
            <a:off x="566928" y="7808976"/>
            <a:ext cx="6428232" cy="1060704"/>
          </a:xfrm>
          <a:prstGeom prst="rect">
            <a:avLst/>
          </a:prstGeom>
          <a:solidFill>
            <a:srgbClr val="F5F5F3"/>
          </a:solidFill>
          <a:ln/>
        </p:spPr>
      </p:sp>
      <p:sp>
        <p:nvSpPr>
          <p:cNvPr id="44" name="Shape 42"/>
          <p:cNvSpPr/>
          <p:nvPr/>
        </p:nvSpPr>
        <p:spPr>
          <a:xfrm>
            <a:off x="566928" y="7808976"/>
            <a:ext cx="45720" cy="1060704"/>
          </a:xfrm>
          <a:prstGeom prst="rect">
            <a:avLst/>
          </a:prstGeom>
          <a:solidFill>
            <a:srgbClr val="D31145"/>
          </a:solidFill>
          <a:ln/>
        </p:spPr>
      </p:sp>
      <p:sp>
        <p:nvSpPr>
          <p:cNvPr id="45" name="Text 43"/>
          <p:cNvSpPr/>
          <p:nvPr/>
        </p:nvSpPr>
        <p:spPr>
          <a:xfrm>
            <a:off x="841248" y="7973568"/>
            <a:ext cx="5879592" cy="731520"/>
          </a:xfrm>
          <a:prstGeom prst="rect">
            <a:avLst/>
          </a:prstGeom>
          <a:noFill/>
          <a:ln/>
        </p:spPr>
        <p:txBody>
          <a:bodyPr wrap="square" lIns="0" tIns="0" rIns="0" bIns="0" rtlCol="0" anchor="t"/>
          <a:lstStyle/>
          <a:p>
            <a:pPr algn="l" indent="0" marL="0">
              <a:lnSpc>
                <a:spcPct val="128000"/>
              </a:lnSpc>
              <a:buNone/>
            </a:pPr>
            <a:r>
              <a:rPr lang="en-US" sz="1060" b="1" dirty="0">
                <a:solidFill>
                  <a:srgbClr val="1A1A1A"/>
                </a:solidFill>
                <a:latin typeface="Arial" pitchFamily="34" charset="0"/>
                <a:ea typeface="Arial" pitchFamily="34" charset="-122"/>
                <a:cs typeface="Arial" pitchFamily="34" charset="-120"/>
              </a:rPr>
              <a:t>Open two Combat Mindset products made a decade apart, by different people, in different</a:t>
            </a:r>
            <a:endParaRPr lang="en-US" sz="1060" dirty="0"/>
          </a:p>
          <a:p>
            <a:pPr algn="l" indent="0" marL="0">
              <a:lnSpc>
                <a:spcPct val="128000"/>
              </a:lnSpc>
              <a:buNone/>
            </a:pPr>
            <a:r>
              <a:rPr lang="en-US" sz="1060" b="1" dirty="0">
                <a:solidFill>
                  <a:srgbClr val="1A1A1A"/>
                </a:solidFill>
                <a:latin typeface="Arial" pitchFamily="34" charset="0"/>
                <a:ea typeface="Arial" pitchFamily="34" charset="-122"/>
                <a:cs typeface="Arial" pitchFamily="34" charset="-120"/>
              </a:rPr>
              <a:t>media. If they are recognisably the same system, and neither looks like it is trying to</a:t>
            </a:r>
            <a:endParaRPr lang="en-US" sz="1060" dirty="0"/>
          </a:p>
          <a:p>
            <a:pPr algn="l" indent="0" marL="0">
              <a:lnSpc>
                <a:spcPct val="128000"/>
              </a:lnSpc>
              <a:buNone/>
            </a:pPr>
            <a:r>
              <a:rPr lang="en-US" sz="1060" b="1" dirty="0">
                <a:solidFill>
                  <a:srgbClr val="1A1A1A"/>
                </a:solidFill>
                <a:latin typeface="Arial" pitchFamily="34" charset="0"/>
                <a:ea typeface="Arial" pitchFamily="34" charset="-122"/>
                <a:cs typeface="Arial" pitchFamily="34" charset="-120"/>
              </a:rPr>
              <a:t>persuade anyone of anything, the identity has done its work.</a:t>
            </a:r>
            <a:endParaRPr lang="en-US" sz="10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Army Command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NZ Army Combat Mindset Visual Identity System</dc:title>
  <dc:subject>Subordinate identity system for an Army capability framework</dc:subject>
  <dc:creator>PptxGenJS</dc:creator>
  <cp:lastModifiedBy>PptxGenJS</cp:lastModifiedBy>
  <cp:revision>1</cp:revision>
  <dcterms:created xsi:type="dcterms:W3CDTF">2026-08-06T04:22:09Z</dcterms:created>
  <dcterms:modified xsi:type="dcterms:W3CDTF">2026-08-06T04:22:09Z</dcterms:modified>
</cp:coreProperties>
</file>