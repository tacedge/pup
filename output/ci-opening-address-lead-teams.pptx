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71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94" d="100"/>
          <a:sy n="194" d="100"/>
        </p:scale>
        <p:origin x="329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D846F8-E23D-E940-A1EB-C39B138BDC15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037862-EED1-A945-B61D-0991E36147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233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Relationship Id="rId5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31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lide_photos/title_coll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0"/>
            <a:ext cx="4732020" cy="5143500"/>
          </a:xfrm>
          <a:prstGeom prst="rect">
            <a:avLst/>
          </a:prstGeom>
        </p:spPr>
      </p:pic>
      <p:pic>
        <p:nvPicPr>
          <p:cNvPr id="3" name="Image 1" descr="NZ Army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86177"/>
            <a:ext cx="1828800" cy="41753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7830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</a:t>
            </a:r>
            <a:endParaRPr lang="en-US" sz="6400" dirty="0"/>
          </a:p>
        </p:txBody>
      </p:sp>
      <p:sp>
        <p:nvSpPr>
          <p:cNvPr id="5" name="Text 1"/>
          <p:cNvSpPr/>
          <p:nvPr/>
        </p:nvSpPr>
        <p:spPr>
          <a:xfrm>
            <a:off x="457200" y="26974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Teams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57200" y="41605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Self.</a:t>
            </a:r>
            <a:r>
              <a:rPr lang="en-AU" sz="1200" i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Teams.</a:t>
            </a:r>
            <a:r>
              <a:rPr lang="en-AU" sz="1200" i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the Mission.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48646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90" name="Text 90"/>
          <p:cNvSpPr/>
          <p:nvPr/>
        </p:nvSpPr>
        <p:spPr>
          <a:xfrm>
            <a:off x="457200" y="731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UNCLASSIFIED</a:t>
            </a:r>
          </a:p>
        </p:txBody>
      </p:sp>
    </p:spTree>
    <p:extLst>
      <p:ext uri="{BB962C8B-B14F-4D97-AF65-F5344CB8AC3E}">
        <p14:creationId xmlns:p14="http://schemas.microsoft.com/office/powerpoint/2010/main" val="2789673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 Vision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support, educate and enable NZ Army Commanders.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maximise individual potential, so they succeed in garrison and win on operations.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1371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COURAGE     COMMITMENT     COMRADESHIP     INTEGRITY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Transition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SELF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160520" y="155448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029200" y="15544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TEAMS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significant shift in your career.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3108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no longer responsible only for your own standards. You are responsible for the standards, performance and welfare of others: under pressure, in the field, and in garrison.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kern="0" spc="2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course is built around that transition.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132320" y="1655064"/>
            <a:ext cx="1554480" cy="45720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903720" y="1700784"/>
            <a:ext cx="20116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EDC7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FOCUS</a:t>
            </a:r>
          </a:p>
        </p:txBody>
      </p:sp>
      <p:sp>
        <p:nvSpPr>
          <p:cNvPr id="50" name="Text 50"/>
          <p:cNvSpPr/>
          <p:nvPr/>
        </p:nvSpPr>
        <p:spPr>
          <a:xfrm>
            <a:off x="6903720" y="1883664"/>
            <a:ext cx="20116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FOCUS</a:t>
            </a:r>
          </a:p>
        </p:txBody>
      </p:sp>
      <p:sp>
        <p:nvSpPr>
          <p:cNvPr id="20" name="Shape 18"/>
          <p:cNvSpPr/>
          <p:nvPr/>
        </p:nvSpPr>
        <p:spPr>
          <a:xfrm>
            <a:off x="457200" y="2852928"/>
            <a:ext cx="1554480" cy="45720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28600" y="2898648"/>
            <a:ext cx="20116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EDC7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FOCUS</a:t>
            </a:r>
          </a:p>
        </p:txBody>
      </p:sp>
      <p:sp>
        <p:nvSpPr>
          <p:cNvPr id="51" name="Text 51"/>
          <p:cNvSpPr/>
          <p:nvPr/>
        </p:nvSpPr>
        <p:spPr>
          <a:xfrm>
            <a:off x="228600" y="3081528"/>
            <a:ext cx="20116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INFLUENCE OTHERS</a:t>
            </a:r>
          </a:p>
        </p:txBody>
      </p:sp>
      <p:sp>
        <p:nvSpPr>
          <p:cNvPr id="31" name="Text 29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C723F6-6CE7-860F-D213-D7A531F92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0582" y="1127419"/>
            <a:ext cx="5102836" cy="35607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Two Weeks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931920" cy="27432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931920" cy="73152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057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Teams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2514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 – Sat</a:t>
            </a:r>
            <a:endParaRPr lang="en-US" sz="1200" dirty="0"/>
          </a:p>
        </p:txBody>
      </p:sp>
      <p:sp>
        <p:nvSpPr>
          <p:cNvPr id="9" name="Text 8"/>
          <p:cNvSpPr/>
          <p:nvPr/>
        </p:nvSpPr>
        <p:spPr>
          <a:xfrm>
            <a:off x="822960" y="2971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Performance under pressure. </a:t>
            </a:r>
            <a:r>
              <a:rPr lang="en-US" sz="1400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You experience and practise leadership under physical and mental pressure.</a:t>
            </a:r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7432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1554480"/>
            <a:ext cx="3931920" cy="7315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120640" y="1783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120640" y="2057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LDS Lead Teams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120640" y="2514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 – Fri</a:t>
            </a:r>
            <a:endParaRPr lang="en-US" sz="1200" dirty="0"/>
          </a:p>
        </p:txBody>
      </p:sp>
      <p:sp>
        <p:nvSpPr>
          <p:cNvPr id="15" name="Text 14"/>
          <p:cNvSpPr/>
          <p:nvPr/>
        </p:nvSpPr>
        <p:spPr>
          <a:xfrm>
            <a:off x="5120640" y="2971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Self-awareness and leadership development. </a:t>
            </a:r>
            <a:r>
              <a:rPr lang="en-US" sz="1400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You process, understand and integrate what you have experienced into your development as leaders.</a:t>
            </a:r>
          </a:p>
        </p:txBody>
      </p:sp>
      <p:sp>
        <p:nvSpPr>
          <p:cNvPr id="16" name="Text 1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EXPERIENCE</a:t>
            </a:r>
            <a:r>
              <a:rPr lang="en-US" sz="10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→   </a:t>
            </a:r>
            <a:r>
              <a:rPr lang="en-US" sz="1000" b="1" kern="0" spc="2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REFLECT &amp; UNDERSTAND</a:t>
            </a:r>
            <a:r>
              <a:rPr lang="en-US" sz="10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→   </a:t>
            </a:r>
            <a:r>
              <a:rPr lang="en-US" sz="1000" b="1" kern="0" spc="2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DEVELOP</a:t>
            </a:r>
          </a:p>
        </p:txBody>
      </p:sp>
      <p:sp>
        <p:nvSpPr>
          <p:cNvPr id="18" name="Text 16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60" name="Text 60"/>
          <p:cNvSpPr/>
          <p:nvPr/>
        </p:nvSpPr>
        <p:spPr>
          <a:xfrm>
            <a:off x="4389120" y="27889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→</a:t>
            </a:r>
          </a:p>
        </p:txBody>
      </p:sp>
      <p:sp>
        <p:nvSpPr>
          <p:cNvPr id="61" name="Shape 61"/>
          <p:cNvSpPr/>
          <p:nvPr/>
        </p:nvSpPr>
        <p:spPr>
          <a:xfrm>
            <a:off x="3246120" y="1805940"/>
            <a:ext cx="1005840" cy="22860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2"/>
          <p:cNvSpPr/>
          <p:nvPr/>
        </p:nvSpPr>
        <p:spPr>
          <a:xfrm>
            <a:off x="3246120" y="18059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THIS WEEK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Domain Model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domains of leadership competency.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19659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INTRAPERSONAL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965960" cy="9144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behave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Self-control &amp; resilience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0" y="1691640"/>
            <a:ext cx="19659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06040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INTERPERSONAL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0" y="2148840"/>
            <a:ext cx="1965960" cy="9144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651760" y="21945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relate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9748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sustain relationships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1691640"/>
            <a:ext cx="19659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09160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148840"/>
            <a:ext cx="1965960" cy="9144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54880" y="21945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lead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individuals &amp; teams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766560" y="1691640"/>
            <a:ext cx="19659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12280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66560" y="2148840"/>
            <a:ext cx="1965960" cy="9144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858000" y="21945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think &amp; plan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0372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Knowledge, management &amp; decision-making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COURSE COVERS WHICH DOMAINS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721608"/>
            <a:ext cx="4069080" cy="219456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94360" y="3721608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Teams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4032504"/>
            <a:ext cx="6172200" cy="21945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94360" y="4032504"/>
            <a:ext cx="5897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LDS Lead Teams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343400"/>
            <a:ext cx="8229600" cy="219456"/>
          </a:xfrm>
          <a:prstGeom prst="rect">
            <a:avLst/>
          </a:prstGeom>
          <a:solidFill>
            <a:srgbClr val="808080"/>
          </a:solidFill>
          <a:ln w="12700">
            <a:solidFill>
              <a:srgbClr val="808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94360" y="4343400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JNCO Course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ELDA Means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777240" cy="59436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417320" y="15270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Experiential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17320" y="1874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learn by doing.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21992"/>
            <a:ext cx="777240" cy="59436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221992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1417320" y="2240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17320" y="25877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pressure, with consequences.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935224"/>
            <a:ext cx="777240" cy="59436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2935224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417320" y="29535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417320" y="330098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Growth, not assessment.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648456"/>
            <a:ext cx="777240" cy="59436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648456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1417320" y="366674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417320" y="40142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tough country, on your feet.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enhance individual performance and resilience through small team leadership in a physically and mentally challenging environment.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i="1" kern="0" spc="2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not testing you. We are developing you.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i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exposes leadership.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is to minimise the adverse effects of pressure on tasks and relationships: yours, and your team's.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Resilient leaders carry less risk. Resilient teams sustain output, morale and performance when others fall away.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463040"/>
            <a:ext cx="1554480" cy="1554480"/>
          </a:xfrm>
          <a:prstGeom prst="ellipse">
            <a:avLst/>
          </a:prstGeom>
          <a:solidFill>
            <a:srgbClr val="B8252F">
              <a:alpha val="65000"/>
            </a:srgbClr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669280" y="2377440"/>
            <a:ext cx="1554480" cy="1554480"/>
          </a:xfrm>
          <a:prstGeom prst="ellipse">
            <a:avLst/>
          </a:prstGeom>
          <a:solidFill>
            <a:srgbClr val="1A1A1A">
              <a:alpha val="50000"/>
            </a:srgbClr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75120" y="2377440"/>
            <a:ext cx="1554480" cy="1554480"/>
          </a:xfrm>
          <a:prstGeom prst="ellipse">
            <a:avLst/>
          </a:prstGeom>
          <a:solidFill>
            <a:srgbClr val="1A1A1A">
              <a:alpha val="80000"/>
            </a:srgbClr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0" y="15819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3383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95160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job: keep all three in play, especially when pressure is 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Prepare.  Perform.  Recover.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week you will understand and demonstrate how your actions and words can help, or hinder, team performance under pressure.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697480" cy="219456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2697480" cy="502920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417320" cy="1371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3383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a performance mindset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91840" y="2103120"/>
            <a:ext cx="2697480" cy="219456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697480" cy="5029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83280" y="21031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83280" y="2788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– 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931920" y="3200400"/>
            <a:ext cx="1417320" cy="1371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74720" y="3383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Conduct the activity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103120"/>
            <a:ext cx="2697480" cy="219456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126480" y="2103120"/>
            <a:ext cx="2697480" cy="502920"/>
          </a:xfrm>
          <a:prstGeom prst="rect">
            <a:avLst/>
          </a:prstGeom>
          <a:solidFill>
            <a:srgbClr val="808080"/>
          </a:solidFill>
          <a:ln w="12700">
            <a:solidFill>
              <a:srgbClr val="808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17920" y="21031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17920" y="2788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6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66560" y="3200400"/>
            <a:ext cx="1417320" cy="1371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09360" y="3383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Leadership Development Plan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Activity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Non-tactical close country navigation.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MT RICHARDSON</a:t>
            </a:r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29260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training area</a:t>
            </a:r>
          </a:p>
        </p:txBody>
      </p:sp>
      <p:sp>
        <p:nvSpPr>
          <p:cNvPr id="8" name="Shape 6"/>
          <p:cNvSpPr/>
          <p:nvPr/>
        </p:nvSpPr>
        <p:spPr>
          <a:xfrm>
            <a:off x="3474720" y="1600200"/>
            <a:ext cx="13716" cy="59436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11880" y="15544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40 KM</a:t>
            </a:r>
          </a:p>
        </p:txBody>
      </p:sp>
      <p:sp>
        <p:nvSpPr>
          <p:cNvPr id="10" name="Text 8"/>
          <p:cNvSpPr/>
          <p:nvPr/>
        </p:nvSpPr>
        <p:spPr>
          <a:xfrm>
            <a:off x="3611880" y="1965960"/>
            <a:ext cx="13258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of movement</a:t>
            </a:r>
          </a:p>
        </p:txBody>
      </p:sp>
      <p:sp>
        <p:nvSpPr>
          <p:cNvPr id="11" name="Shape 9"/>
          <p:cNvSpPr/>
          <p:nvPr/>
        </p:nvSpPr>
        <p:spPr>
          <a:xfrm>
            <a:off x="5029200" y="1600200"/>
            <a:ext cx="13716" cy="59436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166360" y="1554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3,000 M</a:t>
            </a:r>
          </a:p>
        </p:txBody>
      </p:sp>
      <p:sp>
        <p:nvSpPr>
          <p:cNvPr id="13" name="Text 11"/>
          <p:cNvSpPr/>
          <p:nvPr/>
        </p:nvSpPr>
        <p:spPr>
          <a:xfrm>
            <a:off x="5166360" y="1965960"/>
            <a:ext cx="17373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vertical gain</a:t>
            </a:r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017520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Tracked and untracked terrain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country navigation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huts en-route: issue field kit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27432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3017520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Food: ORP and gas cookers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Equipment: FSMO + NZALC issue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Accommodation: Half shelter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Transport: Drivers provided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206240"/>
            <a:ext cx="8229600" cy="29260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2062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 cookers &amp; torches only.    Missing kit? Tell DS now.    Leave no trace.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0" name="Shape 40"/>
          <p:cNvSpPr/>
          <p:nvPr/>
        </p:nvSpPr>
        <p:spPr>
          <a:xfrm>
            <a:off x="6995160" y="1600200"/>
            <a:ext cx="13716" cy="59436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41"/>
          <p:cNvSpPr/>
          <p:nvPr/>
        </p:nvSpPr>
        <p:spPr>
          <a:xfrm>
            <a:off x="7132320" y="15544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NIGHT</a:t>
            </a:r>
          </a:p>
        </p:txBody>
      </p:sp>
      <p:sp>
        <p:nvSpPr>
          <p:cNvPr id="42" name="Text 42"/>
          <p:cNvSpPr/>
          <p:nvPr/>
        </p:nvSpPr>
        <p:spPr>
          <a:xfrm>
            <a:off x="7132320" y="1965960"/>
            <a:ext cx="15544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travel required</a:t>
            </a:r>
          </a:p>
        </p:txBody>
      </p:sp>
      <p:sp>
        <p:nvSpPr>
          <p:cNvPr id="43" name="Text 4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SELF-SUPPORTED  /  SELF-LED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1: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0900 – 1200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86000" y="1463040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Introduction. NZDF performance under pressure tools.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37944"/>
            <a:ext cx="8229600" cy="10973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84708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1200 – 1245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6000" y="184708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Lunch.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21992"/>
            <a:ext cx="8229600" cy="10973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23113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1245 – 1715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2231136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Task, team and individual expectations. Gear issue and equipment check.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10973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261518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1715 – 1840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86000" y="2615184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Dinner. Individual prep.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90088"/>
            <a:ext cx="8229600" cy="10973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9992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2999232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to training area. Activity commences NLT 2100.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73152" cy="64008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5800" y="4005072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WELFARE: FAMILY CONTACT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5800" y="42245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emergency during the field phase: </a:t>
            </a: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 Duty Phone: 027 441 4352.</a:t>
            </a: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Brief your family before Monday night.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Final Word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3"/>
          <p:cNvSpPr/>
          <p:nvPr/>
        </p:nvSpPr>
        <p:spPr>
          <a:xfrm>
            <a:off x="914400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This week is not about whether you can carry a pack 40 kilometres.</a:t>
            </a:r>
          </a:p>
        </p:txBody>
      </p:sp>
      <p:sp>
        <p:nvSpPr>
          <p:cNvPr id="5" name="Text 4"/>
          <p:cNvSpPr/>
          <p:nvPr/>
        </p:nvSpPr>
        <p:spPr>
          <a:xfrm>
            <a:off x="914400" y="2011680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b="1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It is about whether, when you are tired, cold, and the team is looking at you, your </a:t>
            </a:r>
            <a:r>
              <a:rPr lang="en-US" sz="20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actions and your words</a:t>
            </a:r>
            <a:r>
              <a:rPr lang="en-US" sz="2000" b="1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lift the team or break it.</a:t>
            </a:r>
          </a:p>
        </p:txBody>
      </p:sp>
      <p:sp>
        <p:nvSpPr>
          <p:cNvPr id="6" name="Text 5"/>
          <p:cNvSpPr/>
          <p:nvPr/>
        </p:nvSpPr>
        <p:spPr>
          <a:xfrm>
            <a:off x="457200" y="3337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That is what we are here to develop.</a:t>
            </a:r>
          </a:p>
        </p:txBody>
      </p:sp>
      <p:sp>
        <p:nvSpPr>
          <p:cNvPr id="7" name="Text 6"/>
          <p:cNvSpPr/>
          <p:nvPr/>
        </p:nvSpPr>
        <p:spPr>
          <a:xfrm>
            <a:off x="457200" y="3840480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3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LEAD SELF.</a:t>
            </a: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3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LEAD TEAMS.</a:t>
            </a: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3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WIN THE MISSION.</a:t>
            </a:r>
          </a:p>
        </p:txBody>
      </p:sp>
      <p:sp>
        <p:nvSpPr>
          <p:cNvPr id="9" name="Text 7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to you.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Questions, comments, concerns.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0" y="3383280"/>
            <a:ext cx="54864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85800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NGĀTI TŪMATAUENGA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858000" y="47183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 MANA MŌ AOTEAROA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FORCE FOR NEW ZEALAND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0" y="3291840"/>
            <a:ext cx="914400" cy="36576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0" y="486460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90" name="Text 9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UNCLASSIFIED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757</Words>
  <Application>Microsoft Office PowerPoint</Application>
  <PresentationFormat>On-screen Show (16:9)</PresentationFormat>
  <Paragraphs>203</Paragraphs>
  <Slides>15</Slides>
  <Notes>15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NZALC Lead Teams</dc:title>
  <dc:subject>Lead Teams Course Introduction</dc:subject>
  <dc:creator>NZALC</dc:creator>
  <cp:lastModifiedBy>Michael Coom</cp:lastModifiedBy>
  <cp:revision>5</cp:revision>
  <dcterms:created xsi:type="dcterms:W3CDTF">2026-05-10T00:01:41Z</dcterms:created>
  <dcterms:modified xsi:type="dcterms:W3CDTF">2026-08-29T21:11:16Z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b8e62fd-8656-424e-8661-07f58c3c8081_Enabled">
    <vt:lpwstr>true</vt:lpwstr>
  </property>
  <property fmtid="{D5CDD505-2E9C-101B-9397-08002B2CF9AE}" pid="3" name="MSIP_Label_eb8e62fd-8656-424e-8661-07f58c3c8081_SetDate">
    <vt:lpwstr>2026-08-29T20:56:47Z</vt:lpwstr>
  </property>
  <property fmtid="{D5CDD505-2E9C-101B-9397-08002B2CF9AE}" pid="4" name="MSIP_Label_eb8e62fd-8656-424e-8661-07f58c3c8081_Method">
    <vt:lpwstr>Privileged</vt:lpwstr>
  </property>
  <property fmtid="{D5CDD505-2E9C-101B-9397-08002B2CF9AE}" pid="5" name="MSIP_Label_eb8e62fd-8656-424e-8661-07f58c3c8081_Name">
    <vt:lpwstr>UNCLASSIFIED</vt:lpwstr>
  </property>
  <property fmtid="{D5CDD505-2E9C-101B-9397-08002B2CF9AE}" pid="6" name="MSIP_Label_eb8e62fd-8656-424e-8661-07f58c3c8081_SiteId">
    <vt:lpwstr>5f93a2cf-4cc4-49d6-9ef9-d78a67690390</vt:lpwstr>
  </property>
  <property fmtid="{D5CDD505-2E9C-101B-9397-08002B2CF9AE}" pid="7" name="MSIP_Label_eb8e62fd-8656-424e-8661-07f58c3c8081_ActionId">
    <vt:lpwstr>af5e76c0-7710-4ab5-b4d9-b4efb826102c</vt:lpwstr>
  </property>
  <property fmtid="{D5CDD505-2E9C-101B-9397-08002B2CF9AE}" pid="8" name="MSIP_Label_eb8e62fd-8656-424e-8661-07f58c3c8081_ContentBits">
    <vt:lpwstr>3</vt:lpwstr>
  </property>
  <property fmtid="{D5CDD505-2E9C-101B-9397-08002B2CF9AE}" pid="9" name="MSIP_Label_eb8e62fd-8656-424e-8661-07f58c3c8081_Tag">
    <vt:lpwstr>10, 0, 1, 1</vt:lpwstr>
  </property>
  <property fmtid="{D5CDD505-2E9C-101B-9397-08002B2CF9AE}" pid="10" name="ClassificationContentMarkingFooterLocations">
    <vt:lpwstr>Office Theme:5</vt:lpwstr>
  </property>
  <property fmtid="{D5CDD505-2E9C-101B-9397-08002B2CF9AE}" pid="11" name="ClassificationContentMarkingFooterText">
    <vt:lpwstr>UNCLASSIFIED</vt:lpwstr>
  </property>
  <property fmtid="{D5CDD505-2E9C-101B-9397-08002B2CF9AE}" pid="12" name="ClassificationContentMarkingHeaderLocations">
    <vt:lpwstr>Office Theme:4</vt:lpwstr>
  </property>
  <property fmtid="{D5CDD505-2E9C-101B-9397-08002B2CF9AE}" pid="13" name="ClassificationContentMarkingHeaderText">
    <vt:lpwstr>UNCLASSIFIED</vt:lpwstr>
  </property>
</Properties>
</file>