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10"/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 of the ATG storyboard. Content and photographs from the NZALC ELDA Lead Systems NCO Course storyboard; photo captions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worked example, from the example board in the previous ATG template (Lead Leaders rock-climbing ELDA). The source carried no dates, so the activity line names the locations; photo captions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Submission flow as issued by ATG on 13 Oct 25. Unit badges carried over from the previous template.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G_STORYBO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"/>
            <a:ext cx="9144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00" dirty="0"/>
          </a:p>
        </p:txBody>
      </p:sp>
      <p:sp>
        <p:nvSpPr>
          <p:cNvPr id="3" name="Shape 1"/>
          <p:cNvSpPr/>
          <p:nvPr/>
        </p:nvSpPr>
        <p:spPr>
          <a:xfrm>
            <a:off x="320040" y="201168"/>
            <a:ext cx="8503920" cy="786384"/>
          </a:xfrm>
          <a:prstGeom prst="rect">
            <a:avLst>
              <a:gd name="adj" fmla="val 6977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029" y="283464"/>
            <a:ext cx="579557" cy="6217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283464"/>
            <a:ext cx="6629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2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TRAINING GROUP</a:t>
            </a:r>
            <a:endParaRPr lang="en-US" sz="65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1234440" y="429768"/>
            <a:ext cx="6629400" cy="292608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>
            <a:lvl1pPr algn="l" indent="0" marL="0">
              <a:buNone/>
              <a:def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and sub-unit</a:t>
            </a:r>
            <a:endParaRPr lang="en-US" sz="16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1234440" y="722376"/>
            <a:ext cx="6629400" cy="201168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>
            <a:lvl1pPr indent="0" marL="0">
              <a:buNone/>
              <a:defRPr lang="en-US" sz="9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name  ·  01 Jan – 31 Jan 20XX</a:t>
            </a:r>
            <a:endParaRPr lang="en-US" sz="900" dirty="0"/>
          </a:p>
        </p:txBody>
      </p:sp>
      <p:sp>
        <p:nvSpPr>
          <p:cNvPr id="8" name="Text 3"/>
          <p:cNvSpPr/>
          <p:nvPr>
            <p:ph idx="106" hasCustomPrompt="1" type="pic"/>
          </p:nvPr>
        </p:nvSpPr>
        <p:spPr>
          <a:xfrm>
            <a:off x="8037576" y="27432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Unit badge</a:t>
            </a:r>
            <a:endParaRPr lang="en-US" dirty="0"/>
          </a:p>
        </p:txBody>
      </p:sp>
      <p:sp>
        <p:nvSpPr>
          <p:cNvPr id="9" name="Text 3"/>
          <p:cNvSpPr/>
          <p:nvPr/>
        </p:nvSpPr>
        <p:spPr>
          <a:xfrm>
            <a:off x="320040" y="4828032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Storyboard</a:t>
            </a:r>
            <a:endParaRPr lang="en-US" sz="700" dirty="0"/>
          </a:p>
        </p:txBody>
      </p:sp>
      <p:sp>
        <p:nvSpPr>
          <p:cNvPr id="10" name="Text 4"/>
          <p:cNvSpPr/>
          <p:nvPr/>
        </p:nvSpPr>
        <p:spPr>
          <a:xfrm>
            <a:off x="0" y="4828032"/>
            <a:ext cx="9144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4777667"/>
            <a:ext cx="1005840" cy="228745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20040" y="1188720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3" name="Text 6"/>
          <p:cNvSpPr/>
          <p:nvPr/>
        </p:nvSpPr>
        <p:spPr>
          <a:xfrm>
            <a:off x="548640" y="1188720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700" dirty="0"/>
          </a:p>
        </p:txBody>
      </p:sp>
      <p:sp>
        <p:nvSpPr>
          <p:cNvPr id="14" name="Text 7"/>
          <p:cNvSpPr/>
          <p:nvPr>
            <p:ph idx="112" type="body" hasCustomPrompt="1"/>
          </p:nvPr>
        </p:nvSpPr>
        <p:spPr>
          <a:xfrm>
            <a:off x="320040" y="1353312"/>
            <a:ext cx="3246120" cy="6400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>
            <a:lvl1pPr indent="0" marL="0">
              <a:spcAft>
                <a:spcPts val="300"/>
              </a:spcAft>
              <a:buNone/>
              <a:def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activity was conducted.</a:t>
            </a:r>
            <a:endParaRPr lang="en-US" sz="850" dirty="0"/>
          </a:p>
        </p:txBody>
      </p:sp>
      <p:sp>
        <p:nvSpPr>
          <p:cNvPr id="15" name="Text 7"/>
          <p:cNvSpPr/>
          <p:nvPr/>
        </p:nvSpPr>
        <p:spPr>
          <a:xfrm>
            <a:off x="320040" y="2084832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8"/>
          <p:cNvSpPr/>
          <p:nvPr/>
        </p:nvSpPr>
        <p:spPr>
          <a:xfrm>
            <a:off x="548640" y="2084832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AND EFFECT</a:t>
            </a:r>
            <a:endParaRPr lang="en-US" sz="700" dirty="0"/>
          </a:p>
        </p:txBody>
      </p:sp>
      <p:sp>
        <p:nvSpPr>
          <p:cNvPr id="17" name="Text 9"/>
          <p:cNvSpPr/>
          <p:nvPr>
            <p:ph idx="115" type="body" hasCustomPrompt="1"/>
          </p:nvPr>
        </p:nvSpPr>
        <p:spPr>
          <a:xfrm>
            <a:off x="320040" y="2249424"/>
            <a:ext cx="3246120" cy="1572768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>
            <a:lvl1pPr indent="0" marL="0">
              <a:spcAft>
                <a:spcPts val="300"/>
              </a:spcAft>
              <a:buNone/>
              <a:def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delivered, and the effect it had: three or four short points.</a:t>
            </a:r>
            <a:endParaRPr lang="en-US" sz="850" dirty="0"/>
          </a:p>
        </p:txBody>
      </p:sp>
      <p:sp>
        <p:nvSpPr>
          <p:cNvPr id="18" name="Text 9"/>
          <p:cNvSpPr/>
          <p:nvPr/>
        </p:nvSpPr>
        <p:spPr>
          <a:xfrm>
            <a:off x="320040" y="3913632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19" name="Text 10"/>
          <p:cNvSpPr/>
          <p:nvPr/>
        </p:nvSpPr>
        <p:spPr>
          <a:xfrm>
            <a:off x="548640" y="3913632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 FEEDBACK</a:t>
            </a:r>
            <a:endParaRPr lang="en-US" sz="700" dirty="0"/>
          </a:p>
        </p:txBody>
      </p:sp>
      <p:sp>
        <p:nvSpPr>
          <p:cNvPr id="20" name="Text 11"/>
          <p:cNvSpPr/>
          <p:nvPr>
            <p:ph idx="118" type="body" hasCustomPrompt="1"/>
          </p:nvPr>
        </p:nvSpPr>
        <p:spPr>
          <a:xfrm>
            <a:off x="320040" y="4078224"/>
            <a:ext cx="3246120" cy="566928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>
            <a:lvl1pPr indent="0" marL="0">
              <a:spcAft>
                <a:spcPts val="300"/>
              </a:spcAft>
              <a:buNone/>
              <a:defRPr lang="en-US" sz="85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line of feedback, quoted, with its source.</a:t>
            </a:r>
            <a:endParaRPr lang="en-US" sz="850" dirty="0"/>
          </a:p>
        </p:txBody>
      </p:sp>
      <p:sp>
        <p:nvSpPr>
          <p:cNvPr id="21" name="Text 11"/>
          <p:cNvSpPr/>
          <p:nvPr>
            <p:ph idx="119" hasCustomPrompt="1" type="pic"/>
          </p:nvPr>
        </p:nvSpPr>
        <p:spPr>
          <a:xfrm>
            <a:off x="3794760" y="1188720"/>
            <a:ext cx="2468880" cy="14401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 1</a:t>
            </a:r>
            <a:endParaRPr lang="en-US" dirty="0"/>
          </a:p>
        </p:txBody>
      </p:sp>
      <p:sp>
        <p:nvSpPr>
          <p:cNvPr id="22" name="Text 11"/>
          <p:cNvSpPr/>
          <p:nvPr>
            <p:ph idx="120" hasCustomPrompt="1" type="pic"/>
          </p:nvPr>
        </p:nvSpPr>
        <p:spPr>
          <a:xfrm>
            <a:off x="6355080" y="1188720"/>
            <a:ext cx="2468880" cy="14401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 2</a:t>
            </a:r>
            <a:endParaRPr lang="en-US" dirty="0"/>
          </a:p>
        </p:txBody>
      </p:sp>
      <p:sp>
        <p:nvSpPr>
          <p:cNvPr id="23" name="Text 11"/>
          <p:cNvSpPr/>
          <p:nvPr>
            <p:ph idx="121" hasCustomPrompt="1" type="pic"/>
          </p:nvPr>
        </p:nvSpPr>
        <p:spPr>
          <a:xfrm>
            <a:off x="3794760" y="2720340"/>
            <a:ext cx="2468880" cy="14401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 3</a:t>
            </a:r>
            <a:endParaRPr lang="en-US" dirty="0"/>
          </a:p>
        </p:txBody>
      </p:sp>
      <p:sp>
        <p:nvSpPr>
          <p:cNvPr id="24" name="Text 11"/>
          <p:cNvSpPr/>
          <p:nvPr>
            <p:ph idx="122" hasCustomPrompt="1" type="pic"/>
          </p:nvPr>
        </p:nvSpPr>
        <p:spPr>
          <a:xfrm>
            <a:off x="6355080" y="2720340"/>
            <a:ext cx="2468880" cy="14401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 4</a:t>
            </a:r>
            <a:endParaRPr lang="en-US" dirty="0"/>
          </a:p>
        </p:txBody>
      </p:sp>
      <p:sp>
        <p:nvSpPr>
          <p:cNvPr id="25" name="Text 11"/>
          <p:cNvSpPr/>
          <p:nvPr>
            <p:ph idx="123" type="body" hasCustomPrompt="1"/>
          </p:nvPr>
        </p:nvSpPr>
        <p:spPr>
          <a:xfrm>
            <a:off x="3794760" y="4251960"/>
            <a:ext cx="5029200" cy="384048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>
            <a:lvl1pPr indent="0" marL="0">
              <a:buNone/>
              <a:def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Caption   ·   2  Caption   ·   3  Caption   ·   4  Caption</a:t>
            </a:r>
            <a:endParaRPr lang="en-US" sz="7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G_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"/>
            <a:ext cx="9144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320040" y="4828032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Storyboard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0" y="4828032"/>
            <a:ext cx="9144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4777667"/>
            <a:ext cx="1005840" cy="228745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image" Target="../media/image-1-3.jpeg"/><Relationship Id="rId4" Type="http://schemas.openxmlformats.org/officeDocument/2006/relationships/image" Target="../media/image-1-4.jpeg"/><Relationship Id="rId5" Type="http://schemas.openxmlformats.org/officeDocument/2006/relationships/image" Target="../media/image-1-5.jpe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image" Target="../media/image-2-5.jpe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1234440" y="429768"/>
            <a:ext cx="662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  ·  NZ Army Leadership Centre</a:t>
            </a:r>
            <a:endParaRPr lang="en-US" sz="1600" dirty="0"/>
          </a:p>
        </p:txBody>
      </p:sp>
      <p:sp>
        <p:nvSpPr>
          <p:cNvPr id="3" name="Text 3"/>
          <p:cNvSpPr/>
          <p:nvPr>
            <p:ph idx="105" type="body" hasCustomPrompt="1"/>
          </p:nvPr>
        </p:nvSpPr>
        <p:spPr>
          <a:xfrm>
            <a:off x="1234440" y="722376"/>
            <a:ext cx="6629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Systems NCO Course  ·  7 – 14 Aug 26</a:t>
            </a:r>
            <a:endParaRPr lang="en-US" sz="9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5415" y="274320"/>
            <a:ext cx="524403" cy="640080"/>
          </a:xfrm>
          <a:prstGeom prst="rect">
            <a:avLst/>
          </a:prstGeom>
        </p:spPr>
      </p:pic>
      <p:sp>
        <p:nvSpPr>
          <p:cNvPr id="5" name="Text 7"/>
          <p:cNvSpPr/>
          <p:nvPr>
            <p:ph idx="112" type="body" hasCustomPrompt="1"/>
          </p:nvPr>
        </p:nvSpPr>
        <p:spPr>
          <a:xfrm>
            <a:off x="320040" y="135331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enhance leadership and warrior ethos through the conduct of a challenging multisport activity, supported by leadership tools, psychometrics, reflection and behaviour selection.</a:t>
            </a:r>
            <a:endParaRPr lang="en-US" sz="850" dirty="0"/>
          </a:p>
        </p:txBody>
      </p:sp>
      <p:sp>
        <p:nvSpPr>
          <p:cNvPr id="6" name="Text 9"/>
          <p:cNvSpPr/>
          <p:nvPr>
            <p:ph idx="115" type="body" hasCustomPrompt="1"/>
          </p:nvPr>
        </p:nvSpPr>
        <p:spPr>
          <a:xfrm>
            <a:off x="320040" y="2249424"/>
            <a:ext cx="324612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NZ Army and Australian Defence Force personnel completed ELDA Lead Systems together, strengthening joint leadership development ties.</a:t>
            </a:r>
            <a:endParaRPr lang="en-US" sz="8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three-day rogaine, culminating in a whitewater rafting descent, forced planning and execution against incomplete information: direct evidence of resilience, judgement and teamwork under pressure.</a:t>
            </a:r>
            <a:endParaRPr lang="en-US" sz="8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diagnostics, structured debriefs and individual Leadership Development Plans converted reflection into readiness, building the combat mindset required at lead systems level.</a:t>
            </a:r>
            <a:endParaRPr lang="en-US" sz="850" dirty="0"/>
          </a:p>
        </p:txBody>
      </p:sp>
      <p:sp>
        <p:nvSpPr>
          <p:cNvPr id="7" name="Text 11"/>
          <p:cNvSpPr/>
          <p:nvPr>
            <p:ph idx="118" type="body" hasCustomPrompt="1"/>
          </p:nvPr>
        </p:nvSpPr>
        <p:spPr>
          <a:xfrm>
            <a:off x="320040" y="4078224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“An excellent course that required a high level of personal drive and commitment, whilst also reinforcing the importance of working as a team towards a common goal.” </a:t>
            </a:r>
            <a:pPr indent="0" marL="0"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evaluation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188720"/>
            <a:ext cx="2468880" cy="14401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188720"/>
            <a:ext cx="2468880" cy="144018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2720340"/>
            <a:ext cx="2468880" cy="1440180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720340"/>
            <a:ext cx="2468880" cy="1440180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3877056" y="1271016"/>
            <a:ext cx="237744" cy="23774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3877056" y="1271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Shape 7"/>
          <p:cNvSpPr/>
          <p:nvPr/>
        </p:nvSpPr>
        <p:spPr>
          <a:xfrm>
            <a:off x="6437376" y="1271016"/>
            <a:ext cx="237744" cy="23774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6437376" y="1271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Shape 9"/>
          <p:cNvSpPr/>
          <p:nvPr/>
        </p:nvSpPr>
        <p:spPr>
          <a:xfrm>
            <a:off x="3877056" y="2802636"/>
            <a:ext cx="237744" cy="23774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3877056" y="2802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Shape 11"/>
          <p:cNvSpPr/>
          <p:nvPr/>
        </p:nvSpPr>
        <p:spPr>
          <a:xfrm>
            <a:off x="6437376" y="2802636"/>
            <a:ext cx="237744" cy="23774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6437376" y="2802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1"/>
          <p:cNvSpPr/>
          <p:nvPr>
            <p:ph idx="123" type="body" hasCustomPrompt="1"/>
          </p:nvPr>
        </p:nvSpPr>
        <p:spPr>
          <a:xfrm>
            <a:off x="3794760" y="42519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Whitewater descent, day three   ·   </a:t>
            </a:r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 leg of the rogaine   ·   </a:t>
            </a:r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 navigation planning   ·   </a:t>
            </a:r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group with ADF personnel</a:t>
            </a:r>
            <a:endParaRPr lang="en-US" sz="750" dirty="0"/>
          </a:p>
        </p:txBody>
      </p:sp>
      <p:sp>
        <p:nvSpPr>
          <p:cNvPr id="21" name="Text 14"/>
          <p:cNvSpPr txBox="1"/>
          <p:nvPr/>
        </p:nvSpPr>
        <p:spPr>
          <a:xfrm>
            <a:off x="1188720" y="4782312"/>
            <a:ext cx="731520" cy="219456"/>
          </a:xfrm>
          <a:prstGeom prst="rect">
            <a:avLst>
              <a:gd name="adj" fmla="val 50000"/>
            </a:avLst>
          </a:prstGeom>
          <a:noFill/>
          <a:ln w="9525">
            <a:solidFill>
              <a:srgbClr val="A896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0" kern="0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700" dirty="0"/>
          </a:p>
        </p:txBody>
      </p:sp>
      <p:sp>
        <p:nvSpPr>
          <p:cNvPr id="23" name="Text 3"/>
          <p:cNvSpPr/>
          <p:nvPr>
            <p:ph idx="106" hasCustomPrompt="1"/>
          </p:nvPr>
        </p:nvSpPr>
        <p:spPr>
          <a:xfrm>
            <a:off x="8037576" y="274320"/>
            <a:ext cx="640080" cy="6400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1"/>
          <p:cNvSpPr/>
          <p:nvPr>
            <p:ph idx="119" hasCustomPrompt="1"/>
          </p:nvPr>
        </p:nvSpPr>
        <p:spPr>
          <a:xfrm>
            <a:off x="3794760" y="1188720"/>
            <a:ext cx="2468880" cy="14401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11"/>
          <p:cNvSpPr/>
          <p:nvPr>
            <p:ph idx="120" hasCustomPrompt="1"/>
          </p:nvPr>
        </p:nvSpPr>
        <p:spPr>
          <a:xfrm>
            <a:off x="6355080" y="1188720"/>
            <a:ext cx="2468880" cy="14401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11"/>
          <p:cNvSpPr/>
          <p:nvPr>
            <p:ph idx="121" hasCustomPrompt="1"/>
          </p:nvPr>
        </p:nvSpPr>
        <p:spPr>
          <a:xfrm>
            <a:off x="3794760" y="2720340"/>
            <a:ext cx="2468880" cy="14401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11"/>
          <p:cNvSpPr/>
          <p:nvPr>
            <p:ph idx="122" hasCustomPrompt="1"/>
          </p:nvPr>
        </p:nvSpPr>
        <p:spPr>
          <a:xfrm>
            <a:off x="6355080" y="2720340"/>
            <a:ext cx="2468880" cy="14401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1234440" y="429768"/>
            <a:ext cx="662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  ·  NZ Army Leadership Centre</a:t>
            </a:r>
            <a:endParaRPr lang="en-US" sz="1600" dirty="0"/>
          </a:p>
        </p:txBody>
      </p:sp>
      <p:sp>
        <p:nvSpPr>
          <p:cNvPr id="3" name="Text 3"/>
          <p:cNvSpPr/>
          <p:nvPr>
            <p:ph idx="105" type="body" hasCustomPrompt="1"/>
          </p:nvPr>
        </p:nvSpPr>
        <p:spPr>
          <a:xfrm>
            <a:off x="1234440" y="722376"/>
            <a:ext cx="6629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Leaders, SNCO Promotion Course  ·  Christchurch and Wanaka</a:t>
            </a:r>
            <a:endParaRPr lang="en-US" sz="9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5415" y="274320"/>
            <a:ext cx="524403" cy="640080"/>
          </a:xfrm>
          <a:prstGeom prst="rect">
            <a:avLst/>
          </a:prstGeom>
        </p:spPr>
      </p:pic>
      <p:sp>
        <p:nvSpPr>
          <p:cNvPr id="5" name="Text 7"/>
          <p:cNvSpPr/>
          <p:nvPr>
            <p:ph idx="112" type="body" hasCustomPrompt="1"/>
          </p:nvPr>
        </p:nvSpPr>
        <p:spPr>
          <a:xfrm>
            <a:off x="320040" y="135331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enhance leadership and maintain warrior ethos in order to provide world-class, operationally focused leaders, through a challenging rock-climbing activity supported by leadership tools, a Hogan psychometric report, reflection and behaviour selection.</a:t>
            </a:r>
            <a:endParaRPr lang="en-US" sz="850" dirty="0"/>
          </a:p>
        </p:txBody>
      </p:sp>
      <p:sp>
        <p:nvSpPr>
          <p:cNvPr id="6" name="Text 9"/>
          <p:cNvSpPr/>
          <p:nvPr>
            <p:ph idx="115" type="body" hasCustomPrompt="1"/>
          </p:nvPr>
        </p:nvSpPr>
        <p:spPr>
          <a:xfrm>
            <a:off x="320040" y="2249424"/>
            <a:ext cx="324612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students completed the ELDA phase of Lead Leaders: 21 from the SNCO Promotion Course and seven junior officers, in syndicates of up to eight across Christchurch and Wanaka.</a:t>
            </a:r>
            <a:endParaRPr lang="en-US" sz="8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Facilitation content combined with rock climbing enabled behaviour-based peer feedback: an accurate snapshot of each student's current behaviour and its impact on others.</a:t>
            </a:r>
            <a:endParaRPr lang="en-US" sz="8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Peer-endorsed strategies gave every student a practical plan to lift intrapersonal and interpersonal effectiveness under the Domain Model.</a:t>
            </a:r>
            <a:endParaRPr lang="en-US" sz="850" dirty="0"/>
          </a:p>
        </p:txBody>
      </p:sp>
      <p:sp>
        <p:nvSpPr>
          <p:cNvPr id="7" name="Text 11"/>
          <p:cNvSpPr/>
          <p:nvPr>
            <p:ph idx="118" type="body" hasCustomPrompt="1"/>
          </p:nvPr>
        </p:nvSpPr>
        <p:spPr>
          <a:xfrm>
            <a:off x="320040" y="4078224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evaluations indicate the course was well conducted, with students extremely pleased with the facilitation content and its delivery by instructors. </a:t>
            </a:r>
            <a:pPr indent="0" marL="0"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evaluation summary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188720"/>
            <a:ext cx="2468880" cy="14401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188720"/>
            <a:ext cx="2468880" cy="144018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2720340"/>
            <a:ext cx="2468880" cy="1440180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720340"/>
            <a:ext cx="2468880" cy="1440180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3877056" y="1271016"/>
            <a:ext cx="237744" cy="23774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3877056" y="1271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Shape 7"/>
          <p:cNvSpPr/>
          <p:nvPr/>
        </p:nvSpPr>
        <p:spPr>
          <a:xfrm>
            <a:off x="6437376" y="1271016"/>
            <a:ext cx="237744" cy="23774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6437376" y="1271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Shape 9"/>
          <p:cNvSpPr/>
          <p:nvPr/>
        </p:nvSpPr>
        <p:spPr>
          <a:xfrm>
            <a:off x="3877056" y="2802636"/>
            <a:ext cx="237744" cy="23774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3877056" y="2802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Shape 11"/>
          <p:cNvSpPr/>
          <p:nvPr/>
        </p:nvSpPr>
        <p:spPr>
          <a:xfrm>
            <a:off x="6437376" y="2802636"/>
            <a:ext cx="237744" cy="23774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6437376" y="2802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1"/>
          <p:cNvSpPr/>
          <p:nvPr>
            <p:ph idx="123" type="body" hasCustomPrompt="1"/>
          </p:nvPr>
        </p:nvSpPr>
        <p:spPr>
          <a:xfrm>
            <a:off x="3794760" y="42519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climb on the main face   ·   </a:t>
            </a:r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Top-rope pitch, Wanaka   ·   </a:t>
            </a:r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Syndicate on the summit block   ·   </a:t>
            </a:r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Abseil descent</a:t>
            </a:r>
            <a:endParaRPr lang="en-US" sz="750" dirty="0"/>
          </a:p>
        </p:txBody>
      </p:sp>
      <p:sp>
        <p:nvSpPr>
          <p:cNvPr id="21" name="Text 14"/>
          <p:cNvSpPr txBox="1"/>
          <p:nvPr/>
        </p:nvSpPr>
        <p:spPr>
          <a:xfrm>
            <a:off x="1188720" y="4782312"/>
            <a:ext cx="731520" cy="219456"/>
          </a:xfrm>
          <a:prstGeom prst="rect">
            <a:avLst>
              <a:gd name="adj" fmla="val 50000"/>
            </a:avLst>
          </a:prstGeom>
          <a:noFill/>
          <a:ln w="9525">
            <a:solidFill>
              <a:srgbClr val="A896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0" kern="0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700" dirty="0"/>
          </a:p>
        </p:txBody>
      </p:sp>
      <p:sp>
        <p:nvSpPr>
          <p:cNvPr id="23" name="Text 3"/>
          <p:cNvSpPr/>
          <p:nvPr>
            <p:ph idx="106" hasCustomPrompt="1"/>
          </p:nvPr>
        </p:nvSpPr>
        <p:spPr>
          <a:xfrm>
            <a:off x="8037576" y="274320"/>
            <a:ext cx="640080" cy="6400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1"/>
          <p:cNvSpPr/>
          <p:nvPr>
            <p:ph idx="119" hasCustomPrompt="1"/>
          </p:nvPr>
        </p:nvSpPr>
        <p:spPr>
          <a:xfrm>
            <a:off x="3794760" y="1188720"/>
            <a:ext cx="2468880" cy="14401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11"/>
          <p:cNvSpPr/>
          <p:nvPr>
            <p:ph idx="120" hasCustomPrompt="1"/>
          </p:nvPr>
        </p:nvSpPr>
        <p:spPr>
          <a:xfrm>
            <a:off x="6355080" y="1188720"/>
            <a:ext cx="2468880" cy="14401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11"/>
          <p:cNvSpPr/>
          <p:nvPr>
            <p:ph idx="121" hasCustomPrompt="1"/>
          </p:nvPr>
        </p:nvSpPr>
        <p:spPr>
          <a:xfrm>
            <a:off x="3794760" y="2720340"/>
            <a:ext cx="2468880" cy="14401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11"/>
          <p:cNvSpPr/>
          <p:nvPr>
            <p:ph idx="122" hasCustomPrompt="1"/>
          </p:nvPr>
        </p:nvSpPr>
        <p:spPr>
          <a:xfrm>
            <a:off x="6355080" y="2720340"/>
            <a:ext cx="2468880" cy="14401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926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Storyboard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67665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complete and submit the board  ·  template in use from 15 Oct 25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320040" y="10789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buNone/>
            </a:pPr>
            <a:r>
              <a:rPr lang="en-US" sz="850" b="1" spc="2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6072" y="126187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board moves from the unit to ATG Registry, is checked, and is released once approved.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481328"/>
            <a:ext cx="1173480" cy="457200"/>
          </a:xfrm>
          <a:prstGeom prst="roundRect">
            <a:avLst>
              <a:gd name="adj" fmla="val 12000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93192" y="1481328"/>
            <a:ext cx="102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548384" y="1709928"/>
            <a:ext cx="182880" cy="0"/>
          </a:xfrm>
          <a:prstGeom prst="line">
            <a:avLst/>
          </a:prstGeom>
          <a:noFill/>
          <a:ln w="15875">
            <a:solidFill>
              <a:srgbClr val="A8966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786128" y="1481328"/>
            <a:ext cx="1173480" cy="457200"/>
          </a:xfrm>
          <a:prstGeom prst="roundRect">
            <a:avLst>
              <a:gd name="adj" fmla="val 12000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9280" y="1481328"/>
            <a:ext cx="102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Registry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14472" y="1709928"/>
            <a:ext cx="182880" cy="0"/>
          </a:xfrm>
          <a:prstGeom prst="line">
            <a:avLst/>
          </a:prstGeom>
          <a:noFill/>
          <a:ln w="15875">
            <a:solidFill>
              <a:srgbClr val="A8966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52216" y="1481328"/>
            <a:ext cx="1173480" cy="457200"/>
          </a:xfrm>
          <a:prstGeom prst="roundRect">
            <a:avLst>
              <a:gd name="adj" fmla="val 12000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25368" y="1481328"/>
            <a:ext cx="102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S75 check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480560" y="1709928"/>
            <a:ext cx="182880" cy="0"/>
          </a:xfrm>
          <a:prstGeom prst="line">
            <a:avLst/>
          </a:prstGeom>
          <a:noFill/>
          <a:ln w="15875">
            <a:solidFill>
              <a:srgbClr val="A8966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718304" y="1481328"/>
            <a:ext cx="1173480" cy="457200"/>
          </a:xfrm>
          <a:prstGeom prst="roundRect">
            <a:avLst>
              <a:gd name="adj" fmla="val 12000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91456" y="1481328"/>
            <a:ext cx="102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946648" y="1709928"/>
            <a:ext cx="182880" cy="0"/>
          </a:xfrm>
          <a:prstGeom prst="line">
            <a:avLst/>
          </a:prstGeom>
          <a:noFill/>
          <a:ln w="15875">
            <a:solidFill>
              <a:srgbClr val="A8966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84392" y="1481328"/>
            <a:ext cx="1173480" cy="457200"/>
          </a:xfrm>
          <a:prstGeom prst="roundRect">
            <a:avLst>
              <a:gd name="adj" fmla="val 12000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57544" y="1481328"/>
            <a:ext cx="102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412736" y="1709928"/>
            <a:ext cx="182880" cy="0"/>
          </a:xfrm>
          <a:prstGeom prst="line">
            <a:avLst/>
          </a:prstGeom>
          <a:noFill/>
          <a:ln w="15875">
            <a:solidFill>
              <a:srgbClr val="A8966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650480" y="1481328"/>
            <a:ext cx="1173480" cy="457200"/>
          </a:xfrm>
          <a:prstGeom prst="roundRect">
            <a:avLst>
              <a:gd name="adj" fmla="val 12000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3632" y="1481328"/>
            <a:ext cx="102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Registry releases to OLCC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05044" y="1938528"/>
            <a:ext cx="0" cy="274320"/>
          </a:xfrm>
          <a:prstGeom prst="line">
            <a:avLst/>
          </a:prstGeom>
          <a:noFill/>
          <a:ln w="12700">
            <a:solidFill>
              <a:srgbClr val="A8966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718304" y="2212848"/>
            <a:ext cx="117348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9D9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2212848"/>
            <a:ext cx="117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approved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06780" y="2377440"/>
            <a:ext cx="3811524" cy="0"/>
          </a:xfrm>
          <a:prstGeom prst="line">
            <a:avLst/>
          </a:prstGeom>
          <a:noFill/>
          <a:ln w="12700">
            <a:solidFill>
              <a:srgbClr val="A8966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906780" y="1975104"/>
            <a:ext cx="0" cy="402336"/>
          </a:xfrm>
          <a:prstGeom prst="line">
            <a:avLst/>
          </a:prstGeom>
          <a:noFill/>
          <a:ln w="12700">
            <a:solidFill>
              <a:srgbClr val="A89662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1016508" y="2414016"/>
            <a:ext cx="36286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Returned to the unit for resubmission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320040" y="287121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buNone/>
            </a:pPr>
            <a:r>
              <a:rPr lang="en-US" sz="850" b="1" spc="2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COMPLETING THE BOARD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76072" y="305409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each field on the template slide; the frame itself is locked in the layout.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20040" y="3328416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29768" y="3419856"/>
            <a:ext cx="101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429768" y="3630168"/>
            <a:ext cx="1014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and sub-unit, activity name and dates. Insert your unit badge from the set at right.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664208" y="3328416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773936" y="3419856"/>
            <a:ext cx="101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773936" y="3630168"/>
            <a:ext cx="1014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Purpose, then delivery and effect in three or four points, then a line of participant feedback. Each field shrinks to fit.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008376" y="3328416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118104" y="3419856"/>
            <a:ext cx="101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3118104" y="3630168"/>
            <a:ext cx="1014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landscape photos, numbered 1 to 4. Click a frame to insert; PowerPoint crops to fit.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352544" y="3328416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462272" y="3419856"/>
            <a:ext cx="101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Captions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462272" y="3630168"/>
            <a:ext cx="1014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beneath the photos, numbered to match. Name the activity, place and date where useful.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5833872" y="287121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buNone/>
            </a:pPr>
            <a:r>
              <a:rPr lang="en-US" sz="850" b="1" spc="2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BADGES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089904" y="305409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your unit's badge into the header.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833872" y="3328416"/>
            <a:ext cx="524866" cy="1207008"/>
          </a:xfrm>
          <a:prstGeom prst="roundRect">
            <a:avLst>
              <a:gd name="adj" fmla="val 10453"/>
            </a:avLst>
          </a:prstGeom>
          <a:solidFill>
            <a:srgbClr val="FFFFFF"/>
          </a:solidFill>
          <a:ln w="9525">
            <a:solidFill>
              <a:srgbClr val="D9D9D2"/>
            </a:solidFill>
            <a:prstDash val="solid"/>
          </a:ln>
        </p:spPr>
      </p:sp>
      <p:pic>
        <p:nvPicPr>
          <p:cNvPr id="4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8736" y="3476851"/>
            <a:ext cx="415138" cy="507802"/>
          </a:xfrm>
          <a:prstGeom prst="rect">
            <a:avLst/>
          </a:prstGeom>
        </p:spPr>
      </p:pic>
      <p:sp>
        <p:nvSpPr>
          <p:cNvPr id="47" name="Text 44"/>
          <p:cNvSpPr txBox="1"/>
          <p:nvPr/>
        </p:nvSpPr>
        <p:spPr>
          <a:xfrm>
            <a:off x="5833872" y="4151376"/>
            <a:ext cx="524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OCS (NZ)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6450178" y="3328416"/>
            <a:ext cx="524866" cy="1207008"/>
          </a:xfrm>
          <a:prstGeom prst="roundRect">
            <a:avLst>
              <a:gd name="adj" fmla="val 10453"/>
            </a:avLst>
          </a:prstGeom>
          <a:solidFill>
            <a:srgbClr val="FFFFFF"/>
          </a:solidFill>
          <a:ln w="9525">
            <a:solidFill>
              <a:srgbClr val="D9D9D2"/>
            </a:solidFill>
            <a:prstDash val="solid"/>
          </a:ln>
        </p:spPr>
      </p:sp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042" y="3557072"/>
            <a:ext cx="415138" cy="347360"/>
          </a:xfrm>
          <a:prstGeom prst="rect">
            <a:avLst/>
          </a:prstGeom>
        </p:spPr>
      </p:pic>
      <p:sp>
        <p:nvSpPr>
          <p:cNvPr id="50" name="Text 46"/>
          <p:cNvSpPr txBox="1"/>
          <p:nvPr/>
        </p:nvSpPr>
        <p:spPr>
          <a:xfrm>
            <a:off x="6450178" y="4151376"/>
            <a:ext cx="524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Depot</a:t>
            </a:r>
            <a:endParaRPr lang="en-US" sz="700" dirty="0"/>
          </a:p>
        </p:txBody>
      </p:sp>
      <p:sp>
        <p:nvSpPr>
          <p:cNvPr id="51" name="Shape 47"/>
          <p:cNvSpPr/>
          <p:nvPr/>
        </p:nvSpPr>
        <p:spPr>
          <a:xfrm>
            <a:off x="7066483" y="3328416"/>
            <a:ext cx="524866" cy="1207008"/>
          </a:xfrm>
          <a:prstGeom prst="roundRect">
            <a:avLst>
              <a:gd name="adj" fmla="val 10453"/>
            </a:avLst>
          </a:prstGeom>
          <a:solidFill>
            <a:srgbClr val="FFFFFF"/>
          </a:solidFill>
          <a:ln w="9525">
            <a:solidFill>
              <a:srgbClr val="D9D9D2"/>
            </a:solidFill>
            <a:prstDash val="solid"/>
          </a:ln>
        </p:spPr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347" y="3523894"/>
            <a:ext cx="415138" cy="413716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7066483" y="4151376"/>
            <a:ext cx="524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MCTC</a:t>
            </a:r>
            <a:endParaRPr lang="en-US" sz="700" dirty="0"/>
          </a:p>
        </p:txBody>
      </p:sp>
      <p:sp>
        <p:nvSpPr>
          <p:cNvPr id="54" name="Shape 49"/>
          <p:cNvSpPr/>
          <p:nvPr/>
        </p:nvSpPr>
        <p:spPr>
          <a:xfrm>
            <a:off x="7682789" y="3328416"/>
            <a:ext cx="524866" cy="1207008"/>
          </a:xfrm>
          <a:prstGeom prst="roundRect">
            <a:avLst>
              <a:gd name="adj" fmla="val 10453"/>
            </a:avLst>
          </a:prstGeom>
          <a:solidFill>
            <a:srgbClr val="FFFFFF"/>
          </a:solidFill>
          <a:ln w="9525">
            <a:solidFill>
              <a:srgbClr val="D9D9D2"/>
            </a:solidFill>
            <a:prstDash val="solid"/>
          </a:ln>
        </p:spPr>
      </p:sp>
      <p:pic>
        <p:nvPicPr>
          <p:cNvPr id="5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7653" y="3509592"/>
            <a:ext cx="415138" cy="442319"/>
          </a:xfrm>
          <a:prstGeom prst="rect">
            <a:avLst/>
          </a:prstGeom>
        </p:spPr>
      </p:pic>
      <p:sp>
        <p:nvSpPr>
          <p:cNvPr id="56" name="Text 50"/>
          <p:cNvSpPr txBox="1"/>
          <p:nvPr/>
        </p:nvSpPr>
        <p:spPr>
          <a:xfrm>
            <a:off x="7682789" y="4151376"/>
            <a:ext cx="524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</a:t>
            </a:r>
            <a:endParaRPr lang="en-US" sz="700" dirty="0"/>
          </a:p>
        </p:txBody>
      </p:sp>
      <p:sp>
        <p:nvSpPr>
          <p:cNvPr id="57" name="Shape 51"/>
          <p:cNvSpPr/>
          <p:nvPr/>
        </p:nvSpPr>
        <p:spPr>
          <a:xfrm>
            <a:off x="8299094" y="3328416"/>
            <a:ext cx="524866" cy="1207008"/>
          </a:xfrm>
          <a:prstGeom prst="roundRect">
            <a:avLst>
              <a:gd name="adj" fmla="val 10453"/>
            </a:avLst>
          </a:prstGeom>
          <a:solidFill>
            <a:srgbClr val="FFFFFF"/>
          </a:solidFill>
          <a:ln w="9525">
            <a:solidFill>
              <a:srgbClr val="D9D9D2"/>
            </a:solidFill>
            <a:prstDash val="solid"/>
          </a:ln>
        </p:spPr>
      </p:sp>
      <p:pic>
        <p:nvPicPr>
          <p:cNvPr id="5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958" y="3529379"/>
            <a:ext cx="415138" cy="402745"/>
          </a:xfrm>
          <a:prstGeom prst="rect">
            <a:avLst/>
          </a:prstGeom>
        </p:spPr>
      </p:pic>
      <p:sp>
        <p:nvSpPr>
          <p:cNvPr id="59" name="Text 52"/>
          <p:cNvSpPr txBox="1"/>
          <p:nvPr/>
        </p:nvSpPr>
        <p:spPr>
          <a:xfrm>
            <a:off x="8299094" y="4151376"/>
            <a:ext cx="524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LOTC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/>
        </p:txBody>
      </p:sp>
      <p:sp>
        <p:nvSpPr>
          <p:cNvPr id="4" name="Picture Placeholder 3"/>
          <p:cNvSpPr>
            <a:spLocks noGrp="1"/>
          </p:cNvSpPr>
          <p:nvPr>
            <p:ph type="pic" idx="106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118"/>
          </p:nvPr>
        </p:nvSpPr>
        <p:spPr/>
        <p:txBody>
          <a:bodyPr/>
          <a:lstStyle/>
          <a:p/>
        </p:txBody>
      </p:sp>
      <p:sp>
        <p:nvSpPr>
          <p:cNvPr id="8" name="Picture Placeholder 7"/>
          <p:cNvSpPr>
            <a:spLocks noGrp="1"/>
          </p:cNvSpPr>
          <p:nvPr>
            <p:ph type="pic" idx="119"/>
          </p:nvPr>
        </p:nvSpPr>
        <p:spPr/>
      </p:sp>
      <p:sp>
        <p:nvSpPr>
          <p:cNvPr id="9" name="Picture Placeholder 8"/>
          <p:cNvSpPr>
            <a:spLocks noGrp="1"/>
          </p:cNvSpPr>
          <p:nvPr>
            <p:ph type="pic" idx="120"/>
          </p:nvPr>
        </p:nvSpPr>
        <p:spPr/>
      </p:sp>
      <p:sp>
        <p:nvSpPr>
          <p:cNvPr id="10" name="Picture Placeholder 9"/>
          <p:cNvSpPr>
            <a:spLocks noGrp="1"/>
          </p:cNvSpPr>
          <p:nvPr>
            <p:ph type="pic" idx="121"/>
          </p:nvPr>
        </p:nvSpPr>
        <p:spPr/>
      </p:sp>
      <p:sp>
        <p:nvSpPr>
          <p:cNvPr id="11" name="Picture Placeholder 10"/>
          <p:cNvSpPr>
            <a:spLocks noGrp="1"/>
          </p:cNvSpPr>
          <p:nvPr>
            <p:ph type="pic" idx="122"/>
          </p:nvPr>
        </p:nvSpPr>
        <p:spPr/>
      </p:sp>
      <p:sp>
        <p:nvSpPr>
          <p:cNvPr id="12" name="Text Placeholder 11"/>
          <p:cNvSpPr>
            <a:spLocks noGrp="1"/>
          </p:cNvSpPr>
          <p:nvPr>
            <p:ph type="body" idx="123"/>
          </p:nvPr>
        </p:nvSpPr>
        <p:spPr/>
        <p:txBody>
          <a:bodyPr/>
          <a:lstStyle/>
          <a:p/>
        </p:txBody>
      </p:sp>
      <p:sp>
        <p:nvSpPr>
          <p:cNvPr id="13" name="Photo 1 number"/>
          <p:cNvSpPr/>
          <p:nvPr/>
        </p:nvSpPr>
        <p:spPr>
          <a:xfrm>
            <a:off x="3877056" y="1271016"/>
            <a:ext cx="237744" cy="2377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Photo 2 number"/>
          <p:cNvSpPr/>
          <p:nvPr/>
        </p:nvSpPr>
        <p:spPr>
          <a:xfrm>
            <a:off x="6437376" y="1271016"/>
            <a:ext cx="237744" cy="2377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Photo 3 number"/>
          <p:cNvSpPr/>
          <p:nvPr/>
        </p:nvSpPr>
        <p:spPr>
          <a:xfrm>
            <a:off x="3877056" y="2802636"/>
            <a:ext cx="237744" cy="2377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Photo 4 number"/>
          <p:cNvSpPr/>
          <p:nvPr/>
        </p:nvSpPr>
        <p:spPr>
          <a:xfrm>
            <a:off x="6437376" y="2802636"/>
            <a:ext cx="237744" cy="2377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ATG Storyboard</dc:title>
  <dc:subject>PptxGenJS Presentation</dc:subject>
  <dc:creator>Army Training Group</dc:creator>
  <cp:lastModifiedBy>Army Training Group</cp:lastModifiedBy>
  <cp:revision>1</cp:revision>
  <dcterms:created xsi:type="dcterms:W3CDTF">2026-09-22T21:33:27Z</dcterms:created>
  <dcterms:modified xsi:type="dcterms:W3CDTF">2026-09-22T21:33:27Z</dcterms:modified>
</cp:coreProperties>
</file>