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image" Target="../media/image-1-7.png"/><Relationship Id="rId8" Type="http://schemas.openxmlformats.org/officeDocument/2006/relationships/image" Target="../media/image-1-8.png"/><Relationship Id="rId9" Type="http://schemas.openxmlformats.org/officeDocument/2006/relationships/image" Target="../media/image-1-9.png"/><Relationship Id="rId10" Type="http://schemas.openxmlformats.org/officeDocument/2006/relationships/image" Target="../media/image-1-10.png"/><Relationship Id="rId11" Type="http://schemas.openxmlformats.org/officeDocument/2006/relationships/image" Target="../media/image-1-11.png"/><Relationship Id="rId12" Type="http://schemas.openxmlformats.org/officeDocument/2006/relationships/image" Target="../media/image-1-12.pn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PUP/2d4cec0e-a52e-5368-bb54-803c6f37698d/scratchpad/logo-trimm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29184"/>
            <a:ext cx="1572768" cy="38039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804672"/>
            <a:ext cx="6647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COMBAT MINDSET BRANDMARK</a:t>
            </a:r>
            <a:endParaRPr lang="en-US" sz="2200" dirty="0"/>
          </a:p>
        </p:txBody>
      </p:sp>
      <p:sp>
        <p:nvSpPr>
          <p:cNvPr id="4" name="Text 1"/>
          <p:cNvSpPr/>
          <p:nvPr/>
        </p:nvSpPr>
        <p:spPr>
          <a:xfrm>
            <a:off x="457200" y="1152144"/>
            <a:ext cx="66476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0025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taiaha at the centre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457200" y="1353312"/>
            <a:ext cx="5184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Army Command School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5641848" y="1353312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August 2026</a:t>
            </a:r>
            <a:endParaRPr lang="en-US" sz="850" dirty="0"/>
          </a:p>
        </p:txBody>
      </p:sp>
      <p:sp>
        <p:nvSpPr>
          <p:cNvPr id="7" name="Shape 4"/>
          <p:cNvSpPr/>
          <p:nvPr/>
        </p:nvSpPr>
        <p:spPr>
          <a:xfrm>
            <a:off x="457200" y="1591056"/>
            <a:ext cx="6647688" cy="25603"/>
          </a:xfrm>
          <a:prstGeom prst="rect">
            <a:avLst/>
          </a:prstGeom>
          <a:solidFill>
            <a:srgbClr val="C62026"/>
          </a:solidFill>
          <a:ln/>
        </p:spPr>
      </p:sp>
      <p:sp>
        <p:nvSpPr>
          <p:cNvPr id="8" name="Text 5"/>
          <p:cNvSpPr/>
          <p:nvPr/>
        </p:nvSpPr>
        <p:spPr>
          <a:xfrm>
            <a:off x="457200" y="1737360"/>
            <a:ext cx="66476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taiaha is a stronger centre than a spearhead. It is a rangatira's weapon, carrying skill, discipline and mana rather than force alone, and it already sits in NZ Army heraldry. It is drawn here in silhouette only: arero, upoko, ate and rau, with no carving detail.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457200" y="2249424"/>
            <a:ext cx="6647688" cy="256032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2468880"/>
            <a:ext cx="2121408" cy="2121408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3273552" y="2715768"/>
            <a:ext cx="45720" cy="137160"/>
          </a:xfrm>
          <a:prstGeom prst="rect">
            <a:avLst/>
          </a:prstGeom>
          <a:solidFill>
            <a:srgbClr val="C62026"/>
          </a:solidFill>
          <a:ln/>
        </p:spPr>
      </p:sp>
      <p:sp>
        <p:nvSpPr>
          <p:cNvPr id="12" name="Text 8"/>
          <p:cNvSpPr/>
          <p:nvPr/>
        </p:nvSpPr>
        <p:spPr>
          <a:xfrm>
            <a:off x="3419856" y="2688336"/>
            <a:ext cx="2011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4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arcs</a:t>
            </a:r>
            <a:endParaRPr lang="en-US" sz="940" dirty="0"/>
          </a:p>
        </p:txBody>
      </p:sp>
      <p:sp>
        <p:nvSpPr>
          <p:cNvPr id="13" name="Text 9"/>
          <p:cNvSpPr/>
          <p:nvPr/>
        </p:nvSpPr>
        <p:spPr>
          <a:xfrm>
            <a:off x="3419856" y="2871216"/>
            <a:ext cx="34472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840" dirty="0">
                <a:solidFill>
                  <a:srgbClr val="CDD2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pressure that surrounds, and the Prepare, Perform, Recover cycle.</a:t>
            </a:r>
            <a:endParaRPr lang="en-US" sz="840" dirty="0"/>
          </a:p>
        </p:txBody>
      </p:sp>
      <p:sp>
        <p:nvSpPr>
          <p:cNvPr id="14" name="Shape 10"/>
          <p:cNvSpPr/>
          <p:nvPr/>
        </p:nvSpPr>
        <p:spPr>
          <a:xfrm>
            <a:off x="3273552" y="3355848"/>
            <a:ext cx="45720" cy="137160"/>
          </a:xfrm>
          <a:prstGeom prst="rect">
            <a:avLst/>
          </a:prstGeom>
          <a:solidFill>
            <a:srgbClr val="C62026"/>
          </a:solidFill>
          <a:ln/>
        </p:spPr>
      </p:sp>
      <p:sp>
        <p:nvSpPr>
          <p:cNvPr id="15" name="Text 11"/>
          <p:cNvSpPr/>
          <p:nvPr/>
        </p:nvSpPr>
        <p:spPr>
          <a:xfrm>
            <a:off x="3419856" y="3328416"/>
            <a:ext cx="2011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4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solid core</a:t>
            </a:r>
            <a:endParaRPr lang="en-US" sz="940" dirty="0"/>
          </a:p>
        </p:txBody>
      </p:sp>
      <p:sp>
        <p:nvSpPr>
          <p:cNvPr id="16" name="Text 12"/>
          <p:cNvSpPr/>
          <p:nvPr/>
        </p:nvSpPr>
        <p:spPr>
          <a:xfrm>
            <a:off x="3419856" y="3511296"/>
            <a:ext cx="34472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840" dirty="0">
                <a:solidFill>
                  <a:srgbClr val="CDD2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Self-command. The centre holds while the environment does not.</a:t>
            </a:r>
            <a:endParaRPr lang="en-US" sz="840" dirty="0"/>
          </a:p>
        </p:txBody>
      </p:sp>
      <p:sp>
        <p:nvSpPr>
          <p:cNvPr id="17" name="Shape 13"/>
          <p:cNvSpPr/>
          <p:nvPr/>
        </p:nvSpPr>
        <p:spPr>
          <a:xfrm>
            <a:off x="3273552" y="3995928"/>
            <a:ext cx="45720" cy="137160"/>
          </a:xfrm>
          <a:prstGeom prst="rect">
            <a:avLst/>
          </a:prstGeom>
          <a:solidFill>
            <a:srgbClr val="C62026"/>
          </a:solidFill>
          <a:ln/>
        </p:spPr>
      </p:sp>
      <p:sp>
        <p:nvSpPr>
          <p:cNvPr id="18" name="Text 14"/>
          <p:cNvSpPr/>
          <p:nvPr/>
        </p:nvSpPr>
        <p:spPr>
          <a:xfrm>
            <a:off x="3419856" y="3968496"/>
            <a:ext cx="2011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4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taiaha</a:t>
            </a:r>
            <a:endParaRPr lang="en-US" sz="940" dirty="0"/>
          </a:p>
        </p:txBody>
      </p:sp>
      <p:sp>
        <p:nvSpPr>
          <p:cNvPr id="19" name="Text 15"/>
          <p:cNvSpPr/>
          <p:nvPr/>
        </p:nvSpPr>
        <p:spPr>
          <a:xfrm>
            <a:off x="3419856" y="4151376"/>
            <a:ext cx="34472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840" dirty="0">
                <a:solidFill>
                  <a:srgbClr val="CDD2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Trained, disciplined capability. Held ready, used decisively.</a:t>
            </a:r>
            <a:endParaRPr lang="en-US" sz="840" dirty="0"/>
          </a:p>
        </p:txBody>
      </p:sp>
      <p:sp>
        <p:nvSpPr>
          <p:cNvPr id="20" name="Text 16"/>
          <p:cNvSpPr/>
          <p:nvPr/>
        </p:nvSpPr>
        <p:spPr>
          <a:xfrm>
            <a:off x="3273552" y="4517136"/>
            <a:ext cx="3630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6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 clearly.   Remain controlled.   Act decisively.</a:t>
            </a:r>
            <a:endParaRPr lang="en-US" sz="960" dirty="0"/>
          </a:p>
        </p:txBody>
      </p:sp>
      <p:sp>
        <p:nvSpPr>
          <p:cNvPr id="21" name="Text 17"/>
          <p:cNvSpPr/>
          <p:nvPr/>
        </p:nvSpPr>
        <p:spPr>
          <a:xfrm>
            <a:off x="457200" y="4937760"/>
            <a:ext cx="6647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60" b="1" spc="140" kern="0" dirty="0">
                <a:solidFill>
                  <a:srgbClr val="0025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APPLICATIONS</a:t>
            </a:r>
            <a:endParaRPr lang="en-US" sz="760" dirty="0"/>
          </a:p>
        </p:txBody>
      </p:sp>
      <p:sp>
        <p:nvSpPr>
          <p:cNvPr id="22" name="Shape 18"/>
          <p:cNvSpPr/>
          <p:nvPr/>
        </p:nvSpPr>
        <p:spPr>
          <a:xfrm>
            <a:off x="457200" y="5138928"/>
            <a:ext cx="156591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2B7"/>
            </a:solidFill>
            <a:prstDash val="solid"/>
          </a:ln>
        </p:spPr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4395" y="5193792"/>
            <a:ext cx="731520" cy="731520"/>
          </a:xfrm>
          <a:prstGeom prst="rect">
            <a:avLst/>
          </a:prstGeom>
        </p:spPr>
      </p:pic>
      <p:sp>
        <p:nvSpPr>
          <p:cNvPr id="24" name="Text 19"/>
          <p:cNvSpPr/>
          <p:nvPr/>
        </p:nvSpPr>
        <p:spPr>
          <a:xfrm>
            <a:off x="457200" y="5998464"/>
            <a:ext cx="156591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6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white</a:t>
            </a:r>
            <a:endParaRPr lang="en-US" sz="660" dirty="0"/>
          </a:p>
        </p:txBody>
      </p:sp>
      <p:sp>
        <p:nvSpPr>
          <p:cNvPr id="25" name="Shape 20"/>
          <p:cNvSpPr/>
          <p:nvPr/>
        </p:nvSpPr>
        <p:spPr>
          <a:xfrm>
            <a:off x="2151126" y="5138928"/>
            <a:ext cx="1565910" cy="109728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68321" y="5193792"/>
            <a:ext cx="731520" cy="731520"/>
          </a:xfrm>
          <a:prstGeom prst="rect">
            <a:avLst/>
          </a:prstGeom>
        </p:spPr>
      </p:pic>
      <p:sp>
        <p:nvSpPr>
          <p:cNvPr id="27" name="Text 21"/>
          <p:cNvSpPr/>
          <p:nvPr/>
        </p:nvSpPr>
        <p:spPr>
          <a:xfrm>
            <a:off x="2151126" y="5998464"/>
            <a:ext cx="156591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60" dirty="0">
                <a:solidFill>
                  <a:srgbClr val="CDD2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Single colour</a:t>
            </a:r>
            <a:endParaRPr lang="en-US" sz="660" dirty="0"/>
          </a:p>
        </p:txBody>
      </p:sp>
      <p:sp>
        <p:nvSpPr>
          <p:cNvPr id="28" name="Shape 22"/>
          <p:cNvSpPr/>
          <p:nvPr/>
        </p:nvSpPr>
        <p:spPr>
          <a:xfrm>
            <a:off x="3845052" y="5138928"/>
            <a:ext cx="1565910" cy="1097280"/>
          </a:xfrm>
          <a:prstGeom prst="rect">
            <a:avLst/>
          </a:prstGeom>
          <a:solidFill>
            <a:srgbClr val="002516"/>
          </a:solidFill>
          <a:ln/>
        </p:spPr>
      </p:sp>
      <p:pic>
        <p:nvPicPr>
          <p:cNvPr id="2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62247" y="5193792"/>
            <a:ext cx="731520" cy="731520"/>
          </a:xfrm>
          <a:prstGeom prst="rect">
            <a:avLst/>
          </a:prstGeom>
        </p:spPr>
      </p:pic>
      <p:sp>
        <p:nvSpPr>
          <p:cNvPr id="30" name="Text 23"/>
          <p:cNvSpPr/>
          <p:nvPr/>
        </p:nvSpPr>
        <p:spPr>
          <a:xfrm>
            <a:off x="3845052" y="5998464"/>
            <a:ext cx="156591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60" dirty="0">
                <a:solidFill>
                  <a:srgbClr val="CDD2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the patch</a:t>
            </a:r>
            <a:endParaRPr lang="en-US" sz="660" dirty="0"/>
          </a:p>
        </p:txBody>
      </p:sp>
      <p:sp>
        <p:nvSpPr>
          <p:cNvPr id="31" name="Shape 24"/>
          <p:cNvSpPr/>
          <p:nvPr/>
        </p:nvSpPr>
        <p:spPr>
          <a:xfrm>
            <a:off x="5538978" y="5138928"/>
            <a:ext cx="156591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2B7"/>
            </a:solidFill>
            <a:prstDash val="solid"/>
          </a:ln>
        </p:spPr>
      </p:sp>
      <p:pic>
        <p:nvPicPr>
          <p:cNvPr id="3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39053" y="5376672"/>
            <a:ext cx="365760" cy="365760"/>
          </a:xfrm>
          <a:prstGeom prst="rect">
            <a:avLst/>
          </a:prstGeom>
        </p:spPr>
      </p:pic>
      <p:sp>
        <p:nvSpPr>
          <p:cNvPr id="33" name="Text 25"/>
          <p:cNvSpPr/>
          <p:nvPr/>
        </p:nvSpPr>
        <p:spPr>
          <a:xfrm>
            <a:off x="5538978" y="5998464"/>
            <a:ext cx="156591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6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Reduced</a:t>
            </a:r>
            <a:endParaRPr lang="en-US" sz="660" dirty="0"/>
          </a:p>
        </p:txBody>
      </p:sp>
      <p:sp>
        <p:nvSpPr>
          <p:cNvPr id="34" name="Text 26"/>
          <p:cNvSpPr/>
          <p:nvPr/>
        </p:nvSpPr>
        <p:spPr>
          <a:xfrm>
            <a:off x="457200" y="6364224"/>
            <a:ext cx="6647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60" b="1" spc="140" kern="0" dirty="0">
                <a:solidFill>
                  <a:srgbClr val="0025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 SIZE</a:t>
            </a:r>
            <a:endParaRPr lang="en-US" sz="760" dirty="0"/>
          </a:p>
        </p:txBody>
      </p:sp>
      <p:sp>
        <p:nvSpPr>
          <p:cNvPr id="35" name="Shape 27"/>
          <p:cNvSpPr/>
          <p:nvPr/>
        </p:nvSpPr>
        <p:spPr>
          <a:xfrm>
            <a:off x="457200" y="6565392"/>
            <a:ext cx="6647688" cy="1133856"/>
          </a:xfrm>
          <a:prstGeom prst="rect">
            <a:avLst/>
          </a:prstGeom>
          <a:solidFill>
            <a:srgbClr val="FFFFFF"/>
          </a:solidFill>
          <a:ln w="12700">
            <a:solidFill>
              <a:srgbClr val="CDD2B7"/>
            </a:solidFill>
            <a:prstDash val="solid"/>
          </a:ln>
        </p:spPr>
      </p:sp>
      <p:pic>
        <p:nvPicPr>
          <p:cNvPr id="36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371600" y="6675120"/>
            <a:ext cx="804672" cy="804672"/>
          </a:xfrm>
          <a:prstGeom prst="rect">
            <a:avLst/>
          </a:prstGeom>
        </p:spPr>
      </p:pic>
      <p:sp>
        <p:nvSpPr>
          <p:cNvPr id="37" name="Text 28"/>
          <p:cNvSpPr/>
          <p:nvPr/>
        </p:nvSpPr>
        <p:spPr>
          <a:xfrm>
            <a:off x="1453896" y="742492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6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mm</a:t>
            </a:r>
            <a:endParaRPr lang="en-US" sz="660" dirty="0"/>
          </a:p>
        </p:txBody>
      </p:sp>
      <p:pic>
        <p:nvPicPr>
          <p:cNvPr id="38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670048" y="6812280"/>
            <a:ext cx="530352" cy="530352"/>
          </a:xfrm>
          <a:prstGeom prst="rect">
            <a:avLst/>
          </a:prstGeom>
        </p:spPr>
      </p:pic>
      <p:sp>
        <p:nvSpPr>
          <p:cNvPr id="39" name="Text 29"/>
          <p:cNvSpPr/>
          <p:nvPr/>
        </p:nvSpPr>
        <p:spPr>
          <a:xfrm>
            <a:off x="2615184" y="742492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6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mm</a:t>
            </a:r>
            <a:endParaRPr lang="en-US" sz="660" dirty="0"/>
          </a:p>
        </p:txBody>
      </p:sp>
      <p:pic>
        <p:nvPicPr>
          <p:cNvPr id="40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694176" y="6917436"/>
            <a:ext cx="320040" cy="320040"/>
          </a:xfrm>
          <a:prstGeom prst="rect">
            <a:avLst/>
          </a:prstGeom>
        </p:spPr>
      </p:pic>
      <p:sp>
        <p:nvSpPr>
          <p:cNvPr id="41" name="Text 30"/>
          <p:cNvSpPr/>
          <p:nvPr/>
        </p:nvSpPr>
        <p:spPr>
          <a:xfrm>
            <a:off x="3534156" y="742492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6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mm</a:t>
            </a:r>
            <a:endParaRPr lang="en-US" sz="660" dirty="0"/>
          </a:p>
        </p:txBody>
      </p:sp>
      <p:pic>
        <p:nvPicPr>
          <p:cNvPr id="42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507992" y="6986016"/>
            <a:ext cx="182880" cy="182880"/>
          </a:xfrm>
          <a:prstGeom prst="rect">
            <a:avLst/>
          </a:prstGeom>
        </p:spPr>
      </p:pic>
      <p:sp>
        <p:nvSpPr>
          <p:cNvPr id="43" name="Text 31"/>
          <p:cNvSpPr/>
          <p:nvPr/>
        </p:nvSpPr>
        <p:spPr>
          <a:xfrm>
            <a:off x="4279392" y="742492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6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mm</a:t>
            </a:r>
            <a:endParaRPr lang="en-US" sz="660" dirty="0"/>
          </a:p>
        </p:txBody>
      </p:sp>
      <p:sp>
        <p:nvSpPr>
          <p:cNvPr id="44" name="Text 32"/>
          <p:cNvSpPr/>
          <p:nvPr/>
        </p:nvSpPr>
        <p:spPr>
          <a:xfrm>
            <a:off x="457200" y="7863840"/>
            <a:ext cx="6647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60" b="1" spc="140" kern="0" dirty="0">
                <a:solidFill>
                  <a:srgbClr val="0025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THE HEAD, NOT THE WHOLE WEAPON</a:t>
            </a:r>
            <a:endParaRPr lang="en-US" sz="760" dirty="0"/>
          </a:p>
        </p:txBody>
      </p:sp>
      <p:sp>
        <p:nvSpPr>
          <p:cNvPr id="45" name="Shape 33"/>
          <p:cNvSpPr/>
          <p:nvPr/>
        </p:nvSpPr>
        <p:spPr>
          <a:xfrm>
            <a:off x="457200" y="8065008"/>
            <a:ext cx="1737360" cy="1170432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46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22376" y="8211312"/>
            <a:ext cx="877824" cy="877824"/>
          </a:xfrm>
          <a:prstGeom prst="rect">
            <a:avLst/>
          </a:prstGeom>
        </p:spPr>
      </p:pic>
      <p:sp>
        <p:nvSpPr>
          <p:cNvPr id="47" name="Shape 34"/>
          <p:cNvSpPr/>
          <p:nvPr/>
        </p:nvSpPr>
        <p:spPr>
          <a:xfrm>
            <a:off x="2322576" y="8065008"/>
            <a:ext cx="173736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CDD2B7"/>
            </a:solidFill>
            <a:prstDash val="solid"/>
          </a:ln>
        </p:spPr>
      </p:sp>
      <p:pic>
        <p:nvPicPr>
          <p:cNvPr id="48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852928" y="8394192"/>
            <a:ext cx="676656" cy="676656"/>
          </a:xfrm>
          <a:prstGeom prst="rect">
            <a:avLst/>
          </a:prstGeom>
        </p:spPr>
      </p:pic>
      <p:sp>
        <p:nvSpPr>
          <p:cNvPr id="49" name="Text 35"/>
          <p:cNvSpPr/>
          <p:nvPr/>
        </p:nvSpPr>
        <p:spPr>
          <a:xfrm>
            <a:off x="4206240" y="8101584"/>
            <a:ext cx="289864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4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Drawn to true proportions the taiaha is very slender: the ate is roughly one fiftieth of its length. At badge size that shaft becomes a hairline and the weapon reads as a stick. The mark therefore carries the arero and upoko, the part that is unmistakably a taiaha, with the collar binding struck in red.</a:t>
            </a:r>
            <a:endParaRPr lang="en-US" sz="840" dirty="0"/>
          </a:p>
        </p:txBody>
      </p:sp>
      <p:sp>
        <p:nvSpPr>
          <p:cNvPr id="50" name="Text 36"/>
          <p:cNvSpPr/>
          <p:nvPr/>
        </p:nvSpPr>
        <p:spPr>
          <a:xfrm>
            <a:off x="457200" y="9381744"/>
            <a:ext cx="66476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800" b="1" dirty="0">
                <a:solidFill>
                  <a:srgbClr val="0025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Note.  </a:t>
            </a:r>
            <a:pPr algn="l" indent="0" marL="0">
              <a:lnSpc>
                <a:spcPct val="110000"/>
              </a:lnSpc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taiaha already appears in NZ Army heraldry, so this draws on the Army's own device rather than introducing new imagery. Even so, a mark that places a taiaha at its centre should be confirmed through the appropriate cultural advice before it is adopted.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Army Command School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Combat Mindset Taiaha Mark</dc:title>
  <dc:subject>PptxGenJS Presentation</dc:subject>
  <dc:creator>PptxGenJS</dc:creator>
  <cp:lastModifiedBy>PptxGenJS</cp:lastModifiedBy>
  <cp:revision>1</cp:revision>
  <dcterms:created xsi:type="dcterms:W3CDTF">2026-08-05T09:55:03Z</dcterms:created>
  <dcterms:modified xsi:type="dcterms:W3CDTF">2026-08-05T09:55:03Z</dcterms:modified>
</cp:coreProperties>
</file>