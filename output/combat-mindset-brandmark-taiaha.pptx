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PUP/2d4cec0e-a52e-5368-bb54-803c6f37698d/scratchpad/logo-trimmed.png">    </p:cNvPr>
          <p:cNvPicPr>
            <a:picLocks noChangeAspect="1"/>
          </p:cNvPicPr>
          <p:nvPr/>
        </p:nvPicPr>
        <p:blipFill>
          <a:blip r:embed="rId1"/>
          <a:stretch>
            <a:fillRect/>
          </a:stretch>
        </p:blipFill>
        <p:spPr>
          <a:xfrm>
            <a:off x="457200" y="329184"/>
            <a:ext cx="1572768" cy="380390"/>
          </a:xfrm>
          <a:prstGeom prst="rect">
            <a:avLst/>
          </a:prstGeom>
        </p:spPr>
      </p:pic>
      <p:sp>
        <p:nvSpPr>
          <p:cNvPr id="3" name="Text 0"/>
          <p:cNvSpPr/>
          <p:nvPr/>
        </p:nvSpPr>
        <p:spPr>
          <a:xfrm>
            <a:off x="457200" y="804672"/>
            <a:ext cx="6647688" cy="365760"/>
          </a:xfrm>
          <a:prstGeom prst="rect">
            <a:avLst/>
          </a:prstGeom>
          <a:noFill/>
          <a:ln/>
        </p:spPr>
        <p:txBody>
          <a:bodyPr wrap="square" lIns="0" tIns="0" rIns="0" bIns="0" rtlCol="0" anchor="ctr"/>
          <a:lstStyle/>
          <a:p>
            <a:pPr algn="l" indent="0" marL="0">
              <a:buNone/>
            </a:pPr>
            <a:r>
              <a:rPr lang="en-US" sz="2200" b="1" dirty="0">
                <a:solidFill>
                  <a:srgbClr val="000000"/>
                </a:solidFill>
                <a:latin typeface="Arial" pitchFamily="34" charset="0"/>
                <a:ea typeface="Arial" pitchFamily="34" charset="-122"/>
                <a:cs typeface="Arial" pitchFamily="34" charset="-120"/>
              </a:rPr>
              <a:t>COMBAT MINDSET BRANDMARK</a:t>
            </a:r>
            <a:endParaRPr lang="en-US" sz="2200" dirty="0"/>
          </a:p>
        </p:txBody>
      </p:sp>
      <p:sp>
        <p:nvSpPr>
          <p:cNvPr id="4" name="Text 1"/>
          <p:cNvSpPr/>
          <p:nvPr/>
        </p:nvSpPr>
        <p:spPr>
          <a:xfrm>
            <a:off x="457200" y="1152144"/>
            <a:ext cx="6647688" cy="201168"/>
          </a:xfrm>
          <a:prstGeom prst="rect">
            <a:avLst/>
          </a:prstGeom>
          <a:noFill/>
          <a:ln/>
        </p:spPr>
        <p:txBody>
          <a:bodyPr wrap="square" lIns="0" tIns="0" rIns="0" bIns="0" rtlCol="0" anchor="ctr"/>
          <a:lstStyle/>
          <a:p>
            <a:pPr algn="l" indent="0" marL="0">
              <a:buNone/>
            </a:pPr>
            <a:r>
              <a:rPr lang="en-US" sz="1100" dirty="0">
                <a:solidFill>
                  <a:srgbClr val="002516"/>
                </a:solidFill>
                <a:latin typeface="Arial" pitchFamily="34" charset="0"/>
                <a:ea typeface="Arial" pitchFamily="34" charset="-122"/>
                <a:cs typeface="Arial" pitchFamily="34" charset="-120"/>
              </a:rPr>
              <a:t>The taiaha at the centre</a:t>
            </a:r>
            <a:endParaRPr lang="en-US" sz="1100" dirty="0"/>
          </a:p>
        </p:txBody>
      </p:sp>
      <p:sp>
        <p:nvSpPr>
          <p:cNvPr id="5" name="Text 2"/>
          <p:cNvSpPr/>
          <p:nvPr/>
        </p:nvSpPr>
        <p:spPr>
          <a:xfrm>
            <a:off x="457200" y="1353312"/>
            <a:ext cx="5184648" cy="182880"/>
          </a:xfrm>
          <a:prstGeom prst="rect">
            <a:avLst/>
          </a:prstGeom>
          <a:noFill/>
          <a:ln/>
        </p:spPr>
        <p:txBody>
          <a:bodyPr wrap="square" lIns="0" tIns="0" rIns="0" bIns="0" rtlCol="0" anchor="ctr"/>
          <a:lstStyle/>
          <a:p>
            <a:pPr algn="l" indent="0" marL="0">
              <a:buNone/>
            </a:pPr>
            <a:r>
              <a:rPr lang="en-US" sz="850" i="1" dirty="0">
                <a:solidFill>
                  <a:srgbClr val="7F7F7F"/>
                </a:solidFill>
                <a:latin typeface="Arial" pitchFamily="34" charset="0"/>
                <a:ea typeface="Arial" pitchFamily="34" charset="-122"/>
                <a:cs typeface="Arial" pitchFamily="34" charset="-120"/>
              </a:rPr>
              <a:t>Army Command School</a:t>
            </a:r>
            <a:endParaRPr lang="en-US" sz="850" dirty="0"/>
          </a:p>
        </p:txBody>
      </p:sp>
      <p:sp>
        <p:nvSpPr>
          <p:cNvPr id="6" name="Text 3"/>
          <p:cNvSpPr/>
          <p:nvPr/>
        </p:nvSpPr>
        <p:spPr>
          <a:xfrm>
            <a:off x="5641848" y="1353312"/>
            <a:ext cx="1463040" cy="182880"/>
          </a:xfrm>
          <a:prstGeom prst="rect">
            <a:avLst/>
          </a:prstGeom>
          <a:noFill/>
          <a:ln/>
        </p:spPr>
        <p:txBody>
          <a:bodyPr wrap="square" lIns="0" tIns="0" rIns="0" bIns="0" rtlCol="0" anchor="ctr"/>
          <a:lstStyle/>
          <a:p>
            <a:pPr algn="r" indent="0" marL="0">
              <a:buNone/>
            </a:pPr>
            <a:r>
              <a:rPr lang="en-US" sz="850" dirty="0">
                <a:solidFill>
                  <a:srgbClr val="7F7F7F"/>
                </a:solidFill>
                <a:latin typeface="Arial" pitchFamily="34" charset="0"/>
                <a:ea typeface="Arial" pitchFamily="34" charset="-122"/>
                <a:cs typeface="Arial" pitchFamily="34" charset="-120"/>
              </a:rPr>
              <a:t>August 2026</a:t>
            </a:r>
            <a:endParaRPr lang="en-US" sz="850" dirty="0"/>
          </a:p>
        </p:txBody>
      </p:sp>
      <p:sp>
        <p:nvSpPr>
          <p:cNvPr id="7" name="Shape 4"/>
          <p:cNvSpPr/>
          <p:nvPr/>
        </p:nvSpPr>
        <p:spPr>
          <a:xfrm>
            <a:off x="457200" y="1591056"/>
            <a:ext cx="6647688" cy="25603"/>
          </a:xfrm>
          <a:prstGeom prst="rect">
            <a:avLst/>
          </a:prstGeom>
          <a:solidFill>
            <a:srgbClr val="C62026"/>
          </a:solidFill>
          <a:ln/>
        </p:spPr>
      </p:sp>
      <p:sp>
        <p:nvSpPr>
          <p:cNvPr id="8" name="Text 5"/>
          <p:cNvSpPr/>
          <p:nvPr/>
        </p:nvSpPr>
        <p:spPr>
          <a:xfrm>
            <a:off x="457200" y="1737360"/>
            <a:ext cx="6647688" cy="457200"/>
          </a:xfrm>
          <a:prstGeom prst="rect">
            <a:avLst/>
          </a:prstGeom>
          <a:noFill/>
          <a:ln/>
        </p:spPr>
        <p:txBody>
          <a:bodyPr wrap="square" lIns="0" tIns="0" rIns="0" bIns="0" rtlCol="0" anchor="t"/>
          <a:lstStyle/>
          <a:p>
            <a:pPr algn="l" indent="0" marL="0">
              <a:lnSpc>
                <a:spcPct val="115000"/>
              </a:lnSpc>
              <a:buNone/>
            </a:pPr>
            <a:r>
              <a:rPr lang="en-US" sz="900" dirty="0">
                <a:solidFill>
                  <a:srgbClr val="000000"/>
                </a:solidFill>
                <a:latin typeface="Arial" pitchFamily="34" charset="0"/>
                <a:ea typeface="Arial" pitchFamily="34" charset="-122"/>
                <a:cs typeface="Arial" pitchFamily="34" charset="-120"/>
              </a:rPr>
              <a:t>The taiaha is a stronger centre than a spearhead. It is a rangatira's weapon, carrying skill, discipline and mana rather than force alone, and it already sits in NZ Army heraldry. It is drawn here in silhouette only: arero, upoko, ate and rau, with no carving detail.</a:t>
            </a:r>
            <a:endParaRPr lang="en-US" sz="900" dirty="0"/>
          </a:p>
        </p:txBody>
      </p:sp>
      <p:sp>
        <p:nvSpPr>
          <p:cNvPr id="9" name="Shape 6"/>
          <p:cNvSpPr/>
          <p:nvPr/>
        </p:nvSpPr>
        <p:spPr>
          <a:xfrm>
            <a:off x="457200" y="2249424"/>
            <a:ext cx="6647688" cy="2560320"/>
          </a:xfrm>
          <a:prstGeom prst="rect">
            <a:avLst/>
          </a:prstGeom>
          <a:solidFill>
            <a:srgbClr val="000000"/>
          </a:solidFill>
          <a:ln/>
        </p:spPr>
      </p:sp>
      <p:pic>
        <p:nvPicPr>
          <p:cNvPr id="10" name="Image 1" descr="preencoded.png">    </p:cNvPr>
          <p:cNvPicPr>
            <a:picLocks noChangeAspect="1"/>
          </p:cNvPicPr>
          <p:nvPr/>
        </p:nvPicPr>
        <p:blipFill>
          <a:blip r:embed="rId2"/>
          <a:stretch>
            <a:fillRect/>
          </a:stretch>
        </p:blipFill>
        <p:spPr>
          <a:xfrm>
            <a:off x="841248" y="2468880"/>
            <a:ext cx="2121408" cy="2121408"/>
          </a:xfrm>
          <a:prstGeom prst="rect">
            <a:avLst/>
          </a:prstGeom>
        </p:spPr>
      </p:pic>
      <p:sp>
        <p:nvSpPr>
          <p:cNvPr id="11" name="Shape 7"/>
          <p:cNvSpPr/>
          <p:nvPr/>
        </p:nvSpPr>
        <p:spPr>
          <a:xfrm>
            <a:off x="3273552" y="2715768"/>
            <a:ext cx="45720" cy="137160"/>
          </a:xfrm>
          <a:prstGeom prst="rect">
            <a:avLst/>
          </a:prstGeom>
          <a:solidFill>
            <a:srgbClr val="C62026"/>
          </a:solidFill>
          <a:ln/>
        </p:spPr>
      </p:sp>
      <p:sp>
        <p:nvSpPr>
          <p:cNvPr id="12" name="Text 8"/>
          <p:cNvSpPr/>
          <p:nvPr/>
        </p:nvSpPr>
        <p:spPr>
          <a:xfrm>
            <a:off x="3419856" y="2688336"/>
            <a:ext cx="2011680" cy="182880"/>
          </a:xfrm>
          <a:prstGeom prst="rect">
            <a:avLst/>
          </a:prstGeom>
          <a:noFill/>
          <a:ln/>
        </p:spPr>
        <p:txBody>
          <a:bodyPr wrap="square" lIns="0" tIns="0" rIns="0" bIns="0" rtlCol="0" anchor="ctr"/>
          <a:lstStyle/>
          <a:p>
            <a:pPr algn="l" indent="0" marL="0">
              <a:buNone/>
            </a:pPr>
            <a:r>
              <a:rPr lang="en-US" sz="940" b="1" dirty="0">
                <a:solidFill>
                  <a:srgbClr val="FFFFFF"/>
                </a:solidFill>
                <a:latin typeface="Arial" pitchFamily="34" charset="0"/>
                <a:ea typeface="Arial" pitchFamily="34" charset="-122"/>
                <a:cs typeface="Arial" pitchFamily="34" charset="-120"/>
              </a:rPr>
              <a:t>Three arcs</a:t>
            </a:r>
            <a:endParaRPr lang="en-US" sz="940" dirty="0"/>
          </a:p>
        </p:txBody>
      </p:sp>
      <p:sp>
        <p:nvSpPr>
          <p:cNvPr id="13" name="Text 9"/>
          <p:cNvSpPr/>
          <p:nvPr/>
        </p:nvSpPr>
        <p:spPr>
          <a:xfrm>
            <a:off x="3419856" y="2871216"/>
            <a:ext cx="3447288" cy="365760"/>
          </a:xfrm>
          <a:prstGeom prst="rect">
            <a:avLst/>
          </a:prstGeom>
          <a:noFill/>
          <a:ln/>
        </p:spPr>
        <p:txBody>
          <a:bodyPr wrap="square" lIns="0" tIns="0" rIns="0" bIns="0" rtlCol="0" anchor="t"/>
          <a:lstStyle/>
          <a:p>
            <a:pPr algn="l" indent="0" marL="0">
              <a:lnSpc>
                <a:spcPct val="110000"/>
              </a:lnSpc>
              <a:buNone/>
            </a:pPr>
            <a:r>
              <a:rPr lang="en-US" sz="840" dirty="0">
                <a:solidFill>
                  <a:srgbClr val="CDD2B7"/>
                </a:solidFill>
                <a:latin typeface="Arial" pitchFamily="34" charset="0"/>
                <a:ea typeface="Arial" pitchFamily="34" charset="-122"/>
                <a:cs typeface="Arial" pitchFamily="34" charset="-120"/>
              </a:rPr>
              <a:t>The pressure that surrounds, and the Prepare, Perform, Recover cycle.</a:t>
            </a:r>
            <a:endParaRPr lang="en-US" sz="840" dirty="0"/>
          </a:p>
        </p:txBody>
      </p:sp>
      <p:sp>
        <p:nvSpPr>
          <p:cNvPr id="14" name="Shape 10"/>
          <p:cNvSpPr/>
          <p:nvPr/>
        </p:nvSpPr>
        <p:spPr>
          <a:xfrm>
            <a:off x="3273552" y="3355848"/>
            <a:ext cx="45720" cy="137160"/>
          </a:xfrm>
          <a:prstGeom prst="rect">
            <a:avLst/>
          </a:prstGeom>
          <a:solidFill>
            <a:srgbClr val="C62026"/>
          </a:solidFill>
          <a:ln/>
        </p:spPr>
      </p:sp>
      <p:sp>
        <p:nvSpPr>
          <p:cNvPr id="15" name="Text 11"/>
          <p:cNvSpPr/>
          <p:nvPr/>
        </p:nvSpPr>
        <p:spPr>
          <a:xfrm>
            <a:off x="3419856" y="3328416"/>
            <a:ext cx="2011680" cy="182880"/>
          </a:xfrm>
          <a:prstGeom prst="rect">
            <a:avLst/>
          </a:prstGeom>
          <a:noFill/>
          <a:ln/>
        </p:spPr>
        <p:txBody>
          <a:bodyPr wrap="square" lIns="0" tIns="0" rIns="0" bIns="0" rtlCol="0" anchor="ctr"/>
          <a:lstStyle/>
          <a:p>
            <a:pPr algn="l" indent="0" marL="0">
              <a:buNone/>
            </a:pPr>
            <a:r>
              <a:rPr lang="en-US" sz="940" b="1" dirty="0">
                <a:solidFill>
                  <a:srgbClr val="FFFFFF"/>
                </a:solidFill>
                <a:latin typeface="Arial" pitchFamily="34" charset="0"/>
                <a:ea typeface="Arial" pitchFamily="34" charset="-122"/>
                <a:cs typeface="Arial" pitchFamily="34" charset="-120"/>
              </a:rPr>
              <a:t>A solid core</a:t>
            </a:r>
            <a:endParaRPr lang="en-US" sz="940" dirty="0"/>
          </a:p>
        </p:txBody>
      </p:sp>
      <p:sp>
        <p:nvSpPr>
          <p:cNvPr id="16" name="Text 12"/>
          <p:cNvSpPr/>
          <p:nvPr/>
        </p:nvSpPr>
        <p:spPr>
          <a:xfrm>
            <a:off x="3419856" y="3511296"/>
            <a:ext cx="3447288" cy="365760"/>
          </a:xfrm>
          <a:prstGeom prst="rect">
            <a:avLst/>
          </a:prstGeom>
          <a:noFill/>
          <a:ln/>
        </p:spPr>
        <p:txBody>
          <a:bodyPr wrap="square" lIns="0" tIns="0" rIns="0" bIns="0" rtlCol="0" anchor="t"/>
          <a:lstStyle/>
          <a:p>
            <a:pPr algn="l" indent="0" marL="0">
              <a:lnSpc>
                <a:spcPct val="110000"/>
              </a:lnSpc>
              <a:buNone/>
            </a:pPr>
            <a:r>
              <a:rPr lang="en-US" sz="840" dirty="0">
                <a:solidFill>
                  <a:srgbClr val="CDD2B7"/>
                </a:solidFill>
                <a:latin typeface="Arial" pitchFamily="34" charset="0"/>
                <a:ea typeface="Arial" pitchFamily="34" charset="-122"/>
                <a:cs typeface="Arial" pitchFamily="34" charset="-120"/>
              </a:rPr>
              <a:t>Self-command. The centre holds while the environment does not.</a:t>
            </a:r>
            <a:endParaRPr lang="en-US" sz="840" dirty="0"/>
          </a:p>
        </p:txBody>
      </p:sp>
      <p:sp>
        <p:nvSpPr>
          <p:cNvPr id="17" name="Shape 13"/>
          <p:cNvSpPr/>
          <p:nvPr/>
        </p:nvSpPr>
        <p:spPr>
          <a:xfrm>
            <a:off x="3273552" y="3995928"/>
            <a:ext cx="45720" cy="137160"/>
          </a:xfrm>
          <a:prstGeom prst="rect">
            <a:avLst/>
          </a:prstGeom>
          <a:solidFill>
            <a:srgbClr val="C62026"/>
          </a:solidFill>
          <a:ln/>
        </p:spPr>
      </p:sp>
      <p:sp>
        <p:nvSpPr>
          <p:cNvPr id="18" name="Text 14"/>
          <p:cNvSpPr/>
          <p:nvPr/>
        </p:nvSpPr>
        <p:spPr>
          <a:xfrm>
            <a:off x="3419856" y="3968496"/>
            <a:ext cx="2011680" cy="182880"/>
          </a:xfrm>
          <a:prstGeom prst="rect">
            <a:avLst/>
          </a:prstGeom>
          <a:noFill/>
          <a:ln/>
        </p:spPr>
        <p:txBody>
          <a:bodyPr wrap="square" lIns="0" tIns="0" rIns="0" bIns="0" rtlCol="0" anchor="ctr"/>
          <a:lstStyle/>
          <a:p>
            <a:pPr algn="l" indent="0" marL="0">
              <a:buNone/>
            </a:pPr>
            <a:r>
              <a:rPr lang="en-US" sz="940" b="1" dirty="0">
                <a:solidFill>
                  <a:srgbClr val="FFFFFF"/>
                </a:solidFill>
                <a:latin typeface="Arial" pitchFamily="34" charset="0"/>
                <a:ea typeface="Arial" pitchFamily="34" charset="-122"/>
                <a:cs typeface="Arial" pitchFamily="34" charset="-120"/>
              </a:rPr>
              <a:t>The taiaha</a:t>
            </a:r>
            <a:endParaRPr lang="en-US" sz="940" dirty="0"/>
          </a:p>
        </p:txBody>
      </p:sp>
      <p:sp>
        <p:nvSpPr>
          <p:cNvPr id="19" name="Text 15"/>
          <p:cNvSpPr/>
          <p:nvPr/>
        </p:nvSpPr>
        <p:spPr>
          <a:xfrm>
            <a:off x="3419856" y="4151376"/>
            <a:ext cx="3447288" cy="365760"/>
          </a:xfrm>
          <a:prstGeom prst="rect">
            <a:avLst/>
          </a:prstGeom>
          <a:noFill/>
          <a:ln/>
        </p:spPr>
        <p:txBody>
          <a:bodyPr wrap="square" lIns="0" tIns="0" rIns="0" bIns="0" rtlCol="0" anchor="t"/>
          <a:lstStyle/>
          <a:p>
            <a:pPr algn="l" indent="0" marL="0">
              <a:lnSpc>
                <a:spcPct val="110000"/>
              </a:lnSpc>
              <a:buNone/>
            </a:pPr>
            <a:r>
              <a:rPr lang="en-US" sz="840" dirty="0">
                <a:solidFill>
                  <a:srgbClr val="CDD2B7"/>
                </a:solidFill>
                <a:latin typeface="Arial" pitchFamily="34" charset="0"/>
                <a:ea typeface="Arial" pitchFamily="34" charset="-122"/>
                <a:cs typeface="Arial" pitchFamily="34" charset="-120"/>
              </a:rPr>
              <a:t>Trained, disciplined capability. Held ready, used decisively.</a:t>
            </a:r>
            <a:endParaRPr lang="en-US" sz="840" dirty="0"/>
          </a:p>
        </p:txBody>
      </p:sp>
      <p:sp>
        <p:nvSpPr>
          <p:cNvPr id="20" name="Text 16"/>
          <p:cNvSpPr/>
          <p:nvPr/>
        </p:nvSpPr>
        <p:spPr>
          <a:xfrm>
            <a:off x="3273552" y="4517136"/>
            <a:ext cx="3630168" cy="201168"/>
          </a:xfrm>
          <a:prstGeom prst="rect">
            <a:avLst/>
          </a:prstGeom>
          <a:noFill/>
          <a:ln/>
        </p:spPr>
        <p:txBody>
          <a:bodyPr wrap="square" lIns="0" tIns="0" rIns="0" bIns="0" rtlCol="0" anchor="ctr"/>
          <a:lstStyle/>
          <a:p>
            <a:pPr algn="l" indent="0" marL="0">
              <a:buNone/>
            </a:pPr>
            <a:r>
              <a:rPr lang="en-US" sz="960" i="1" dirty="0">
                <a:solidFill>
                  <a:srgbClr val="FFFFFF"/>
                </a:solidFill>
                <a:latin typeface="Arial" pitchFamily="34" charset="0"/>
                <a:ea typeface="Arial" pitchFamily="34" charset="-122"/>
                <a:cs typeface="Arial" pitchFamily="34" charset="-120"/>
              </a:rPr>
              <a:t>See clearly.   Remain controlled.   Act decisively.</a:t>
            </a:r>
            <a:endParaRPr lang="en-US" sz="960" dirty="0"/>
          </a:p>
        </p:txBody>
      </p:sp>
      <p:sp>
        <p:nvSpPr>
          <p:cNvPr id="21" name="Text 17"/>
          <p:cNvSpPr/>
          <p:nvPr/>
        </p:nvSpPr>
        <p:spPr>
          <a:xfrm>
            <a:off x="457200" y="4937760"/>
            <a:ext cx="6647688" cy="182880"/>
          </a:xfrm>
          <a:prstGeom prst="rect">
            <a:avLst/>
          </a:prstGeom>
          <a:noFill/>
          <a:ln/>
        </p:spPr>
        <p:txBody>
          <a:bodyPr wrap="square" lIns="0" tIns="0" rIns="0" bIns="0" rtlCol="0" anchor="ctr"/>
          <a:lstStyle/>
          <a:p>
            <a:pPr algn="l" indent="0" marL="0">
              <a:buNone/>
            </a:pPr>
            <a:r>
              <a:rPr lang="en-US" sz="760" b="1" spc="140" kern="0" dirty="0">
                <a:solidFill>
                  <a:srgbClr val="002516"/>
                </a:solidFill>
                <a:latin typeface="Arial" pitchFamily="34" charset="0"/>
                <a:ea typeface="Arial" pitchFamily="34" charset="-122"/>
                <a:cs typeface="Arial" pitchFamily="34" charset="-120"/>
              </a:rPr>
              <a:t>APPLICATIONS</a:t>
            </a:r>
            <a:endParaRPr lang="en-US" sz="760" dirty="0"/>
          </a:p>
        </p:txBody>
      </p:sp>
      <p:sp>
        <p:nvSpPr>
          <p:cNvPr id="22" name="Shape 18"/>
          <p:cNvSpPr/>
          <p:nvPr/>
        </p:nvSpPr>
        <p:spPr>
          <a:xfrm>
            <a:off x="457200" y="5138928"/>
            <a:ext cx="1565910" cy="1097280"/>
          </a:xfrm>
          <a:prstGeom prst="rect">
            <a:avLst/>
          </a:prstGeom>
          <a:solidFill>
            <a:srgbClr val="FFFFFF"/>
          </a:solidFill>
          <a:ln w="12700">
            <a:solidFill>
              <a:srgbClr val="CDD2B7"/>
            </a:solidFill>
            <a:prstDash val="solid"/>
          </a:ln>
        </p:spPr>
      </p:sp>
      <p:pic>
        <p:nvPicPr>
          <p:cNvPr id="23" name="Image 2" descr="preencoded.png">    </p:cNvPr>
          <p:cNvPicPr>
            <a:picLocks noChangeAspect="1"/>
          </p:cNvPicPr>
          <p:nvPr/>
        </p:nvPicPr>
        <p:blipFill>
          <a:blip r:embed="rId3"/>
          <a:stretch>
            <a:fillRect/>
          </a:stretch>
        </p:blipFill>
        <p:spPr>
          <a:xfrm>
            <a:off x="874395" y="5193792"/>
            <a:ext cx="731520" cy="731520"/>
          </a:xfrm>
          <a:prstGeom prst="rect">
            <a:avLst/>
          </a:prstGeom>
        </p:spPr>
      </p:pic>
      <p:sp>
        <p:nvSpPr>
          <p:cNvPr id="24" name="Text 19"/>
          <p:cNvSpPr/>
          <p:nvPr/>
        </p:nvSpPr>
        <p:spPr>
          <a:xfrm>
            <a:off x="457200" y="5998464"/>
            <a:ext cx="156591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On white</a:t>
            </a:r>
            <a:endParaRPr lang="en-US" sz="660" dirty="0"/>
          </a:p>
        </p:txBody>
      </p:sp>
      <p:sp>
        <p:nvSpPr>
          <p:cNvPr id="25" name="Shape 20"/>
          <p:cNvSpPr/>
          <p:nvPr/>
        </p:nvSpPr>
        <p:spPr>
          <a:xfrm>
            <a:off x="2151126" y="5138928"/>
            <a:ext cx="1565910" cy="1097280"/>
          </a:xfrm>
          <a:prstGeom prst="rect">
            <a:avLst/>
          </a:prstGeom>
          <a:solidFill>
            <a:srgbClr val="000000"/>
          </a:solidFill>
          <a:ln/>
        </p:spPr>
      </p:sp>
      <p:pic>
        <p:nvPicPr>
          <p:cNvPr id="26" name="Image 3" descr="preencoded.png">    </p:cNvPr>
          <p:cNvPicPr>
            <a:picLocks noChangeAspect="1"/>
          </p:cNvPicPr>
          <p:nvPr/>
        </p:nvPicPr>
        <p:blipFill>
          <a:blip r:embed="rId4"/>
          <a:stretch>
            <a:fillRect/>
          </a:stretch>
        </p:blipFill>
        <p:spPr>
          <a:xfrm>
            <a:off x="2568321" y="5193792"/>
            <a:ext cx="731520" cy="731520"/>
          </a:xfrm>
          <a:prstGeom prst="rect">
            <a:avLst/>
          </a:prstGeom>
        </p:spPr>
      </p:pic>
      <p:sp>
        <p:nvSpPr>
          <p:cNvPr id="27" name="Text 21"/>
          <p:cNvSpPr/>
          <p:nvPr/>
        </p:nvSpPr>
        <p:spPr>
          <a:xfrm>
            <a:off x="2151126" y="5998464"/>
            <a:ext cx="1565910" cy="164592"/>
          </a:xfrm>
          <a:prstGeom prst="rect">
            <a:avLst/>
          </a:prstGeom>
          <a:noFill/>
          <a:ln/>
        </p:spPr>
        <p:txBody>
          <a:bodyPr wrap="square" lIns="0" tIns="0" rIns="0" bIns="0" rtlCol="0" anchor="ctr"/>
          <a:lstStyle/>
          <a:p>
            <a:pPr algn="ctr" indent="0" marL="0">
              <a:buNone/>
            </a:pPr>
            <a:r>
              <a:rPr lang="en-US" sz="660" dirty="0">
                <a:solidFill>
                  <a:srgbClr val="CDD2B7"/>
                </a:solidFill>
                <a:latin typeface="Arial" pitchFamily="34" charset="0"/>
                <a:ea typeface="Arial" pitchFamily="34" charset="-122"/>
                <a:cs typeface="Arial" pitchFamily="34" charset="-120"/>
              </a:rPr>
              <a:t>Single colour</a:t>
            </a:r>
            <a:endParaRPr lang="en-US" sz="660" dirty="0"/>
          </a:p>
        </p:txBody>
      </p:sp>
      <p:sp>
        <p:nvSpPr>
          <p:cNvPr id="28" name="Shape 22"/>
          <p:cNvSpPr/>
          <p:nvPr/>
        </p:nvSpPr>
        <p:spPr>
          <a:xfrm>
            <a:off x="3845052" y="5138928"/>
            <a:ext cx="1565910" cy="1097280"/>
          </a:xfrm>
          <a:prstGeom prst="rect">
            <a:avLst/>
          </a:prstGeom>
          <a:solidFill>
            <a:srgbClr val="002516"/>
          </a:solidFill>
          <a:ln/>
        </p:spPr>
      </p:sp>
      <p:pic>
        <p:nvPicPr>
          <p:cNvPr id="29" name="Image 4" descr="preencoded.png">    </p:cNvPr>
          <p:cNvPicPr>
            <a:picLocks noChangeAspect="1"/>
          </p:cNvPicPr>
          <p:nvPr/>
        </p:nvPicPr>
        <p:blipFill>
          <a:blip r:embed="rId5"/>
          <a:stretch>
            <a:fillRect/>
          </a:stretch>
        </p:blipFill>
        <p:spPr>
          <a:xfrm>
            <a:off x="4262247" y="5193792"/>
            <a:ext cx="731520" cy="731520"/>
          </a:xfrm>
          <a:prstGeom prst="rect">
            <a:avLst/>
          </a:prstGeom>
        </p:spPr>
      </p:pic>
      <p:sp>
        <p:nvSpPr>
          <p:cNvPr id="30" name="Text 23"/>
          <p:cNvSpPr/>
          <p:nvPr/>
        </p:nvSpPr>
        <p:spPr>
          <a:xfrm>
            <a:off x="3845052" y="5998464"/>
            <a:ext cx="1565910" cy="164592"/>
          </a:xfrm>
          <a:prstGeom prst="rect">
            <a:avLst/>
          </a:prstGeom>
          <a:noFill/>
          <a:ln/>
        </p:spPr>
        <p:txBody>
          <a:bodyPr wrap="square" lIns="0" tIns="0" rIns="0" bIns="0" rtlCol="0" anchor="ctr"/>
          <a:lstStyle/>
          <a:p>
            <a:pPr algn="ctr" indent="0" marL="0">
              <a:buNone/>
            </a:pPr>
            <a:r>
              <a:rPr lang="en-US" sz="660" dirty="0">
                <a:solidFill>
                  <a:srgbClr val="CDD2B7"/>
                </a:solidFill>
                <a:latin typeface="Arial" pitchFamily="34" charset="0"/>
                <a:ea typeface="Arial" pitchFamily="34" charset="-122"/>
                <a:cs typeface="Arial" pitchFamily="34" charset="-120"/>
              </a:rPr>
              <a:t>In the patch</a:t>
            </a:r>
            <a:endParaRPr lang="en-US" sz="660" dirty="0"/>
          </a:p>
        </p:txBody>
      </p:sp>
      <p:sp>
        <p:nvSpPr>
          <p:cNvPr id="31" name="Shape 24"/>
          <p:cNvSpPr/>
          <p:nvPr/>
        </p:nvSpPr>
        <p:spPr>
          <a:xfrm>
            <a:off x="5538978" y="5138928"/>
            <a:ext cx="1565910" cy="1097280"/>
          </a:xfrm>
          <a:prstGeom prst="rect">
            <a:avLst/>
          </a:prstGeom>
          <a:solidFill>
            <a:srgbClr val="FFFFFF"/>
          </a:solidFill>
          <a:ln w="12700">
            <a:solidFill>
              <a:srgbClr val="CDD2B7"/>
            </a:solidFill>
            <a:prstDash val="solid"/>
          </a:ln>
        </p:spPr>
      </p:sp>
      <p:pic>
        <p:nvPicPr>
          <p:cNvPr id="32" name="Image 5" descr="preencoded.png">    </p:cNvPr>
          <p:cNvPicPr>
            <a:picLocks noChangeAspect="1"/>
          </p:cNvPicPr>
          <p:nvPr/>
        </p:nvPicPr>
        <p:blipFill>
          <a:blip r:embed="rId6"/>
          <a:stretch>
            <a:fillRect/>
          </a:stretch>
        </p:blipFill>
        <p:spPr>
          <a:xfrm>
            <a:off x="6139053" y="5376672"/>
            <a:ext cx="365760" cy="365760"/>
          </a:xfrm>
          <a:prstGeom prst="rect">
            <a:avLst/>
          </a:prstGeom>
        </p:spPr>
      </p:pic>
      <p:sp>
        <p:nvSpPr>
          <p:cNvPr id="33" name="Text 25"/>
          <p:cNvSpPr/>
          <p:nvPr/>
        </p:nvSpPr>
        <p:spPr>
          <a:xfrm>
            <a:off x="5538978" y="5998464"/>
            <a:ext cx="156591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Reduced</a:t>
            </a:r>
            <a:endParaRPr lang="en-US" sz="660" dirty="0"/>
          </a:p>
        </p:txBody>
      </p:sp>
      <p:sp>
        <p:nvSpPr>
          <p:cNvPr id="34" name="Text 26"/>
          <p:cNvSpPr/>
          <p:nvPr/>
        </p:nvSpPr>
        <p:spPr>
          <a:xfrm>
            <a:off x="457200" y="6364224"/>
            <a:ext cx="6647688" cy="182880"/>
          </a:xfrm>
          <a:prstGeom prst="rect">
            <a:avLst/>
          </a:prstGeom>
          <a:noFill/>
          <a:ln/>
        </p:spPr>
        <p:txBody>
          <a:bodyPr wrap="square" lIns="0" tIns="0" rIns="0" bIns="0" rtlCol="0" anchor="ctr"/>
          <a:lstStyle/>
          <a:p>
            <a:pPr algn="l" indent="0" marL="0">
              <a:buNone/>
            </a:pPr>
            <a:r>
              <a:rPr lang="en-US" sz="760" b="1" spc="140" kern="0" dirty="0">
                <a:solidFill>
                  <a:srgbClr val="002516"/>
                </a:solidFill>
                <a:latin typeface="Arial" pitchFamily="34" charset="0"/>
                <a:ea typeface="Arial" pitchFamily="34" charset="-122"/>
                <a:cs typeface="Arial" pitchFamily="34" charset="-120"/>
              </a:rPr>
              <a:t>AT SIZE</a:t>
            </a:r>
            <a:endParaRPr lang="en-US" sz="760" dirty="0"/>
          </a:p>
        </p:txBody>
      </p:sp>
      <p:sp>
        <p:nvSpPr>
          <p:cNvPr id="35" name="Shape 27"/>
          <p:cNvSpPr/>
          <p:nvPr/>
        </p:nvSpPr>
        <p:spPr>
          <a:xfrm>
            <a:off x="457200" y="6565392"/>
            <a:ext cx="6647688" cy="1133856"/>
          </a:xfrm>
          <a:prstGeom prst="rect">
            <a:avLst/>
          </a:prstGeom>
          <a:solidFill>
            <a:srgbClr val="FFFFFF"/>
          </a:solidFill>
          <a:ln w="12700">
            <a:solidFill>
              <a:srgbClr val="CDD2B7"/>
            </a:solidFill>
            <a:prstDash val="solid"/>
          </a:ln>
        </p:spPr>
      </p:sp>
      <p:pic>
        <p:nvPicPr>
          <p:cNvPr id="36" name="Image 6" descr="preencoded.png">    </p:cNvPr>
          <p:cNvPicPr>
            <a:picLocks noChangeAspect="1"/>
          </p:cNvPicPr>
          <p:nvPr/>
        </p:nvPicPr>
        <p:blipFill>
          <a:blip r:embed="rId7"/>
          <a:stretch>
            <a:fillRect/>
          </a:stretch>
        </p:blipFill>
        <p:spPr>
          <a:xfrm>
            <a:off x="1371600" y="6675120"/>
            <a:ext cx="804672" cy="804672"/>
          </a:xfrm>
          <a:prstGeom prst="rect">
            <a:avLst/>
          </a:prstGeom>
        </p:spPr>
      </p:pic>
      <p:sp>
        <p:nvSpPr>
          <p:cNvPr id="37" name="Text 28"/>
          <p:cNvSpPr/>
          <p:nvPr/>
        </p:nvSpPr>
        <p:spPr>
          <a:xfrm>
            <a:off x="1453896" y="7424928"/>
            <a:ext cx="64008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30 mm</a:t>
            </a:r>
            <a:endParaRPr lang="en-US" sz="660" dirty="0"/>
          </a:p>
        </p:txBody>
      </p:sp>
      <p:pic>
        <p:nvPicPr>
          <p:cNvPr id="38" name="Image 7" descr="preencoded.png">    </p:cNvPr>
          <p:cNvPicPr>
            <a:picLocks noChangeAspect="1"/>
          </p:cNvPicPr>
          <p:nvPr/>
        </p:nvPicPr>
        <p:blipFill>
          <a:blip r:embed="rId8"/>
          <a:stretch>
            <a:fillRect/>
          </a:stretch>
        </p:blipFill>
        <p:spPr>
          <a:xfrm>
            <a:off x="2670048" y="6812280"/>
            <a:ext cx="530352" cy="530352"/>
          </a:xfrm>
          <a:prstGeom prst="rect">
            <a:avLst/>
          </a:prstGeom>
        </p:spPr>
      </p:pic>
      <p:sp>
        <p:nvSpPr>
          <p:cNvPr id="39" name="Text 29"/>
          <p:cNvSpPr/>
          <p:nvPr/>
        </p:nvSpPr>
        <p:spPr>
          <a:xfrm>
            <a:off x="2615184" y="7424928"/>
            <a:ext cx="64008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20 mm</a:t>
            </a:r>
            <a:endParaRPr lang="en-US" sz="660" dirty="0"/>
          </a:p>
        </p:txBody>
      </p:sp>
      <p:pic>
        <p:nvPicPr>
          <p:cNvPr id="40" name="Image 8" descr="preencoded.png">    </p:cNvPr>
          <p:cNvPicPr>
            <a:picLocks noChangeAspect="1"/>
          </p:cNvPicPr>
          <p:nvPr/>
        </p:nvPicPr>
        <p:blipFill>
          <a:blip r:embed="rId9"/>
          <a:stretch>
            <a:fillRect/>
          </a:stretch>
        </p:blipFill>
        <p:spPr>
          <a:xfrm>
            <a:off x="3694176" y="6917436"/>
            <a:ext cx="320040" cy="320040"/>
          </a:xfrm>
          <a:prstGeom prst="rect">
            <a:avLst/>
          </a:prstGeom>
        </p:spPr>
      </p:pic>
      <p:sp>
        <p:nvSpPr>
          <p:cNvPr id="41" name="Text 30"/>
          <p:cNvSpPr/>
          <p:nvPr/>
        </p:nvSpPr>
        <p:spPr>
          <a:xfrm>
            <a:off x="3534156" y="7424928"/>
            <a:ext cx="64008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12 mm</a:t>
            </a:r>
            <a:endParaRPr lang="en-US" sz="660" dirty="0"/>
          </a:p>
        </p:txBody>
      </p:sp>
      <p:pic>
        <p:nvPicPr>
          <p:cNvPr id="42" name="Image 9" descr="preencoded.png">    </p:cNvPr>
          <p:cNvPicPr>
            <a:picLocks noChangeAspect="1"/>
          </p:cNvPicPr>
          <p:nvPr/>
        </p:nvPicPr>
        <p:blipFill>
          <a:blip r:embed="rId10"/>
          <a:stretch>
            <a:fillRect/>
          </a:stretch>
        </p:blipFill>
        <p:spPr>
          <a:xfrm>
            <a:off x="4507992" y="6986016"/>
            <a:ext cx="182880" cy="182880"/>
          </a:xfrm>
          <a:prstGeom prst="rect">
            <a:avLst/>
          </a:prstGeom>
        </p:spPr>
      </p:pic>
      <p:sp>
        <p:nvSpPr>
          <p:cNvPr id="43" name="Text 31"/>
          <p:cNvSpPr/>
          <p:nvPr/>
        </p:nvSpPr>
        <p:spPr>
          <a:xfrm>
            <a:off x="4279392" y="7424928"/>
            <a:ext cx="640080" cy="164592"/>
          </a:xfrm>
          <a:prstGeom prst="rect">
            <a:avLst/>
          </a:prstGeom>
          <a:noFill/>
          <a:ln/>
        </p:spPr>
        <p:txBody>
          <a:bodyPr wrap="square" lIns="0" tIns="0" rIns="0" bIns="0" rtlCol="0" anchor="ctr"/>
          <a:lstStyle/>
          <a:p>
            <a:pPr algn="ctr" indent="0" marL="0">
              <a:buNone/>
            </a:pPr>
            <a:r>
              <a:rPr lang="en-US" sz="660" dirty="0">
                <a:solidFill>
                  <a:srgbClr val="7F7F7F"/>
                </a:solidFill>
                <a:latin typeface="Arial" pitchFamily="34" charset="0"/>
                <a:ea typeface="Arial" pitchFamily="34" charset="-122"/>
                <a:cs typeface="Arial" pitchFamily="34" charset="-120"/>
              </a:rPr>
              <a:t>7 mm</a:t>
            </a:r>
            <a:endParaRPr lang="en-US" sz="660" dirty="0"/>
          </a:p>
        </p:txBody>
      </p:sp>
      <p:sp>
        <p:nvSpPr>
          <p:cNvPr id="44" name="Text 32"/>
          <p:cNvSpPr/>
          <p:nvPr/>
        </p:nvSpPr>
        <p:spPr>
          <a:xfrm>
            <a:off x="457200" y="7863840"/>
            <a:ext cx="6647688" cy="182880"/>
          </a:xfrm>
          <a:prstGeom prst="rect">
            <a:avLst/>
          </a:prstGeom>
          <a:noFill/>
          <a:ln/>
        </p:spPr>
        <p:txBody>
          <a:bodyPr wrap="square" lIns="0" tIns="0" rIns="0" bIns="0" rtlCol="0" anchor="ctr"/>
          <a:lstStyle/>
          <a:p>
            <a:pPr algn="l" indent="0" marL="0">
              <a:buNone/>
            </a:pPr>
            <a:r>
              <a:rPr lang="en-US" sz="760" b="1" spc="140" kern="0" dirty="0">
                <a:solidFill>
                  <a:srgbClr val="002516"/>
                </a:solidFill>
                <a:latin typeface="Arial" pitchFamily="34" charset="0"/>
                <a:ea typeface="Arial" pitchFamily="34" charset="-122"/>
                <a:cs typeface="Arial" pitchFamily="34" charset="-120"/>
              </a:rPr>
              <a:t>VARIANT: THE HEAD ALONE</a:t>
            </a:r>
            <a:endParaRPr lang="en-US" sz="760" dirty="0"/>
          </a:p>
        </p:txBody>
      </p:sp>
      <p:sp>
        <p:nvSpPr>
          <p:cNvPr id="45" name="Shape 33"/>
          <p:cNvSpPr/>
          <p:nvPr/>
        </p:nvSpPr>
        <p:spPr>
          <a:xfrm>
            <a:off x="457200" y="8065008"/>
            <a:ext cx="1737360" cy="1170432"/>
          </a:xfrm>
          <a:prstGeom prst="rect">
            <a:avLst/>
          </a:prstGeom>
          <a:solidFill>
            <a:srgbClr val="000000"/>
          </a:solidFill>
          <a:ln/>
        </p:spPr>
      </p:sp>
      <p:pic>
        <p:nvPicPr>
          <p:cNvPr id="46" name="Image 10" descr="preencoded.png">    </p:cNvPr>
          <p:cNvPicPr>
            <a:picLocks noChangeAspect="1"/>
          </p:cNvPicPr>
          <p:nvPr/>
        </p:nvPicPr>
        <p:blipFill>
          <a:blip r:embed="rId11"/>
          <a:stretch>
            <a:fillRect/>
          </a:stretch>
        </p:blipFill>
        <p:spPr>
          <a:xfrm>
            <a:off x="722376" y="8211312"/>
            <a:ext cx="877824" cy="877824"/>
          </a:xfrm>
          <a:prstGeom prst="rect">
            <a:avLst/>
          </a:prstGeom>
        </p:spPr>
      </p:pic>
      <p:sp>
        <p:nvSpPr>
          <p:cNvPr id="47" name="Shape 34"/>
          <p:cNvSpPr/>
          <p:nvPr/>
        </p:nvSpPr>
        <p:spPr>
          <a:xfrm>
            <a:off x="2322576" y="8065008"/>
            <a:ext cx="1737360" cy="1170432"/>
          </a:xfrm>
          <a:prstGeom prst="rect">
            <a:avLst/>
          </a:prstGeom>
          <a:solidFill>
            <a:srgbClr val="FFFFFF"/>
          </a:solidFill>
          <a:ln w="12700">
            <a:solidFill>
              <a:srgbClr val="CDD2B7"/>
            </a:solidFill>
            <a:prstDash val="solid"/>
          </a:ln>
        </p:spPr>
      </p:sp>
      <p:pic>
        <p:nvPicPr>
          <p:cNvPr id="48" name="Image 11" descr="preencoded.png">    </p:cNvPr>
          <p:cNvPicPr>
            <a:picLocks noChangeAspect="1"/>
          </p:cNvPicPr>
          <p:nvPr/>
        </p:nvPicPr>
        <p:blipFill>
          <a:blip r:embed="rId12"/>
          <a:stretch>
            <a:fillRect/>
          </a:stretch>
        </p:blipFill>
        <p:spPr>
          <a:xfrm>
            <a:off x="2852928" y="8394192"/>
            <a:ext cx="676656" cy="676656"/>
          </a:xfrm>
          <a:prstGeom prst="rect">
            <a:avLst/>
          </a:prstGeom>
        </p:spPr>
      </p:pic>
      <p:sp>
        <p:nvSpPr>
          <p:cNvPr id="49" name="Text 35"/>
          <p:cNvSpPr/>
          <p:nvPr/>
        </p:nvSpPr>
        <p:spPr>
          <a:xfrm>
            <a:off x="4206240" y="8101584"/>
            <a:ext cx="2898648" cy="1005840"/>
          </a:xfrm>
          <a:prstGeom prst="rect">
            <a:avLst/>
          </a:prstGeom>
          <a:noFill/>
          <a:ln/>
        </p:spPr>
        <p:txBody>
          <a:bodyPr wrap="square" lIns="0" tIns="0" rIns="0" bIns="0" rtlCol="0" anchor="t"/>
          <a:lstStyle/>
          <a:p>
            <a:pPr algn="l" indent="0" marL="0">
              <a:lnSpc>
                <a:spcPct val="115000"/>
              </a:lnSpc>
              <a:buNone/>
            </a:pPr>
            <a:r>
              <a:rPr lang="en-US" sz="840" dirty="0">
                <a:solidFill>
                  <a:srgbClr val="000000"/>
                </a:solidFill>
                <a:latin typeface="Arial" pitchFamily="34" charset="0"/>
                <a:ea typeface="Arial" pitchFamily="34" charset="-122"/>
                <a:cs typeface="Arial" pitchFamily="34" charset="-120"/>
              </a:rPr>
              <a:t>The full taiaha carries more meaning, but its shaft is slim and the first thing to disappear when the mark is reduced. Cutting the arero and upoko alone keeps the reference and gains weight. Worth holding as the small-size variant if the full weapon proves too fine below about 12 mm.</a:t>
            </a:r>
            <a:endParaRPr lang="en-US" sz="840" dirty="0"/>
          </a:p>
        </p:txBody>
      </p:sp>
      <p:sp>
        <p:nvSpPr>
          <p:cNvPr id="50" name="Text 36"/>
          <p:cNvSpPr/>
          <p:nvPr/>
        </p:nvSpPr>
        <p:spPr>
          <a:xfrm>
            <a:off x="457200" y="9381744"/>
            <a:ext cx="6647688" cy="402336"/>
          </a:xfrm>
          <a:prstGeom prst="rect">
            <a:avLst/>
          </a:prstGeom>
          <a:noFill/>
          <a:ln/>
        </p:spPr>
        <p:txBody>
          <a:bodyPr wrap="square" lIns="0" tIns="0" rIns="0" bIns="0" rtlCol="0" anchor="t"/>
          <a:lstStyle/>
          <a:p>
            <a:pPr algn="l" indent="0" marL="0">
              <a:lnSpc>
                <a:spcPct val="110000"/>
              </a:lnSpc>
              <a:buNone/>
            </a:pPr>
            <a:r>
              <a:rPr lang="en-US" sz="800" b="1" dirty="0">
                <a:solidFill>
                  <a:srgbClr val="002516"/>
                </a:solidFill>
                <a:latin typeface="Arial" pitchFamily="34" charset="0"/>
                <a:ea typeface="Arial" pitchFamily="34" charset="-122"/>
                <a:cs typeface="Arial" pitchFamily="34" charset="-120"/>
              </a:rPr>
              <a:t>Note.  </a:t>
            </a:r>
            <a:pPr algn="l" indent="0" marL="0">
              <a:lnSpc>
                <a:spcPct val="110000"/>
              </a:lnSpc>
              <a:buNone/>
            </a:pPr>
            <a:r>
              <a:rPr lang="en-US" sz="800" dirty="0">
                <a:solidFill>
                  <a:srgbClr val="000000"/>
                </a:solidFill>
                <a:latin typeface="Arial" pitchFamily="34" charset="0"/>
                <a:ea typeface="Arial" pitchFamily="34" charset="-122"/>
                <a:cs typeface="Arial" pitchFamily="34" charset="-120"/>
              </a:rPr>
              <a:t>The taiaha already appears in NZ Army heraldry, so this draws on the Army's own device rather than introducing new imagery. Even so, a mark that places a taiaha at its centre should be confirmed through the appropriate cultural advice before it is adopted.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Army Command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Combat Mindset Taiaha Mark</dc:title>
  <dc:subject>PptxGenJS Presentation</dc:subject>
  <dc:creator>PptxGenJS</dc:creator>
  <cp:lastModifiedBy>PptxGenJS</cp:lastModifiedBy>
  <cp:revision>1</cp:revision>
  <dcterms:created xsi:type="dcterms:W3CDTF">2026-08-05T09:50:24Z</dcterms:created>
  <dcterms:modified xsi:type="dcterms:W3CDTF">2026-08-05T09:50:24Z</dcterms:modified>
</cp:coreProperties>
</file>