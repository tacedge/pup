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image" Target="../media/image-1-11.png"/><Relationship Id="rId12" Type="http://schemas.openxmlformats.org/officeDocument/2006/relationships/image" Target="../media/image-1-12.png"/><Relationship Id="rId13" Type="http://schemas.openxmlformats.org/officeDocument/2006/relationships/image" Target="../media/image-1-13.png"/><Relationship Id="rId14" Type="http://schemas.openxmlformats.org/officeDocument/2006/relationships/image" Target="../media/image-1-14.png"/><Relationship Id="rId15" Type="http://schemas.openxmlformats.org/officeDocument/2006/relationships/image" Target="../media/image-1-15.png"/><Relationship Id="rId16" Type="http://schemas.openxmlformats.org/officeDocument/2006/relationships/image" Target="../media/image-1-16.png"/><Relationship Id="rId17" Type="http://schemas.openxmlformats.org/officeDocument/2006/relationships/image" Target="../media/image-1-17.png"/><Relationship Id="rId18" Type="http://schemas.openxmlformats.org/officeDocument/2006/relationships/image" Target="../media/image-1-18.png"/><Relationship Id="rId19" Type="http://schemas.openxmlformats.org/officeDocument/2006/relationships/image" Target="../media/image-1-19.png"/><Relationship Id="rId20" Type="http://schemas.openxmlformats.org/officeDocument/2006/relationships/image" Target="../media/image-1-20.png"/><Relationship Id="rId21" Type="http://schemas.openxmlformats.org/officeDocument/2006/relationships/slideLayout" Target="../slideLayouts/slideLayout1.xml"/><Relationship Id="rId2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18288"/>
            <a:ext cx="7562088" cy="164592"/>
          </a:xfrm>
          <a:prstGeom prst="rect">
            <a:avLst/>
          </a:prstGeom>
          <a:noFill/>
          <a:ln/>
        </p:spPr>
        <p:txBody>
          <a:bodyPr wrap="square" lIns="0" tIns="0" rIns="0" bIns="0" rtlCol="0" anchor="ctr"/>
          <a:lstStyle/>
          <a:p>
            <a:pPr algn="ctr" indent="0" marL="0">
              <a:buNone/>
            </a:pPr>
            <a:r>
              <a:rPr lang="en-US" sz="750" b="1" spc="400" kern="0" dirty="0">
                <a:solidFill>
                  <a:srgbClr val="000000"/>
                </a:solidFill>
                <a:latin typeface="Arial" pitchFamily="34" charset="0"/>
                <a:ea typeface="Arial" pitchFamily="34" charset="-122"/>
                <a:cs typeface="Arial" pitchFamily="34" charset="-120"/>
              </a:rPr>
              <a:t>UNCLASSIFIED</a:t>
            </a:r>
            <a:endParaRPr lang="en-US" sz="750" dirty="0"/>
          </a:p>
        </p:txBody>
      </p:sp>
      <p:sp>
        <p:nvSpPr>
          <p:cNvPr id="3" name="Text 1"/>
          <p:cNvSpPr/>
          <p:nvPr/>
        </p:nvSpPr>
        <p:spPr>
          <a:xfrm>
            <a:off x="0" y="10506456"/>
            <a:ext cx="7562088" cy="164592"/>
          </a:xfrm>
          <a:prstGeom prst="rect">
            <a:avLst/>
          </a:prstGeom>
          <a:noFill/>
          <a:ln/>
        </p:spPr>
        <p:txBody>
          <a:bodyPr wrap="square" lIns="0" tIns="0" rIns="0" bIns="0" rtlCol="0" anchor="ctr"/>
          <a:lstStyle/>
          <a:p>
            <a:pPr algn="ctr" indent="0" marL="0">
              <a:buNone/>
            </a:pPr>
            <a:r>
              <a:rPr lang="en-US" sz="750" b="1" spc="400" kern="0" dirty="0">
                <a:solidFill>
                  <a:srgbClr val="000000"/>
                </a:solidFill>
                <a:latin typeface="Arial" pitchFamily="34" charset="0"/>
                <a:ea typeface="Arial" pitchFamily="34" charset="-122"/>
                <a:cs typeface="Arial" pitchFamily="34" charset="-120"/>
              </a:rPr>
              <a:t>UNCLASSIFIED</a:t>
            </a:r>
            <a:endParaRPr lang="en-US" sz="750" dirty="0"/>
          </a:p>
        </p:txBody>
      </p:sp>
      <p:sp>
        <p:nvSpPr>
          <p:cNvPr id="4" name="Text 2"/>
          <p:cNvSpPr/>
          <p:nvPr/>
        </p:nvSpPr>
        <p:spPr>
          <a:xfrm>
            <a:off x="457200" y="10506456"/>
            <a:ext cx="2377440" cy="164592"/>
          </a:xfrm>
          <a:prstGeom prst="rect">
            <a:avLst/>
          </a:prstGeom>
          <a:noFill/>
          <a:ln/>
        </p:spPr>
        <p:txBody>
          <a:bodyPr wrap="square" lIns="0" tIns="0" rIns="0" bIns="0" rtlCol="0" anchor="ctr"/>
          <a:lstStyle/>
          <a:p>
            <a:pPr algn="l" indent="0" marL="0">
              <a:buNone/>
            </a:pPr>
            <a:r>
              <a:rPr lang="en-US" sz="600" dirty="0">
                <a:solidFill>
                  <a:srgbClr val="000000"/>
                </a:solidFill>
                <a:latin typeface="Arial" pitchFamily="34" charset="0"/>
                <a:ea typeface="Arial" pitchFamily="34" charset="-122"/>
                <a:cs typeface="Arial" pitchFamily="34" charset="-120"/>
              </a:rPr>
              <a:t>Army Command School  ·  ACS 2026</a:t>
            </a:r>
            <a:endParaRPr lang="en-US" sz="600" dirty="0"/>
          </a:p>
        </p:txBody>
      </p:sp>
      <p:sp>
        <p:nvSpPr>
          <p:cNvPr id="5" name="Text 3"/>
          <p:cNvSpPr/>
          <p:nvPr/>
        </p:nvSpPr>
        <p:spPr>
          <a:xfrm>
            <a:off x="5212080" y="10506456"/>
            <a:ext cx="1892808" cy="164592"/>
          </a:xfrm>
          <a:prstGeom prst="rect">
            <a:avLst/>
          </a:prstGeom>
          <a:noFill/>
          <a:ln/>
        </p:spPr>
        <p:txBody>
          <a:bodyPr wrap="square" lIns="0" tIns="0" rIns="0" bIns="0" rtlCol="0" anchor="ctr"/>
          <a:lstStyle/>
          <a:p>
            <a:pPr algn="r" indent="0" marL="0">
              <a:buNone/>
            </a:pPr>
            <a:r>
              <a:rPr lang="en-US" sz="600" dirty="0">
                <a:solidFill>
                  <a:srgbClr val="000000"/>
                </a:solidFill>
                <a:latin typeface="Arial" pitchFamily="34" charset="0"/>
                <a:ea typeface="Arial" pitchFamily="34" charset="-122"/>
                <a:cs typeface="Arial" pitchFamily="34" charset="-120"/>
              </a:rPr>
              <a:t>Draft v0.1  ·  July 2026</a:t>
            </a:r>
            <a:endParaRPr lang="en-US" sz="600" dirty="0"/>
          </a:p>
        </p:txBody>
      </p:sp>
      <p:pic>
        <p:nvPicPr>
          <p:cNvPr id="6" name="Image 0" descr="/tmp/claude-0/-home-user-PUP/2d4cec0e-a52e-5368-bb54-803c6f37698d/scratchpad/logo-trimmed.png">    </p:cNvPr>
          <p:cNvPicPr>
            <a:picLocks noChangeAspect="1"/>
          </p:cNvPicPr>
          <p:nvPr/>
        </p:nvPicPr>
        <p:blipFill>
          <a:blip r:embed="rId1"/>
          <a:stretch>
            <a:fillRect/>
          </a:stretch>
        </p:blipFill>
        <p:spPr>
          <a:xfrm>
            <a:off x="457200" y="292608"/>
            <a:ext cx="960120" cy="232258"/>
          </a:xfrm>
          <a:prstGeom prst="rect">
            <a:avLst/>
          </a:prstGeom>
        </p:spPr>
      </p:pic>
      <p:sp>
        <p:nvSpPr>
          <p:cNvPr id="7" name="Text 4"/>
          <p:cNvSpPr/>
          <p:nvPr/>
        </p:nvSpPr>
        <p:spPr>
          <a:xfrm>
            <a:off x="1572768" y="237744"/>
            <a:ext cx="5532120" cy="237744"/>
          </a:xfrm>
          <a:prstGeom prst="rect">
            <a:avLst/>
          </a:prstGeom>
          <a:noFill/>
          <a:ln/>
        </p:spPr>
        <p:txBody>
          <a:bodyPr wrap="square" lIns="0" tIns="0" rIns="0" bIns="0" rtlCol="0" anchor="ctr"/>
          <a:lstStyle/>
          <a:p>
            <a:pPr algn="l" indent="0" marL="0">
              <a:buNone/>
            </a:pPr>
            <a:r>
              <a:rPr lang="en-US" sz="1400" b="1" dirty="0">
                <a:solidFill>
                  <a:srgbClr val="000000"/>
                </a:solidFill>
                <a:latin typeface="Arial" pitchFamily="34" charset="0"/>
                <a:ea typeface="Arial" pitchFamily="34" charset="-122"/>
                <a:cs typeface="Arial" pitchFamily="34" charset="-120"/>
              </a:rPr>
              <a:t>ELDA LEAD SYSTEMS STUDENT WITHDRAWAL SOP</a:t>
            </a:r>
            <a:endParaRPr lang="en-US" sz="1400" dirty="0"/>
          </a:p>
        </p:txBody>
      </p:sp>
      <p:sp>
        <p:nvSpPr>
          <p:cNvPr id="8" name="Text 5"/>
          <p:cNvSpPr/>
          <p:nvPr/>
        </p:nvSpPr>
        <p:spPr>
          <a:xfrm>
            <a:off x="1572768" y="484632"/>
            <a:ext cx="5532120" cy="164592"/>
          </a:xfrm>
          <a:prstGeom prst="rect">
            <a:avLst/>
          </a:prstGeom>
          <a:noFill/>
          <a:ln/>
        </p:spPr>
        <p:txBody>
          <a:bodyPr wrap="square" lIns="0" tIns="0" rIns="0" bIns="0" rtlCol="0" anchor="ctr"/>
          <a:lstStyle/>
          <a:p>
            <a:pPr algn="l" indent="0" marL="0">
              <a:buNone/>
            </a:pPr>
            <a:r>
              <a:rPr lang="en-US" sz="760" b="1" i="1" dirty="0">
                <a:solidFill>
                  <a:srgbClr val="3A4B00"/>
                </a:solidFill>
                <a:latin typeface="Arial" pitchFamily="34" charset="0"/>
                <a:ea typeface="Arial" pitchFamily="34" charset="-122"/>
                <a:cs typeface="Arial" pitchFamily="34" charset="-120"/>
              </a:rPr>
              <a:t>1-Page Visual Model</a:t>
            </a:r>
            <a:pPr algn="l" indent="0" marL="0">
              <a:buNone/>
            </a:pPr>
            <a:r>
              <a:rPr lang="en-US" sz="760" i="1" dirty="0">
                <a:solidFill>
                  <a:srgbClr val="000000"/>
                </a:solidFill>
                <a:latin typeface="Arial" pitchFamily="34" charset="0"/>
                <a:ea typeface="Arial" pitchFamily="34" charset="-122"/>
                <a:cs typeface="Arial" pitchFamily="34" charset="-120"/>
              </a:rPr>
              <a:t>   ·   Warrant Officers Adventure Race   ·   NZ Army Leadership Centre | Army Command School</a:t>
            </a:r>
            <a:endParaRPr lang="en-US" sz="760" dirty="0"/>
          </a:p>
        </p:txBody>
      </p:sp>
      <p:sp>
        <p:nvSpPr>
          <p:cNvPr id="9" name="Shape 6"/>
          <p:cNvSpPr/>
          <p:nvPr/>
        </p:nvSpPr>
        <p:spPr>
          <a:xfrm>
            <a:off x="457200" y="768096"/>
            <a:ext cx="6647688" cy="0"/>
          </a:xfrm>
          <a:prstGeom prst="line">
            <a:avLst/>
          </a:prstGeom>
          <a:noFill/>
          <a:ln w="12700">
            <a:solidFill>
              <a:srgbClr val="000000"/>
            </a:solidFill>
            <a:prstDash val="solid"/>
          </a:ln>
        </p:spPr>
      </p:sp>
      <p:pic>
        <p:nvPicPr>
          <p:cNvPr id="10" name="Image 1" descr="preencoded.png">    </p:cNvPr>
          <p:cNvPicPr>
            <a:picLocks noChangeAspect="1"/>
          </p:cNvPicPr>
          <p:nvPr/>
        </p:nvPicPr>
        <p:blipFill>
          <a:blip r:embed="rId2"/>
          <a:stretch>
            <a:fillRect/>
          </a:stretch>
        </p:blipFill>
        <p:spPr>
          <a:xfrm>
            <a:off x="457200" y="896112"/>
            <a:ext cx="274320" cy="274320"/>
          </a:xfrm>
          <a:prstGeom prst="rect">
            <a:avLst/>
          </a:prstGeom>
        </p:spPr>
      </p:pic>
      <p:sp>
        <p:nvSpPr>
          <p:cNvPr id="11" name="Text 7"/>
          <p:cNvSpPr/>
          <p:nvPr/>
        </p:nvSpPr>
        <p:spPr>
          <a:xfrm>
            <a:off x="822960" y="896112"/>
            <a:ext cx="3794760" cy="182880"/>
          </a:xfrm>
          <a:prstGeom prst="rect">
            <a:avLst/>
          </a:prstGeom>
          <a:noFill/>
          <a:ln/>
        </p:spPr>
        <p:txBody>
          <a:bodyPr wrap="square" lIns="0" tIns="0" rIns="0" bIns="0" rtlCol="0" anchor="ctr"/>
          <a:lstStyle/>
          <a:p>
            <a:pPr algn="l" indent="0" marL="0">
              <a:buNone/>
            </a:pPr>
            <a:r>
              <a:rPr lang="en-US" sz="950" b="1" spc="150" kern="0" dirty="0">
                <a:solidFill>
                  <a:srgbClr val="002516"/>
                </a:solidFill>
                <a:latin typeface="Arial" pitchFamily="34" charset="0"/>
                <a:ea typeface="Arial" pitchFamily="34" charset="-122"/>
                <a:cs typeface="Arial" pitchFamily="34" charset="-120"/>
              </a:rPr>
              <a:t>1. PURPOSE</a:t>
            </a:r>
            <a:endParaRPr lang="en-US" sz="950" dirty="0"/>
          </a:p>
        </p:txBody>
      </p:sp>
      <p:sp>
        <p:nvSpPr>
          <p:cNvPr id="12" name="Text 8"/>
          <p:cNvSpPr/>
          <p:nvPr/>
        </p:nvSpPr>
        <p:spPr>
          <a:xfrm>
            <a:off x="822960" y="1078992"/>
            <a:ext cx="3749040" cy="566928"/>
          </a:xfrm>
          <a:prstGeom prst="rect">
            <a:avLst/>
          </a:prstGeom>
          <a:noFill/>
          <a:ln/>
        </p:spPr>
        <p:txBody>
          <a:bodyPr wrap="square" lIns="0" tIns="0" rIns="0" bIns="0" rtlCol="0" anchor="t"/>
          <a:lstStyle/>
          <a:p>
            <a:pPr algn="l" indent="0" marL="0">
              <a:buNone/>
            </a:pPr>
            <a:r>
              <a:rPr lang="en-US" sz="780" dirty="0">
                <a:solidFill>
                  <a:srgbClr val="000000"/>
                </a:solidFill>
                <a:latin typeface="Arial" pitchFamily="34" charset="0"/>
                <a:ea typeface="Arial" pitchFamily="34" charset="-122"/>
                <a:cs typeface="Arial" pitchFamily="34" charset="-120"/>
              </a:rPr>
              <a:t>Provide a consistent, fair and defensible process for deciding whether a participant is withdrawn from the Adventure Race for safety, medical, conduct or performance reasons.</a:t>
            </a:r>
            <a:endParaRPr lang="en-US" sz="780" dirty="0"/>
          </a:p>
        </p:txBody>
      </p:sp>
      <p:sp>
        <p:nvSpPr>
          <p:cNvPr id="13" name="Shape 9"/>
          <p:cNvSpPr/>
          <p:nvPr/>
        </p:nvSpPr>
        <p:spPr>
          <a:xfrm>
            <a:off x="457200" y="1755648"/>
            <a:ext cx="4160520" cy="237744"/>
          </a:xfrm>
          <a:prstGeom prst="rect">
            <a:avLst/>
          </a:prstGeom>
          <a:solidFill>
            <a:srgbClr val="002516"/>
          </a:solidFill>
          <a:ln/>
        </p:spPr>
      </p:sp>
      <p:sp>
        <p:nvSpPr>
          <p:cNvPr id="14" name="Text 10"/>
          <p:cNvSpPr/>
          <p:nvPr/>
        </p:nvSpPr>
        <p:spPr>
          <a:xfrm>
            <a:off x="457200" y="1755648"/>
            <a:ext cx="4160520" cy="237744"/>
          </a:xfrm>
          <a:prstGeom prst="rect">
            <a:avLst/>
          </a:prstGeom>
          <a:noFill/>
          <a:ln/>
        </p:spPr>
        <p:txBody>
          <a:bodyPr wrap="square" lIns="0" tIns="0" rIns="0" bIns="0" rtlCol="0" anchor="ctr"/>
          <a:lstStyle/>
          <a:p>
            <a:pPr algn="ctr" indent="0" marL="0">
              <a:buNone/>
            </a:pPr>
            <a:r>
              <a:rPr lang="en-US" sz="860" b="1" spc="150" kern="0" dirty="0">
                <a:solidFill>
                  <a:srgbClr val="FFFFFF"/>
                </a:solidFill>
                <a:latin typeface="Arial" pitchFamily="34" charset="0"/>
                <a:ea typeface="Arial" pitchFamily="34" charset="-122"/>
                <a:cs typeface="Arial" pitchFamily="34" charset="-120"/>
              </a:rPr>
              <a:t>2. GOVERNING PRINCIPLE</a:t>
            </a:r>
            <a:endParaRPr lang="en-US" sz="860" dirty="0"/>
          </a:p>
        </p:txBody>
      </p:sp>
      <p:sp>
        <p:nvSpPr>
          <p:cNvPr id="15" name="Shape 11"/>
          <p:cNvSpPr/>
          <p:nvPr/>
        </p:nvSpPr>
        <p:spPr>
          <a:xfrm>
            <a:off x="457200" y="1993392"/>
            <a:ext cx="4160520" cy="1810512"/>
          </a:xfrm>
          <a:prstGeom prst="rect">
            <a:avLst/>
          </a:prstGeom>
          <a:solidFill>
            <a:srgbClr val="CDD2B7">
              <a:alpha val="28000"/>
            </a:srgbClr>
          </a:solidFill>
          <a:ln/>
        </p:spPr>
      </p:sp>
      <p:sp>
        <p:nvSpPr>
          <p:cNvPr id="16" name="Text 12"/>
          <p:cNvSpPr/>
          <p:nvPr/>
        </p:nvSpPr>
        <p:spPr>
          <a:xfrm>
            <a:off x="585216" y="2084832"/>
            <a:ext cx="3904488" cy="658368"/>
          </a:xfrm>
          <a:prstGeom prst="rect">
            <a:avLst/>
          </a:prstGeom>
          <a:noFill/>
          <a:ln/>
        </p:spPr>
        <p:txBody>
          <a:bodyPr wrap="square" lIns="0" tIns="0" rIns="0" bIns="0" rtlCol="0" anchor="t"/>
          <a:lstStyle/>
          <a:p>
            <a:pPr algn="l" indent="0" marL="0">
              <a:buNone/>
            </a:pPr>
            <a:r>
              <a:rPr lang="en-US" sz="770" dirty="0">
                <a:solidFill>
                  <a:srgbClr val="000000"/>
                </a:solidFill>
                <a:latin typeface="Arial" pitchFamily="34" charset="0"/>
                <a:ea typeface="Arial" pitchFamily="34" charset="-122"/>
                <a:cs typeface="Arial" pitchFamily="34" charset="-120"/>
              </a:rPr>
              <a:t>The Adventure Race deliberately exposes participants and teams to pressure, fatigue, adversity, uncertainty and interpersonal friction in support of approved learning objectives. Withdrawal is justified only where a participant's condition, capability or conduct materially prevents:</a:t>
            </a:r>
            <a:endParaRPr lang="en-US" sz="770" dirty="0"/>
          </a:p>
        </p:txBody>
      </p:sp>
      <p:sp>
        <p:nvSpPr>
          <p:cNvPr id="17" name="Shape 13"/>
          <p:cNvSpPr/>
          <p:nvPr/>
        </p:nvSpPr>
        <p:spPr>
          <a:xfrm>
            <a:off x="912876" y="2834640"/>
            <a:ext cx="475488" cy="475488"/>
          </a:xfrm>
          <a:prstGeom prst="ellipse">
            <a:avLst/>
          </a:prstGeom>
          <a:solidFill>
            <a:srgbClr val="FFFFFF"/>
          </a:solidFill>
          <a:ln w="15875">
            <a:solidFill>
              <a:srgbClr val="002516"/>
            </a:solidFill>
            <a:prstDash val="solid"/>
          </a:ln>
        </p:spPr>
      </p:sp>
      <p:pic>
        <p:nvPicPr>
          <p:cNvPr id="18" name="Image 2" descr="preencoded.png">    </p:cNvPr>
          <p:cNvPicPr>
            <a:picLocks noChangeAspect="1"/>
          </p:cNvPicPr>
          <p:nvPr/>
        </p:nvPicPr>
        <p:blipFill>
          <a:blip r:embed="rId3"/>
          <a:stretch>
            <a:fillRect/>
          </a:stretch>
        </p:blipFill>
        <p:spPr>
          <a:xfrm>
            <a:off x="1022604" y="2944368"/>
            <a:ext cx="256032" cy="256032"/>
          </a:xfrm>
          <a:prstGeom prst="rect">
            <a:avLst/>
          </a:prstGeom>
        </p:spPr>
      </p:pic>
      <p:sp>
        <p:nvSpPr>
          <p:cNvPr id="19" name="Text 14"/>
          <p:cNvSpPr/>
          <p:nvPr/>
        </p:nvSpPr>
        <p:spPr>
          <a:xfrm>
            <a:off x="502920" y="3346704"/>
            <a:ext cx="1295400" cy="402336"/>
          </a:xfrm>
          <a:prstGeom prst="rect">
            <a:avLst/>
          </a:prstGeom>
          <a:noFill/>
          <a:ln/>
        </p:spPr>
        <p:txBody>
          <a:bodyPr wrap="square" lIns="0" tIns="0" rIns="0" bIns="0" rtlCol="0" anchor="t"/>
          <a:lstStyle/>
          <a:p>
            <a:pPr algn="ctr" indent="0" marL="0">
              <a:buNone/>
            </a:pPr>
            <a:r>
              <a:rPr lang="en-US" sz="660" b="1" dirty="0">
                <a:solidFill>
                  <a:srgbClr val="002516"/>
                </a:solidFill>
                <a:latin typeface="Arial" pitchFamily="34" charset="0"/>
                <a:ea typeface="Arial" pitchFamily="34" charset="-122"/>
                <a:cs typeface="Arial" pitchFamily="34" charset="-120"/>
              </a:rPr>
              <a:t>Safe participation</a:t>
            </a:r>
            <a:endParaRPr lang="en-US" sz="660" dirty="0"/>
          </a:p>
        </p:txBody>
      </p:sp>
      <p:sp>
        <p:nvSpPr>
          <p:cNvPr id="20" name="Shape 15"/>
          <p:cNvSpPr/>
          <p:nvPr/>
        </p:nvSpPr>
        <p:spPr>
          <a:xfrm>
            <a:off x="1615440" y="3072384"/>
            <a:ext cx="457200" cy="0"/>
          </a:xfrm>
          <a:prstGeom prst="line">
            <a:avLst/>
          </a:prstGeom>
          <a:noFill/>
          <a:ln w="12700">
            <a:solidFill>
              <a:srgbClr val="002516"/>
            </a:solidFill>
            <a:prstDash val="solid"/>
          </a:ln>
        </p:spPr>
      </p:sp>
      <p:sp>
        <p:nvSpPr>
          <p:cNvPr id="21" name="Shape 16"/>
          <p:cNvSpPr/>
          <p:nvPr/>
        </p:nvSpPr>
        <p:spPr>
          <a:xfrm>
            <a:off x="2299716" y="2834640"/>
            <a:ext cx="475488" cy="475488"/>
          </a:xfrm>
          <a:prstGeom prst="ellipse">
            <a:avLst/>
          </a:prstGeom>
          <a:solidFill>
            <a:srgbClr val="FFFFFF"/>
          </a:solidFill>
          <a:ln w="15875">
            <a:solidFill>
              <a:srgbClr val="002516"/>
            </a:solidFill>
            <a:prstDash val="solid"/>
          </a:ln>
        </p:spPr>
      </p:sp>
      <p:pic>
        <p:nvPicPr>
          <p:cNvPr id="22" name="Image 3" descr="preencoded.png">    </p:cNvPr>
          <p:cNvPicPr>
            <a:picLocks noChangeAspect="1"/>
          </p:cNvPicPr>
          <p:nvPr/>
        </p:nvPicPr>
        <p:blipFill>
          <a:blip r:embed="rId4"/>
          <a:stretch>
            <a:fillRect/>
          </a:stretch>
        </p:blipFill>
        <p:spPr>
          <a:xfrm>
            <a:off x="2409444" y="2944368"/>
            <a:ext cx="256032" cy="256032"/>
          </a:xfrm>
          <a:prstGeom prst="rect">
            <a:avLst/>
          </a:prstGeom>
        </p:spPr>
      </p:pic>
      <p:sp>
        <p:nvSpPr>
          <p:cNvPr id="23" name="Text 17"/>
          <p:cNvSpPr/>
          <p:nvPr/>
        </p:nvSpPr>
        <p:spPr>
          <a:xfrm>
            <a:off x="1889760" y="3346704"/>
            <a:ext cx="1295400" cy="402336"/>
          </a:xfrm>
          <a:prstGeom prst="rect">
            <a:avLst/>
          </a:prstGeom>
          <a:noFill/>
          <a:ln/>
        </p:spPr>
        <p:txBody>
          <a:bodyPr wrap="square" lIns="0" tIns="0" rIns="0" bIns="0" rtlCol="0" anchor="t"/>
          <a:lstStyle/>
          <a:p>
            <a:pPr algn="ctr" indent="0" marL="0">
              <a:buNone/>
            </a:pPr>
            <a:r>
              <a:rPr lang="en-US" sz="660" b="1" dirty="0">
                <a:solidFill>
                  <a:srgbClr val="002516"/>
                </a:solidFill>
                <a:latin typeface="Arial" pitchFamily="34" charset="0"/>
                <a:ea typeface="Arial" pitchFamily="34" charset="-122"/>
                <a:cs typeface="Arial" pitchFamily="34" charset="-120"/>
              </a:rPr>
              <a:t>Meaningful individual participation</a:t>
            </a:r>
            <a:endParaRPr lang="en-US" sz="660" dirty="0"/>
          </a:p>
        </p:txBody>
      </p:sp>
      <p:sp>
        <p:nvSpPr>
          <p:cNvPr id="24" name="Shape 18"/>
          <p:cNvSpPr/>
          <p:nvPr/>
        </p:nvSpPr>
        <p:spPr>
          <a:xfrm>
            <a:off x="3002280" y="3072384"/>
            <a:ext cx="457200" cy="0"/>
          </a:xfrm>
          <a:prstGeom prst="line">
            <a:avLst/>
          </a:prstGeom>
          <a:noFill/>
          <a:ln w="12700">
            <a:solidFill>
              <a:srgbClr val="002516"/>
            </a:solidFill>
            <a:prstDash val="solid"/>
          </a:ln>
        </p:spPr>
      </p:sp>
      <p:sp>
        <p:nvSpPr>
          <p:cNvPr id="25" name="Shape 19"/>
          <p:cNvSpPr/>
          <p:nvPr/>
        </p:nvSpPr>
        <p:spPr>
          <a:xfrm>
            <a:off x="3686556" y="2834640"/>
            <a:ext cx="475488" cy="475488"/>
          </a:xfrm>
          <a:prstGeom prst="ellipse">
            <a:avLst/>
          </a:prstGeom>
          <a:solidFill>
            <a:srgbClr val="FFFFFF"/>
          </a:solidFill>
          <a:ln w="15875">
            <a:solidFill>
              <a:srgbClr val="002516"/>
            </a:solidFill>
            <a:prstDash val="solid"/>
          </a:ln>
        </p:spPr>
      </p:sp>
      <p:pic>
        <p:nvPicPr>
          <p:cNvPr id="26" name="Image 4" descr="preencoded.png">    </p:cNvPr>
          <p:cNvPicPr>
            <a:picLocks noChangeAspect="1"/>
          </p:cNvPicPr>
          <p:nvPr/>
        </p:nvPicPr>
        <p:blipFill>
          <a:blip r:embed="rId5"/>
          <a:stretch>
            <a:fillRect/>
          </a:stretch>
        </p:blipFill>
        <p:spPr>
          <a:xfrm>
            <a:off x="3796284" y="2944368"/>
            <a:ext cx="256032" cy="256032"/>
          </a:xfrm>
          <a:prstGeom prst="rect">
            <a:avLst/>
          </a:prstGeom>
        </p:spPr>
      </p:pic>
      <p:sp>
        <p:nvSpPr>
          <p:cNvPr id="27" name="Text 20"/>
          <p:cNvSpPr/>
          <p:nvPr/>
        </p:nvSpPr>
        <p:spPr>
          <a:xfrm>
            <a:off x="3276600" y="3346704"/>
            <a:ext cx="1295400" cy="402336"/>
          </a:xfrm>
          <a:prstGeom prst="rect">
            <a:avLst/>
          </a:prstGeom>
          <a:noFill/>
          <a:ln/>
        </p:spPr>
        <p:txBody>
          <a:bodyPr wrap="square" lIns="0" tIns="0" rIns="0" bIns="0" rtlCol="0" anchor="t"/>
          <a:lstStyle/>
          <a:p>
            <a:pPr algn="ctr" indent="0" marL="0">
              <a:buNone/>
            </a:pPr>
            <a:r>
              <a:rPr lang="en-US" sz="660" b="1" dirty="0">
                <a:solidFill>
                  <a:srgbClr val="002516"/>
                </a:solidFill>
                <a:latin typeface="Arial" pitchFamily="34" charset="0"/>
                <a:ea typeface="Arial" pitchFamily="34" charset="-122"/>
                <a:cs typeface="Arial" pitchFamily="34" charset="-120"/>
              </a:rPr>
              <a:t>Maintenance of learning and assessment conditions</a:t>
            </a:r>
            <a:endParaRPr lang="en-US" sz="660" dirty="0"/>
          </a:p>
        </p:txBody>
      </p:sp>
      <p:sp>
        <p:nvSpPr>
          <p:cNvPr id="28" name="Shape 21"/>
          <p:cNvSpPr/>
          <p:nvPr/>
        </p:nvSpPr>
        <p:spPr>
          <a:xfrm>
            <a:off x="4773168" y="896112"/>
            <a:ext cx="2331720" cy="237744"/>
          </a:xfrm>
          <a:prstGeom prst="rect">
            <a:avLst/>
          </a:prstGeom>
          <a:solidFill>
            <a:srgbClr val="3A4B00"/>
          </a:solidFill>
          <a:ln/>
        </p:spPr>
      </p:sp>
      <p:sp>
        <p:nvSpPr>
          <p:cNvPr id="29" name="Text 22"/>
          <p:cNvSpPr/>
          <p:nvPr/>
        </p:nvSpPr>
        <p:spPr>
          <a:xfrm>
            <a:off x="4773168" y="896112"/>
            <a:ext cx="2331720" cy="237744"/>
          </a:xfrm>
          <a:prstGeom prst="rect">
            <a:avLst/>
          </a:prstGeom>
          <a:noFill/>
          <a:ln/>
        </p:spPr>
        <p:txBody>
          <a:bodyPr wrap="square" lIns="0" tIns="0" rIns="0" bIns="0" rtlCol="0" anchor="ctr"/>
          <a:lstStyle/>
          <a:p>
            <a:pPr algn="ctr" indent="0" marL="0">
              <a:buNone/>
            </a:pPr>
            <a:r>
              <a:rPr lang="en-US" sz="760" b="1" spc="150" kern="0" dirty="0">
                <a:solidFill>
                  <a:srgbClr val="FFFFFF"/>
                </a:solidFill>
                <a:latin typeface="Arial" pitchFamily="34" charset="0"/>
                <a:ea typeface="Arial" pitchFamily="34" charset="-122"/>
                <a:cs typeface="Arial" pitchFamily="34" charset="-120"/>
              </a:rPr>
              <a:t>NOT GROUNDS BY THEMSELVES</a:t>
            </a:r>
            <a:endParaRPr lang="en-US" sz="760" dirty="0"/>
          </a:p>
        </p:txBody>
      </p:sp>
      <p:sp>
        <p:nvSpPr>
          <p:cNvPr id="30" name="Shape 23"/>
          <p:cNvSpPr/>
          <p:nvPr/>
        </p:nvSpPr>
        <p:spPr>
          <a:xfrm>
            <a:off x="4773168" y="1133856"/>
            <a:ext cx="2331720" cy="2670048"/>
          </a:xfrm>
          <a:prstGeom prst="rect">
            <a:avLst/>
          </a:prstGeom>
          <a:solidFill>
            <a:srgbClr val="FFFFFF"/>
          </a:solidFill>
          <a:ln w="9525">
            <a:solidFill>
              <a:srgbClr val="A89662"/>
            </a:solidFill>
            <a:prstDash val="solid"/>
          </a:ln>
        </p:spPr>
      </p:sp>
      <p:pic>
        <p:nvPicPr>
          <p:cNvPr id="31" name="Image 5" descr="preencoded.png">    </p:cNvPr>
          <p:cNvPicPr>
            <a:picLocks noChangeAspect="1"/>
          </p:cNvPicPr>
          <p:nvPr/>
        </p:nvPicPr>
        <p:blipFill>
          <a:blip r:embed="rId6"/>
          <a:stretch>
            <a:fillRect/>
          </a:stretch>
        </p:blipFill>
        <p:spPr>
          <a:xfrm>
            <a:off x="4882896" y="1243584"/>
            <a:ext cx="201168" cy="201168"/>
          </a:xfrm>
          <a:prstGeom prst="rect">
            <a:avLst/>
          </a:prstGeom>
        </p:spPr>
      </p:pic>
      <p:sp>
        <p:nvSpPr>
          <p:cNvPr id="32" name="Text 24"/>
          <p:cNvSpPr/>
          <p:nvPr/>
        </p:nvSpPr>
        <p:spPr>
          <a:xfrm>
            <a:off x="5157216" y="1207008"/>
            <a:ext cx="1856232" cy="292608"/>
          </a:xfrm>
          <a:prstGeom prst="rect">
            <a:avLst/>
          </a:prstGeom>
          <a:noFill/>
          <a:ln/>
        </p:spPr>
        <p:txBody>
          <a:bodyPr wrap="square" lIns="0" tIns="0" rIns="0" bIns="0" rtlCol="0" anchor="ctr"/>
          <a:lstStyle/>
          <a:p>
            <a:pPr algn="l" indent="0" marL="0">
              <a:buNone/>
            </a:pPr>
            <a:r>
              <a:rPr lang="en-US" sz="720" dirty="0">
                <a:solidFill>
                  <a:srgbClr val="000000"/>
                </a:solidFill>
                <a:latin typeface="Arial" pitchFamily="34" charset="0"/>
                <a:ea typeface="Arial" pitchFamily="34" charset="-122"/>
                <a:cs typeface="Arial" pitchFamily="34" charset="-120"/>
              </a:rPr>
              <a:t>Slower pace than peers</a:t>
            </a:r>
            <a:endParaRPr lang="en-US" sz="720" dirty="0"/>
          </a:p>
        </p:txBody>
      </p:sp>
      <p:sp>
        <p:nvSpPr>
          <p:cNvPr id="33" name="Shape 25"/>
          <p:cNvSpPr/>
          <p:nvPr/>
        </p:nvSpPr>
        <p:spPr>
          <a:xfrm>
            <a:off x="4882896" y="1527048"/>
            <a:ext cx="2112264" cy="0"/>
          </a:xfrm>
          <a:prstGeom prst="line">
            <a:avLst/>
          </a:prstGeom>
          <a:noFill/>
          <a:ln w="5080">
            <a:solidFill>
              <a:srgbClr val="A89662"/>
            </a:solidFill>
            <a:prstDash val="solid"/>
          </a:ln>
        </p:spPr>
      </p:sp>
      <p:pic>
        <p:nvPicPr>
          <p:cNvPr id="34" name="Image 6" descr="preencoded.png">    </p:cNvPr>
          <p:cNvPicPr>
            <a:picLocks noChangeAspect="1"/>
          </p:cNvPicPr>
          <p:nvPr/>
        </p:nvPicPr>
        <p:blipFill>
          <a:blip r:embed="rId7"/>
          <a:stretch>
            <a:fillRect/>
          </a:stretch>
        </p:blipFill>
        <p:spPr>
          <a:xfrm>
            <a:off x="4882896" y="1609344"/>
            <a:ext cx="201168" cy="201168"/>
          </a:xfrm>
          <a:prstGeom prst="rect">
            <a:avLst/>
          </a:prstGeom>
        </p:spPr>
      </p:pic>
      <p:sp>
        <p:nvSpPr>
          <p:cNvPr id="35" name="Text 26"/>
          <p:cNvSpPr/>
          <p:nvPr/>
        </p:nvSpPr>
        <p:spPr>
          <a:xfrm>
            <a:off x="5157216" y="1572768"/>
            <a:ext cx="1856232" cy="292608"/>
          </a:xfrm>
          <a:prstGeom prst="rect">
            <a:avLst/>
          </a:prstGeom>
          <a:noFill/>
          <a:ln/>
        </p:spPr>
        <p:txBody>
          <a:bodyPr wrap="square" lIns="0" tIns="0" rIns="0" bIns="0" rtlCol="0" anchor="ctr"/>
          <a:lstStyle/>
          <a:p>
            <a:pPr algn="l" indent="0" marL="0">
              <a:buNone/>
            </a:pPr>
            <a:r>
              <a:rPr lang="en-US" sz="720" dirty="0">
                <a:solidFill>
                  <a:srgbClr val="000000"/>
                </a:solidFill>
                <a:latin typeface="Arial" pitchFamily="34" charset="0"/>
                <a:ea typeface="Arial" pitchFamily="34" charset="-122"/>
                <a:cs typeface="Arial" pitchFamily="34" charset="-120"/>
              </a:rPr>
              <a:t>Need for reasonable assistance</a:t>
            </a:r>
            <a:endParaRPr lang="en-US" sz="720" dirty="0"/>
          </a:p>
        </p:txBody>
      </p:sp>
      <p:sp>
        <p:nvSpPr>
          <p:cNvPr id="36" name="Shape 27"/>
          <p:cNvSpPr/>
          <p:nvPr/>
        </p:nvSpPr>
        <p:spPr>
          <a:xfrm>
            <a:off x="4882896" y="1892808"/>
            <a:ext cx="2112264" cy="0"/>
          </a:xfrm>
          <a:prstGeom prst="line">
            <a:avLst/>
          </a:prstGeom>
          <a:noFill/>
          <a:ln w="5080">
            <a:solidFill>
              <a:srgbClr val="A89662"/>
            </a:solidFill>
            <a:prstDash val="solid"/>
          </a:ln>
        </p:spPr>
      </p:sp>
      <p:pic>
        <p:nvPicPr>
          <p:cNvPr id="37" name="Image 7" descr="preencoded.png">    </p:cNvPr>
          <p:cNvPicPr>
            <a:picLocks noChangeAspect="1"/>
          </p:cNvPicPr>
          <p:nvPr/>
        </p:nvPicPr>
        <p:blipFill>
          <a:blip r:embed="rId8"/>
          <a:stretch>
            <a:fillRect/>
          </a:stretch>
        </p:blipFill>
        <p:spPr>
          <a:xfrm>
            <a:off x="4882896" y="1975104"/>
            <a:ext cx="201168" cy="201168"/>
          </a:xfrm>
          <a:prstGeom prst="rect">
            <a:avLst/>
          </a:prstGeom>
        </p:spPr>
      </p:pic>
      <p:sp>
        <p:nvSpPr>
          <p:cNvPr id="38" name="Text 28"/>
          <p:cNvSpPr/>
          <p:nvPr/>
        </p:nvSpPr>
        <p:spPr>
          <a:xfrm>
            <a:off x="5157216" y="1938528"/>
            <a:ext cx="1856232" cy="292608"/>
          </a:xfrm>
          <a:prstGeom prst="rect">
            <a:avLst/>
          </a:prstGeom>
          <a:noFill/>
          <a:ln/>
        </p:spPr>
        <p:txBody>
          <a:bodyPr wrap="square" lIns="0" tIns="0" rIns="0" bIns="0" rtlCol="0" anchor="ctr"/>
          <a:lstStyle/>
          <a:p>
            <a:pPr algn="l" indent="0" marL="0">
              <a:buNone/>
            </a:pPr>
            <a:r>
              <a:rPr lang="en-US" sz="720" dirty="0">
                <a:solidFill>
                  <a:srgbClr val="000000"/>
                </a:solidFill>
                <a:latin typeface="Arial" pitchFamily="34" charset="0"/>
                <a:ea typeface="Arial" pitchFamily="34" charset="-122"/>
                <a:cs typeface="Arial" pitchFamily="34" charset="-120"/>
              </a:rPr>
              <a:t>Redistribution of equipment</a:t>
            </a:r>
            <a:endParaRPr lang="en-US" sz="720" dirty="0"/>
          </a:p>
        </p:txBody>
      </p:sp>
      <p:sp>
        <p:nvSpPr>
          <p:cNvPr id="39" name="Shape 29"/>
          <p:cNvSpPr/>
          <p:nvPr/>
        </p:nvSpPr>
        <p:spPr>
          <a:xfrm>
            <a:off x="4882896" y="2258568"/>
            <a:ext cx="2112264" cy="0"/>
          </a:xfrm>
          <a:prstGeom prst="line">
            <a:avLst/>
          </a:prstGeom>
          <a:noFill/>
          <a:ln w="5080">
            <a:solidFill>
              <a:srgbClr val="A89662"/>
            </a:solidFill>
            <a:prstDash val="solid"/>
          </a:ln>
        </p:spPr>
      </p:sp>
      <p:pic>
        <p:nvPicPr>
          <p:cNvPr id="40" name="Image 8" descr="preencoded.png">    </p:cNvPr>
          <p:cNvPicPr>
            <a:picLocks noChangeAspect="1"/>
          </p:cNvPicPr>
          <p:nvPr/>
        </p:nvPicPr>
        <p:blipFill>
          <a:blip r:embed="rId9"/>
          <a:stretch>
            <a:fillRect/>
          </a:stretch>
        </p:blipFill>
        <p:spPr>
          <a:xfrm>
            <a:off x="4882896" y="2340864"/>
            <a:ext cx="201168" cy="201168"/>
          </a:xfrm>
          <a:prstGeom prst="rect">
            <a:avLst/>
          </a:prstGeom>
        </p:spPr>
      </p:pic>
      <p:sp>
        <p:nvSpPr>
          <p:cNvPr id="41" name="Text 30"/>
          <p:cNvSpPr/>
          <p:nvPr/>
        </p:nvSpPr>
        <p:spPr>
          <a:xfrm>
            <a:off x="5157216" y="2304288"/>
            <a:ext cx="1856232" cy="292608"/>
          </a:xfrm>
          <a:prstGeom prst="rect">
            <a:avLst/>
          </a:prstGeom>
          <a:noFill/>
          <a:ln/>
        </p:spPr>
        <p:txBody>
          <a:bodyPr wrap="square" lIns="0" tIns="0" rIns="0" bIns="0" rtlCol="0" anchor="ctr"/>
          <a:lstStyle/>
          <a:p>
            <a:pPr algn="l" indent="0" marL="0">
              <a:buNone/>
            </a:pPr>
            <a:r>
              <a:rPr lang="en-US" sz="720" dirty="0">
                <a:solidFill>
                  <a:srgbClr val="000000"/>
                </a:solidFill>
                <a:latin typeface="Arial" pitchFamily="34" charset="0"/>
                <a:ea typeface="Arial" pitchFamily="34" charset="-122"/>
                <a:cs typeface="Arial" pitchFamily="34" charset="-120"/>
              </a:rPr>
              <a:t>Increased workload on others</a:t>
            </a:r>
            <a:endParaRPr lang="en-US" sz="720" dirty="0"/>
          </a:p>
        </p:txBody>
      </p:sp>
      <p:sp>
        <p:nvSpPr>
          <p:cNvPr id="42" name="Shape 31"/>
          <p:cNvSpPr/>
          <p:nvPr/>
        </p:nvSpPr>
        <p:spPr>
          <a:xfrm>
            <a:off x="4882896" y="2624328"/>
            <a:ext cx="2112264" cy="0"/>
          </a:xfrm>
          <a:prstGeom prst="line">
            <a:avLst/>
          </a:prstGeom>
          <a:noFill/>
          <a:ln w="5080">
            <a:solidFill>
              <a:srgbClr val="A89662"/>
            </a:solidFill>
            <a:prstDash val="solid"/>
          </a:ln>
        </p:spPr>
      </p:sp>
      <p:pic>
        <p:nvPicPr>
          <p:cNvPr id="43" name="Image 9" descr="preencoded.png">    </p:cNvPr>
          <p:cNvPicPr>
            <a:picLocks noChangeAspect="1"/>
          </p:cNvPicPr>
          <p:nvPr/>
        </p:nvPicPr>
        <p:blipFill>
          <a:blip r:embed="rId10"/>
          <a:stretch>
            <a:fillRect/>
          </a:stretch>
        </p:blipFill>
        <p:spPr>
          <a:xfrm>
            <a:off x="4882896" y="2706624"/>
            <a:ext cx="201168" cy="201168"/>
          </a:xfrm>
          <a:prstGeom prst="rect">
            <a:avLst/>
          </a:prstGeom>
        </p:spPr>
      </p:pic>
      <p:sp>
        <p:nvSpPr>
          <p:cNvPr id="44" name="Text 32"/>
          <p:cNvSpPr/>
          <p:nvPr/>
        </p:nvSpPr>
        <p:spPr>
          <a:xfrm>
            <a:off x="5157216" y="2670048"/>
            <a:ext cx="1856232" cy="292608"/>
          </a:xfrm>
          <a:prstGeom prst="rect">
            <a:avLst/>
          </a:prstGeom>
          <a:noFill/>
          <a:ln/>
        </p:spPr>
        <p:txBody>
          <a:bodyPr wrap="square" lIns="0" tIns="0" rIns="0" bIns="0" rtlCol="0" anchor="ctr"/>
          <a:lstStyle/>
          <a:p>
            <a:pPr algn="l" indent="0" marL="0">
              <a:buNone/>
            </a:pPr>
            <a:r>
              <a:rPr lang="en-US" sz="720" dirty="0">
                <a:solidFill>
                  <a:srgbClr val="000000"/>
                </a:solidFill>
                <a:latin typeface="Arial" pitchFamily="34" charset="0"/>
                <a:ea typeface="Arial" pitchFamily="34" charset="-122"/>
                <a:cs typeface="Arial" pitchFamily="34" charset="-120"/>
              </a:rPr>
              <a:t>Frustration or interpersonal friction</a:t>
            </a:r>
            <a:endParaRPr lang="en-US" sz="720" dirty="0"/>
          </a:p>
        </p:txBody>
      </p:sp>
      <p:sp>
        <p:nvSpPr>
          <p:cNvPr id="45" name="Shape 33"/>
          <p:cNvSpPr/>
          <p:nvPr/>
        </p:nvSpPr>
        <p:spPr>
          <a:xfrm>
            <a:off x="4882896" y="2990088"/>
            <a:ext cx="2112264" cy="0"/>
          </a:xfrm>
          <a:prstGeom prst="line">
            <a:avLst/>
          </a:prstGeom>
          <a:noFill/>
          <a:ln w="5080">
            <a:solidFill>
              <a:srgbClr val="A89662"/>
            </a:solidFill>
            <a:prstDash val="solid"/>
          </a:ln>
        </p:spPr>
      </p:sp>
      <p:pic>
        <p:nvPicPr>
          <p:cNvPr id="46" name="Image 10" descr="preencoded.png">    </p:cNvPr>
          <p:cNvPicPr>
            <a:picLocks noChangeAspect="1"/>
          </p:cNvPicPr>
          <p:nvPr/>
        </p:nvPicPr>
        <p:blipFill>
          <a:blip r:embed="rId11"/>
          <a:stretch>
            <a:fillRect/>
          </a:stretch>
        </p:blipFill>
        <p:spPr>
          <a:xfrm>
            <a:off x="4882896" y="3072384"/>
            <a:ext cx="201168" cy="201168"/>
          </a:xfrm>
          <a:prstGeom prst="rect">
            <a:avLst/>
          </a:prstGeom>
        </p:spPr>
      </p:pic>
      <p:sp>
        <p:nvSpPr>
          <p:cNvPr id="47" name="Text 34"/>
          <p:cNvSpPr/>
          <p:nvPr/>
        </p:nvSpPr>
        <p:spPr>
          <a:xfrm>
            <a:off x="5157216" y="3035808"/>
            <a:ext cx="1856232" cy="292608"/>
          </a:xfrm>
          <a:prstGeom prst="rect">
            <a:avLst/>
          </a:prstGeom>
          <a:noFill/>
          <a:ln/>
        </p:spPr>
        <p:txBody>
          <a:bodyPr wrap="square" lIns="0" tIns="0" rIns="0" bIns="0" rtlCol="0" anchor="ctr"/>
          <a:lstStyle/>
          <a:p>
            <a:pPr algn="l" indent="0" marL="0">
              <a:buNone/>
            </a:pPr>
            <a:r>
              <a:rPr lang="en-US" sz="720" dirty="0">
                <a:solidFill>
                  <a:srgbClr val="000000"/>
                </a:solidFill>
                <a:latin typeface="Arial" pitchFamily="34" charset="0"/>
                <a:ea typeface="Arial" pitchFamily="34" charset="-122"/>
                <a:cs typeface="Arial" pitchFamily="34" charset="-120"/>
              </a:rPr>
              <a:t>Need to adjust pace, roles or plan</a:t>
            </a:r>
            <a:endParaRPr lang="en-US" sz="720" dirty="0"/>
          </a:p>
        </p:txBody>
      </p:sp>
      <p:sp>
        <p:nvSpPr>
          <p:cNvPr id="48" name="Shape 35"/>
          <p:cNvSpPr/>
          <p:nvPr/>
        </p:nvSpPr>
        <p:spPr>
          <a:xfrm>
            <a:off x="4864608" y="3456432"/>
            <a:ext cx="2148840" cy="256032"/>
          </a:xfrm>
          <a:prstGeom prst="rect">
            <a:avLst/>
          </a:prstGeom>
          <a:solidFill>
            <a:srgbClr val="CDD2B7">
              <a:alpha val="45000"/>
            </a:srgbClr>
          </a:solidFill>
          <a:ln/>
        </p:spPr>
      </p:sp>
      <p:sp>
        <p:nvSpPr>
          <p:cNvPr id="49" name="Text 36"/>
          <p:cNvSpPr/>
          <p:nvPr/>
        </p:nvSpPr>
        <p:spPr>
          <a:xfrm>
            <a:off x="4864608" y="3456432"/>
            <a:ext cx="2148840" cy="256032"/>
          </a:xfrm>
          <a:prstGeom prst="rect">
            <a:avLst/>
          </a:prstGeom>
          <a:noFill/>
          <a:ln/>
        </p:spPr>
        <p:txBody>
          <a:bodyPr wrap="square" lIns="0" tIns="0" rIns="0" bIns="0" rtlCol="0" anchor="ctr"/>
          <a:lstStyle/>
          <a:p>
            <a:pPr algn="ctr" indent="0" marL="0">
              <a:buNone/>
            </a:pPr>
            <a:r>
              <a:rPr lang="en-US" sz="680" b="1" i="1" dirty="0">
                <a:solidFill>
                  <a:srgbClr val="002516"/>
                </a:solidFill>
                <a:latin typeface="Arial" pitchFamily="34" charset="0"/>
                <a:ea typeface="Arial" pitchFamily="34" charset="-122"/>
                <a:cs typeface="Arial" pitchFamily="34" charset="-120"/>
              </a:rPr>
              <a:t>These are normal developmental effects.</a:t>
            </a:r>
            <a:endParaRPr lang="en-US" sz="680" dirty="0"/>
          </a:p>
        </p:txBody>
      </p:sp>
      <p:sp>
        <p:nvSpPr>
          <p:cNvPr id="50" name="Shape 37"/>
          <p:cNvSpPr/>
          <p:nvPr/>
        </p:nvSpPr>
        <p:spPr>
          <a:xfrm>
            <a:off x="457200" y="3950208"/>
            <a:ext cx="6647688" cy="256032"/>
          </a:xfrm>
          <a:prstGeom prst="rect">
            <a:avLst/>
          </a:prstGeom>
          <a:solidFill>
            <a:srgbClr val="002516"/>
          </a:solidFill>
          <a:ln/>
        </p:spPr>
      </p:sp>
      <p:sp>
        <p:nvSpPr>
          <p:cNvPr id="51" name="Text 38"/>
          <p:cNvSpPr/>
          <p:nvPr/>
        </p:nvSpPr>
        <p:spPr>
          <a:xfrm>
            <a:off x="457200" y="3950208"/>
            <a:ext cx="6647688" cy="256032"/>
          </a:xfrm>
          <a:prstGeom prst="rect">
            <a:avLst/>
          </a:prstGeom>
          <a:noFill/>
          <a:ln/>
        </p:spPr>
        <p:txBody>
          <a:bodyPr wrap="square" lIns="0" tIns="0" rIns="0" bIns="0" rtlCol="0" anchor="ctr"/>
          <a:lstStyle/>
          <a:p>
            <a:pPr algn="ctr" indent="0" marL="0">
              <a:buNone/>
            </a:pPr>
            <a:r>
              <a:rPr lang="en-US" sz="860" b="1" spc="150" kern="0" dirty="0">
                <a:solidFill>
                  <a:srgbClr val="FFFFFF"/>
                </a:solidFill>
                <a:latin typeface="Arial" pitchFamily="34" charset="0"/>
                <a:ea typeface="Arial" pitchFamily="34" charset="-122"/>
                <a:cs typeface="Arial" pitchFamily="34" charset="-120"/>
              </a:rPr>
              <a:t>3. GROUNDS FOR WITHDRAWAL</a:t>
            </a:r>
            <a:endParaRPr lang="en-US" sz="860" dirty="0"/>
          </a:p>
        </p:txBody>
      </p:sp>
      <p:sp>
        <p:nvSpPr>
          <p:cNvPr id="52" name="Shape 39"/>
          <p:cNvSpPr/>
          <p:nvPr/>
        </p:nvSpPr>
        <p:spPr>
          <a:xfrm>
            <a:off x="457200" y="4279392"/>
            <a:ext cx="1271016" cy="1481328"/>
          </a:xfrm>
          <a:prstGeom prst="rect">
            <a:avLst/>
          </a:prstGeom>
          <a:solidFill>
            <a:srgbClr val="FFFFFF"/>
          </a:solidFill>
          <a:ln w="9525">
            <a:solidFill>
              <a:srgbClr val="A89662"/>
            </a:solidFill>
            <a:prstDash val="solid"/>
          </a:ln>
        </p:spPr>
      </p:sp>
      <p:sp>
        <p:nvSpPr>
          <p:cNvPr id="53" name="Shape 40"/>
          <p:cNvSpPr/>
          <p:nvPr/>
        </p:nvSpPr>
        <p:spPr>
          <a:xfrm>
            <a:off x="512064" y="4334256"/>
            <a:ext cx="155448" cy="155448"/>
          </a:xfrm>
          <a:prstGeom prst="rect">
            <a:avLst/>
          </a:prstGeom>
          <a:solidFill>
            <a:srgbClr val="3A4B00"/>
          </a:solidFill>
          <a:ln/>
        </p:spPr>
      </p:sp>
      <p:sp>
        <p:nvSpPr>
          <p:cNvPr id="54" name="Text 41"/>
          <p:cNvSpPr/>
          <p:nvPr/>
        </p:nvSpPr>
        <p:spPr>
          <a:xfrm>
            <a:off x="512064" y="4334256"/>
            <a:ext cx="155448"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1</a:t>
            </a:r>
            <a:endParaRPr lang="en-US" sz="750" dirty="0"/>
          </a:p>
        </p:txBody>
      </p:sp>
      <p:sp>
        <p:nvSpPr>
          <p:cNvPr id="55" name="Shape 42"/>
          <p:cNvSpPr/>
          <p:nvPr/>
        </p:nvSpPr>
        <p:spPr>
          <a:xfrm>
            <a:off x="909828" y="4352544"/>
            <a:ext cx="365760" cy="365760"/>
          </a:xfrm>
          <a:prstGeom prst="ellipse">
            <a:avLst/>
          </a:prstGeom>
          <a:solidFill>
            <a:srgbClr val="002516"/>
          </a:solidFill>
          <a:ln/>
        </p:spPr>
      </p:sp>
      <p:pic>
        <p:nvPicPr>
          <p:cNvPr id="56" name="Image 11" descr="preencoded.png">    </p:cNvPr>
          <p:cNvPicPr>
            <a:picLocks noChangeAspect="1"/>
          </p:cNvPicPr>
          <p:nvPr/>
        </p:nvPicPr>
        <p:blipFill>
          <a:blip r:embed="rId12"/>
          <a:stretch>
            <a:fillRect/>
          </a:stretch>
        </p:blipFill>
        <p:spPr>
          <a:xfrm>
            <a:off x="992124" y="4434840"/>
            <a:ext cx="201168" cy="201168"/>
          </a:xfrm>
          <a:prstGeom prst="rect">
            <a:avLst/>
          </a:prstGeom>
        </p:spPr>
      </p:pic>
      <p:sp>
        <p:nvSpPr>
          <p:cNvPr id="57" name="Text 43"/>
          <p:cNvSpPr/>
          <p:nvPr/>
        </p:nvSpPr>
        <p:spPr>
          <a:xfrm>
            <a:off x="493776" y="4754880"/>
            <a:ext cx="1197864" cy="274320"/>
          </a:xfrm>
          <a:prstGeom prst="rect">
            <a:avLst/>
          </a:prstGeom>
          <a:noFill/>
          <a:ln/>
        </p:spPr>
        <p:txBody>
          <a:bodyPr wrap="square" lIns="0" tIns="0" rIns="0" bIns="0" rtlCol="0" anchor="ctr"/>
          <a:lstStyle/>
          <a:p>
            <a:pPr algn="ctr" indent="0" marL="0">
              <a:buNone/>
            </a:pPr>
            <a:r>
              <a:rPr lang="en-US" sz="700" b="1" dirty="0">
                <a:solidFill>
                  <a:srgbClr val="002516"/>
                </a:solidFill>
                <a:latin typeface="Arial" pitchFamily="34" charset="0"/>
                <a:ea typeface="Arial" pitchFamily="34" charset="-122"/>
                <a:cs typeface="Arial" pitchFamily="34" charset="-120"/>
              </a:rPr>
              <a:t>Safety or medical risk</a:t>
            </a:r>
            <a:endParaRPr lang="en-US" sz="700" dirty="0"/>
          </a:p>
        </p:txBody>
      </p:sp>
      <p:sp>
        <p:nvSpPr>
          <p:cNvPr id="58" name="Text 44"/>
          <p:cNvSpPr/>
          <p:nvPr/>
        </p:nvSpPr>
        <p:spPr>
          <a:xfrm>
            <a:off x="512064" y="5029200"/>
            <a:ext cx="1161288" cy="694944"/>
          </a:xfrm>
          <a:prstGeom prst="rect">
            <a:avLst/>
          </a:prstGeom>
          <a:noFill/>
          <a:ln/>
        </p:spPr>
        <p:txBody>
          <a:bodyPr wrap="square" lIns="0" tIns="0" rIns="0" bIns="0" rtlCol="0" anchor="t"/>
          <a:lstStyle/>
          <a:p>
            <a:pPr algn="ctr" indent="0" marL="0">
              <a:buNone/>
            </a:pPr>
            <a:r>
              <a:rPr lang="en-US" sz="610" dirty="0">
                <a:solidFill>
                  <a:srgbClr val="000000"/>
                </a:solidFill>
                <a:latin typeface="Arial" pitchFamily="34" charset="0"/>
                <a:ea typeface="Arial" pitchFamily="34" charset="-122"/>
                <a:cs typeface="Arial" pitchFamily="34" charset="-120"/>
              </a:rPr>
              <a:t>Continued participation is unsafe or breaches an authorised medical restriction.</a:t>
            </a:r>
            <a:endParaRPr lang="en-US" sz="610" dirty="0"/>
          </a:p>
        </p:txBody>
      </p:sp>
      <p:sp>
        <p:nvSpPr>
          <p:cNvPr id="59" name="Shape 45"/>
          <p:cNvSpPr/>
          <p:nvPr/>
        </p:nvSpPr>
        <p:spPr>
          <a:xfrm>
            <a:off x="1801368" y="4279392"/>
            <a:ext cx="1271016" cy="1481328"/>
          </a:xfrm>
          <a:prstGeom prst="rect">
            <a:avLst/>
          </a:prstGeom>
          <a:solidFill>
            <a:srgbClr val="FFFFFF"/>
          </a:solidFill>
          <a:ln w="9525">
            <a:solidFill>
              <a:srgbClr val="A89662"/>
            </a:solidFill>
            <a:prstDash val="solid"/>
          </a:ln>
        </p:spPr>
      </p:sp>
      <p:sp>
        <p:nvSpPr>
          <p:cNvPr id="60" name="Shape 46"/>
          <p:cNvSpPr/>
          <p:nvPr/>
        </p:nvSpPr>
        <p:spPr>
          <a:xfrm>
            <a:off x="1856232" y="4334256"/>
            <a:ext cx="155448" cy="155448"/>
          </a:xfrm>
          <a:prstGeom prst="rect">
            <a:avLst/>
          </a:prstGeom>
          <a:solidFill>
            <a:srgbClr val="3A4B00"/>
          </a:solidFill>
          <a:ln/>
        </p:spPr>
      </p:sp>
      <p:sp>
        <p:nvSpPr>
          <p:cNvPr id="61" name="Text 47"/>
          <p:cNvSpPr/>
          <p:nvPr/>
        </p:nvSpPr>
        <p:spPr>
          <a:xfrm>
            <a:off x="1856232" y="4334256"/>
            <a:ext cx="155448"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2</a:t>
            </a:r>
            <a:endParaRPr lang="en-US" sz="750" dirty="0"/>
          </a:p>
        </p:txBody>
      </p:sp>
      <p:sp>
        <p:nvSpPr>
          <p:cNvPr id="62" name="Shape 48"/>
          <p:cNvSpPr/>
          <p:nvPr/>
        </p:nvSpPr>
        <p:spPr>
          <a:xfrm>
            <a:off x="2253996" y="4352544"/>
            <a:ext cx="365760" cy="365760"/>
          </a:xfrm>
          <a:prstGeom prst="ellipse">
            <a:avLst/>
          </a:prstGeom>
          <a:solidFill>
            <a:srgbClr val="002516"/>
          </a:solidFill>
          <a:ln/>
        </p:spPr>
      </p:sp>
      <p:pic>
        <p:nvPicPr>
          <p:cNvPr id="63" name="Image 12" descr="preencoded.png">    </p:cNvPr>
          <p:cNvPicPr>
            <a:picLocks noChangeAspect="1"/>
          </p:cNvPicPr>
          <p:nvPr/>
        </p:nvPicPr>
        <p:blipFill>
          <a:blip r:embed="rId13"/>
          <a:stretch>
            <a:fillRect/>
          </a:stretch>
        </p:blipFill>
        <p:spPr>
          <a:xfrm>
            <a:off x="2336292" y="4434840"/>
            <a:ext cx="201168" cy="201168"/>
          </a:xfrm>
          <a:prstGeom prst="rect">
            <a:avLst/>
          </a:prstGeom>
        </p:spPr>
      </p:pic>
      <p:sp>
        <p:nvSpPr>
          <p:cNvPr id="64" name="Text 49"/>
          <p:cNvSpPr/>
          <p:nvPr/>
        </p:nvSpPr>
        <p:spPr>
          <a:xfrm>
            <a:off x="1837944" y="4754880"/>
            <a:ext cx="1197864" cy="274320"/>
          </a:xfrm>
          <a:prstGeom prst="rect">
            <a:avLst/>
          </a:prstGeom>
          <a:noFill/>
          <a:ln/>
        </p:spPr>
        <p:txBody>
          <a:bodyPr wrap="square" lIns="0" tIns="0" rIns="0" bIns="0" rtlCol="0" anchor="ctr"/>
          <a:lstStyle/>
          <a:p>
            <a:pPr algn="ctr" indent="0" marL="0">
              <a:buNone/>
            </a:pPr>
            <a:r>
              <a:rPr lang="en-US" sz="700" b="1" dirty="0">
                <a:solidFill>
                  <a:srgbClr val="002516"/>
                </a:solidFill>
                <a:latin typeface="Arial" pitchFamily="34" charset="0"/>
                <a:ea typeface="Arial" pitchFamily="34" charset="-122"/>
                <a:cs typeface="Arial" pitchFamily="34" charset="-120"/>
              </a:rPr>
              <a:t>Physical participation</a:t>
            </a:r>
            <a:endParaRPr lang="en-US" sz="700" dirty="0"/>
          </a:p>
        </p:txBody>
      </p:sp>
      <p:sp>
        <p:nvSpPr>
          <p:cNvPr id="65" name="Text 50"/>
          <p:cNvSpPr/>
          <p:nvPr/>
        </p:nvSpPr>
        <p:spPr>
          <a:xfrm>
            <a:off x="1856232" y="5029200"/>
            <a:ext cx="1161288" cy="694944"/>
          </a:xfrm>
          <a:prstGeom prst="rect">
            <a:avLst/>
          </a:prstGeom>
          <a:noFill/>
          <a:ln/>
        </p:spPr>
        <p:txBody>
          <a:bodyPr wrap="square" lIns="0" tIns="0" rIns="0" bIns="0" rtlCol="0" anchor="t"/>
          <a:lstStyle/>
          <a:p>
            <a:pPr algn="ctr" indent="0" marL="0">
              <a:buNone/>
            </a:pPr>
            <a:r>
              <a:rPr lang="en-US" sz="610" dirty="0">
                <a:solidFill>
                  <a:srgbClr val="000000"/>
                </a:solidFill>
                <a:latin typeface="Arial" pitchFamily="34" charset="0"/>
                <a:ea typeface="Arial" pitchFamily="34" charset="-122"/>
                <a:cs typeface="Arial" pitchFamily="34" charset="-120"/>
              </a:rPr>
              <a:t>Cannot safely undertake sufficient required activity despite reasonable adaptation.</a:t>
            </a:r>
            <a:endParaRPr lang="en-US" sz="610" dirty="0"/>
          </a:p>
        </p:txBody>
      </p:sp>
      <p:sp>
        <p:nvSpPr>
          <p:cNvPr id="66" name="Shape 51"/>
          <p:cNvSpPr/>
          <p:nvPr/>
        </p:nvSpPr>
        <p:spPr>
          <a:xfrm>
            <a:off x="3145536" y="4279392"/>
            <a:ext cx="1271016" cy="1481328"/>
          </a:xfrm>
          <a:prstGeom prst="rect">
            <a:avLst/>
          </a:prstGeom>
          <a:solidFill>
            <a:srgbClr val="FFFFFF"/>
          </a:solidFill>
          <a:ln w="9525">
            <a:solidFill>
              <a:srgbClr val="A89662"/>
            </a:solidFill>
            <a:prstDash val="solid"/>
          </a:ln>
        </p:spPr>
      </p:sp>
      <p:sp>
        <p:nvSpPr>
          <p:cNvPr id="67" name="Shape 52"/>
          <p:cNvSpPr/>
          <p:nvPr/>
        </p:nvSpPr>
        <p:spPr>
          <a:xfrm>
            <a:off x="3200400" y="4334256"/>
            <a:ext cx="155448" cy="155448"/>
          </a:xfrm>
          <a:prstGeom prst="rect">
            <a:avLst/>
          </a:prstGeom>
          <a:solidFill>
            <a:srgbClr val="3A4B00"/>
          </a:solidFill>
          <a:ln/>
        </p:spPr>
      </p:sp>
      <p:sp>
        <p:nvSpPr>
          <p:cNvPr id="68" name="Text 53"/>
          <p:cNvSpPr/>
          <p:nvPr/>
        </p:nvSpPr>
        <p:spPr>
          <a:xfrm>
            <a:off x="3200400" y="4334256"/>
            <a:ext cx="155448"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3</a:t>
            </a:r>
            <a:endParaRPr lang="en-US" sz="750" dirty="0"/>
          </a:p>
        </p:txBody>
      </p:sp>
      <p:sp>
        <p:nvSpPr>
          <p:cNvPr id="69" name="Shape 54"/>
          <p:cNvSpPr/>
          <p:nvPr/>
        </p:nvSpPr>
        <p:spPr>
          <a:xfrm>
            <a:off x="3598164" y="4352544"/>
            <a:ext cx="365760" cy="365760"/>
          </a:xfrm>
          <a:prstGeom prst="ellipse">
            <a:avLst/>
          </a:prstGeom>
          <a:solidFill>
            <a:srgbClr val="002516"/>
          </a:solidFill>
          <a:ln/>
        </p:spPr>
      </p:sp>
      <p:pic>
        <p:nvPicPr>
          <p:cNvPr id="70" name="Image 13" descr="preencoded.png">    </p:cNvPr>
          <p:cNvPicPr>
            <a:picLocks noChangeAspect="1"/>
          </p:cNvPicPr>
          <p:nvPr/>
        </p:nvPicPr>
        <p:blipFill>
          <a:blip r:embed="rId14"/>
          <a:stretch>
            <a:fillRect/>
          </a:stretch>
        </p:blipFill>
        <p:spPr>
          <a:xfrm>
            <a:off x="3680460" y="4434840"/>
            <a:ext cx="201168" cy="201168"/>
          </a:xfrm>
          <a:prstGeom prst="rect">
            <a:avLst/>
          </a:prstGeom>
        </p:spPr>
      </p:pic>
      <p:sp>
        <p:nvSpPr>
          <p:cNvPr id="71" name="Text 55"/>
          <p:cNvSpPr/>
          <p:nvPr/>
        </p:nvSpPr>
        <p:spPr>
          <a:xfrm>
            <a:off x="3182112" y="4754880"/>
            <a:ext cx="1197864" cy="274320"/>
          </a:xfrm>
          <a:prstGeom prst="rect">
            <a:avLst/>
          </a:prstGeom>
          <a:noFill/>
          <a:ln/>
        </p:spPr>
        <p:txBody>
          <a:bodyPr wrap="square" lIns="0" tIns="0" rIns="0" bIns="0" rtlCol="0" anchor="ctr"/>
          <a:lstStyle/>
          <a:p>
            <a:pPr algn="ctr" indent="0" marL="0">
              <a:buNone/>
            </a:pPr>
            <a:r>
              <a:rPr lang="en-US" sz="700" b="1" dirty="0">
                <a:solidFill>
                  <a:srgbClr val="002516"/>
                </a:solidFill>
                <a:latin typeface="Arial" pitchFamily="34" charset="0"/>
                <a:ea typeface="Arial" pitchFamily="34" charset="-122"/>
                <a:cs typeface="Arial" pitchFamily="34" charset="-120"/>
              </a:rPr>
              <a:t>Learning and assessment validity</a:t>
            </a:r>
            <a:endParaRPr lang="en-US" sz="700" dirty="0"/>
          </a:p>
        </p:txBody>
      </p:sp>
      <p:sp>
        <p:nvSpPr>
          <p:cNvPr id="72" name="Text 56"/>
          <p:cNvSpPr/>
          <p:nvPr/>
        </p:nvSpPr>
        <p:spPr>
          <a:xfrm>
            <a:off x="3200400" y="5029200"/>
            <a:ext cx="1161288" cy="694944"/>
          </a:xfrm>
          <a:prstGeom prst="rect">
            <a:avLst/>
          </a:prstGeom>
          <a:noFill/>
          <a:ln/>
        </p:spPr>
        <p:txBody>
          <a:bodyPr wrap="square" lIns="0" tIns="0" rIns="0" bIns="0" rtlCol="0" anchor="t"/>
          <a:lstStyle/>
          <a:p>
            <a:pPr algn="ctr" indent="0" marL="0">
              <a:buNone/>
            </a:pPr>
            <a:r>
              <a:rPr lang="en-US" sz="610" dirty="0">
                <a:solidFill>
                  <a:srgbClr val="000000"/>
                </a:solidFill>
                <a:latin typeface="Arial" pitchFamily="34" charset="0"/>
                <a:ea typeface="Arial" pitchFamily="34" charset="-122"/>
                <a:cs typeface="Arial" pitchFamily="34" charset="-120"/>
              </a:rPr>
              <a:t>Can no longer be meaningfully exposed to, develop against, or be assessed against approved objectives.</a:t>
            </a:r>
            <a:endParaRPr lang="en-US" sz="610" dirty="0"/>
          </a:p>
        </p:txBody>
      </p:sp>
      <p:sp>
        <p:nvSpPr>
          <p:cNvPr id="73" name="Shape 57"/>
          <p:cNvSpPr/>
          <p:nvPr/>
        </p:nvSpPr>
        <p:spPr>
          <a:xfrm>
            <a:off x="4489704" y="4279392"/>
            <a:ext cx="1271016" cy="1481328"/>
          </a:xfrm>
          <a:prstGeom prst="rect">
            <a:avLst/>
          </a:prstGeom>
          <a:solidFill>
            <a:srgbClr val="FFFFFF"/>
          </a:solidFill>
          <a:ln w="9525">
            <a:solidFill>
              <a:srgbClr val="A89662"/>
            </a:solidFill>
            <a:prstDash val="solid"/>
          </a:ln>
        </p:spPr>
      </p:sp>
      <p:sp>
        <p:nvSpPr>
          <p:cNvPr id="74" name="Shape 58"/>
          <p:cNvSpPr/>
          <p:nvPr/>
        </p:nvSpPr>
        <p:spPr>
          <a:xfrm>
            <a:off x="4544568" y="4334256"/>
            <a:ext cx="155448" cy="155448"/>
          </a:xfrm>
          <a:prstGeom prst="rect">
            <a:avLst/>
          </a:prstGeom>
          <a:solidFill>
            <a:srgbClr val="3A4B00"/>
          </a:solidFill>
          <a:ln/>
        </p:spPr>
      </p:sp>
      <p:sp>
        <p:nvSpPr>
          <p:cNvPr id="75" name="Text 59"/>
          <p:cNvSpPr/>
          <p:nvPr/>
        </p:nvSpPr>
        <p:spPr>
          <a:xfrm>
            <a:off x="4544568" y="4334256"/>
            <a:ext cx="155448"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4</a:t>
            </a:r>
            <a:endParaRPr lang="en-US" sz="750" dirty="0"/>
          </a:p>
        </p:txBody>
      </p:sp>
      <p:sp>
        <p:nvSpPr>
          <p:cNvPr id="76" name="Shape 60"/>
          <p:cNvSpPr/>
          <p:nvPr/>
        </p:nvSpPr>
        <p:spPr>
          <a:xfrm>
            <a:off x="4942332" y="4352544"/>
            <a:ext cx="365760" cy="365760"/>
          </a:xfrm>
          <a:prstGeom prst="ellipse">
            <a:avLst/>
          </a:prstGeom>
          <a:solidFill>
            <a:srgbClr val="002516"/>
          </a:solidFill>
          <a:ln/>
        </p:spPr>
      </p:sp>
      <p:pic>
        <p:nvPicPr>
          <p:cNvPr id="77" name="Image 14" descr="preencoded.png">    </p:cNvPr>
          <p:cNvPicPr>
            <a:picLocks noChangeAspect="1"/>
          </p:cNvPicPr>
          <p:nvPr/>
        </p:nvPicPr>
        <p:blipFill>
          <a:blip r:embed="rId15"/>
          <a:stretch>
            <a:fillRect/>
          </a:stretch>
        </p:blipFill>
        <p:spPr>
          <a:xfrm>
            <a:off x="5024628" y="4434840"/>
            <a:ext cx="201168" cy="201168"/>
          </a:xfrm>
          <a:prstGeom prst="rect">
            <a:avLst/>
          </a:prstGeom>
        </p:spPr>
      </p:pic>
      <p:sp>
        <p:nvSpPr>
          <p:cNvPr id="78" name="Text 61"/>
          <p:cNvSpPr/>
          <p:nvPr/>
        </p:nvSpPr>
        <p:spPr>
          <a:xfrm>
            <a:off x="4526280" y="4754880"/>
            <a:ext cx="1197864" cy="274320"/>
          </a:xfrm>
          <a:prstGeom prst="rect">
            <a:avLst/>
          </a:prstGeom>
          <a:noFill/>
          <a:ln/>
        </p:spPr>
        <p:txBody>
          <a:bodyPr wrap="square" lIns="0" tIns="0" rIns="0" bIns="0" rtlCol="0" anchor="ctr"/>
          <a:lstStyle/>
          <a:p>
            <a:pPr algn="ctr" indent="0" marL="0">
              <a:buNone/>
            </a:pPr>
            <a:r>
              <a:rPr lang="en-US" sz="700" b="1" dirty="0">
                <a:solidFill>
                  <a:srgbClr val="002516"/>
                </a:solidFill>
                <a:latin typeface="Arial" pitchFamily="34" charset="0"/>
                <a:ea typeface="Arial" pitchFamily="34" charset="-122"/>
                <a:cs typeface="Arial" pitchFamily="34" charset="-120"/>
              </a:rPr>
              <a:t>Conduct</a:t>
            </a:r>
            <a:endParaRPr lang="en-US" sz="700" dirty="0"/>
          </a:p>
        </p:txBody>
      </p:sp>
      <p:sp>
        <p:nvSpPr>
          <p:cNvPr id="79" name="Text 62"/>
          <p:cNvSpPr/>
          <p:nvPr/>
        </p:nvSpPr>
        <p:spPr>
          <a:xfrm>
            <a:off x="4544568" y="5029200"/>
            <a:ext cx="1161288" cy="694944"/>
          </a:xfrm>
          <a:prstGeom prst="rect">
            <a:avLst/>
          </a:prstGeom>
          <a:noFill/>
          <a:ln/>
        </p:spPr>
        <p:txBody>
          <a:bodyPr wrap="square" lIns="0" tIns="0" rIns="0" bIns="0" rtlCol="0" anchor="t"/>
          <a:lstStyle/>
          <a:p>
            <a:pPr algn="ctr" indent="0" marL="0">
              <a:buNone/>
            </a:pPr>
            <a:r>
              <a:rPr lang="en-US" sz="610" dirty="0">
                <a:solidFill>
                  <a:srgbClr val="000000"/>
                </a:solidFill>
                <a:latin typeface="Arial" pitchFamily="34" charset="0"/>
                <a:ea typeface="Arial" pitchFamily="34" charset="-122"/>
                <a:cs typeface="Arial" pitchFamily="34" charset="-120"/>
              </a:rPr>
              <a:t>Repeated refusal, deliberate non-compliance, or behaviour that creates risk or prevents team functioning after feedback.</a:t>
            </a:r>
            <a:endParaRPr lang="en-US" sz="610" dirty="0"/>
          </a:p>
        </p:txBody>
      </p:sp>
      <p:sp>
        <p:nvSpPr>
          <p:cNvPr id="80" name="Shape 63"/>
          <p:cNvSpPr/>
          <p:nvPr/>
        </p:nvSpPr>
        <p:spPr>
          <a:xfrm>
            <a:off x="5833872" y="4279392"/>
            <a:ext cx="1271016" cy="1481328"/>
          </a:xfrm>
          <a:prstGeom prst="rect">
            <a:avLst/>
          </a:prstGeom>
          <a:solidFill>
            <a:srgbClr val="FFFFFF"/>
          </a:solidFill>
          <a:ln w="9525">
            <a:solidFill>
              <a:srgbClr val="A89662"/>
            </a:solidFill>
            <a:prstDash val="solid"/>
          </a:ln>
        </p:spPr>
      </p:sp>
      <p:sp>
        <p:nvSpPr>
          <p:cNvPr id="81" name="Shape 64"/>
          <p:cNvSpPr/>
          <p:nvPr/>
        </p:nvSpPr>
        <p:spPr>
          <a:xfrm>
            <a:off x="5888736" y="4334256"/>
            <a:ext cx="155448" cy="155448"/>
          </a:xfrm>
          <a:prstGeom prst="rect">
            <a:avLst/>
          </a:prstGeom>
          <a:solidFill>
            <a:srgbClr val="3A4B00"/>
          </a:solidFill>
          <a:ln/>
        </p:spPr>
      </p:sp>
      <p:sp>
        <p:nvSpPr>
          <p:cNvPr id="82" name="Text 65"/>
          <p:cNvSpPr/>
          <p:nvPr/>
        </p:nvSpPr>
        <p:spPr>
          <a:xfrm>
            <a:off x="5888736" y="4334256"/>
            <a:ext cx="155448"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5</a:t>
            </a:r>
            <a:endParaRPr lang="en-US" sz="750" dirty="0"/>
          </a:p>
        </p:txBody>
      </p:sp>
      <p:sp>
        <p:nvSpPr>
          <p:cNvPr id="83" name="Shape 66"/>
          <p:cNvSpPr/>
          <p:nvPr/>
        </p:nvSpPr>
        <p:spPr>
          <a:xfrm>
            <a:off x="6286500" y="4352544"/>
            <a:ext cx="365760" cy="365760"/>
          </a:xfrm>
          <a:prstGeom prst="ellipse">
            <a:avLst/>
          </a:prstGeom>
          <a:solidFill>
            <a:srgbClr val="002516"/>
          </a:solidFill>
          <a:ln/>
        </p:spPr>
      </p:sp>
      <p:pic>
        <p:nvPicPr>
          <p:cNvPr id="84" name="Image 15" descr="preencoded.png">    </p:cNvPr>
          <p:cNvPicPr>
            <a:picLocks noChangeAspect="1"/>
          </p:cNvPicPr>
          <p:nvPr/>
        </p:nvPicPr>
        <p:blipFill>
          <a:blip r:embed="rId16"/>
          <a:stretch>
            <a:fillRect/>
          </a:stretch>
        </p:blipFill>
        <p:spPr>
          <a:xfrm>
            <a:off x="6368796" y="4434840"/>
            <a:ext cx="201168" cy="201168"/>
          </a:xfrm>
          <a:prstGeom prst="rect">
            <a:avLst/>
          </a:prstGeom>
        </p:spPr>
      </p:pic>
      <p:sp>
        <p:nvSpPr>
          <p:cNvPr id="85" name="Text 67"/>
          <p:cNvSpPr/>
          <p:nvPr/>
        </p:nvSpPr>
        <p:spPr>
          <a:xfrm>
            <a:off x="5870448" y="4754880"/>
            <a:ext cx="1197864" cy="274320"/>
          </a:xfrm>
          <a:prstGeom prst="rect">
            <a:avLst/>
          </a:prstGeom>
          <a:noFill/>
          <a:ln/>
        </p:spPr>
        <p:txBody>
          <a:bodyPr wrap="square" lIns="0" tIns="0" rIns="0" bIns="0" rtlCol="0" anchor="ctr"/>
          <a:lstStyle/>
          <a:p>
            <a:pPr algn="ctr" indent="0" marL="0">
              <a:buNone/>
            </a:pPr>
            <a:r>
              <a:rPr lang="en-US" sz="700" b="1" dirty="0">
                <a:solidFill>
                  <a:srgbClr val="002516"/>
                </a:solidFill>
                <a:latin typeface="Arial" pitchFamily="34" charset="0"/>
                <a:ea typeface="Arial" pitchFamily="34" charset="-122"/>
                <a:cs typeface="Arial" pitchFamily="34" charset="-120"/>
              </a:rPr>
              <a:t>Developmental welfare</a:t>
            </a:r>
            <a:endParaRPr lang="en-US" sz="700" dirty="0"/>
          </a:p>
        </p:txBody>
      </p:sp>
      <p:sp>
        <p:nvSpPr>
          <p:cNvPr id="86" name="Text 68"/>
          <p:cNvSpPr/>
          <p:nvPr/>
        </p:nvSpPr>
        <p:spPr>
          <a:xfrm>
            <a:off x="5888736" y="5029200"/>
            <a:ext cx="1161288" cy="694944"/>
          </a:xfrm>
          <a:prstGeom prst="rect">
            <a:avLst/>
          </a:prstGeom>
          <a:noFill/>
          <a:ln/>
        </p:spPr>
        <p:txBody>
          <a:bodyPr wrap="square" lIns="0" tIns="0" rIns="0" bIns="0" rtlCol="0" anchor="t"/>
          <a:lstStyle/>
          <a:p>
            <a:pPr algn="ctr" indent="0" marL="0">
              <a:buNone/>
            </a:pPr>
            <a:r>
              <a:rPr lang="en-US" sz="610" dirty="0">
                <a:solidFill>
                  <a:srgbClr val="000000"/>
                </a:solidFill>
                <a:latin typeface="Arial" pitchFamily="34" charset="0"/>
                <a:ea typeface="Arial" pitchFamily="34" charset="-122"/>
                <a:cs typeface="Arial" pitchFamily="34" charset="-120"/>
              </a:rPr>
              <a:t>Continued participation is likely to cause harm and no longer provides meaningful developmental benefit.</a:t>
            </a:r>
            <a:endParaRPr lang="en-US" sz="610" dirty="0"/>
          </a:p>
        </p:txBody>
      </p:sp>
      <p:sp>
        <p:nvSpPr>
          <p:cNvPr id="87" name="Shape 69"/>
          <p:cNvSpPr/>
          <p:nvPr/>
        </p:nvSpPr>
        <p:spPr>
          <a:xfrm>
            <a:off x="457200" y="5870448"/>
            <a:ext cx="6647688" cy="914400"/>
          </a:xfrm>
          <a:prstGeom prst="rect">
            <a:avLst/>
          </a:prstGeom>
          <a:solidFill>
            <a:srgbClr val="3A4B00"/>
          </a:solidFill>
          <a:ln/>
        </p:spPr>
      </p:sp>
      <p:sp>
        <p:nvSpPr>
          <p:cNvPr id="88" name="Text 70"/>
          <p:cNvSpPr/>
          <p:nvPr/>
        </p:nvSpPr>
        <p:spPr>
          <a:xfrm>
            <a:off x="457200" y="5916168"/>
            <a:ext cx="6647688" cy="164592"/>
          </a:xfrm>
          <a:prstGeom prst="rect">
            <a:avLst/>
          </a:prstGeom>
          <a:noFill/>
          <a:ln/>
        </p:spPr>
        <p:txBody>
          <a:bodyPr wrap="square" lIns="0" tIns="0" rIns="0" bIns="0" rtlCol="0" anchor="ctr"/>
          <a:lstStyle/>
          <a:p>
            <a:pPr algn="ctr" indent="0" marL="0">
              <a:buNone/>
            </a:pPr>
            <a:r>
              <a:rPr lang="en-US" sz="860" b="1" spc="200" kern="0" dirty="0">
                <a:solidFill>
                  <a:srgbClr val="CDD2B7"/>
                </a:solidFill>
                <a:latin typeface="Arial" pitchFamily="34" charset="0"/>
                <a:ea typeface="Arial" pitchFamily="34" charset="-122"/>
                <a:cs typeface="Arial" pitchFamily="34" charset="-120"/>
              </a:rPr>
              <a:t>4. THE WITHDRAWAL TEST</a:t>
            </a:r>
            <a:endParaRPr lang="en-US" sz="860" dirty="0"/>
          </a:p>
        </p:txBody>
      </p:sp>
      <p:sp>
        <p:nvSpPr>
          <p:cNvPr id="89" name="Text 71"/>
          <p:cNvSpPr/>
          <p:nvPr/>
        </p:nvSpPr>
        <p:spPr>
          <a:xfrm>
            <a:off x="777240" y="6089904"/>
            <a:ext cx="6007608" cy="475488"/>
          </a:xfrm>
          <a:prstGeom prst="rect">
            <a:avLst/>
          </a:prstGeom>
          <a:noFill/>
          <a:ln/>
        </p:spPr>
        <p:txBody>
          <a:bodyPr wrap="square" lIns="0" tIns="0" rIns="0" bIns="0" rtlCol="0" anchor="t"/>
          <a:lstStyle/>
          <a:p>
            <a:pPr algn="ctr" indent="0" marL="0">
              <a:buNone/>
            </a:pPr>
            <a:r>
              <a:rPr lang="en-US" sz="800" b="1" i="1" dirty="0">
                <a:solidFill>
                  <a:srgbClr val="FFFFFF"/>
                </a:solidFill>
                <a:latin typeface="Arial" pitchFamily="34" charset="0"/>
                <a:ea typeface="Arial" pitchFamily="34" charset="-122"/>
                <a:cs typeface="Arial" pitchFamily="34" charset="-120"/>
              </a:rPr>
              <a:t>What specific safety requirement, required activity, or approved learning or assessment objective can no longer be safely or meaningfully achieved, and what evidence shows that reasonable coaching, team adaptation or authorised adjustment will not restore the necessary conditions?</a:t>
            </a:r>
            <a:endParaRPr lang="en-US" sz="800" dirty="0"/>
          </a:p>
        </p:txBody>
      </p:sp>
      <p:sp>
        <p:nvSpPr>
          <p:cNvPr id="90" name="Text 72"/>
          <p:cNvSpPr/>
          <p:nvPr/>
        </p:nvSpPr>
        <p:spPr>
          <a:xfrm>
            <a:off x="777240" y="6565392"/>
            <a:ext cx="6007608" cy="164592"/>
          </a:xfrm>
          <a:prstGeom prst="rect">
            <a:avLst/>
          </a:prstGeom>
          <a:noFill/>
          <a:ln/>
        </p:spPr>
        <p:txBody>
          <a:bodyPr wrap="square" lIns="0" tIns="0" rIns="0" bIns="0" rtlCol="0" anchor="ctr"/>
          <a:lstStyle/>
          <a:p>
            <a:pPr algn="ctr" indent="0" marL="0">
              <a:buNone/>
            </a:pPr>
            <a:r>
              <a:rPr lang="en-US" sz="700" i="1" dirty="0">
                <a:solidFill>
                  <a:srgbClr val="CDD2B7"/>
                </a:solidFill>
                <a:latin typeface="Arial" pitchFamily="34" charset="0"/>
                <a:ea typeface="Arial" pitchFamily="34" charset="-122"/>
                <a:cs typeface="Arial" pitchFamily="34" charset="-120"/>
              </a:rPr>
              <a:t>A slower team, greater workload or frustration alone will not normally meet this threshold.</a:t>
            </a:r>
            <a:endParaRPr lang="en-US" sz="700" dirty="0"/>
          </a:p>
        </p:txBody>
      </p:sp>
      <p:sp>
        <p:nvSpPr>
          <p:cNvPr id="91" name="Shape 73"/>
          <p:cNvSpPr/>
          <p:nvPr/>
        </p:nvSpPr>
        <p:spPr>
          <a:xfrm>
            <a:off x="457200" y="6894576"/>
            <a:ext cx="6647688" cy="256032"/>
          </a:xfrm>
          <a:prstGeom prst="rect">
            <a:avLst/>
          </a:prstGeom>
          <a:solidFill>
            <a:srgbClr val="002516"/>
          </a:solidFill>
          <a:ln/>
        </p:spPr>
      </p:sp>
      <p:sp>
        <p:nvSpPr>
          <p:cNvPr id="92" name="Text 74"/>
          <p:cNvSpPr/>
          <p:nvPr/>
        </p:nvSpPr>
        <p:spPr>
          <a:xfrm>
            <a:off x="457200" y="6894576"/>
            <a:ext cx="6647688" cy="256032"/>
          </a:xfrm>
          <a:prstGeom prst="rect">
            <a:avLst/>
          </a:prstGeom>
          <a:noFill/>
          <a:ln/>
        </p:spPr>
        <p:txBody>
          <a:bodyPr wrap="square" lIns="0" tIns="0" rIns="0" bIns="0" rtlCol="0" anchor="ctr"/>
          <a:lstStyle/>
          <a:p>
            <a:pPr algn="ctr" indent="0" marL="0">
              <a:buNone/>
            </a:pPr>
            <a:r>
              <a:rPr lang="en-US" sz="860" b="1" spc="150" kern="0" dirty="0">
                <a:solidFill>
                  <a:srgbClr val="FFFFFF"/>
                </a:solidFill>
                <a:latin typeface="Arial" pitchFamily="34" charset="0"/>
                <a:ea typeface="Arial" pitchFamily="34" charset="-122"/>
                <a:cs typeface="Arial" pitchFamily="34" charset="-120"/>
              </a:rPr>
              <a:t>5. DECISION PROCESS</a:t>
            </a:r>
            <a:endParaRPr lang="en-US" sz="860" dirty="0"/>
          </a:p>
        </p:txBody>
      </p:sp>
      <p:sp>
        <p:nvSpPr>
          <p:cNvPr id="93" name="Shape 75"/>
          <p:cNvSpPr/>
          <p:nvPr/>
        </p:nvSpPr>
        <p:spPr>
          <a:xfrm>
            <a:off x="457200" y="7260336"/>
            <a:ext cx="310896" cy="310896"/>
          </a:xfrm>
          <a:prstGeom prst="ellipse">
            <a:avLst/>
          </a:prstGeom>
          <a:solidFill>
            <a:srgbClr val="FFFFFF"/>
          </a:solidFill>
          <a:ln w="15875">
            <a:solidFill>
              <a:srgbClr val="002516"/>
            </a:solidFill>
            <a:prstDash val="solid"/>
          </a:ln>
        </p:spPr>
      </p:sp>
      <p:pic>
        <p:nvPicPr>
          <p:cNvPr id="94" name="Image 16" descr="preencoded.png">    </p:cNvPr>
          <p:cNvPicPr>
            <a:picLocks noChangeAspect="1"/>
          </p:cNvPicPr>
          <p:nvPr/>
        </p:nvPicPr>
        <p:blipFill>
          <a:blip r:embed="rId17"/>
          <a:stretch>
            <a:fillRect/>
          </a:stretch>
        </p:blipFill>
        <p:spPr>
          <a:xfrm>
            <a:off x="521208" y="7324344"/>
            <a:ext cx="182880" cy="182880"/>
          </a:xfrm>
          <a:prstGeom prst="rect">
            <a:avLst/>
          </a:prstGeom>
        </p:spPr>
      </p:pic>
      <p:sp>
        <p:nvSpPr>
          <p:cNvPr id="95" name="Text 76"/>
          <p:cNvSpPr/>
          <p:nvPr/>
        </p:nvSpPr>
        <p:spPr>
          <a:xfrm>
            <a:off x="822960" y="7242048"/>
            <a:ext cx="1691640" cy="164592"/>
          </a:xfrm>
          <a:prstGeom prst="rect">
            <a:avLst/>
          </a:prstGeom>
          <a:noFill/>
          <a:ln/>
        </p:spPr>
        <p:txBody>
          <a:bodyPr wrap="square" lIns="0" tIns="0" rIns="0" bIns="0" rtlCol="0" anchor="ctr"/>
          <a:lstStyle/>
          <a:p>
            <a:pPr algn="l" indent="0" marL="0">
              <a:buNone/>
            </a:pPr>
            <a:r>
              <a:rPr lang="en-US" sz="780" b="1" dirty="0">
                <a:solidFill>
                  <a:srgbClr val="C62026"/>
                </a:solidFill>
                <a:latin typeface="Arial" pitchFamily="34" charset="0"/>
                <a:ea typeface="Arial" pitchFamily="34" charset="-122"/>
                <a:cs typeface="Arial" pitchFamily="34" charset="-120"/>
              </a:rPr>
              <a:t>1.  </a:t>
            </a:r>
            <a:pPr algn="l" indent="0" marL="0">
              <a:buNone/>
            </a:pPr>
            <a:r>
              <a:rPr lang="en-US" sz="780" b="1" dirty="0">
                <a:solidFill>
                  <a:srgbClr val="002516"/>
                </a:solidFill>
                <a:latin typeface="Arial" pitchFamily="34" charset="0"/>
                <a:ea typeface="Arial" pitchFamily="34" charset="-122"/>
                <a:cs typeface="Arial" pitchFamily="34" charset="-120"/>
              </a:rPr>
              <a:t>Observe and enable</a:t>
            </a:r>
            <a:endParaRPr lang="en-US" sz="780" dirty="0"/>
          </a:p>
        </p:txBody>
      </p:sp>
      <p:sp>
        <p:nvSpPr>
          <p:cNvPr id="96" name="Text 77"/>
          <p:cNvSpPr/>
          <p:nvPr/>
        </p:nvSpPr>
        <p:spPr>
          <a:xfrm>
            <a:off x="822960" y="7406640"/>
            <a:ext cx="1673352" cy="603504"/>
          </a:xfrm>
          <a:prstGeom prst="rect">
            <a:avLst/>
          </a:prstGeom>
          <a:noFill/>
          <a:ln/>
        </p:spPr>
        <p:txBody>
          <a:bodyPr wrap="square" lIns="0" tIns="0" rIns="0" bIns="0" rtlCol="0" anchor="t"/>
          <a:lstStyle/>
          <a:p>
            <a:pPr algn="l" indent="0" marL="0">
              <a:buNone/>
            </a:pPr>
            <a:r>
              <a:rPr lang="en-US" sz="630" dirty="0">
                <a:solidFill>
                  <a:srgbClr val="000000"/>
                </a:solidFill>
                <a:latin typeface="Arial" pitchFamily="34" charset="0"/>
                <a:ea typeface="Arial" pitchFamily="34" charset="-122"/>
                <a:cs typeface="Arial" pitchFamily="34" charset="-120"/>
              </a:rPr>
              <a:t>Identify the issue; allow the team a reasonable opportunity to recognise, respond and manage it.</a:t>
            </a:r>
            <a:endParaRPr lang="en-US" sz="630" dirty="0"/>
          </a:p>
        </p:txBody>
      </p:sp>
      <p:sp>
        <p:nvSpPr>
          <p:cNvPr id="97" name="Text 78"/>
          <p:cNvSpPr/>
          <p:nvPr/>
        </p:nvSpPr>
        <p:spPr>
          <a:xfrm>
            <a:off x="2478024" y="7296912"/>
            <a:ext cx="310896" cy="219456"/>
          </a:xfrm>
          <a:prstGeom prst="rect">
            <a:avLst/>
          </a:prstGeom>
          <a:noFill/>
          <a:ln/>
        </p:spPr>
        <p:txBody>
          <a:bodyPr wrap="square" lIns="0" tIns="0" rIns="0" bIns="0" rtlCol="0" anchor="ctr"/>
          <a:lstStyle/>
          <a:p>
            <a:pPr algn="ctr" indent="0" marL="0">
              <a:buNone/>
            </a:pPr>
            <a:r>
              <a:rPr lang="en-US" sz="1000" b="1" dirty="0">
                <a:solidFill>
                  <a:srgbClr val="C62026"/>
                </a:solidFill>
                <a:latin typeface="Arial" pitchFamily="34" charset="0"/>
                <a:ea typeface="Arial" pitchFamily="34" charset="-122"/>
                <a:cs typeface="Arial" pitchFamily="34" charset="-120"/>
              </a:rPr>
              <a:t>►</a:t>
            </a:r>
            <a:endParaRPr lang="en-US" sz="1000" dirty="0"/>
          </a:p>
        </p:txBody>
      </p:sp>
      <p:sp>
        <p:nvSpPr>
          <p:cNvPr id="98" name="Shape 79"/>
          <p:cNvSpPr/>
          <p:nvPr/>
        </p:nvSpPr>
        <p:spPr>
          <a:xfrm>
            <a:off x="2752344" y="7260336"/>
            <a:ext cx="310896" cy="310896"/>
          </a:xfrm>
          <a:prstGeom prst="ellipse">
            <a:avLst/>
          </a:prstGeom>
          <a:solidFill>
            <a:srgbClr val="FFFFFF"/>
          </a:solidFill>
          <a:ln w="15875">
            <a:solidFill>
              <a:srgbClr val="002516"/>
            </a:solidFill>
            <a:prstDash val="solid"/>
          </a:ln>
        </p:spPr>
      </p:sp>
      <p:pic>
        <p:nvPicPr>
          <p:cNvPr id="99" name="Image 17" descr="preencoded.png">    </p:cNvPr>
          <p:cNvPicPr>
            <a:picLocks noChangeAspect="1"/>
          </p:cNvPicPr>
          <p:nvPr/>
        </p:nvPicPr>
        <p:blipFill>
          <a:blip r:embed="rId18"/>
          <a:stretch>
            <a:fillRect/>
          </a:stretch>
        </p:blipFill>
        <p:spPr>
          <a:xfrm>
            <a:off x="2816352" y="7324344"/>
            <a:ext cx="182880" cy="182880"/>
          </a:xfrm>
          <a:prstGeom prst="rect">
            <a:avLst/>
          </a:prstGeom>
        </p:spPr>
      </p:pic>
      <p:sp>
        <p:nvSpPr>
          <p:cNvPr id="100" name="Text 80"/>
          <p:cNvSpPr/>
          <p:nvPr/>
        </p:nvSpPr>
        <p:spPr>
          <a:xfrm>
            <a:off x="3118104" y="7242048"/>
            <a:ext cx="1691640" cy="164592"/>
          </a:xfrm>
          <a:prstGeom prst="rect">
            <a:avLst/>
          </a:prstGeom>
          <a:noFill/>
          <a:ln/>
        </p:spPr>
        <p:txBody>
          <a:bodyPr wrap="square" lIns="0" tIns="0" rIns="0" bIns="0" rtlCol="0" anchor="ctr"/>
          <a:lstStyle/>
          <a:p>
            <a:pPr algn="l" indent="0" marL="0">
              <a:buNone/>
            </a:pPr>
            <a:r>
              <a:rPr lang="en-US" sz="780" b="1" dirty="0">
                <a:solidFill>
                  <a:srgbClr val="C62026"/>
                </a:solidFill>
                <a:latin typeface="Arial" pitchFamily="34" charset="0"/>
                <a:ea typeface="Arial" pitchFamily="34" charset="-122"/>
                <a:cs typeface="Arial" pitchFamily="34" charset="-120"/>
              </a:rPr>
              <a:t>2.  </a:t>
            </a:r>
            <a:pPr algn="l" indent="0" marL="0">
              <a:buNone/>
            </a:pPr>
            <a:r>
              <a:rPr lang="en-US" sz="780" b="1" dirty="0">
                <a:solidFill>
                  <a:srgbClr val="002516"/>
                </a:solidFill>
                <a:latin typeface="Arial" pitchFamily="34" charset="0"/>
                <a:ea typeface="Arial" pitchFamily="34" charset="-122"/>
                <a:cs typeface="Arial" pitchFamily="34" charset="-120"/>
              </a:rPr>
              <a:t>Intervene and reassess</a:t>
            </a:r>
            <a:endParaRPr lang="en-US" sz="780" dirty="0"/>
          </a:p>
        </p:txBody>
      </p:sp>
      <p:sp>
        <p:nvSpPr>
          <p:cNvPr id="101" name="Text 81"/>
          <p:cNvSpPr/>
          <p:nvPr/>
        </p:nvSpPr>
        <p:spPr>
          <a:xfrm>
            <a:off x="3118104" y="7406640"/>
            <a:ext cx="1673352" cy="603504"/>
          </a:xfrm>
          <a:prstGeom prst="rect">
            <a:avLst/>
          </a:prstGeom>
          <a:noFill/>
          <a:ln/>
        </p:spPr>
        <p:txBody>
          <a:bodyPr wrap="square" lIns="0" tIns="0" rIns="0" bIns="0" rtlCol="0" anchor="t"/>
          <a:lstStyle/>
          <a:p>
            <a:pPr algn="l" indent="0" marL="0">
              <a:buNone/>
            </a:pPr>
            <a:r>
              <a:rPr lang="en-US" sz="630" dirty="0">
                <a:solidFill>
                  <a:srgbClr val="000000"/>
                </a:solidFill>
                <a:latin typeface="Arial" pitchFamily="34" charset="0"/>
                <a:ea typeface="Arial" pitchFamily="34" charset="-122"/>
                <a:cs typeface="Arial" pitchFamily="34" charset="-120"/>
              </a:rPr>
              <a:t>Provide clear feedback; apply authorised adjustments; reassess whether safe and meaningful participation remains achievable.</a:t>
            </a:r>
            <a:endParaRPr lang="en-US" sz="630" dirty="0"/>
          </a:p>
        </p:txBody>
      </p:sp>
      <p:sp>
        <p:nvSpPr>
          <p:cNvPr id="102" name="Text 82"/>
          <p:cNvSpPr/>
          <p:nvPr/>
        </p:nvSpPr>
        <p:spPr>
          <a:xfrm>
            <a:off x="4773168" y="7296912"/>
            <a:ext cx="310896" cy="219456"/>
          </a:xfrm>
          <a:prstGeom prst="rect">
            <a:avLst/>
          </a:prstGeom>
          <a:noFill/>
          <a:ln/>
        </p:spPr>
        <p:txBody>
          <a:bodyPr wrap="square" lIns="0" tIns="0" rIns="0" bIns="0" rtlCol="0" anchor="ctr"/>
          <a:lstStyle/>
          <a:p>
            <a:pPr algn="ctr" indent="0" marL="0">
              <a:buNone/>
            </a:pPr>
            <a:r>
              <a:rPr lang="en-US" sz="1000" b="1" dirty="0">
                <a:solidFill>
                  <a:srgbClr val="C62026"/>
                </a:solidFill>
                <a:latin typeface="Arial" pitchFamily="34" charset="0"/>
                <a:ea typeface="Arial" pitchFamily="34" charset="-122"/>
                <a:cs typeface="Arial" pitchFamily="34" charset="-120"/>
              </a:rPr>
              <a:t>►</a:t>
            </a:r>
            <a:endParaRPr lang="en-US" sz="1000" dirty="0"/>
          </a:p>
        </p:txBody>
      </p:sp>
      <p:sp>
        <p:nvSpPr>
          <p:cNvPr id="103" name="Shape 83"/>
          <p:cNvSpPr/>
          <p:nvPr/>
        </p:nvSpPr>
        <p:spPr>
          <a:xfrm>
            <a:off x="5047488" y="7260336"/>
            <a:ext cx="310896" cy="310896"/>
          </a:xfrm>
          <a:prstGeom prst="ellipse">
            <a:avLst/>
          </a:prstGeom>
          <a:solidFill>
            <a:srgbClr val="FFFFFF"/>
          </a:solidFill>
          <a:ln w="15875">
            <a:solidFill>
              <a:srgbClr val="002516"/>
            </a:solidFill>
            <a:prstDash val="solid"/>
          </a:ln>
        </p:spPr>
      </p:sp>
      <p:pic>
        <p:nvPicPr>
          <p:cNvPr id="104" name="Image 18" descr="preencoded.png">    </p:cNvPr>
          <p:cNvPicPr>
            <a:picLocks noChangeAspect="1"/>
          </p:cNvPicPr>
          <p:nvPr/>
        </p:nvPicPr>
        <p:blipFill>
          <a:blip r:embed="rId19"/>
          <a:stretch>
            <a:fillRect/>
          </a:stretch>
        </p:blipFill>
        <p:spPr>
          <a:xfrm>
            <a:off x="5111496" y="7324344"/>
            <a:ext cx="182880" cy="182880"/>
          </a:xfrm>
          <a:prstGeom prst="rect">
            <a:avLst/>
          </a:prstGeom>
        </p:spPr>
      </p:pic>
      <p:sp>
        <p:nvSpPr>
          <p:cNvPr id="105" name="Text 84"/>
          <p:cNvSpPr/>
          <p:nvPr/>
        </p:nvSpPr>
        <p:spPr>
          <a:xfrm>
            <a:off x="5413248" y="7242048"/>
            <a:ext cx="1691640" cy="164592"/>
          </a:xfrm>
          <a:prstGeom prst="rect">
            <a:avLst/>
          </a:prstGeom>
          <a:noFill/>
          <a:ln/>
        </p:spPr>
        <p:txBody>
          <a:bodyPr wrap="square" lIns="0" tIns="0" rIns="0" bIns="0" rtlCol="0" anchor="ctr"/>
          <a:lstStyle/>
          <a:p>
            <a:pPr algn="l" indent="0" marL="0">
              <a:buNone/>
            </a:pPr>
            <a:r>
              <a:rPr lang="en-US" sz="780" b="1" dirty="0">
                <a:solidFill>
                  <a:srgbClr val="C62026"/>
                </a:solidFill>
                <a:latin typeface="Arial" pitchFamily="34" charset="0"/>
                <a:ea typeface="Arial" pitchFamily="34" charset="-122"/>
                <a:cs typeface="Arial" pitchFamily="34" charset="-120"/>
              </a:rPr>
              <a:t>3.  </a:t>
            </a:r>
            <a:pPr algn="l" indent="0" marL="0">
              <a:buNone/>
            </a:pPr>
            <a:r>
              <a:rPr lang="en-US" sz="780" b="1" dirty="0">
                <a:solidFill>
                  <a:srgbClr val="002516"/>
                </a:solidFill>
                <a:latin typeface="Arial" pitchFamily="34" charset="0"/>
                <a:ea typeface="Arial" pitchFamily="34" charset="-122"/>
                <a:cs typeface="Arial" pitchFamily="34" charset="-120"/>
              </a:rPr>
              <a:t>Decide and record</a:t>
            </a:r>
            <a:endParaRPr lang="en-US" sz="780" dirty="0"/>
          </a:p>
        </p:txBody>
      </p:sp>
      <p:sp>
        <p:nvSpPr>
          <p:cNvPr id="106" name="Text 85"/>
          <p:cNvSpPr/>
          <p:nvPr/>
        </p:nvSpPr>
        <p:spPr>
          <a:xfrm>
            <a:off x="5413248" y="7406640"/>
            <a:ext cx="1673352" cy="603504"/>
          </a:xfrm>
          <a:prstGeom prst="rect">
            <a:avLst/>
          </a:prstGeom>
          <a:noFill/>
          <a:ln/>
        </p:spPr>
        <p:txBody>
          <a:bodyPr wrap="square" lIns="0" tIns="0" rIns="0" bIns="0" rtlCol="0" anchor="t"/>
          <a:lstStyle/>
          <a:p>
            <a:pPr algn="l" indent="0" marL="0">
              <a:buNone/>
            </a:pPr>
            <a:r>
              <a:rPr lang="en-US" sz="630" dirty="0">
                <a:solidFill>
                  <a:srgbClr val="000000"/>
                </a:solidFill>
                <a:latin typeface="Arial" pitchFamily="34" charset="0"/>
                <a:ea typeface="Arial" pitchFamily="34" charset="-122"/>
                <a:cs typeface="Arial" pitchFamily="34" charset="-120"/>
              </a:rPr>
              <a:t>If withdrawal remains necessary, staff provide observations and a recommendation to the designated uniformed authority.</a:t>
            </a:r>
            <a:endParaRPr lang="en-US" sz="630" dirty="0"/>
          </a:p>
        </p:txBody>
      </p:sp>
      <p:sp>
        <p:nvSpPr>
          <p:cNvPr id="107" name="Shape 86"/>
          <p:cNvSpPr/>
          <p:nvPr/>
        </p:nvSpPr>
        <p:spPr>
          <a:xfrm>
            <a:off x="457200" y="8065008"/>
            <a:ext cx="6647688" cy="292608"/>
          </a:xfrm>
          <a:prstGeom prst="rect">
            <a:avLst/>
          </a:prstGeom>
          <a:solidFill>
            <a:srgbClr val="CDD2B7">
              <a:alpha val="45000"/>
            </a:srgbClr>
          </a:solidFill>
          <a:ln/>
        </p:spPr>
      </p:sp>
      <p:sp>
        <p:nvSpPr>
          <p:cNvPr id="108" name="Text 87"/>
          <p:cNvSpPr/>
          <p:nvPr/>
        </p:nvSpPr>
        <p:spPr>
          <a:xfrm>
            <a:off x="594360" y="8065008"/>
            <a:ext cx="6373368" cy="292608"/>
          </a:xfrm>
          <a:prstGeom prst="rect">
            <a:avLst/>
          </a:prstGeom>
          <a:noFill/>
          <a:ln/>
        </p:spPr>
        <p:txBody>
          <a:bodyPr wrap="square" lIns="0" tIns="0" rIns="0" bIns="0" rtlCol="0" anchor="ctr"/>
          <a:lstStyle/>
          <a:p>
            <a:pPr algn="l" indent="0" marL="0">
              <a:buNone/>
            </a:pPr>
            <a:r>
              <a:rPr lang="en-US" sz="740" b="1" dirty="0">
                <a:solidFill>
                  <a:srgbClr val="002516"/>
                </a:solidFill>
                <a:latin typeface="Arial" pitchFamily="34" charset="0"/>
                <a:ea typeface="Arial" pitchFamily="34" charset="-122"/>
                <a:cs typeface="Arial" pitchFamily="34" charset="-120"/>
              </a:rPr>
              <a:t>Non-immediate withdrawal:  </a:t>
            </a:r>
            <a:pPr algn="l" indent="0" marL="0">
              <a:buNone/>
            </a:pPr>
            <a:r>
              <a:rPr lang="en-US" sz="740" dirty="0">
                <a:solidFill>
                  <a:srgbClr val="000000"/>
                </a:solidFill>
                <a:latin typeface="Arial" pitchFamily="34" charset="0"/>
                <a:ea typeface="Arial" pitchFamily="34" charset="-122"/>
                <a:cs typeface="Arial" pitchFamily="34" charset="-120"/>
              </a:rPr>
              <a:t>CI NZALC and CI NCO School discuss the case; CI NZALC recommends withdrawal to COMDT ACS for confirmation.</a:t>
            </a:r>
            <a:endParaRPr lang="en-US" sz="740" dirty="0"/>
          </a:p>
        </p:txBody>
      </p:sp>
      <p:sp>
        <p:nvSpPr>
          <p:cNvPr id="109" name="Shape 88"/>
          <p:cNvSpPr/>
          <p:nvPr/>
        </p:nvSpPr>
        <p:spPr>
          <a:xfrm>
            <a:off x="457200" y="8485632"/>
            <a:ext cx="3017520" cy="237744"/>
          </a:xfrm>
          <a:prstGeom prst="rect">
            <a:avLst/>
          </a:prstGeom>
          <a:solidFill>
            <a:srgbClr val="002516"/>
          </a:solidFill>
          <a:ln/>
        </p:spPr>
      </p:sp>
      <p:sp>
        <p:nvSpPr>
          <p:cNvPr id="110" name="Text 89"/>
          <p:cNvSpPr/>
          <p:nvPr/>
        </p:nvSpPr>
        <p:spPr>
          <a:xfrm>
            <a:off x="457200" y="8485632"/>
            <a:ext cx="3017520" cy="237744"/>
          </a:xfrm>
          <a:prstGeom prst="rect">
            <a:avLst/>
          </a:prstGeom>
          <a:noFill/>
          <a:ln/>
        </p:spPr>
        <p:txBody>
          <a:bodyPr wrap="square" lIns="0" tIns="0" rIns="0" bIns="0" rtlCol="0" anchor="ctr"/>
          <a:lstStyle/>
          <a:p>
            <a:pPr algn="ctr" indent="0" marL="0">
              <a:buNone/>
            </a:pPr>
            <a:r>
              <a:rPr lang="en-US" sz="780" b="1" spc="150" kern="0" dirty="0">
                <a:solidFill>
                  <a:srgbClr val="FFFFFF"/>
                </a:solidFill>
                <a:latin typeface="Arial" pitchFamily="34" charset="0"/>
                <a:ea typeface="Arial" pitchFamily="34" charset="-122"/>
                <a:cs typeface="Arial" pitchFamily="34" charset="-120"/>
              </a:rPr>
              <a:t>6. IMMEDIATE WITHDRAWAL</a:t>
            </a:r>
            <a:endParaRPr lang="en-US" sz="780" dirty="0"/>
          </a:p>
        </p:txBody>
      </p:sp>
      <p:sp>
        <p:nvSpPr>
          <p:cNvPr id="111" name="Shape 90"/>
          <p:cNvSpPr/>
          <p:nvPr/>
        </p:nvSpPr>
        <p:spPr>
          <a:xfrm>
            <a:off x="457200" y="8723376"/>
            <a:ext cx="3017520" cy="1335024"/>
          </a:xfrm>
          <a:prstGeom prst="rect">
            <a:avLst/>
          </a:prstGeom>
          <a:solidFill>
            <a:srgbClr val="CDD2B7">
              <a:alpha val="28000"/>
            </a:srgbClr>
          </a:solidFill>
          <a:ln/>
        </p:spPr>
      </p:sp>
      <p:pic>
        <p:nvPicPr>
          <p:cNvPr id="112" name="Image 19" descr="preencoded.png">    </p:cNvPr>
          <p:cNvPicPr>
            <a:picLocks noChangeAspect="1"/>
          </p:cNvPicPr>
          <p:nvPr/>
        </p:nvPicPr>
        <p:blipFill>
          <a:blip r:embed="rId20"/>
          <a:stretch>
            <a:fillRect/>
          </a:stretch>
        </p:blipFill>
        <p:spPr>
          <a:xfrm>
            <a:off x="585216" y="8869680"/>
            <a:ext cx="310896" cy="310896"/>
          </a:xfrm>
          <a:prstGeom prst="rect">
            <a:avLst/>
          </a:prstGeom>
        </p:spPr>
      </p:pic>
      <p:sp>
        <p:nvSpPr>
          <p:cNvPr id="113" name="Text 91"/>
          <p:cNvSpPr/>
          <p:nvPr/>
        </p:nvSpPr>
        <p:spPr>
          <a:xfrm>
            <a:off x="1005840" y="8833104"/>
            <a:ext cx="2331720" cy="1115568"/>
          </a:xfrm>
          <a:prstGeom prst="rect">
            <a:avLst/>
          </a:prstGeom>
          <a:noFill/>
          <a:ln/>
        </p:spPr>
        <p:txBody>
          <a:bodyPr wrap="square" lIns="0" tIns="0" rIns="0" bIns="0" rtlCol="0" anchor="t"/>
          <a:lstStyle/>
          <a:p>
            <a:pPr algn="l" indent="0" marL="0">
              <a:buNone/>
            </a:pPr>
            <a:r>
              <a:rPr lang="en-US" sz="730" dirty="0">
                <a:solidFill>
                  <a:srgbClr val="000000"/>
                </a:solidFill>
                <a:latin typeface="Arial" pitchFamily="34" charset="0"/>
                <a:ea typeface="Arial" pitchFamily="34" charset="-122"/>
                <a:cs typeface="Arial" pitchFamily="34" charset="-120"/>
              </a:rPr>
              <a:t>An instructor, safety staff member or medical practitioner may immediately stop or withdraw a participant to manage an immediate safety or medical risk, informing CI NZALC and CI NCO School as soon as practicable.</a:t>
            </a:r>
            <a:endParaRPr lang="en-US" sz="730" dirty="0"/>
          </a:p>
        </p:txBody>
      </p:sp>
      <p:sp>
        <p:nvSpPr>
          <p:cNvPr id="114" name="Shape 92"/>
          <p:cNvSpPr/>
          <p:nvPr/>
        </p:nvSpPr>
        <p:spPr>
          <a:xfrm>
            <a:off x="3630168" y="8485632"/>
            <a:ext cx="3474720" cy="237744"/>
          </a:xfrm>
          <a:prstGeom prst="rect">
            <a:avLst/>
          </a:prstGeom>
          <a:solidFill>
            <a:srgbClr val="002516"/>
          </a:solidFill>
          <a:ln/>
        </p:spPr>
      </p:sp>
      <p:sp>
        <p:nvSpPr>
          <p:cNvPr id="115" name="Text 93"/>
          <p:cNvSpPr/>
          <p:nvPr/>
        </p:nvSpPr>
        <p:spPr>
          <a:xfrm>
            <a:off x="3630168" y="8485632"/>
            <a:ext cx="3474720" cy="237744"/>
          </a:xfrm>
          <a:prstGeom prst="rect">
            <a:avLst/>
          </a:prstGeom>
          <a:noFill/>
          <a:ln/>
        </p:spPr>
        <p:txBody>
          <a:bodyPr wrap="square" lIns="0" tIns="0" rIns="0" bIns="0" rtlCol="0" anchor="ctr"/>
          <a:lstStyle/>
          <a:p>
            <a:pPr algn="ctr" indent="0" marL="0">
              <a:buNone/>
            </a:pPr>
            <a:r>
              <a:rPr lang="en-US" sz="780" b="1" spc="150" kern="0" dirty="0">
                <a:solidFill>
                  <a:srgbClr val="FFFFFF"/>
                </a:solidFill>
                <a:latin typeface="Arial" pitchFamily="34" charset="0"/>
                <a:ea typeface="Arial" pitchFamily="34" charset="-122"/>
                <a:cs typeface="Arial" pitchFamily="34" charset="-120"/>
              </a:rPr>
              <a:t>7. RECORD OF DECISION</a:t>
            </a:r>
            <a:endParaRPr lang="en-US" sz="780" dirty="0"/>
          </a:p>
        </p:txBody>
      </p:sp>
      <p:sp>
        <p:nvSpPr>
          <p:cNvPr id="116" name="Shape 94"/>
          <p:cNvSpPr/>
          <p:nvPr/>
        </p:nvSpPr>
        <p:spPr>
          <a:xfrm>
            <a:off x="3630168" y="8723376"/>
            <a:ext cx="3474720" cy="1335024"/>
          </a:xfrm>
          <a:prstGeom prst="rect">
            <a:avLst/>
          </a:prstGeom>
          <a:solidFill>
            <a:srgbClr val="FFFFFF"/>
          </a:solidFill>
          <a:ln w="9525">
            <a:solidFill>
              <a:srgbClr val="A89662"/>
            </a:solidFill>
            <a:prstDash val="solid"/>
          </a:ln>
        </p:spPr>
      </p:sp>
      <p:sp>
        <p:nvSpPr>
          <p:cNvPr id="117" name="Text 95"/>
          <p:cNvSpPr/>
          <p:nvPr/>
        </p:nvSpPr>
        <p:spPr>
          <a:xfrm>
            <a:off x="3721608" y="8787384"/>
            <a:ext cx="164592" cy="182880"/>
          </a:xfrm>
          <a:prstGeom prst="rect">
            <a:avLst/>
          </a:prstGeom>
          <a:noFill/>
          <a:ln/>
        </p:spPr>
        <p:txBody>
          <a:bodyPr wrap="square" lIns="0" tIns="0" rIns="0" bIns="0" rtlCol="0" anchor="ctr"/>
          <a:lstStyle/>
          <a:p>
            <a:pPr algn="l" indent="0" marL="0">
              <a:buNone/>
            </a:pPr>
            <a:r>
              <a:rPr lang="en-US" sz="800" b="1" dirty="0">
                <a:solidFill>
                  <a:srgbClr val="C62026"/>
                </a:solidFill>
                <a:latin typeface="Arial" pitchFamily="34" charset="0"/>
                <a:ea typeface="Arial" pitchFamily="34" charset="-122"/>
                <a:cs typeface="Arial" pitchFamily="34" charset="-120"/>
              </a:rPr>
              <a:t>✓</a:t>
            </a:r>
            <a:endParaRPr lang="en-US" sz="800" dirty="0"/>
          </a:p>
        </p:txBody>
      </p:sp>
      <p:sp>
        <p:nvSpPr>
          <p:cNvPr id="118" name="Text 96"/>
          <p:cNvSpPr/>
          <p:nvPr/>
        </p:nvSpPr>
        <p:spPr>
          <a:xfrm>
            <a:off x="3904488" y="8787384"/>
            <a:ext cx="3090672" cy="182880"/>
          </a:xfrm>
          <a:prstGeom prst="rect">
            <a:avLst/>
          </a:prstGeom>
          <a:noFill/>
          <a:ln/>
        </p:spPr>
        <p:txBody>
          <a:bodyPr wrap="square" lIns="0" tIns="0" rIns="0" bIns="0" rtlCol="0" anchor="ctr"/>
          <a:lstStyle/>
          <a:p>
            <a:pPr algn="l" indent="0" marL="0">
              <a:buNone/>
            </a:pPr>
            <a:r>
              <a:rPr lang="en-US" sz="670" dirty="0">
                <a:solidFill>
                  <a:srgbClr val="000000"/>
                </a:solidFill>
                <a:latin typeface="Arial" pitchFamily="34" charset="0"/>
                <a:ea typeface="Arial" pitchFamily="34" charset="-122"/>
                <a:cs typeface="Arial" pitchFamily="34" charset="-120"/>
              </a:rPr>
              <a:t>Ground for withdrawal and relevant requirement or objective</a:t>
            </a:r>
            <a:endParaRPr lang="en-US" sz="670" dirty="0"/>
          </a:p>
        </p:txBody>
      </p:sp>
      <p:sp>
        <p:nvSpPr>
          <p:cNvPr id="119" name="Text 97"/>
          <p:cNvSpPr/>
          <p:nvPr/>
        </p:nvSpPr>
        <p:spPr>
          <a:xfrm>
            <a:off x="3721608" y="8993124"/>
            <a:ext cx="164592" cy="182880"/>
          </a:xfrm>
          <a:prstGeom prst="rect">
            <a:avLst/>
          </a:prstGeom>
          <a:noFill/>
          <a:ln/>
        </p:spPr>
        <p:txBody>
          <a:bodyPr wrap="square" lIns="0" tIns="0" rIns="0" bIns="0" rtlCol="0" anchor="ctr"/>
          <a:lstStyle/>
          <a:p>
            <a:pPr algn="l" indent="0" marL="0">
              <a:buNone/>
            </a:pPr>
            <a:r>
              <a:rPr lang="en-US" sz="800" b="1" dirty="0">
                <a:solidFill>
                  <a:srgbClr val="C62026"/>
                </a:solidFill>
                <a:latin typeface="Arial" pitchFamily="34" charset="0"/>
                <a:ea typeface="Arial" pitchFamily="34" charset="-122"/>
                <a:cs typeface="Arial" pitchFamily="34" charset="-120"/>
              </a:rPr>
              <a:t>✓</a:t>
            </a:r>
            <a:endParaRPr lang="en-US" sz="800" dirty="0"/>
          </a:p>
        </p:txBody>
      </p:sp>
      <p:sp>
        <p:nvSpPr>
          <p:cNvPr id="120" name="Text 98"/>
          <p:cNvSpPr/>
          <p:nvPr/>
        </p:nvSpPr>
        <p:spPr>
          <a:xfrm>
            <a:off x="3904488" y="8993124"/>
            <a:ext cx="3090672" cy="182880"/>
          </a:xfrm>
          <a:prstGeom prst="rect">
            <a:avLst/>
          </a:prstGeom>
          <a:noFill/>
          <a:ln/>
        </p:spPr>
        <p:txBody>
          <a:bodyPr wrap="square" lIns="0" tIns="0" rIns="0" bIns="0" rtlCol="0" anchor="ctr"/>
          <a:lstStyle/>
          <a:p>
            <a:pPr algn="l" indent="0" marL="0">
              <a:buNone/>
            </a:pPr>
            <a:r>
              <a:rPr lang="en-US" sz="670" dirty="0">
                <a:solidFill>
                  <a:srgbClr val="000000"/>
                </a:solidFill>
                <a:latin typeface="Arial" pitchFamily="34" charset="0"/>
                <a:ea typeface="Arial" pitchFamily="34" charset="-122"/>
                <a:cs typeface="Arial" pitchFamily="34" charset="-120"/>
              </a:rPr>
              <a:t>Observed evidence and any medical restriction</a:t>
            </a:r>
            <a:endParaRPr lang="en-US" sz="670" dirty="0"/>
          </a:p>
        </p:txBody>
      </p:sp>
      <p:sp>
        <p:nvSpPr>
          <p:cNvPr id="121" name="Text 99"/>
          <p:cNvSpPr/>
          <p:nvPr/>
        </p:nvSpPr>
        <p:spPr>
          <a:xfrm>
            <a:off x="3721608" y="9198864"/>
            <a:ext cx="164592" cy="182880"/>
          </a:xfrm>
          <a:prstGeom prst="rect">
            <a:avLst/>
          </a:prstGeom>
          <a:noFill/>
          <a:ln/>
        </p:spPr>
        <p:txBody>
          <a:bodyPr wrap="square" lIns="0" tIns="0" rIns="0" bIns="0" rtlCol="0" anchor="ctr"/>
          <a:lstStyle/>
          <a:p>
            <a:pPr algn="l" indent="0" marL="0">
              <a:buNone/>
            </a:pPr>
            <a:r>
              <a:rPr lang="en-US" sz="800" b="1" dirty="0">
                <a:solidFill>
                  <a:srgbClr val="C62026"/>
                </a:solidFill>
                <a:latin typeface="Arial" pitchFamily="34" charset="0"/>
                <a:ea typeface="Arial" pitchFamily="34" charset="-122"/>
                <a:cs typeface="Arial" pitchFamily="34" charset="-120"/>
              </a:rPr>
              <a:t>✓</a:t>
            </a:r>
            <a:endParaRPr lang="en-US" sz="800" dirty="0"/>
          </a:p>
        </p:txBody>
      </p:sp>
      <p:sp>
        <p:nvSpPr>
          <p:cNvPr id="122" name="Text 100"/>
          <p:cNvSpPr/>
          <p:nvPr/>
        </p:nvSpPr>
        <p:spPr>
          <a:xfrm>
            <a:off x="3904488" y="9198864"/>
            <a:ext cx="3090672" cy="182880"/>
          </a:xfrm>
          <a:prstGeom prst="rect">
            <a:avLst/>
          </a:prstGeom>
          <a:noFill/>
          <a:ln/>
        </p:spPr>
        <p:txBody>
          <a:bodyPr wrap="square" lIns="0" tIns="0" rIns="0" bIns="0" rtlCol="0" anchor="ctr"/>
          <a:lstStyle/>
          <a:p>
            <a:pPr algn="l" indent="0" marL="0">
              <a:buNone/>
            </a:pPr>
            <a:r>
              <a:rPr lang="en-US" sz="670" dirty="0">
                <a:solidFill>
                  <a:srgbClr val="000000"/>
                </a:solidFill>
                <a:latin typeface="Arial" pitchFamily="34" charset="0"/>
                <a:ea typeface="Arial" pitchFamily="34" charset="-122"/>
                <a:cs typeface="Arial" pitchFamily="34" charset="-120"/>
              </a:rPr>
              <a:t>Coaching, adaptations or authorised adjustments attempted</a:t>
            </a:r>
            <a:endParaRPr lang="en-US" sz="670" dirty="0"/>
          </a:p>
        </p:txBody>
      </p:sp>
      <p:sp>
        <p:nvSpPr>
          <p:cNvPr id="123" name="Text 101"/>
          <p:cNvSpPr/>
          <p:nvPr/>
        </p:nvSpPr>
        <p:spPr>
          <a:xfrm>
            <a:off x="3721608" y="9404604"/>
            <a:ext cx="164592" cy="182880"/>
          </a:xfrm>
          <a:prstGeom prst="rect">
            <a:avLst/>
          </a:prstGeom>
          <a:noFill/>
          <a:ln/>
        </p:spPr>
        <p:txBody>
          <a:bodyPr wrap="square" lIns="0" tIns="0" rIns="0" bIns="0" rtlCol="0" anchor="ctr"/>
          <a:lstStyle/>
          <a:p>
            <a:pPr algn="l" indent="0" marL="0">
              <a:buNone/>
            </a:pPr>
            <a:r>
              <a:rPr lang="en-US" sz="800" b="1" dirty="0">
                <a:solidFill>
                  <a:srgbClr val="C62026"/>
                </a:solidFill>
                <a:latin typeface="Arial" pitchFamily="34" charset="0"/>
                <a:ea typeface="Arial" pitchFamily="34" charset="-122"/>
                <a:cs typeface="Arial" pitchFamily="34" charset="-120"/>
              </a:rPr>
              <a:t>✓</a:t>
            </a:r>
            <a:endParaRPr lang="en-US" sz="800" dirty="0"/>
          </a:p>
        </p:txBody>
      </p:sp>
      <p:sp>
        <p:nvSpPr>
          <p:cNvPr id="124" name="Text 102"/>
          <p:cNvSpPr/>
          <p:nvPr/>
        </p:nvSpPr>
        <p:spPr>
          <a:xfrm>
            <a:off x="3904488" y="9404604"/>
            <a:ext cx="3090672" cy="182880"/>
          </a:xfrm>
          <a:prstGeom prst="rect">
            <a:avLst/>
          </a:prstGeom>
          <a:noFill/>
          <a:ln/>
        </p:spPr>
        <p:txBody>
          <a:bodyPr wrap="square" lIns="0" tIns="0" rIns="0" bIns="0" rtlCol="0" anchor="ctr"/>
          <a:lstStyle/>
          <a:p>
            <a:pPr algn="l" indent="0" marL="0">
              <a:buNone/>
            </a:pPr>
            <a:r>
              <a:rPr lang="en-US" sz="670" dirty="0">
                <a:solidFill>
                  <a:srgbClr val="000000"/>
                </a:solidFill>
                <a:latin typeface="Arial" pitchFamily="34" charset="0"/>
                <a:ea typeface="Arial" pitchFamily="34" charset="-122"/>
                <a:cs typeface="Arial" pitchFamily="34" charset="-120"/>
              </a:rPr>
              <a:t>Why the issue exceeded normal developmental friction</a:t>
            </a:r>
            <a:endParaRPr lang="en-US" sz="670" dirty="0"/>
          </a:p>
        </p:txBody>
      </p:sp>
      <p:sp>
        <p:nvSpPr>
          <p:cNvPr id="125" name="Text 103"/>
          <p:cNvSpPr/>
          <p:nvPr/>
        </p:nvSpPr>
        <p:spPr>
          <a:xfrm>
            <a:off x="3721608" y="9610344"/>
            <a:ext cx="164592" cy="182880"/>
          </a:xfrm>
          <a:prstGeom prst="rect">
            <a:avLst/>
          </a:prstGeom>
          <a:noFill/>
          <a:ln/>
        </p:spPr>
        <p:txBody>
          <a:bodyPr wrap="square" lIns="0" tIns="0" rIns="0" bIns="0" rtlCol="0" anchor="ctr"/>
          <a:lstStyle/>
          <a:p>
            <a:pPr algn="l" indent="0" marL="0">
              <a:buNone/>
            </a:pPr>
            <a:r>
              <a:rPr lang="en-US" sz="800" b="1" dirty="0">
                <a:solidFill>
                  <a:srgbClr val="C62026"/>
                </a:solidFill>
                <a:latin typeface="Arial" pitchFamily="34" charset="0"/>
                <a:ea typeface="Arial" pitchFamily="34" charset="-122"/>
                <a:cs typeface="Arial" pitchFamily="34" charset="-120"/>
              </a:rPr>
              <a:t>✓</a:t>
            </a:r>
            <a:endParaRPr lang="en-US" sz="800" dirty="0"/>
          </a:p>
        </p:txBody>
      </p:sp>
      <p:sp>
        <p:nvSpPr>
          <p:cNvPr id="126" name="Text 104"/>
          <p:cNvSpPr/>
          <p:nvPr/>
        </p:nvSpPr>
        <p:spPr>
          <a:xfrm>
            <a:off x="3904488" y="9610344"/>
            <a:ext cx="3090672" cy="182880"/>
          </a:xfrm>
          <a:prstGeom prst="rect">
            <a:avLst/>
          </a:prstGeom>
          <a:noFill/>
          <a:ln/>
        </p:spPr>
        <p:txBody>
          <a:bodyPr wrap="square" lIns="0" tIns="0" rIns="0" bIns="0" rtlCol="0" anchor="ctr"/>
          <a:lstStyle/>
          <a:p>
            <a:pPr algn="l" indent="0" marL="0">
              <a:buNone/>
            </a:pPr>
            <a:r>
              <a:rPr lang="en-US" sz="670" dirty="0">
                <a:solidFill>
                  <a:srgbClr val="000000"/>
                </a:solidFill>
                <a:latin typeface="Arial" pitchFamily="34" charset="0"/>
                <a:ea typeface="Arial" pitchFamily="34" charset="-122"/>
                <a:cs typeface="Arial" pitchFamily="34" charset="-120"/>
              </a:rPr>
              <a:t>Who recommended and who confirmed the withdrawal</a:t>
            </a:r>
            <a:endParaRPr lang="en-US" sz="670" dirty="0"/>
          </a:p>
        </p:txBody>
      </p:sp>
      <p:sp>
        <p:nvSpPr>
          <p:cNvPr id="127" name="Text 105"/>
          <p:cNvSpPr/>
          <p:nvPr/>
        </p:nvSpPr>
        <p:spPr>
          <a:xfrm>
            <a:off x="3721608" y="9816084"/>
            <a:ext cx="164592" cy="182880"/>
          </a:xfrm>
          <a:prstGeom prst="rect">
            <a:avLst/>
          </a:prstGeom>
          <a:noFill/>
          <a:ln/>
        </p:spPr>
        <p:txBody>
          <a:bodyPr wrap="square" lIns="0" tIns="0" rIns="0" bIns="0" rtlCol="0" anchor="ctr"/>
          <a:lstStyle/>
          <a:p>
            <a:pPr algn="l" indent="0" marL="0">
              <a:buNone/>
            </a:pPr>
            <a:r>
              <a:rPr lang="en-US" sz="800" b="1" dirty="0">
                <a:solidFill>
                  <a:srgbClr val="C62026"/>
                </a:solidFill>
                <a:latin typeface="Arial" pitchFamily="34" charset="0"/>
                <a:ea typeface="Arial" pitchFamily="34" charset="-122"/>
                <a:cs typeface="Arial" pitchFamily="34" charset="-120"/>
              </a:rPr>
              <a:t>✓</a:t>
            </a:r>
            <a:endParaRPr lang="en-US" sz="800" dirty="0"/>
          </a:p>
        </p:txBody>
      </p:sp>
      <p:sp>
        <p:nvSpPr>
          <p:cNvPr id="128" name="Text 106"/>
          <p:cNvSpPr/>
          <p:nvPr/>
        </p:nvSpPr>
        <p:spPr>
          <a:xfrm>
            <a:off x="3904488" y="9816084"/>
            <a:ext cx="3090672" cy="182880"/>
          </a:xfrm>
          <a:prstGeom prst="rect">
            <a:avLst/>
          </a:prstGeom>
          <a:noFill/>
          <a:ln/>
        </p:spPr>
        <p:txBody>
          <a:bodyPr wrap="square" lIns="0" tIns="0" rIns="0" bIns="0" rtlCol="0" anchor="ctr"/>
          <a:lstStyle/>
          <a:p>
            <a:pPr algn="l" indent="0" marL="0">
              <a:buNone/>
            </a:pPr>
            <a:r>
              <a:rPr lang="en-US" sz="670" dirty="0">
                <a:solidFill>
                  <a:srgbClr val="000000"/>
                </a:solidFill>
                <a:latin typeface="Arial" pitchFamily="34" charset="0"/>
                <a:ea typeface="Arial" pitchFamily="34" charset="-122"/>
                <a:cs typeface="Arial" pitchFamily="34" charset="-120"/>
              </a:rPr>
              <a:t>Effect on assessment and continued course participation</a:t>
            </a:r>
            <a:endParaRPr lang="en-US" sz="67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2026-07-30T00:52:42Z</dcterms:created>
  <dcterms:modified xsi:type="dcterms:W3CDTF">2026-07-30T00:52:42Z</dcterms:modified>
</cp:coreProperties>
</file>