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UP/2d4cec0e-a52e-5368-bb54-803c6f37698d/scratchpad/logo-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960120" cy="2322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72768" y="292608"/>
            <a:ext cx="5532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ELDA LEAD SYSTEMS STUDENT WITHDRAWAL SOP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572768" y="539496"/>
            <a:ext cx="5532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i="1" dirty="0">
                <a:solidFill>
                  <a:srgbClr val="3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 Officers Adventure Race</a:t>
            </a:r>
            <a:endParaRPr lang="en-US" sz="860" dirty="0"/>
          </a:p>
        </p:txBody>
      </p:sp>
      <p:sp>
        <p:nvSpPr>
          <p:cNvPr id="5" name="Text 2"/>
          <p:cNvSpPr/>
          <p:nvPr/>
        </p:nvSpPr>
        <p:spPr>
          <a:xfrm>
            <a:off x="1572768" y="694944"/>
            <a:ext cx="5532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Army Leadership Centre | Army Command School</a:t>
            </a:r>
            <a:endParaRPr lang="en-US" sz="760" dirty="0"/>
          </a:p>
        </p:txBody>
      </p:sp>
      <p:sp>
        <p:nvSpPr>
          <p:cNvPr id="6" name="Shape 3"/>
          <p:cNvSpPr/>
          <p:nvPr/>
        </p:nvSpPr>
        <p:spPr>
          <a:xfrm>
            <a:off x="457200" y="932688"/>
            <a:ext cx="664768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1556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" y="1097280"/>
            <a:ext cx="3776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PURPOSE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41248" y="1280160"/>
            <a:ext cx="3730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 fair, consistent and defensible process for participant withdrawal.</a:t>
            </a:r>
            <a:endParaRPr lang="en-US" sz="860" dirty="0"/>
          </a:p>
        </p:txBody>
      </p:sp>
      <p:sp>
        <p:nvSpPr>
          <p:cNvPr id="10" name="Shape 6"/>
          <p:cNvSpPr/>
          <p:nvPr/>
        </p:nvSpPr>
        <p:spPr>
          <a:xfrm>
            <a:off x="457200" y="1755648"/>
            <a:ext cx="4160520" cy="274320"/>
          </a:xfrm>
          <a:prstGeom prst="rect">
            <a:avLst/>
          </a:prstGeom>
          <a:solidFill>
            <a:srgbClr val="002516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17556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GOVERNING PRINCIPLE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57200" y="2029968"/>
            <a:ext cx="4160520" cy="1828800"/>
          </a:xfrm>
          <a:prstGeom prst="rect">
            <a:avLst/>
          </a:prstGeom>
          <a:solidFill>
            <a:srgbClr val="CDD2B7">
              <a:alpha val="28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603504" y="2139696"/>
            <a:ext cx="3867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Adventure Race deliberately creates pressure, fatigue, uncertainty and adversity to achieve approved learning objectives. Withdrawal is justified only where a participant's condition or conduct materially prevents:</a:t>
            </a:r>
            <a:endParaRPr lang="en-US" sz="820" dirty="0"/>
          </a:p>
        </p:txBody>
      </p:sp>
      <p:sp>
        <p:nvSpPr>
          <p:cNvPr id="14" name="Shape 10"/>
          <p:cNvSpPr/>
          <p:nvPr/>
        </p:nvSpPr>
        <p:spPr>
          <a:xfrm>
            <a:off x="903732" y="2788920"/>
            <a:ext cx="493776" cy="4937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51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32" y="2903220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2920" y="3328416"/>
            <a:ext cx="129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participation</a:t>
            </a:r>
            <a:endParaRPr lang="en-US" sz="690" dirty="0"/>
          </a:p>
        </p:txBody>
      </p:sp>
      <p:sp>
        <p:nvSpPr>
          <p:cNvPr id="17" name="Shape 12"/>
          <p:cNvSpPr/>
          <p:nvPr/>
        </p:nvSpPr>
        <p:spPr>
          <a:xfrm>
            <a:off x="1615440" y="3035808"/>
            <a:ext cx="457200" cy="0"/>
          </a:xfrm>
          <a:prstGeom prst="line">
            <a:avLst/>
          </a:prstGeom>
          <a:noFill/>
          <a:ln w="12700">
            <a:solidFill>
              <a:srgbClr val="00251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2290572" y="2788920"/>
            <a:ext cx="493776" cy="4937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51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4872" y="2903220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889760" y="3328416"/>
            <a:ext cx="129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intended learning and assessment conditions</a:t>
            </a:r>
            <a:endParaRPr lang="en-US" sz="690" dirty="0"/>
          </a:p>
        </p:txBody>
      </p:sp>
      <p:sp>
        <p:nvSpPr>
          <p:cNvPr id="21" name="Shape 15"/>
          <p:cNvSpPr/>
          <p:nvPr/>
        </p:nvSpPr>
        <p:spPr>
          <a:xfrm>
            <a:off x="3002280" y="3035808"/>
            <a:ext cx="457200" cy="0"/>
          </a:xfrm>
          <a:prstGeom prst="line">
            <a:avLst/>
          </a:prstGeom>
          <a:noFill/>
          <a:ln w="12700">
            <a:solidFill>
              <a:srgbClr val="002516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677412" y="2788920"/>
            <a:ext cx="493776" cy="49377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516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1712" y="2903220"/>
            <a:ext cx="265176" cy="26517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276600" y="3328416"/>
            <a:ext cx="129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 and effective conduct of the activity</a:t>
            </a:r>
            <a:endParaRPr lang="en-US" sz="690" dirty="0"/>
          </a:p>
        </p:txBody>
      </p:sp>
      <p:sp>
        <p:nvSpPr>
          <p:cNvPr id="25" name="Shape 18"/>
          <p:cNvSpPr/>
          <p:nvPr/>
        </p:nvSpPr>
        <p:spPr>
          <a:xfrm>
            <a:off x="4773168" y="1097280"/>
            <a:ext cx="2331720" cy="274320"/>
          </a:xfrm>
          <a:prstGeom prst="rect">
            <a:avLst/>
          </a:prstGeom>
          <a:solidFill>
            <a:srgbClr val="3A4B00"/>
          </a:solidFill>
          <a:ln/>
        </p:spPr>
      </p:sp>
      <p:sp>
        <p:nvSpPr>
          <p:cNvPr id="26" name="Text 19"/>
          <p:cNvSpPr/>
          <p:nvPr/>
        </p:nvSpPr>
        <p:spPr>
          <a:xfrm>
            <a:off x="4773168" y="1097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GROUNDS BY THEMSELVES</a:t>
            </a:r>
            <a:endParaRPr lang="en-US" sz="780" dirty="0"/>
          </a:p>
        </p:txBody>
      </p:sp>
      <p:sp>
        <p:nvSpPr>
          <p:cNvPr id="27" name="Shape 20"/>
          <p:cNvSpPr/>
          <p:nvPr/>
        </p:nvSpPr>
        <p:spPr>
          <a:xfrm>
            <a:off x="4773168" y="1371600"/>
            <a:ext cx="233172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1499616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57216" y="146304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 pace than peers</a:t>
            </a:r>
            <a:endParaRPr lang="en-US" sz="740" dirty="0"/>
          </a:p>
        </p:txBody>
      </p:sp>
      <p:sp>
        <p:nvSpPr>
          <p:cNvPr id="30" name="Shape 22"/>
          <p:cNvSpPr/>
          <p:nvPr/>
        </p:nvSpPr>
        <p:spPr>
          <a:xfrm>
            <a:off x="4882896" y="1764792"/>
            <a:ext cx="2112264" cy="0"/>
          </a:xfrm>
          <a:prstGeom prst="line">
            <a:avLst/>
          </a:prstGeom>
          <a:noFill/>
          <a:ln w="5080">
            <a:solidFill>
              <a:srgbClr val="A89662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2896" y="1837944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157216" y="1801368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reasonable assistance</a:t>
            </a:r>
            <a:endParaRPr lang="en-US" sz="740" dirty="0"/>
          </a:p>
        </p:txBody>
      </p:sp>
      <p:sp>
        <p:nvSpPr>
          <p:cNvPr id="33" name="Shape 24"/>
          <p:cNvSpPr/>
          <p:nvPr/>
        </p:nvSpPr>
        <p:spPr>
          <a:xfrm>
            <a:off x="4882896" y="2103120"/>
            <a:ext cx="2112264" cy="0"/>
          </a:xfrm>
          <a:prstGeom prst="line">
            <a:avLst/>
          </a:prstGeom>
          <a:noFill/>
          <a:ln w="5080">
            <a:solidFill>
              <a:srgbClr val="A89662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2896" y="2176272"/>
            <a:ext cx="201168" cy="20116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57216" y="2139696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Redistribution of equipment</a:t>
            </a:r>
            <a:endParaRPr lang="en-US" sz="740" dirty="0"/>
          </a:p>
        </p:txBody>
      </p:sp>
      <p:sp>
        <p:nvSpPr>
          <p:cNvPr id="36" name="Shape 26"/>
          <p:cNvSpPr/>
          <p:nvPr/>
        </p:nvSpPr>
        <p:spPr>
          <a:xfrm>
            <a:off x="4882896" y="2441448"/>
            <a:ext cx="2112264" cy="0"/>
          </a:xfrm>
          <a:prstGeom prst="line">
            <a:avLst/>
          </a:prstGeom>
          <a:noFill/>
          <a:ln w="5080">
            <a:solidFill>
              <a:srgbClr val="A89662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2896" y="2514600"/>
            <a:ext cx="201168" cy="20116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157216" y="2478024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workload on others</a:t>
            </a:r>
            <a:endParaRPr lang="en-US" sz="740" dirty="0"/>
          </a:p>
        </p:txBody>
      </p:sp>
      <p:sp>
        <p:nvSpPr>
          <p:cNvPr id="39" name="Shape 28"/>
          <p:cNvSpPr/>
          <p:nvPr/>
        </p:nvSpPr>
        <p:spPr>
          <a:xfrm>
            <a:off x="4882896" y="2779776"/>
            <a:ext cx="2112264" cy="0"/>
          </a:xfrm>
          <a:prstGeom prst="line">
            <a:avLst/>
          </a:prstGeom>
          <a:noFill/>
          <a:ln w="5080">
            <a:solidFill>
              <a:srgbClr val="A89662"/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2896" y="2852928"/>
            <a:ext cx="201168" cy="201168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157216" y="2816352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 or interpersonal friction</a:t>
            </a:r>
            <a:endParaRPr lang="en-US" sz="740" dirty="0"/>
          </a:p>
        </p:txBody>
      </p:sp>
      <p:sp>
        <p:nvSpPr>
          <p:cNvPr id="42" name="Shape 30"/>
          <p:cNvSpPr/>
          <p:nvPr/>
        </p:nvSpPr>
        <p:spPr>
          <a:xfrm>
            <a:off x="4882896" y="3118104"/>
            <a:ext cx="2112264" cy="0"/>
          </a:xfrm>
          <a:prstGeom prst="line">
            <a:avLst/>
          </a:prstGeom>
          <a:noFill/>
          <a:ln w="5080">
            <a:solidFill>
              <a:srgbClr val="A89662"/>
            </a:solidFill>
            <a:prstDash val="solid"/>
          </a:ln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82896" y="3191256"/>
            <a:ext cx="201168" cy="201168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5157216" y="315468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to adjust pace, roles or plan</a:t>
            </a:r>
            <a:endParaRPr lang="en-US" sz="740" dirty="0"/>
          </a:p>
        </p:txBody>
      </p:sp>
      <p:sp>
        <p:nvSpPr>
          <p:cNvPr id="45" name="Shape 32"/>
          <p:cNvSpPr/>
          <p:nvPr/>
        </p:nvSpPr>
        <p:spPr>
          <a:xfrm>
            <a:off x="4864608" y="3529584"/>
            <a:ext cx="2148840" cy="237744"/>
          </a:xfrm>
          <a:prstGeom prst="rect">
            <a:avLst/>
          </a:prstGeom>
          <a:solidFill>
            <a:srgbClr val="CDD2B7">
              <a:alpha val="45000"/>
            </a:srgbClr>
          </a:solidFill>
          <a:ln/>
        </p:spPr>
      </p:sp>
      <p:sp>
        <p:nvSpPr>
          <p:cNvPr id="46" name="Text 33"/>
          <p:cNvSpPr/>
          <p:nvPr/>
        </p:nvSpPr>
        <p:spPr>
          <a:xfrm>
            <a:off x="4864608" y="352958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i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developmental effects.</a:t>
            </a:r>
            <a:endParaRPr lang="en-US" sz="720" dirty="0"/>
          </a:p>
        </p:txBody>
      </p:sp>
      <p:sp>
        <p:nvSpPr>
          <p:cNvPr id="47" name="Shape 34"/>
          <p:cNvSpPr/>
          <p:nvPr/>
        </p:nvSpPr>
        <p:spPr>
          <a:xfrm>
            <a:off x="457200" y="4096512"/>
            <a:ext cx="6647688" cy="274320"/>
          </a:xfrm>
          <a:prstGeom prst="rect">
            <a:avLst/>
          </a:prstGeom>
          <a:solidFill>
            <a:srgbClr val="002516"/>
          </a:solidFill>
          <a:ln/>
        </p:spPr>
      </p:sp>
      <p:sp>
        <p:nvSpPr>
          <p:cNvPr id="48" name="Text 35"/>
          <p:cNvSpPr/>
          <p:nvPr/>
        </p:nvSpPr>
        <p:spPr>
          <a:xfrm>
            <a:off x="457200" y="4096512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GROUNDS FOR WITHDRAWAL</a:t>
            </a:r>
            <a:endParaRPr lang="en-US" sz="900" dirty="0"/>
          </a:p>
        </p:txBody>
      </p:sp>
      <p:sp>
        <p:nvSpPr>
          <p:cNvPr id="49" name="Shape 36"/>
          <p:cNvSpPr/>
          <p:nvPr/>
        </p:nvSpPr>
        <p:spPr>
          <a:xfrm>
            <a:off x="457200" y="4443984"/>
            <a:ext cx="2142744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sp>
        <p:nvSpPr>
          <p:cNvPr id="50" name="Shape 37"/>
          <p:cNvSpPr/>
          <p:nvPr/>
        </p:nvSpPr>
        <p:spPr>
          <a:xfrm>
            <a:off x="530352" y="4517136"/>
            <a:ext cx="173736" cy="173736"/>
          </a:xfrm>
          <a:prstGeom prst="rect">
            <a:avLst/>
          </a:prstGeom>
          <a:solidFill>
            <a:srgbClr val="3A4B00"/>
          </a:solidFill>
          <a:ln/>
        </p:spPr>
      </p:sp>
      <p:sp>
        <p:nvSpPr>
          <p:cNvPr id="51" name="Text 38"/>
          <p:cNvSpPr/>
          <p:nvPr/>
        </p:nvSpPr>
        <p:spPr>
          <a:xfrm>
            <a:off x="530352" y="451713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52" name="Shape 39"/>
          <p:cNvSpPr/>
          <p:nvPr/>
        </p:nvSpPr>
        <p:spPr>
          <a:xfrm>
            <a:off x="1336548" y="4517136"/>
            <a:ext cx="384048" cy="384048"/>
          </a:xfrm>
          <a:prstGeom prst="ellipse">
            <a:avLst/>
          </a:prstGeom>
          <a:solidFill>
            <a:srgbClr val="002516"/>
          </a:solidFill>
          <a:ln/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23416" y="4604004"/>
            <a:ext cx="210312" cy="210312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512064" y="4937760"/>
            <a:ext cx="2033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Safety</a:t>
            </a:r>
            <a:endParaRPr lang="en-US" sz="880" dirty="0"/>
          </a:p>
        </p:txBody>
      </p:sp>
      <p:sp>
        <p:nvSpPr>
          <p:cNvPr id="55" name="Text 41"/>
          <p:cNvSpPr/>
          <p:nvPr/>
        </p:nvSpPr>
        <p:spPr>
          <a:xfrm>
            <a:off x="585216" y="5138928"/>
            <a:ext cx="1886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participant cannot continue safely because of a medical condition or safety risk.</a:t>
            </a:r>
            <a:endParaRPr lang="en-US" sz="740" dirty="0"/>
          </a:p>
        </p:txBody>
      </p:sp>
      <p:sp>
        <p:nvSpPr>
          <p:cNvPr id="56" name="Shape 42"/>
          <p:cNvSpPr/>
          <p:nvPr/>
        </p:nvSpPr>
        <p:spPr>
          <a:xfrm>
            <a:off x="2709672" y="4443984"/>
            <a:ext cx="2142744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sp>
        <p:nvSpPr>
          <p:cNvPr id="57" name="Shape 43"/>
          <p:cNvSpPr/>
          <p:nvPr/>
        </p:nvSpPr>
        <p:spPr>
          <a:xfrm>
            <a:off x="2782824" y="4517136"/>
            <a:ext cx="173736" cy="173736"/>
          </a:xfrm>
          <a:prstGeom prst="rect">
            <a:avLst/>
          </a:prstGeom>
          <a:solidFill>
            <a:srgbClr val="3A4B00"/>
          </a:solidFill>
          <a:ln/>
        </p:spPr>
      </p:sp>
      <p:sp>
        <p:nvSpPr>
          <p:cNvPr id="58" name="Text 44"/>
          <p:cNvSpPr/>
          <p:nvPr/>
        </p:nvSpPr>
        <p:spPr>
          <a:xfrm>
            <a:off x="2782824" y="451713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59" name="Shape 45"/>
          <p:cNvSpPr/>
          <p:nvPr/>
        </p:nvSpPr>
        <p:spPr>
          <a:xfrm>
            <a:off x="3589020" y="4517136"/>
            <a:ext cx="384048" cy="384048"/>
          </a:xfrm>
          <a:prstGeom prst="ellipse">
            <a:avLst/>
          </a:prstGeom>
          <a:solidFill>
            <a:srgbClr val="002516"/>
          </a:solidFill>
          <a:ln/>
        </p:spPr>
      </p:sp>
      <p:pic>
        <p:nvPicPr>
          <p:cNvPr id="6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75888" y="4604004"/>
            <a:ext cx="210312" cy="210312"/>
          </a:xfrm>
          <a:prstGeom prst="rect">
            <a:avLst/>
          </a:prstGeom>
        </p:spPr>
      </p:pic>
      <p:sp>
        <p:nvSpPr>
          <p:cNvPr id="61" name="Text 46"/>
          <p:cNvSpPr/>
          <p:nvPr/>
        </p:nvSpPr>
        <p:spPr>
          <a:xfrm>
            <a:off x="2764536" y="4937760"/>
            <a:ext cx="2033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&amp; Assessment</a:t>
            </a:r>
            <a:endParaRPr lang="en-US" sz="880" dirty="0"/>
          </a:p>
        </p:txBody>
      </p:sp>
      <p:sp>
        <p:nvSpPr>
          <p:cNvPr id="62" name="Text 47"/>
          <p:cNvSpPr/>
          <p:nvPr/>
        </p:nvSpPr>
        <p:spPr>
          <a:xfrm>
            <a:off x="2837688" y="5138928"/>
            <a:ext cx="1886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Continued participation prevents the intended learning and assessment conditions.</a:t>
            </a:r>
            <a:endParaRPr lang="en-US" sz="740" dirty="0"/>
          </a:p>
        </p:txBody>
      </p:sp>
      <p:sp>
        <p:nvSpPr>
          <p:cNvPr id="63" name="Shape 48"/>
          <p:cNvSpPr/>
          <p:nvPr/>
        </p:nvSpPr>
        <p:spPr>
          <a:xfrm>
            <a:off x="4962144" y="4443984"/>
            <a:ext cx="2142744" cy="1225296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sp>
        <p:nvSpPr>
          <p:cNvPr id="64" name="Shape 49"/>
          <p:cNvSpPr/>
          <p:nvPr/>
        </p:nvSpPr>
        <p:spPr>
          <a:xfrm>
            <a:off x="5035296" y="4517136"/>
            <a:ext cx="173736" cy="173736"/>
          </a:xfrm>
          <a:prstGeom prst="rect">
            <a:avLst/>
          </a:prstGeom>
          <a:solidFill>
            <a:srgbClr val="3A4B00"/>
          </a:solidFill>
          <a:ln/>
        </p:spPr>
      </p:sp>
      <p:sp>
        <p:nvSpPr>
          <p:cNvPr id="65" name="Text 50"/>
          <p:cNvSpPr/>
          <p:nvPr/>
        </p:nvSpPr>
        <p:spPr>
          <a:xfrm>
            <a:off x="5035296" y="4517136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6" name="Shape 51"/>
          <p:cNvSpPr/>
          <p:nvPr/>
        </p:nvSpPr>
        <p:spPr>
          <a:xfrm>
            <a:off x="5841492" y="4517136"/>
            <a:ext cx="384048" cy="384048"/>
          </a:xfrm>
          <a:prstGeom prst="ellipse">
            <a:avLst/>
          </a:prstGeom>
          <a:solidFill>
            <a:srgbClr val="002516"/>
          </a:solidFill>
          <a:ln/>
        </p:spPr>
      </p:sp>
      <p:pic>
        <p:nvPicPr>
          <p:cNvPr id="6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28360" y="4604004"/>
            <a:ext cx="210312" cy="210312"/>
          </a:xfrm>
          <a:prstGeom prst="rect">
            <a:avLst/>
          </a:prstGeom>
        </p:spPr>
      </p:pic>
      <p:sp>
        <p:nvSpPr>
          <p:cNvPr id="68" name="Text 52"/>
          <p:cNvSpPr/>
          <p:nvPr/>
        </p:nvSpPr>
        <p:spPr>
          <a:xfrm>
            <a:off x="5017008" y="4937760"/>
            <a:ext cx="2033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</a:t>
            </a:r>
            <a:endParaRPr lang="en-US" sz="880" dirty="0"/>
          </a:p>
        </p:txBody>
      </p:sp>
      <p:sp>
        <p:nvSpPr>
          <p:cNvPr id="69" name="Text 53"/>
          <p:cNvSpPr/>
          <p:nvPr/>
        </p:nvSpPr>
        <p:spPr>
          <a:xfrm>
            <a:off x="5090160" y="5138928"/>
            <a:ext cx="18867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participant refuses lawful instructions or prevents the safe and effective conduct of the activity.</a:t>
            </a:r>
            <a:endParaRPr lang="en-US" sz="740" dirty="0"/>
          </a:p>
        </p:txBody>
      </p:sp>
      <p:sp>
        <p:nvSpPr>
          <p:cNvPr id="70" name="Shape 54"/>
          <p:cNvSpPr/>
          <p:nvPr/>
        </p:nvSpPr>
        <p:spPr>
          <a:xfrm>
            <a:off x="457200" y="5870448"/>
            <a:ext cx="6647688" cy="859536"/>
          </a:xfrm>
          <a:prstGeom prst="rect">
            <a:avLst/>
          </a:prstGeom>
          <a:solidFill>
            <a:srgbClr val="3A4B00"/>
          </a:solidFill>
          <a:ln/>
        </p:spPr>
      </p:sp>
      <p:sp>
        <p:nvSpPr>
          <p:cNvPr id="71" name="Text 55"/>
          <p:cNvSpPr/>
          <p:nvPr/>
        </p:nvSpPr>
        <p:spPr>
          <a:xfrm>
            <a:off x="457200" y="5925312"/>
            <a:ext cx="6647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THE WITHDRAWAL TEST</a:t>
            </a:r>
            <a:endParaRPr lang="en-US" sz="900" dirty="0"/>
          </a:p>
        </p:txBody>
      </p:sp>
      <p:sp>
        <p:nvSpPr>
          <p:cNvPr id="72" name="Text 56"/>
          <p:cNvSpPr/>
          <p:nvPr/>
        </p:nvSpPr>
        <p:spPr>
          <a:xfrm>
            <a:off x="868680" y="6108192"/>
            <a:ext cx="5824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specific requirement or learning objective can no longer be safely or meaningfully achieved, and why will coaching or authorised adjustment not restore it?</a:t>
            </a:r>
            <a:endParaRPr lang="en-US" sz="880" dirty="0"/>
          </a:p>
        </p:txBody>
      </p:sp>
      <p:sp>
        <p:nvSpPr>
          <p:cNvPr id="73" name="Text 57"/>
          <p:cNvSpPr/>
          <p:nvPr/>
        </p:nvSpPr>
        <p:spPr>
          <a:xfrm>
            <a:off x="868680" y="6492240"/>
            <a:ext cx="5824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slower team, greater workload or frustration alone do not meet this threshold.</a:t>
            </a:r>
            <a:endParaRPr lang="en-US" sz="740" dirty="0"/>
          </a:p>
        </p:txBody>
      </p:sp>
      <p:sp>
        <p:nvSpPr>
          <p:cNvPr id="74" name="Shape 58"/>
          <p:cNvSpPr/>
          <p:nvPr/>
        </p:nvSpPr>
        <p:spPr>
          <a:xfrm>
            <a:off x="457200" y="6894576"/>
            <a:ext cx="6647688" cy="274320"/>
          </a:xfrm>
          <a:prstGeom prst="rect">
            <a:avLst/>
          </a:prstGeom>
          <a:solidFill>
            <a:srgbClr val="002516"/>
          </a:solidFill>
          <a:ln/>
        </p:spPr>
      </p:sp>
      <p:sp>
        <p:nvSpPr>
          <p:cNvPr id="75" name="Text 59"/>
          <p:cNvSpPr/>
          <p:nvPr/>
        </p:nvSpPr>
        <p:spPr>
          <a:xfrm>
            <a:off x="457200" y="6894576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DECISION PROCESS</a:t>
            </a:r>
            <a:endParaRPr lang="en-US" sz="900" dirty="0"/>
          </a:p>
        </p:txBody>
      </p:sp>
      <p:sp>
        <p:nvSpPr>
          <p:cNvPr id="76" name="Shape 60"/>
          <p:cNvSpPr/>
          <p:nvPr/>
        </p:nvSpPr>
        <p:spPr>
          <a:xfrm>
            <a:off x="457200" y="7296912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516"/>
            </a:solidFill>
            <a:prstDash val="solid"/>
          </a:ln>
        </p:spPr>
      </p:sp>
      <p:pic>
        <p:nvPicPr>
          <p:cNvPr id="7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4924" y="7374636"/>
            <a:ext cx="192024" cy="192024"/>
          </a:xfrm>
          <a:prstGeom prst="rect">
            <a:avLst/>
          </a:prstGeom>
        </p:spPr>
      </p:pic>
      <p:sp>
        <p:nvSpPr>
          <p:cNvPr id="78" name="Text 61"/>
          <p:cNvSpPr/>
          <p:nvPr/>
        </p:nvSpPr>
        <p:spPr>
          <a:xfrm>
            <a:off x="877824" y="7278624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6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algn="l" indent="0" marL="0">
              <a:buNone/>
            </a:pPr>
            <a:r>
              <a:rPr lang="en-US" sz="90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900" dirty="0"/>
          </a:p>
        </p:txBody>
      </p:sp>
      <p:sp>
        <p:nvSpPr>
          <p:cNvPr id="79" name="Text 62"/>
          <p:cNvSpPr/>
          <p:nvPr/>
        </p:nvSpPr>
        <p:spPr>
          <a:xfrm>
            <a:off x="877824" y="7470648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issue and allow the team to respond.</a:t>
            </a:r>
            <a:endParaRPr lang="en-US" sz="720" dirty="0"/>
          </a:p>
        </p:txBody>
      </p:sp>
      <p:sp>
        <p:nvSpPr>
          <p:cNvPr id="80" name="Text 63"/>
          <p:cNvSpPr/>
          <p:nvPr/>
        </p:nvSpPr>
        <p:spPr>
          <a:xfrm>
            <a:off x="2478024" y="735177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000" dirty="0"/>
          </a:p>
        </p:txBody>
      </p:sp>
      <p:sp>
        <p:nvSpPr>
          <p:cNvPr id="81" name="Shape 64"/>
          <p:cNvSpPr/>
          <p:nvPr/>
        </p:nvSpPr>
        <p:spPr>
          <a:xfrm>
            <a:off x="2752344" y="7296912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516"/>
            </a:solidFill>
            <a:prstDash val="solid"/>
          </a:ln>
        </p:spPr>
      </p:sp>
      <p:pic>
        <p:nvPicPr>
          <p:cNvPr id="8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30068" y="7374636"/>
            <a:ext cx="192024" cy="192024"/>
          </a:xfrm>
          <a:prstGeom prst="rect">
            <a:avLst/>
          </a:prstGeom>
        </p:spPr>
      </p:pic>
      <p:sp>
        <p:nvSpPr>
          <p:cNvPr id="83" name="Text 65"/>
          <p:cNvSpPr/>
          <p:nvPr/>
        </p:nvSpPr>
        <p:spPr>
          <a:xfrm>
            <a:off x="3172968" y="7278624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6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algn="l" indent="0" marL="0">
              <a:buNone/>
            </a:pPr>
            <a:r>
              <a:rPr lang="en-US" sz="90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Intervene</a:t>
            </a:r>
            <a:endParaRPr lang="en-US" sz="900" dirty="0"/>
          </a:p>
        </p:txBody>
      </p:sp>
      <p:sp>
        <p:nvSpPr>
          <p:cNvPr id="84" name="Text 66"/>
          <p:cNvSpPr/>
          <p:nvPr/>
        </p:nvSpPr>
        <p:spPr>
          <a:xfrm>
            <a:off x="3172968" y="7470648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Coach, apply authorised adjustments and reassess.</a:t>
            </a:r>
            <a:endParaRPr lang="en-US" sz="720" dirty="0"/>
          </a:p>
        </p:txBody>
      </p:sp>
      <p:sp>
        <p:nvSpPr>
          <p:cNvPr id="85" name="Text 67"/>
          <p:cNvSpPr/>
          <p:nvPr/>
        </p:nvSpPr>
        <p:spPr>
          <a:xfrm>
            <a:off x="4773168" y="735177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000" dirty="0"/>
          </a:p>
        </p:txBody>
      </p:sp>
      <p:sp>
        <p:nvSpPr>
          <p:cNvPr id="86" name="Shape 68"/>
          <p:cNvSpPr/>
          <p:nvPr/>
        </p:nvSpPr>
        <p:spPr>
          <a:xfrm>
            <a:off x="5047488" y="7296912"/>
            <a:ext cx="347472" cy="34747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2516"/>
            </a:solidFill>
            <a:prstDash val="solid"/>
          </a:ln>
        </p:spPr>
      </p:sp>
      <p:pic>
        <p:nvPicPr>
          <p:cNvPr id="8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25212" y="7374636"/>
            <a:ext cx="192024" cy="192024"/>
          </a:xfrm>
          <a:prstGeom prst="rect">
            <a:avLst/>
          </a:prstGeom>
        </p:spPr>
      </p:pic>
      <p:sp>
        <p:nvSpPr>
          <p:cNvPr id="88" name="Text 69"/>
          <p:cNvSpPr/>
          <p:nvPr/>
        </p:nvSpPr>
        <p:spPr>
          <a:xfrm>
            <a:off x="5468112" y="7278624"/>
            <a:ext cx="163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6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algn="l" indent="0" marL="0">
              <a:buNone/>
            </a:pPr>
            <a:r>
              <a:rPr lang="en-US" sz="90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900" dirty="0"/>
          </a:p>
        </p:txBody>
      </p:sp>
      <p:sp>
        <p:nvSpPr>
          <p:cNvPr id="89" name="Text 70"/>
          <p:cNvSpPr/>
          <p:nvPr/>
        </p:nvSpPr>
        <p:spPr>
          <a:xfrm>
            <a:off x="5468112" y="7470648"/>
            <a:ext cx="161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withdrawal to the designated authority.</a:t>
            </a:r>
            <a:endParaRPr lang="en-US" sz="720" dirty="0"/>
          </a:p>
        </p:txBody>
      </p:sp>
      <p:sp>
        <p:nvSpPr>
          <p:cNvPr id="90" name="Shape 71"/>
          <p:cNvSpPr/>
          <p:nvPr/>
        </p:nvSpPr>
        <p:spPr>
          <a:xfrm>
            <a:off x="457200" y="7955280"/>
            <a:ext cx="6647688" cy="310896"/>
          </a:xfrm>
          <a:prstGeom prst="rect">
            <a:avLst/>
          </a:prstGeom>
          <a:solidFill>
            <a:srgbClr val="CDD2B7">
              <a:alpha val="45000"/>
            </a:srgbClr>
          </a:solidFill>
          <a:ln/>
        </p:spPr>
      </p:sp>
      <p:sp>
        <p:nvSpPr>
          <p:cNvPr id="91" name="Text 72"/>
          <p:cNvSpPr/>
          <p:nvPr/>
        </p:nvSpPr>
        <p:spPr>
          <a:xfrm>
            <a:off x="594360" y="7955280"/>
            <a:ext cx="6373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Non-immediate withdrawal:  </a:t>
            </a:r>
            <a:pPr algn="l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NZALC and CI NCO School discuss the case; CI NZALC recommends withdrawal to COMDT ACS for confirmation.</a:t>
            </a:r>
            <a:endParaRPr lang="en-US" sz="760" dirty="0"/>
          </a:p>
        </p:txBody>
      </p:sp>
      <p:sp>
        <p:nvSpPr>
          <p:cNvPr id="92" name="Shape 73"/>
          <p:cNvSpPr/>
          <p:nvPr/>
        </p:nvSpPr>
        <p:spPr>
          <a:xfrm>
            <a:off x="457200" y="8467344"/>
            <a:ext cx="3017520" cy="256032"/>
          </a:xfrm>
          <a:prstGeom prst="rect">
            <a:avLst/>
          </a:prstGeom>
          <a:solidFill>
            <a:srgbClr val="002516"/>
          </a:solidFill>
          <a:ln/>
        </p:spPr>
      </p:sp>
      <p:sp>
        <p:nvSpPr>
          <p:cNvPr id="93" name="Text 74"/>
          <p:cNvSpPr/>
          <p:nvPr/>
        </p:nvSpPr>
        <p:spPr>
          <a:xfrm>
            <a:off x="457200" y="84673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IMMEDIATE WITHDRAWAL</a:t>
            </a:r>
            <a:endParaRPr lang="en-US" sz="800" dirty="0"/>
          </a:p>
        </p:txBody>
      </p:sp>
      <p:sp>
        <p:nvSpPr>
          <p:cNvPr id="94" name="Shape 75"/>
          <p:cNvSpPr/>
          <p:nvPr/>
        </p:nvSpPr>
        <p:spPr>
          <a:xfrm>
            <a:off x="457200" y="8723376"/>
            <a:ext cx="3017520" cy="1261872"/>
          </a:xfrm>
          <a:prstGeom prst="rect">
            <a:avLst/>
          </a:prstGeom>
          <a:solidFill>
            <a:srgbClr val="CDD2B7">
              <a:alpha val="28000"/>
            </a:srgbClr>
          </a:solidFill>
          <a:ln/>
        </p:spPr>
      </p:sp>
      <p:pic>
        <p:nvPicPr>
          <p:cNvPr id="9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5216" y="8887968"/>
            <a:ext cx="310896" cy="310896"/>
          </a:xfrm>
          <a:prstGeom prst="rect">
            <a:avLst/>
          </a:prstGeom>
        </p:spPr>
      </p:pic>
      <p:sp>
        <p:nvSpPr>
          <p:cNvPr id="96" name="Text 76"/>
          <p:cNvSpPr/>
          <p:nvPr/>
        </p:nvSpPr>
        <p:spPr>
          <a:xfrm>
            <a:off x="1005840" y="885139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instructor, safety staff member or medical practitioner may immediately withdraw a participant to manage an immediate safety or medical risk. Notify CI NZALC and CI NCO School as soon as practicable.</a:t>
            </a:r>
            <a:endParaRPr lang="en-US" sz="780" dirty="0"/>
          </a:p>
        </p:txBody>
      </p:sp>
      <p:sp>
        <p:nvSpPr>
          <p:cNvPr id="97" name="Shape 77"/>
          <p:cNvSpPr/>
          <p:nvPr/>
        </p:nvSpPr>
        <p:spPr>
          <a:xfrm>
            <a:off x="3630168" y="8467344"/>
            <a:ext cx="3474720" cy="256032"/>
          </a:xfrm>
          <a:prstGeom prst="rect">
            <a:avLst/>
          </a:prstGeom>
          <a:solidFill>
            <a:srgbClr val="002516"/>
          </a:solidFill>
          <a:ln/>
        </p:spPr>
      </p:sp>
      <p:sp>
        <p:nvSpPr>
          <p:cNvPr id="98" name="Text 78"/>
          <p:cNvSpPr/>
          <p:nvPr/>
        </p:nvSpPr>
        <p:spPr>
          <a:xfrm>
            <a:off x="3630168" y="84673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RECORD OF DECISION</a:t>
            </a:r>
            <a:endParaRPr lang="en-US" sz="800" dirty="0"/>
          </a:p>
        </p:txBody>
      </p:sp>
      <p:sp>
        <p:nvSpPr>
          <p:cNvPr id="99" name="Shape 79"/>
          <p:cNvSpPr/>
          <p:nvPr/>
        </p:nvSpPr>
        <p:spPr>
          <a:xfrm>
            <a:off x="3630168" y="8723376"/>
            <a:ext cx="3474720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sp>
        <p:nvSpPr>
          <p:cNvPr id="100" name="Text 80"/>
          <p:cNvSpPr/>
          <p:nvPr/>
        </p:nvSpPr>
        <p:spPr>
          <a:xfrm>
            <a:off x="3739896" y="87965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6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01" name="Text 81"/>
          <p:cNvSpPr/>
          <p:nvPr/>
        </p:nvSpPr>
        <p:spPr>
          <a:xfrm>
            <a:off x="3941064" y="8796528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for withdrawal</a:t>
            </a:r>
            <a:endParaRPr lang="en-US" sz="760" dirty="0"/>
          </a:p>
        </p:txBody>
      </p:sp>
      <p:sp>
        <p:nvSpPr>
          <p:cNvPr id="102" name="Text 82"/>
          <p:cNvSpPr/>
          <p:nvPr/>
        </p:nvSpPr>
        <p:spPr>
          <a:xfrm>
            <a:off x="3739896" y="898855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6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03" name="Text 83"/>
          <p:cNvSpPr/>
          <p:nvPr/>
        </p:nvSpPr>
        <p:spPr>
          <a:xfrm>
            <a:off x="3941064" y="8988552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evidence</a:t>
            </a:r>
            <a:endParaRPr lang="en-US" sz="760" dirty="0"/>
          </a:p>
        </p:txBody>
      </p:sp>
      <p:sp>
        <p:nvSpPr>
          <p:cNvPr id="104" name="Text 84"/>
          <p:cNvSpPr/>
          <p:nvPr/>
        </p:nvSpPr>
        <p:spPr>
          <a:xfrm>
            <a:off x="3739896" y="918057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6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05" name="Text 85"/>
          <p:cNvSpPr/>
          <p:nvPr/>
        </p:nvSpPr>
        <p:spPr>
          <a:xfrm>
            <a:off x="3941064" y="9180576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 or adjustments attempted</a:t>
            </a:r>
            <a:endParaRPr lang="en-US" sz="760" dirty="0"/>
          </a:p>
        </p:txBody>
      </p:sp>
      <p:sp>
        <p:nvSpPr>
          <p:cNvPr id="106" name="Text 86"/>
          <p:cNvSpPr/>
          <p:nvPr/>
        </p:nvSpPr>
        <p:spPr>
          <a:xfrm>
            <a:off x="3739896" y="937260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6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07" name="Text 87"/>
          <p:cNvSpPr/>
          <p:nvPr/>
        </p:nvSpPr>
        <p:spPr>
          <a:xfrm>
            <a:off x="3941064" y="9372600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threshold was met</a:t>
            </a:r>
            <a:endParaRPr lang="en-US" sz="760" dirty="0"/>
          </a:p>
        </p:txBody>
      </p:sp>
      <p:sp>
        <p:nvSpPr>
          <p:cNvPr id="108" name="Text 88"/>
          <p:cNvSpPr/>
          <p:nvPr/>
        </p:nvSpPr>
        <p:spPr>
          <a:xfrm>
            <a:off x="3739896" y="956462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6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09" name="Text 89"/>
          <p:cNvSpPr/>
          <p:nvPr/>
        </p:nvSpPr>
        <p:spPr>
          <a:xfrm>
            <a:off x="3941064" y="9564624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Recommending and approving authority</a:t>
            </a:r>
            <a:endParaRPr lang="en-US" sz="760" dirty="0"/>
          </a:p>
        </p:txBody>
      </p:sp>
      <p:sp>
        <p:nvSpPr>
          <p:cNvPr id="110" name="Text 90"/>
          <p:cNvSpPr/>
          <p:nvPr/>
        </p:nvSpPr>
        <p:spPr>
          <a:xfrm>
            <a:off x="3739896" y="97566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62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50" dirty="0"/>
          </a:p>
        </p:txBody>
      </p:sp>
      <p:sp>
        <p:nvSpPr>
          <p:cNvPr id="111" name="Text 91"/>
          <p:cNvSpPr/>
          <p:nvPr/>
        </p:nvSpPr>
        <p:spPr>
          <a:xfrm>
            <a:off x="3941064" y="9756648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Assessment/course outcome</a:t>
            </a:r>
            <a:endParaRPr lang="en-US" sz="7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2026-08-02T21:43:51Z</dcterms:created>
  <dcterms:modified xsi:type="dcterms:W3CDTF">2026-08-02T21:43:51Z</dcterms:modified>
</cp:coreProperties>
</file>