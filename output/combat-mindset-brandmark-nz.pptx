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UP/2d4cec0e-a52e-5368-bb54-803c6f37698d/scratchpad/logo-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1572768" cy="3803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804672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 BRANDMARK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1152144"/>
            <a:ext cx="6647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Zealand referencing options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353312"/>
            <a:ext cx="5184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Command School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641848" y="13533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591056"/>
            <a:ext cx="6647688" cy="25603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737360"/>
            <a:ext cx="6647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option is drawn three ways. The brandmark is the symbol alone, for patches, favicons and small applications. The wordmark is the type alone, where a symbol would compete with the NZ Army logo. The lockup is the pair set together, and is what would sit in document headers and on slides.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1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BRANDMARK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2715768" y="2286000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1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WORDMARK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4974336" y="2286000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1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LOCKUP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457200" y="2487168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6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  SOUTHERN CROSS</a:t>
            </a:r>
            <a:pPr algn="l" indent="0" marL="0">
              <a:buNone/>
            </a:pPr>
            <a:r>
              <a:rPr lang="en-US" sz="76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Secular, already on the flag and NZDF insignia, and legible at badge size.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457200" y="2761488"/>
            <a:ext cx="2130552" cy="131673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2962656"/>
            <a:ext cx="914400" cy="9144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15768" y="2761488"/>
            <a:ext cx="213055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B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15768" y="3145536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3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2715768" y="3364992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3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3396996" y="3648456"/>
            <a:ext cx="768096" cy="23774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19" name="Shape 15"/>
          <p:cNvSpPr/>
          <p:nvPr/>
        </p:nvSpPr>
        <p:spPr>
          <a:xfrm>
            <a:off x="4974336" y="2761488"/>
            <a:ext cx="2130552" cy="1316736"/>
          </a:xfrm>
          <a:prstGeom prst="rect">
            <a:avLst/>
          </a:prstGeom>
          <a:solidFill>
            <a:srgbClr val="00251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3108960"/>
            <a:ext cx="621792" cy="6217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833872" y="320040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833872" y="338328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833872" y="3593592"/>
            <a:ext cx="457200" cy="20117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24" name="Text 19"/>
          <p:cNvSpPr/>
          <p:nvPr/>
        </p:nvSpPr>
        <p:spPr>
          <a:xfrm>
            <a:off x="457200" y="4279392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6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  CROSS AND SHIELD</a:t>
            </a:r>
            <a:pPr algn="l" indent="0" marL="0">
              <a:buNone/>
            </a:pPr>
            <a:r>
              <a:rPr lang="en-US" sz="76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Keeps the shield's protection and adds the national reference inside it.</a:t>
            </a:r>
            <a:endParaRPr lang="en-US" sz="940" dirty="0"/>
          </a:p>
        </p:txBody>
      </p:sp>
      <p:sp>
        <p:nvSpPr>
          <p:cNvPr id="25" name="Shape 20"/>
          <p:cNvSpPr/>
          <p:nvPr/>
        </p:nvSpPr>
        <p:spPr>
          <a:xfrm>
            <a:off x="457200" y="4553712"/>
            <a:ext cx="2130552" cy="131673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" y="4754880"/>
            <a:ext cx="914400" cy="91440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2715768" y="4553712"/>
            <a:ext cx="213055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B7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715768" y="4937760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3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2715768" y="5157216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3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1700" dirty="0"/>
          </a:p>
        </p:txBody>
      </p:sp>
      <p:sp>
        <p:nvSpPr>
          <p:cNvPr id="30" name="Shape 24"/>
          <p:cNvSpPr/>
          <p:nvPr/>
        </p:nvSpPr>
        <p:spPr>
          <a:xfrm>
            <a:off x="3396996" y="5440680"/>
            <a:ext cx="768096" cy="23774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31" name="Shape 25"/>
          <p:cNvSpPr/>
          <p:nvPr/>
        </p:nvSpPr>
        <p:spPr>
          <a:xfrm>
            <a:off x="4974336" y="4553712"/>
            <a:ext cx="2130552" cy="1316736"/>
          </a:xfrm>
          <a:prstGeom prst="rect">
            <a:avLst/>
          </a:prstGeom>
          <a:solidFill>
            <a:srgbClr val="002516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216" y="4901184"/>
            <a:ext cx="621792" cy="62179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833872" y="4992624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5833872" y="5175504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5833872" y="5385816"/>
            <a:ext cx="457200" cy="20117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36" name="Text 29"/>
          <p:cNvSpPr/>
          <p:nvPr/>
        </p:nvSpPr>
        <p:spPr>
          <a:xfrm>
            <a:off x="457200" y="6071616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6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  FERN</a:t>
            </a:r>
            <a:pPr algn="l" indent="0" marL="0">
              <a:buNone/>
            </a:pPr>
            <a:r>
              <a:rPr lang="en-US" sz="76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Read as New Zealand anywhere. The red tip keeps the mark directional.</a:t>
            </a:r>
            <a:endParaRPr lang="en-US" sz="940" dirty="0"/>
          </a:p>
        </p:txBody>
      </p:sp>
      <p:sp>
        <p:nvSpPr>
          <p:cNvPr id="37" name="Shape 30"/>
          <p:cNvSpPr/>
          <p:nvPr/>
        </p:nvSpPr>
        <p:spPr>
          <a:xfrm>
            <a:off x="457200" y="6345936"/>
            <a:ext cx="2130552" cy="131673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76" y="6547104"/>
            <a:ext cx="914400" cy="914400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2715768" y="6345936"/>
            <a:ext cx="213055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B7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2715768" y="6729984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3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</a:t>
            </a:r>
            <a:endParaRPr lang="en-US" sz="1700" dirty="0"/>
          </a:p>
        </p:txBody>
      </p:sp>
      <p:sp>
        <p:nvSpPr>
          <p:cNvPr id="41" name="Text 33"/>
          <p:cNvSpPr/>
          <p:nvPr/>
        </p:nvSpPr>
        <p:spPr>
          <a:xfrm>
            <a:off x="2715768" y="6949440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3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1700" dirty="0"/>
          </a:p>
        </p:txBody>
      </p:sp>
      <p:sp>
        <p:nvSpPr>
          <p:cNvPr id="42" name="Shape 34"/>
          <p:cNvSpPr/>
          <p:nvPr/>
        </p:nvSpPr>
        <p:spPr>
          <a:xfrm>
            <a:off x="3396996" y="7232904"/>
            <a:ext cx="768096" cy="23774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43" name="Shape 35"/>
          <p:cNvSpPr/>
          <p:nvPr/>
        </p:nvSpPr>
        <p:spPr>
          <a:xfrm>
            <a:off x="4974336" y="6345936"/>
            <a:ext cx="2130552" cy="1316736"/>
          </a:xfrm>
          <a:prstGeom prst="rect">
            <a:avLst/>
          </a:prstGeom>
          <a:solidFill>
            <a:srgbClr val="002516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7216" y="6693408"/>
            <a:ext cx="621792" cy="62179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833872" y="6784848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</a:t>
            </a:r>
            <a:endParaRPr lang="en-US" sz="1150" dirty="0"/>
          </a:p>
        </p:txBody>
      </p:sp>
      <p:sp>
        <p:nvSpPr>
          <p:cNvPr id="46" name="Text 37"/>
          <p:cNvSpPr/>
          <p:nvPr/>
        </p:nvSpPr>
        <p:spPr>
          <a:xfrm>
            <a:off x="5833872" y="6967728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1150" dirty="0"/>
          </a:p>
        </p:txBody>
      </p:sp>
      <p:sp>
        <p:nvSpPr>
          <p:cNvPr id="47" name="Shape 38"/>
          <p:cNvSpPr/>
          <p:nvPr/>
        </p:nvSpPr>
        <p:spPr>
          <a:xfrm>
            <a:off x="5833872" y="7178040"/>
            <a:ext cx="457200" cy="20117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48" name="Text 39"/>
          <p:cNvSpPr/>
          <p:nvPr/>
        </p:nvSpPr>
        <p:spPr>
          <a:xfrm>
            <a:off x="457200" y="7863840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6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  CROSS PATCH</a:t>
            </a:r>
            <a:pPr algn="l" indent="0" marL="0">
              <a:buNone/>
            </a:pPr>
            <a:r>
              <a:rPr lang="en-US" sz="76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The reticle patch language, with the Southern Cross at the aim point.</a:t>
            </a:r>
            <a:endParaRPr lang="en-US" sz="940" dirty="0"/>
          </a:p>
        </p:txBody>
      </p:sp>
      <p:sp>
        <p:nvSpPr>
          <p:cNvPr id="49" name="Shape 40"/>
          <p:cNvSpPr/>
          <p:nvPr/>
        </p:nvSpPr>
        <p:spPr>
          <a:xfrm>
            <a:off x="457200" y="8138160"/>
            <a:ext cx="2130552" cy="131673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276" y="8339328"/>
            <a:ext cx="914400" cy="914400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2715768" y="8138160"/>
            <a:ext cx="213055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B7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2715768" y="8522208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3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</a:t>
            </a:r>
            <a:endParaRPr lang="en-US" sz="1700" dirty="0"/>
          </a:p>
        </p:txBody>
      </p:sp>
      <p:sp>
        <p:nvSpPr>
          <p:cNvPr id="53" name="Text 43"/>
          <p:cNvSpPr/>
          <p:nvPr/>
        </p:nvSpPr>
        <p:spPr>
          <a:xfrm>
            <a:off x="2715768" y="8741664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3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1700" dirty="0"/>
          </a:p>
        </p:txBody>
      </p:sp>
      <p:sp>
        <p:nvSpPr>
          <p:cNvPr id="54" name="Shape 44"/>
          <p:cNvSpPr/>
          <p:nvPr/>
        </p:nvSpPr>
        <p:spPr>
          <a:xfrm>
            <a:off x="3396996" y="9025128"/>
            <a:ext cx="768096" cy="23774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55" name="Shape 45"/>
          <p:cNvSpPr/>
          <p:nvPr/>
        </p:nvSpPr>
        <p:spPr>
          <a:xfrm>
            <a:off x="4974336" y="8138160"/>
            <a:ext cx="2130552" cy="1316736"/>
          </a:xfrm>
          <a:prstGeom prst="rect">
            <a:avLst/>
          </a:prstGeom>
          <a:solidFill>
            <a:srgbClr val="002516"/>
          </a:solidFill>
          <a:ln/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8485632"/>
            <a:ext cx="621792" cy="621792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5833872" y="857707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</a:t>
            </a:r>
            <a:endParaRPr lang="en-US" sz="1150" dirty="0"/>
          </a:p>
        </p:txBody>
      </p:sp>
      <p:sp>
        <p:nvSpPr>
          <p:cNvPr id="58" name="Text 47"/>
          <p:cNvSpPr/>
          <p:nvPr/>
        </p:nvSpPr>
        <p:spPr>
          <a:xfrm>
            <a:off x="5833872" y="875995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1150" dirty="0"/>
          </a:p>
        </p:txBody>
      </p:sp>
      <p:sp>
        <p:nvSpPr>
          <p:cNvPr id="59" name="Shape 48"/>
          <p:cNvSpPr/>
          <p:nvPr/>
        </p:nvSpPr>
        <p:spPr>
          <a:xfrm>
            <a:off x="5833872" y="8970264"/>
            <a:ext cx="457200" cy="20117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60" name="Text 49"/>
          <p:cNvSpPr/>
          <p:nvPr/>
        </p:nvSpPr>
        <p:spPr>
          <a:xfrm>
            <a:off x="457200" y="9692640"/>
            <a:ext cx="6647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Note.  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use national rather than iwi-specific imagery, so none carries a cultural-consultation requirement of itself. Any final mark should still be cleared through NZDF visual identity, and any later introduction of Māori design elements would require appropriate cultural consultation.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Army Command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Combat Mindset Brandmark Options</dc:title>
  <dc:subject>PptxGenJS Presentation</dc:subject>
  <dc:creator>PptxGenJS</dc:creator>
  <cp:lastModifiedBy>PptxGenJS</cp:lastModifiedBy>
  <cp:revision>1</cp:revision>
  <dcterms:created xsi:type="dcterms:W3CDTF">2026-08-05T09:22:37Z</dcterms:created>
  <dcterms:modified xsi:type="dcterms:W3CDTF">2026-08-05T09:22:37Z</dcterms:modified>
</cp:coreProperties>
</file>