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nz-ar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5760"/>
            <a:ext cx="1371600" cy="31315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51960" y="365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251960" y="5486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COMDT ACS</a:t>
            </a:r>
            <a:endParaRPr lang="en-US" sz="760" dirty="0"/>
          </a:p>
        </p:txBody>
      </p:sp>
      <p:sp>
        <p:nvSpPr>
          <p:cNvPr id="5" name="Text 2"/>
          <p:cNvSpPr/>
          <p:nvPr/>
        </p:nvSpPr>
        <p:spPr>
          <a:xfrm>
            <a:off x="566928" y="85953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Month 1 Financial Position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66928" y="1188720"/>
            <a:ext cx="4873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period July 2026   ·   Cost centre 43311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577840" y="896112"/>
            <a:ext cx="1417320" cy="420624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8" name="Text 5"/>
          <p:cNvSpPr/>
          <p:nvPr/>
        </p:nvSpPr>
        <p:spPr>
          <a:xfrm>
            <a:off x="5577840" y="93268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5577840" y="1069848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GREEN–AMBER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444752"/>
            <a:ext cx="6428232" cy="1645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719072"/>
            <a:ext cx="1511046" cy="104241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1719072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1847088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 BUDGET</a:t>
            </a:r>
            <a:endParaRPr lang="en-US" sz="640" dirty="0"/>
          </a:p>
        </p:txBody>
      </p:sp>
      <p:sp>
        <p:nvSpPr>
          <p:cNvPr id="14" name="Text 11"/>
          <p:cNvSpPr/>
          <p:nvPr/>
        </p:nvSpPr>
        <p:spPr>
          <a:xfrm>
            <a:off x="704088" y="2048256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$811.6k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4088" y="2432304"/>
            <a:ext cx="12367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full-year plan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2205990" y="1719072"/>
            <a:ext cx="1511046" cy="104241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7" name="Shape 14"/>
          <p:cNvSpPr/>
          <p:nvPr/>
        </p:nvSpPr>
        <p:spPr>
          <a:xfrm>
            <a:off x="2205990" y="1719072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/>
          <p:nvPr/>
        </p:nvSpPr>
        <p:spPr>
          <a:xfrm>
            <a:off x="2343150" y="1847088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640" dirty="0"/>
          </a:p>
        </p:txBody>
      </p:sp>
      <p:sp>
        <p:nvSpPr>
          <p:cNvPr id="19" name="Text 16"/>
          <p:cNvSpPr/>
          <p:nvPr/>
        </p:nvSpPr>
        <p:spPr>
          <a:xfrm>
            <a:off x="2343150" y="2048256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$40.5k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343150" y="2432304"/>
            <a:ext cx="12367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$23.0k profile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3845052" y="1719072"/>
            <a:ext cx="1511046" cy="104241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5052" y="1719072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0"/>
          <p:cNvSpPr/>
          <p:nvPr/>
        </p:nvSpPr>
        <p:spPr>
          <a:xfrm>
            <a:off x="3982212" y="1847088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CONSUMED</a:t>
            </a:r>
            <a:endParaRPr lang="en-US" sz="640" dirty="0"/>
          </a:p>
        </p:txBody>
      </p:sp>
      <p:sp>
        <p:nvSpPr>
          <p:cNvPr id="24" name="Text 21"/>
          <p:cNvSpPr/>
          <p:nvPr/>
        </p:nvSpPr>
        <p:spPr>
          <a:xfrm>
            <a:off x="3982212" y="2048256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3982212" y="2432304"/>
            <a:ext cx="12367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annual plan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4114" y="1719072"/>
            <a:ext cx="1511046" cy="104241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484114" y="1719072"/>
            <a:ext cx="1511046" cy="27432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28" name="Text 25"/>
          <p:cNvSpPr/>
          <p:nvPr/>
        </p:nvSpPr>
        <p:spPr>
          <a:xfrm>
            <a:off x="5621274" y="1847088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VARIANCE</a:t>
            </a:r>
            <a:endParaRPr lang="en-US" sz="640" dirty="0"/>
          </a:p>
        </p:txBody>
      </p:sp>
      <p:sp>
        <p:nvSpPr>
          <p:cNvPr id="29" name="Text 26"/>
          <p:cNvSpPr/>
          <p:nvPr/>
        </p:nvSpPr>
        <p:spPr>
          <a:xfrm>
            <a:off x="5621274" y="2048256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$17.5k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621274" y="2432304"/>
            <a:ext cx="12367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 of profile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66928" y="3017520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AT 31 JULY 2026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66928" y="3191256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33" name="Text 30"/>
          <p:cNvSpPr/>
          <p:nvPr/>
        </p:nvSpPr>
        <p:spPr>
          <a:xfrm>
            <a:off x="658368" y="334670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3310128" y="33467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Budget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4544568" y="33467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760" dirty="0"/>
          </a:p>
        </p:txBody>
      </p:sp>
      <p:sp>
        <p:nvSpPr>
          <p:cNvPr id="36" name="Text 33"/>
          <p:cNvSpPr/>
          <p:nvPr/>
        </p:nvSpPr>
        <p:spPr>
          <a:xfrm>
            <a:off x="5779008" y="3346704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566928" y="3694176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/>
          <p:nvPr/>
        </p:nvSpPr>
        <p:spPr>
          <a:xfrm>
            <a:off x="658368" y="37307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3310128" y="373075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980" dirty="0"/>
          </a:p>
        </p:txBody>
      </p:sp>
      <p:sp>
        <p:nvSpPr>
          <p:cNvPr id="40" name="Text 37"/>
          <p:cNvSpPr/>
          <p:nvPr/>
        </p:nvSpPr>
        <p:spPr>
          <a:xfrm>
            <a:off x="4544568" y="373075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$6,031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5779008" y="3730752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($5,731)</a:t>
            </a:r>
            <a:endParaRPr lang="en-US" sz="980" dirty="0"/>
          </a:p>
        </p:txBody>
      </p:sp>
      <p:sp>
        <p:nvSpPr>
          <p:cNvPr id="42" name="Shape 39"/>
          <p:cNvSpPr/>
          <p:nvPr/>
        </p:nvSpPr>
        <p:spPr>
          <a:xfrm>
            <a:off x="566928" y="4078224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3" name="Text 40"/>
          <p:cNvSpPr/>
          <p:nvPr/>
        </p:nvSpPr>
        <p:spPr>
          <a:xfrm>
            <a:off x="658368" y="41148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</a:t>
            </a:r>
            <a:endParaRPr lang="en-US" sz="980" dirty="0"/>
          </a:p>
        </p:txBody>
      </p:sp>
      <p:sp>
        <p:nvSpPr>
          <p:cNvPr id="44" name="Text 41"/>
          <p:cNvSpPr/>
          <p:nvPr/>
        </p:nvSpPr>
        <p:spPr>
          <a:xfrm>
            <a:off x="3310128" y="41148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$22,715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4544568" y="41148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$34,504</a:t>
            </a:r>
            <a:endParaRPr lang="en-US" sz="980" dirty="0"/>
          </a:p>
        </p:txBody>
      </p:sp>
      <p:sp>
        <p:nvSpPr>
          <p:cNvPr id="46" name="Text 43"/>
          <p:cNvSpPr/>
          <p:nvPr/>
        </p:nvSpPr>
        <p:spPr>
          <a:xfrm>
            <a:off x="5779008" y="4114800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($11,789)</a:t>
            </a:r>
            <a:endParaRPr lang="en-US" sz="980" dirty="0"/>
          </a:p>
        </p:txBody>
      </p:sp>
      <p:sp>
        <p:nvSpPr>
          <p:cNvPr id="47" name="Shape 44"/>
          <p:cNvSpPr/>
          <p:nvPr/>
        </p:nvSpPr>
        <p:spPr>
          <a:xfrm>
            <a:off x="566928" y="4462272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8" name="Shape 45"/>
          <p:cNvSpPr/>
          <p:nvPr/>
        </p:nvSpPr>
        <p:spPr>
          <a:xfrm>
            <a:off x="566928" y="4498848"/>
            <a:ext cx="6428232" cy="347472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49" name="Text 46"/>
          <p:cNvSpPr/>
          <p:nvPr/>
        </p:nvSpPr>
        <p:spPr>
          <a:xfrm>
            <a:off x="658368" y="44988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980" dirty="0"/>
          </a:p>
        </p:txBody>
      </p:sp>
      <p:sp>
        <p:nvSpPr>
          <p:cNvPr id="50" name="Text 47"/>
          <p:cNvSpPr/>
          <p:nvPr/>
        </p:nvSpPr>
        <p:spPr>
          <a:xfrm>
            <a:off x="3310128" y="44988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$23,015</a:t>
            </a:r>
            <a:endParaRPr lang="en-US" sz="980" dirty="0"/>
          </a:p>
        </p:txBody>
      </p:sp>
      <p:sp>
        <p:nvSpPr>
          <p:cNvPr id="51" name="Text 48"/>
          <p:cNvSpPr/>
          <p:nvPr/>
        </p:nvSpPr>
        <p:spPr>
          <a:xfrm>
            <a:off x="4544568" y="44988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$40,535</a:t>
            </a:r>
            <a:endParaRPr lang="en-US" sz="980" dirty="0"/>
          </a:p>
        </p:txBody>
      </p:sp>
      <p:sp>
        <p:nvSpPr>
          <p:cNvPr id="52" name="Text 49"/>
          <p:cNvSpPr/>
          <p:nvPr/>
        </p:nvSpPr>
        <p:spPr>
          <a:xfrm>
            <a:off x="5779008" y="4498848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($17,520)</a:t>
            </a:r>
            <a:endParaRPr lang="en-US" sz="980" dirty="0"/>
          </a:p>
        </p:txBody>
      </p:sp>
      <p:sp>
        <p:nvSpPr>
          <p:cNvPr id="53" name="Shape 50"/>
          <p:cNvSpPr/>
          <p:nvPr/>
        </p:nvSpPr>
        <p:spPr>
          <a:xfrm>
            <a:off x="566928" y="4846320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/>
          <p:nvPr/>
        </p:nvSpPr>
        <p:spPr>
          <a:xfrm>
            <a:off x="566928" y="4974336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 ASSESSMENT</a:t>
            </a:r>
            <a:endParaRPr lang="en-US" sz="760" dirty="0"/>
          </a:p>
        </p:txBody>
      </p:sp>
      <p:sp>
        <p:nvSpPr>
          <p:cNvPr id="55" name="Shape 52"/>
          <p:cNvSpPr/>
          <p:nvPr/>
        </p:nvSpPr>
        <p:spPr>
          <a:xfrm>
            <a:off x="566928" y="514807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56" name="Text 53"/>
          <p:cNvSpPr/>
          <p:nvPr/>
        </p:nvSpPr>
        <p:spPr>
          <a:xfrm>
            <a:off x="566928" y="5303520"/>
            <a:ext cx="6428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expenditure was $17.5k ahead of profile, assessed primarily as a timing and phasing variance rather than structural overspend.</a:t>
            </a:r>
            <a:endParaRPr lang="en-US" sz="960" dirty="0"/>
          </a:p>
        </p:txBody>
      </p:sp>
      <p:sp>
        <p:nvSpPr>
          <p:cNvPr id="57" name="Text 54"/>
          <p:cNvSpPr/>
          <p:nvPr/>
        </p:nvSpPr>
        <p:spPr>
          <a:xfrm>
            <a:off x="566928" y="5815584"/>
            <a:ext cx="6428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was a preparation month ahead of the FY26/27 delivery programme. No courses were conducted, with the first three activities commencing 8, 24 and 31 August. Expenditure is broadly consistent with preparation and enabling activity ahead of these courses.</a:t>
            </a:r>
            <a:endParaRPr lang="en-US" sz="960" dirty="0"/>
          </a:p>
        </p:txBody>
      </p:sp>
      <p:sp>
        <p:nvSpPr>
          <p:cNvPr id="58" name="Text 55"/>
          <p:cNvSpPr/>
          <p:nvPr/>
        </p:nvSpPr>
        <p:spPr>
          <a:xfrm>
            <a:off x="566928" y="647395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FY budget includes the additional $50k Winsborough allocation, bringing the SAP full-year plan to $811.6k.</a:t>
            </a:r>
            <a:endParaRPr lang="en-US" sz="960" dirty="0"/>
          </a:p>
        </p:txBody>
      </p:sp>
      <p:sp>
        <p:nvSpPr>
          <p:cNvPr id="59" name="Text 56"/>
          <p:cNvSpPr/>
          <p:nvPr/>
        </p:nvSpPr>
        <p:spPr>
          <a:xfrm>
            <a:off x="566928" y="6858000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WATCH</a:t>
            </a:r>
            <a:endParaRPr lang="en-US" sz="760" dirty="0"/>
          </a:p>
        </p:txBody>
      </p:sp>
      <p:sp>
        <p:nvSpPr>
          <p:cNvPr id="60" name="Shape 57"/>
          <p:cNvSpPr/>
          <p:nvPr/>
        </p:nvSpPr>
        <p:spPr>
          <a:xfrm>
            <a:off x="566928" y="7031736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61" name="Shape 58"/>
          <p:cNvSpPr/>
          <p:nvPr/>
        </p:nvSpPr>
        <p:spPr>
          <a:xfrm>
            <a:off x="566928" y="7187184"/>
            <a:ext cx="36576" cy="493776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62" name="Text 59"/>
          <p:cNvSpPr/>
          <p:nvPr/>
        </p:nvSpPr>
        <p:spPr>
          <a:xfrm>
            <a:off x="731520" y="7187184"/>
            <a:ext cx="4965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Nil-budget cost lines</a:t>
            </a:r>
            <a:endParaRPr lang="en-US" sz="960" dirty="0"/>
          </a:p>
        </p:txBody>
      </p:sp>
      <p:sp>
        <p:nvSpPr>
          <p:cNvPr id="63" name="Text 60"/>
          <p:cNvSpPr/>
          <p:nvPr/>
        </p:nvSpPr>
        <p:spPr>
          <a:xfrm>
            <a:off x="5623560" y="71871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$6.1k</a:t>
            </a:r>
            <a:endParaRPr lang="en-US" sz="980" dirty="0"/>
          </a:p>
        </p:txBody>
      </p:sp>
      <p:sp>
        <p:nvSpPr>
          <p:cNvPr id="64" name="Text 61"/>
          <p:cNvSpPr/>
          <p:nvPr/>
        </p:nvSpPr>
        <p:spPr>
          <a:xfrm>
            <a:off x="731520" y="7406640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Civilian overtime and sundry expenses require coding and budget-line confirmation with the Financial Adviser.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66928" y="7827264"/>
            <a:ext cx="36576" cy="384048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66" name="Text 63"/>
          <p:cNvSpPr/>
          <p:nvPr/>
        </p:nvSpPr>
        <p:spPr>
          <a:xfrm>
            <a:off x="731520" y="7827264"/>
            <a:ext cx="4965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Civilian allowances</a:t>
            </a:r>
            <a:endParaRPr lang="en-US" sz="960" dirty="0"/>
          </a:p>
        </p:txBody>
      </p:sp>
      <p:sp>
        <p:nvSpPr>
          <p:cNvPr id="67" name="Text 64"/>
          <p:cNvSpPr/>
          <p:nvPr/>
        </p:nvSpPr>
        <p:spPr>
          <a:xfrm>
            <a:off x="5623560" y="78272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consumed</a:t>
            </a:r>
            <a:endParaRPr lang="en-US" sz="980" dirty="0"/>
          </a:p>
        </p:txBody>
      </p:sp>
      <p:sp>
        <p:nvSpPr>
          <p:cNvPr id="68" name="Text 65"/>
          <p:cNvSpPr/>
          <p:nvPr/>
        </p:nvSpPr>
        <p:spPr>
          <a:xfrm>
            <a:off x="731520" y="8046720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rate to be confirmed before Month 2.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566928" y="8449056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ASSESSMENT</a:t>
            </a:r>
            <a:endParaRPr lang="en-US" sz="760" dirty="0"/>
          </a:p>
        </p:txBody>
      </p:sp>
      <p:sp>
        <p:nvSpPr>
          <p:cNvPr id="70" name="Shape 67"/>
          <p:cNvSpPr/>
          <p:nvPr/>
        </p:nvSpPr>
        <p:spPr>
          <a:xfrm>
            <a:off x="566928" y="862279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71" name="Shape 68"/>
          <p:cNvSpPr/>
          <p:nvPr/>
        </p:nvSpPr>
        <p:spPr>
          <a:xfrm>
            <a:off x="566928" y="8778240"/>
            <a:ext cx="6428232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2" name="Shape 69"/>
          <p:cNvSpPr/>
          <p:nvPr/>
        </p:nvSpPr>
        <p:spPr>
          <a:xfrm>
            <a:off x="566928" y="8778240"/>
            <a:ext cx="50292" cy="987552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73" name="Text 70"/>
          <p:cNvSpPr/>
          <p:nvPr/>
        </p:nvSpPr>
        <p:spPr>
          <a:xfrm>
            <a:off x="859536" y="8942832"/>
            <a:ext cx="5843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remains on track. July's $17.5k adverse variance is assessed predominantly as front-loaded expenditure supporting the August course programme, rather than an emerging budget pressure. No corrective action is required at this stage beyond monitoring the combined July and August position.</a:t>
            </a:r>
            <a:endParaRPr lang="en-US" sz="980" dirty="0"/>
          </a:p>
        </p:txBody>
      </p:sp>
      <p:sp>
        <p:nvSpPr>
          <p:cNvPr id="74" name="Shape 71"/>
          <p:cNvSpPr/>
          <p:nvPr/>
        </p:nvSpPr>
        <p:spPr>
          <a:xfrm>
            <a:off x="566928" y="1013155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75" name="Text 72"/>
          <p:cNvSpPr/>
          <p:nvPr/>
        </p:nvSpPr>
        <p:spPr>
          <a:xfrm>
            <a:off x="566928" y="1020470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  ·   COST CENTRE 43311</a:t>
            </a:r>
            <a:endParaRPr lang="en-US" sz="600" dirty="0"/>
          </a:p>
        </p:txBody>
      </p:sp>
      <p:sp>
        <p:nvSpPr>
          <p:cNvPr id="76" name="Text 73"/>
          <p:cNvSpPr/>
          <p:nvPr/>
        </p:nvSpPr>
        <p:spPr>
          <a:xfrm>
            <a:off x="3337560" y="102047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SAP FINANCIAL MANAGEMENT REPORT, JULY 26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NZ Army Leadership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FY26/27 Month 1 Financial Position</dc:title>
  <dc:subject>Month 1 financial position for COMDT ACS</dc:subject>
  <dc:creator>PptxGenJS</dc:creator>
  <cp:lastModifiedBy>PptxGenJS</cp:lastModifiedBy>
  <cp:revision>1</cp:revision>
  <dcterms:created xsi:type="dcterms:W3CDTF">2026-08-10T00:47:29Z</dcterms:created>
  <dcterms:modified xsi:type="dcterms:W3CDTF">2026-08-10T00:47:29Z</dcterms:modified>
</cp:coreProperties>
</file>