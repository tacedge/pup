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nz-army-logo.png">    </p:cNvPr>
          <p:cNvPicPr>
            <a:picLocks noChangeAspect="1"/>
          </p:cNvPicPr>
          <p:nvPr/>
        </p:nvPicPr>
        <p:blipFill>
          <a:blip r:embed="rId1"/>
          <a:stretch>
            <a:fillRect/>
          </a:stretch>
        </p:blipFill>
        <p:spPr>
          <a:xfrm>
            <a:off x="566928" y="365760"/>
            <a:ext cx="1371600" cy="313151"/>
          </a:xfrm>
          <a:prstGeom prst="rect">
            <a:avLst/>
          </a:prstGeom>
        </p:spPr>
      </p:pic>
      <p:sp>
        <p:nvSpPr>
          <p:cNvPr id="3" name="Text 0"/>
          <p:cNvSpPr/>
          <p:nvPr/>
        </p:nvSpPr>
        <p:spPr>
          <a:xfrm>
            <a:off x="4251960" y="365760"/>
            <a:ext cx="2743200" cy="201168"/>
          </a:xfrm>
          <a:prstGeom prst="rect">
            <a:avLst/>
          </a:prstGeom>
          <a:noFill/>
          <a:ln/>
        </p:spPr>
        <p:txBody>
          <a:bodyPr wrap="square" lIns="0" tIns="0" rIns="0" bIns="0" rtlCol="0" anchor="ctr"/>
          <a:lstStyle/>
          <a:p>
            <a:pPr algn="r" indent="0" marL="0">
              <a:buNone/>
            </a:pPr>
            <a:r>
              <a:rPr lang="en-US" sz="900" b="1" dirty="0">
                <a:solidFill>
                  <a:srgbClr val="1A1A1A"/>
                </a:solidFill>
                <a:latin typeface="Arial" pitchFamily="34" charset="0"/>
                <a:ea typeface="Arial" pitchFamily="34" charset="-122"/>
                <a:cs typeface="Arial" pitchFamily="34" charset="-120"/>
              </a:rPr>
              <a:t>NZ Army Leadership Centre</a:t>
            </a:r>
            <a:endParaRPr lang="en-US" sz="900" dirty="0"/>
          </a:p>
        </p:txBody>
      </p:sp>
      <p:sp>
        <p:nvSpPr>
          <p:cNvPr id="4" name="Text 1"/>
          <p:cNvSpPr/>
          <p:nvPr/>
        </p:nvSpPr>
        <p:spPr>
          <a:xfrm>
            <a:off x="4251960" y="548640"/>
            <a:ext cx="2743200" cy="164592"/>
          </a:xfrm>
          <a:prstGeom prst="rect">
            <a:avLst/>
          </a:prstGeom>
          <a:noFill/>
          <a:ln/>
        </p:spPr>
        <p:txBody>
          <a:bodyPr wrap="square" lIns="0" tIns="0" rIns="0" bIns="0" rtlCol="0" anchor="ctr"/>
          <a:lstStyle/>
          <a:p>
            <a:pPr algn="r" indent="0" marL="0">
              <a:buNone/>
            </a:pPr>
            <a:r>
              <a:rPr lang="en-US" sz="760" dirty="0">
                <a:solidFill>
                  <a:srgbClr val="6E6E6E"/>
                </a:solidFill>
                <a:latin typeface="Arial" pitchFamily="34" charset="0"/>
                <a:ea typeface="Arial" pitchFamily="34" charset="-122"/>
                <a:cs typeface="Arial" pitchFamily="34" charset="-120"/>
              </a:rPr>
              <a:t>For COMDT ACS</a:t>
            </a:r>
            <a:endParaRPr lang="en-US" sz="760" dirty="0"/>
          </a:p>
        </p:txBody>
      </p:sp>
      <p:sp>
        <p:nvSpPr>
          <p:cNvPr id="5" name="Text 2"/>
          <p:cNvSpPr/>
          <p:nvPr/>
        </p:nvSpPr>
        <p:spPr>
          <a:xfrm>
            <a:off x="566928" y="859536"/>
            <a:ext cx="496519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FY26/27 Month 1 Financial Position</a:t>
            </a:r>
            <a:endParaRPr lang="en-US" sz="1900" dirty="0"/>
          </a:p>
        </p:txBody>
      </p:sp>
      <p:sp>
        <p:nvSpPr>
          <p:cNvPr id="6" name="Text 3"/>
          <p:cNvSpPr/>
          <p:nvPr/>
        </p:nvSpPr>
        <p:spPr>
          <a:xfrm>
            <a:off x="566928" y="1170432"/>
            <a:ext cx="4965192" cy="182880"/>
          </a:xfrm>
          <a:prstGeom prst="rect">
            <a:avLst/>
          </a:prstGeom>
          <a:noFill/>
          <a:ln/>
        </p:spPr>
        <p:txBody>
          <a:bodyPr wrap="square" lIns="0" tIns="0" rIns="0" bIns="0" rtlCol="0" anchor="ctr"/>
          <a:lstStyle/>
          <a:p>
            <a:pPr algn="l" indent="0" marL="0">
              <a:buNone/>
            </a:pPr>
            <a:r>
              <a:rPr lang="en-US" sz="900" dirty="0">
                <a:solidFill>
                  <a:srgbClr val="6E6E6E"/>
                </a:solidFill>
                <a:latin typeface="Arial" pitchFamily="34" charset="0"/>
                <a:ea typeface="Arial" pitchFamily="34" charset="-122"/>
                <a:cs typeface="Arial" pitchFamily="34" charset="-120"/>
              </a:rPr>
              <a:t>Reporting period July 2026   ·   Cost centre 43311</a:t>
            </a:r>
            <a:endParaRPr lang="en-US" sz="900" dirty="0"/>
          </a:p>
        </p:txBody>
      </p:sp>
      <p:sp>
        <p:nvSpPr>
          <p:cNvPr id="7" name="Shape 4"/>
          <p:cNvSpPr/>
          <p:nvPr/>
        </p:nvSpPr>
        <p:spPr>
          <a:xfrm>
            <a:off x="5623560" y="896112"/>
            <a:ext cx="1371600" cy="402336"/>
          </a:xfrm>
          <a:prstGeom prst="rect">
            <a:avLst/>
          </a:prstGeom>
          <a:solidFill>
            <a:srgbClr val="B3A650"/>
          </a:solidFill>
          <a:ln/>
        </p:spPr>
      </p:sp>
      <p:sp>
        <p:nvSpPr>
          <p:cNvPr id="8" name="Text 5"/>
          <p:cNvSpPr/>
          <p:nvPr/>
        </p:nvSpPr>
        <p:spPr>
          <a:xfrm>
            <a:off x="5623560" y="932688"/>
            <a:ext cx="1371600" cy="128016"/>
          </a:xfrm>
          <a:prstGeom prst="rect">
            <a:avLst/>
          </a:prstGeom>
          <a:noFill/>
          <a:ln/>
        </p:spPr>
        <p:txBody>
          <a:bodyPr wrap="square" lIns="0" tIns="0" rIns="0" bIns="0" rtlCol="0" anchor="ctr"/>
          <a:lstStyle/>
          <a:p>
            <a:pPr algn="ctr" indent="0" marL="0">
              <a:buNone/>
            </a:pPr>
            <a:r>
              <a:rPr lang="en-US" sz="600" b="1" spc="100" kern="0" dirty="0">
                <a:solidFill>
                  <a:srgbClr val="1A1A1A"/>
                </a:solidFill>
                <a:latin typeface="Arial" pitchFamily="34" charset="0"/>
                <a:ea typeface="Arial" pitchFamily="34" charset="-122"/>
                <a:cs typeface="Arial" pitchFamily="34" charset="-120"/>
              </a:rPr>
              <a:t>STATUS</a:t>
            </a:r>
            <a:endParaRPr lang="en-US" sz="600" dirty="0"/>
          </a:p>
        </p:txBody>
      </p:sp>
      <p:sp>
        <p:nvSpPr>
          <p:cNvPr id="9" name="Text 6"/>
          <p:cNvSpPr/>
          <p:nvPr/>
        </p:nvSpPr>
        <p:spPr>
          <a:xfrm>
            <a:off x="5623560" y="1060704"/>
            <a:ext cx="1371600" cy="20116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GREEN–AMBER</a:t>
            </a:r>
            <a:endParaRPr lang="en-US" sz="1100" dirty="0"/>
          </a:p>
        </p:txBody>
      </p:sp>
      <p:sp>
        <p:nvSpPr>
          <p:cNvPr id="10" name="Shape 7"/>
          <p:cNvSpPr/>
          <p:nvPr/>
        </p:nvSpPr>
        <p:spPr>
          <a:xfrm>
            <a:off x="566928" y="1426464"/>
            <a:ext cx="6428232" cy="16459"/>
          </a:xfrm>
          <a:prstGeom prst="rect">
            <a:avLst/>
          </a:prstGeom>
          <a:solidFill>
            <a:srgbClr val="1A1A1A"/>
          </a:solidFill>
          <a:ln/>
        </p:spPr>
      </p:sp>
      <p:sp>
        <p:nvSpPr>
          <p:cNvPr id="11" name="Shape 8"/>
          <p:cNvSpPr/>
          <p:nvPr/>
        </p:nvSpPr>
        <p:spPr>
          <a:xfrm>
            <a:off x="566928" y="1627632"/>
            <a:ext cx="1511046" cy="932688"/>
          </a:xfrm>
          <a:prstGeom prst="rect">
            <a:avLst/>
          </a:prstGeom>
          <a:solidFill>
            <a:srgbClr val="F5F5F3"/>
          </a:solidFill>
          <a:ln/>
        </p:spPr>
      </p:sp>
      <p:sp>
        <p:nvSpPr>
          <p:cNvPr id="12" name="Shape 9"/>
          <p:cNvSpPr/>
          <p:nvPr/>
        </p:nvSpPr>
        <p:spPr>
          <a:xfrm>
            <a:off x="566928" y="1627632"/>
            <a:ext cx="1511046" cy="25603"/>
          </a:xfrm>
          <a:prstGeom prst="rect">
            <a:avLst/>
          </a:prstGeom>
          <a:solidFill>
            <a:srgbClr val="1A1A1A"/>
          </a:solidFill>
          <a:ln/>
        </p:spPr>
      </p:sp>
      <p:sp>
        <p:nvSpPr>
          <p:cNvPr id="13" name="Text 10"/>
          <p:cNvSpPr/>
          <p:nvPr/>
        </p:nvSpPr>
        <p:spPr>
          <a:xfrm>
            <a:off x="694944" y="1737360"/>
            <a:ext cx="1255014" cy="146304"/>
          </a:xfrm>
          <a:prstGeom prst="rect">
            <a:avLst/>
          </a:prstGeom>
          <a:noFill/>
          <a:ln/>
        </p:spPr>
        <p:txBody>
          <a:bodyPr wrap="square" lIns="0" tIns="0" rIns="0" bIns="0" rtlCol="0" anchor="ctr"/>
          <a:lstStyle/>
          <a:p>
            <a:pPr algn="l" indent="0" marL="0">
              <a:buNone/>
            </a:pPr>
            <a:r>
              <a:rPr lang="en-US" sz="620" b="1" spc="80" kern="0" dirty="0">
                <a:solidFill>
                  <a:srgbClr val="6E6E6E"/>
                </a:solidFill>
                <a:latin typeface="Arial" pitchFamily="34" charset="0"/>
                <a:ea typeface="Arial" pitchFamily="34" charset="-122"/>
                <a:cs typeface="Arial" pitchFamily="34" charset="-120"/>
              </a:rPr>
              <a:t>FY BUDGET</a:t>
            </a:r>
            <a:endParaRPr lang="en-US" sz="620" dirty="0"/>
          </a:p>
        </p:txBody>
      </p:sp>
      <p:sp>
        <p:nvSpPr>
          <p:cNvPr id="14" name="Text 11"/>
          <p:cNvSpPr/>
          <p:nvPr/>
        </p:nvSpPr>
        <p:spPr>
          <a:xfrm>
            <a:off x="694944" y="1920240"/>
            <a:ext cx="1255014" cy="310896"/>
          </a:xfrm>
          <a:prstGeom prst="rect">
            <a:avLst/>
          </a:prstGeom>
          <a:noFill/>
          <a:ln/>
        </p:spPr>
        <p:txBody>
          <a:bodyPr wrap="square" lIns="0" tIns="0" rIns="0" bIns="0" rtlCol="0" anchor="ctr"/>
          <a:lstStyle/>
          <a:p>
            <a:pPr algn="l" indent="0" marL="0">
              <a:buNone/>
            </a:pPr>
            <a:r>
              <a:rPr lang="en-US" sz="1800" b="1" dirty="0">
                <a:solidFill>
                  <a:srgbClr val="1A1A1A"/>
                </a:solidFill>
                <a:latin typeface="Arial" pitchFamily="34" charset="0"/>
                <a:ea typeface="Arial" pitchFamily="34" charset="-122"/>
                <a:cs typeface="Arial" pitchFamily="34" charset="-120"/>
              </a:rPr>
              <a:t>$811.6k</a:t>
            </a:r>
            <a:endParaRPr lang="en-US" sz="1800" dirty="0"/>
          </a:p>
        </p:txBody>
      </p:sp>
      <p:sp>
        <p:nvSpPr>
          <p:cNvPr id="15" name="Text 12"/>
          <p:cNvSpPr/>
          <p:nvPr/>
        </p:nvSpPr>
        <p:spPr>
          <a:xfrm>
            <a:off x="694944" y="2249424"/>
            <a:ext cx="1255014" cy="256032"/>
          </a:xfrm>
          <a:prstGeom prst="rect">
            <a:avLst/>
          </a:prstGeom>
          <a:noFill/>
          <a:ln/>
        </p:spPr>
        <p:txBody>
          <a:bodyPr wrap="square" lIns="0" tIns="0" rIns="0" bIns="0" rtlCol="0" anchor="t"/>
          <a:lstStyle/>
          <a:p>
            <a:pPr algn="l" indent="0" marL="0">
              <a:lnSpc>
                <a:spcPct val="110000"/>
              </a:lnSpc>
              <a:buNone/>
            </a:pPr>
            <a:r>
              <a:rPr lang="en-US" sz="680" dirty="0">
                <a:solidFill>
                  <a:srgbClr val="6E6E6E"/>
                </a:solidFill>
                <a:latin typeface="Arial" pitchFamily="34" charset="0"/>
                <a:ea typeface="Arial" pitchFamily="34" charset="-122"/>
                <a:cs typeface="Arial" pitchFamily="34" charset="-120"/>
              </a:rPr>
              <a:t>SAP full year plan</a:t>
            </a:r>
            <a:endParaRPr lang="en-US" sz="680" dirty="0"/>
          </a:p>
        </p:txBody>
      </p:sp>
      <p:sp>
        <p:nvSpPr>
          <p:cNvPr id="16" name="Shape 13"/>
          <p:cNvSpPr/>
          <p:nvPr/>
        </p:nvSpPr>
        <p:spPr>
          <a:xfrm>
            <a:off x="2205990" y="1627632"/>
            <a:ext cx="1511046" cy="932688"/>
          </a:xfrm>
          <a:prstGeom prst="rect">
            <a:avLst/>
          </a:prstGeom>
          <a:solidFill>
            <a:srgbClr val="F5F5F3"/>
          </a:solidFill>
          <a:ln/>
        </p:spPr>
      </p:sp>
      <p:sp>
        <p:nvSpPr>
          <p:cNvPr id="17" name="Shape 14"/>
          <p:cNvSpPr/>
          <p:nvPr/>
        </p:nvSpPr>
        <p:spPr>
          <a:xfrm>
            <a:off x="2205990" y="1627632"/>
            <a:ext cx="1511046" cy="25603"/>
          </a:xfrm>
          <a:prstGeom prst="rect">
            <a:avLst/>
          </a:prstGeom>
          <a:solidFill>
            <a:srgbClr val="1A1A1A"/>
          </a:solidFill>
          <a:ln/>
        </p:spPr>
      </p:sp>
      <p:sp>
        <p:nvSpPr>
          <p:cNvPr id="18" name="Text 15"/>
          <p:cNvSpPr/>
          <p:nvPr/>
        </p:nvSpPr>
        <p:spPr>
          <a:xfrm>
            <a:off x="2334006" y="1737360"/>
            <a:ext cx="1255014" cy="146304"/>
          </a:xfrm>
          <a:prstGeom prst="rect">
            <a:avLst/>
          </a:prstGeom>
          <a:noFill/>
          <a:ln/>
        </p:spPr>
        <p:txBody>
          <a:bodyPr wrap="square" lIns="0" tIns="0" rIns="0" bIns="0" rtlCol="0" anchor="ctr"/>
          <a:lstStyle/>
          <a:p>
            <a:pPr algn="l" indent="0" marL="0">
              <a:buNone/>
            </a:pPr>
            <a:r>
              <a:rPr lang="en-US" sz="620" b="1" spc="80" kern="0" dirty="0">
                <a:solidFill>
                  <a:srgbClr val="6E6E6E"/>
                </a:solidFill>
                <a:latin typeface="Arial" pitchFamily="34" charset="0"/>
                <a:ea typeface="Arial" pitchFamily="34" charset="-122"/>
                <a:cs typeface="Arial" pitchFamily="34" charset="-120"/>
              </a:rPr>
              <a:t>JULY ACTUAL</a:t>
            </a:r>
            <a:endParaRPr lang="en-US" sz="620" dirty="0"/>
          </a:p>
        </p:txBody>
      </p:sp>
      <p:sp>
        <p:nvSpPr>
          <p:cNvPr id="19" name="Text 16"/>
          <p:cNvSpPr/>
          <p:nvPr/>
        </p:nvSpPr>
        <p:spPr>
          <a:xfrm>
            <a:off x="2334006" y="1920240"/>
            <a:ext cx="1255014" cy="310896"/>
          </a:xfrm>
          <a:prstGeom prst="rect">
            <a:avLst/>
          </a:prstGeom>
          <a:noFill/>
          <a:ln/>
        </p:spPr>
        <p:txBody>
          <a:bodyPr wrap="square" lIns="0" tIns="0" rIns="0" bIns="0" rtlCol="0" anchor="ctr"/>
          <a:lstStyle/>
          <a:p>
            <a:pPr algn="l" indent="0" marL="0">
              <a:buNone/>
            </a:pPr>
            <a:r>
              <a:rPr lang="en-US" sz="1800" b="1" dirty="0">
                <a:solidFill>
                  <a:srgbClr val="1A1A1A"/>
                </a:solidFill>
                <a:latin typeface="Arial" pitchFamily="34" charset="0"/>
                <a:ea typeface="Arial" pitchFamily="34" charset="-122"/>
                <a:cs typeface="Arial" pitchFamily="34" charset="-120"/>
              </a:rPr>
              <a:t>$40.5k</a:t>
            </a:r>
            <a:endParaRPr lang="en-US" sz="1800" dirty="0"/>
          </a:p>
        </p:txBody>
      </p:sp>
      <p:sp>
        <p:nvSpPr>
          <p:cNvPr id="20" name="Text 17"/>
          <p:cNvSpPr/>
          <p:nvPr/>
        </p:nvSpPr>
        <p:spPr>
          <a:xfrm>
            <a:off x="2334006" y="2249424"/>
            <a:ext cx="1255014" cy="256032"/>
          </a:xfrm>
          <a:prstGeom prst="rect">
            <a:avLst/>
          </a:prstGeom>
          <a:noFill/>
          <a:ln/>
        </p:spPr>
        <p:txBody>
          <a:bodyPr wrap="square" lIns="0" tIns="0" rIns="0" bIns="0" rtlCol="0" anchor="t"/>
          <a:lstStyle/>
          <a:p>
            <a:pPr algn="l" indent="0" marL="0">
              <a:lnSpc>
                <a:spcPct val="110000"/>
              </a:lnSpc>
              <a:buNone/>
            </a:pPr>
            <a:r>
              <a:rPr lang="en-US" sz="680" dirty="0">
                <a:solidFill>
                  <a:srgbClr val="6E6E6E"/>
                </a:solidFill>
                <a:latin typeface="Arial" pitchFamily="34" charset="0"/>
                <a:ea typeface="Arial" pitchFamily="34" charset="-122"/>
                <a:cs typeface="Arial" pitchFamily="34" charset="-120"/>
              </a:rPr>
              <a:t>against a $23.0k profile</a:t>
            </a:r>
            <a:endParaRPr lang="en-US" sz="680" dirty="0"/>
          </a:p>
        </p:txBody>
      </p:sp>
      <p:sp>
        <p:nvSpPr>
          <p:cNvPr id="21" name="Shape 18"/>
          <p:cNvSpPr/>
          <p:nvPr/>
        </p:nvSpPr>
        <p:spPr>
          <a:xfrm>
            <a:off x="3845052" y="1627632"/>
            <a:ext cx="1511046" cy="932688"/>
          </a:xfrm>
          <a:prstGeom prst="rect">
            <a:avLst/>
          </a:prstGeom>
          <a:solidFill>
            <a:srgbClr val="F5F5F3"/>
          </a:solidFill>
          <a:ln/>
        </p:spPr>
      </p:sp>
      <p:sp>
        <p:nvSpPr>
          <p:cNvPr id="22" name="Shape 19"/>
          <p:cNvSpPr/>
          <p:nvPr/>
        </p:nvSpPr>
        <p:spPr>
          <a:xfrm>
            <a:off x="3845052" y="1627632"/>
            <a:ext cx="1511046" cy="25603"/>
          </a:xfrm>
          <a:prstGeom prst="rect">
            <a:avLst/>
          </a:prstGeom>
          <a:solidFill>
            <a:srgbClr val="1A1A1A"/>
          </a:solidFill>
          <a:ln/>
        </p:spPr>
      </p:sp>
      <p:sp>
        <p:nvSpPr>
          <p:cNvPr id="23" name="Text 20"/>
          <p:cNvSpPr/>
          <p:nvPr/>
        </p:nvSpPr>
        <p:spPr>
          <a:xfrm>
            <a:off x="3973068" y="1737360"/>
            <a:ext cx="1255014" cy="146304"/>
          </a:xfrm>
          <a:prstGeom prst="rect">
            <a:avLst/>
          </a:prstGeom>
          <a:noFill/>
          <a:ln/>
        </p:spPr>
        <p:txBody>
          <a:bodyPr wrap="square" lIns="0" tIns="0" rIns="0" bIns="0" rtlCol="0" anchor="ctr"/>
          <a:lstStyle/>
          <a:p>
            <a:pPr algn="l" indent="0" marL="0">
              <a:buNone/>
            </a:pPr>
            <a:r>
              <a:rPr lang="en-US" sz="620" b="1" spc="80" kern="0" dirty="0">
                <a:solidFill>
                  <a:srgbClr val="6E6E6E"/>
                </a:solidFill>
                <a:latin typeface="Arial" pitchFamily="34" charset="0"/>
                <a:ea typeface="Arial" pitchFamily="34" charset="-122"/>
                <a:cs typeface="Arial" pitchFamily="34" charset="-120"/>
              </a:rPr>
              <a:t>BUDGET CONSUMED</a:t>
            </a:r>
            <a:endParaRPr lang="en-US" sz="620" dirty="0"/>
          </a:p>
        </p:txBody>
      </p:sp>
      <p:sp>
        <p:nvSpPr>
          <p:cNvPr id="24" name="Text 21"/>
          <p:cNvSpPr/>
          <p:nvPr/>
        </p:nvSpPr>
        <p:spPr>
          <a:xfrm>
            <a:off x="3973068" y="1920240"/>
            <a:ext cx="1255014" cy="310896"/>
          </a:xfrm>
          <a:prstGeom prst="rect">
            <a:avLst/>
          </a:prstGeom>
          <a:noFill/>
          <a:ln/>
        </p:spPr>
        <p:txBody>
          <a:bodyPr wrap="square" lIns="0" tIns="0" rIns="0" bIns="0" rtlCol="0" anchor="ctr"/>
          <a:lstStyle/>
          <a:p>
            <a:pPr algn="l" indent="0" marL="0">
              <a:buNone/>
            </a:pPr>
            <a:r>
              <a:rPr lang="en-US" sz="1800" b="1" dirty="0">
                <a:solidFill>
                  <a:srgbClr val="1A1A1A"/>
                </a:solidFill>
                <a:latin typeface="Arial" pitchFamily="34" charset="0"/>
                <a:ea typeface="Arial" pitchFamily="34" charset="-122"/>
                <a:cs typeface="Arial" pitchFamily="34" charset="-120"/>
              </a:rPr>
              <a:t>5.0%</a:t>
            </a:r>
            <a:endParaRPr lang="en-US" sz="1800" dirty="0"/>
          </a:p>
        </p:txBody>
      </p:sp>
      <p:sp>
        <p:nvSpPr>
          <p:cNvPr id="25" name="Text 22"/>
          <p:cNvSpPr/>
          <p:nvPr/>
        </p:nvSpPr>
        <p:spPr>
          <a:xfrm>
            <a:off x="3973068" y="2249424"/>
            <a:ext cx="1255014" cy="256032"/>
          </a:xfrm>
          <a:prstGeom prst="rect">
            <a:avLst/>
          </a:prstGeom>
          <a:noFill/>
          <a:ln/>
        </p:spPr>
        <p:txBody>
          <a:bodyPr wrap="square" lIns="0" tIns="0" rIns="0" bIns="0" rtlCol="0" anchor="t"/>
          <a:lstStyle/>
          <a:p>
            <a:pPr algn="l" indent="0" marL="0">
              <a:lnSpc>
                <a:spcPct val="110000"/>
              </a:lnSpc>
              <a:buNone/>
            </a:pPr>
            <a:r>
              <a:rPr lang="en-US" sz="680" dirty="0">
                <a:solidFill>
                  <a:srgbClr val="6E6E6E"/>
                </a:solidFill>
                <a:latin typeface="Arial" pitchFamily="34" charset="0"/>
                <a:ea typeface="Arial" pitchFamily="34" charset="-122"/>
                <a:cs typeface="Arial" pitchFamily="34" charset="-120"/>
              </a:rPr>
              <a:t>of the annual plan</a:t>
            </a:r>
            <a:endParaRPr lang="en-US" sz="680" dirty="0"/>
          </a:p>
        </p:txBody>
      </p:sp>
      <p:sp>
        <p:nvSpPr>
          <p:cNvPr id="26" name="Shape 23"/>
          <p:cNvSpPr/>
          <p:nvPr/>
        </p:nvSpPr>
        <p:spPr>
          <a:xfrm>
            <a:off x="5484114" y="1627632"/>
            <a:ext cx="1511046" cy="932688"/>
          </a:xfrm>
          <a:prstGeom prst="rect">
            <a:avLst/>
          </a:prstGeom>
          <a:solidFill>
            <a:srgbClr val="F5F5F3"/>
          </a:solidFill>
          <a:ln/>
        </p:spPr>
      </p:sp>
      <p:sp>
        <p:nvSpPr>
          <p:cNvPr id="27" name="Shape 24"/>
          <p:cNvSpPr/>
          <p:nvPr/>
        </p:nvSpPr>
        <p:spPr>
          <a:xfrm>
            <a:off x="5484114" y="1627632"/>
            <a:ext cx="1511046" cy="25603"/>
          </a:xfrm>
          <a:prstGeom prst="rect">
            <a:avLst/>
          </a:prstGeom>
          <a:solidFill>
            <a:srgbClr val="B3A650"/>
          </a:solidFill>
          <a:ln/>
        </p:spPr>
      </p:sp>
      <p:sp>
        <p:nvSpPr>
          <p:cNvPr id="28" name="Text 25"/>
          <p:cNvSpPr/>
          <p:nvPr/>
        </p:nvSpPr>
        <p:spPr>
          <a:xfrm>
            <a:off x="5612130" y="1737360"/>
            <a:ext cx="1255014" cy="146304"/>
          </a:xfrm>
          <a:prstGeom prst="rect">
            <a:avLst/>
          </a:prstGeom>
          <a:noFill/>
          <a:ln/>
        </p:spPr>
        <p:txBody>
          <a:bodyPr wrap="square" lIns="0" tIns="0" rIns="0" bIns="0" rtlCol="0" anchor="ctr"/>
          <a:lstStyle/>
          <a:p>
            <a:pPr algn="l" indent="0" marL="0">
              <a:buNone/>
            </a:pPr>
            <a:r>
              <a:rPr lang="en-US" sz="620" b="1" spc="80" kern="0" dirty="0">
                <a:solidFill>
                  <a:srgbClr val="6E6E6E"/>
                </a:solidFill>
                <a:latin typeface="Arial" pitchFamily="34" charset="0"/>
                <a:ea typeface="Arial" pitchFamily="34" charset="-122"/>
                <a:cs typeface="Arial" pitchFamily="34" charset="-120"/>
              </a:rPr>
              <a:t>JULY VARIANCE</a:t>
            </a:r>
            <a:endParaRPr lang="en-US" sz="620" dirty="0"/>
          </a:p>
        </p:txBody>
      </p:sp>
      <p:sp>
        <p:nvSpPr>
          <p:cNvPr id="29" name="Text 26"/>
          <p:cNvSpPr/>
          <p:nvPr/>
        </p:nvSpPr>
        <p:spPr>
          <a:xfrm>
            <a:off x="5612130" y="1920240"/>
            <a:ext cx="1255014" cy="310896"/>
          </a:xfrm>
          <a:prstGeom prst="rect">
            <a:avLst/>
          </a:prstGeom>
          <a:noFill/>
          <a:ln/>
        </p:spPr>
        <p:txBody>
          <a:bodyPr wrap="square" lIns="0" tIns="0" rIns="0" bIns="0" rtlCol="0" anchor="ctr"/>
          <a:lstStyle/>
          <a:p>
            <a:pPr algn="l" indent="0" marL="0">
              <a:buNone/>
            </a:pPr>
            <a:r>
              <a:rPr lang="en-US" sz="1800" b="1" dirty="0">
                <a:solidFill>
                  <a:srgbClr val="1A1A1A"/>
                </a:solidFill>
                <a:latin typeface="Arial" pitchFamily="34" charset="0"/>
                <a:ea typeface="Arial" pitchFamily="34" charset="-122"/>
                <a:cs typeface="Arial" pitchFamily="34" charset="-120"/>
              </a:rPr>
              <a:t>$17.5k</a:t>
            </a:r>
            <a:endParaRPr lang="en-US" sz="1800" dirty="0"/>
          </a:p>
        </p:txBody>
      </p:sp>
      <p:sp>
        <p:nvSpPr>
          <p:cNvPr id="30" name="Text 27"/>
          <p:cNvSpPr/>
          <p:nvPr/>
        </p:nvSpPr>
        <p:spPr>
          <a:xfrm>
            <a:off x="5612130" y="2249424"/>
            <a:ext cx="1255014" cy="256032"/>
          </a:xfrm>
          <a:prstGeom prst="rect">
            <a:avLst/>
          </a:prstGeom>
          <a:noFill/>
          <a:ln/>
        </p:spPr>
        <p:txBody>
          <a:bodyPr wrap="square" lIns="0" tIns="0" rIns="0" bIns="0" rtlCol="0" anchor="t"/>
          <a:lstStyle/>
          <a:p>
            <a:pPr algn="l" indent="0" marL="0">
              <a:lnSpc>
                <a:spcPct val="110000"/>
              </a:lnSpc>
              <a:buNone/>
            </a:pPr>
            <a:r>
              <a:rPr lang="en-US" sz="680" dirty="0">
                <a:solidFill>
                  <a:srgbClr val="6E6E6E"/>
                </a:solidFill>
                <a:latin typeface="Arial" pitchFamily="34" charset="0"/>
                <a:ea typeface="Arial" pitchFamily="34" charset="-122"/>
                <a:cs typeface="Arial" pitchFamily="34" charset="-120"/>
              </a:rPr>
              <a:t>ahead of profile</a:t>
            </a:r>
            <a:endParaRPr lang="en-US" sz="680" dirty="0"/>
          </a:p>
        </p:txBody>
      </p:sp>
      <p:sp>
        <p:nvSpPr>
          <p:cNvPr id="31" name="Text 28"/>
          <p:cNvSpPr/>
          <p:nvPr/>
        </p:nvSpPr>
        <p:spPr>
          <a:xfrm>
            <a:off x="566928" y="2779776"/>
            <a:ext cx="6428232" cy="164592"/>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POSITION AT 31 JULY 2026</a:t>
            </a:r>
            <a:endParaRPr lang="en-US" sz="740" dirty="0"/>
          </a:p>
        </p:txBody>
      </p:sp>
      <p:sp>
        <p:nvSpPr>
          <p:cNvPr id="32" name="Shape 29"/>
          <p:cNvSpPr/>
          <p:nvPr/>
        </p:nvSpPr>
        <p:spPr>
          <a:xfrm>
            <a:off x="566928" y="2953512"/>
            <a:ext cx="6428232" cy="7315"/>
          </a:xfrm>
          <a:prstGeom prst="rect">
            <a:avLst/>
          </a:prstGeom>
          <a:solidFill>
            <a:srgbClr val="C8C8C8"/>
          </a:solidFill>
          <a:ln/>
        </p:spPr>
      </p:sp>
      <p:sp>
        <p:nvSpPr>
          <p:cNvPr id="33" name="Text 30"/>
          <p:cNvSpPr/>
          <p:nvPr/>
        </p:nvSpPr>
        <p:spPr>
          <a:xfrm>
            <a:off x="658368" y="3090672"/>
            <a:ext cx="2743200" cy="292608"/>
          </a:xfrm>
          <a:prstGeom prst="rect">
            <a:avLst/>
          </a:prstGeom>
          <a:noFill/>
          <a:ln/>
        </p:spPr>
        <p:txBody>
          <a:bodyPr wrap="square" lIns="0" tIns="0" rIns="0" bIns="0" rtlCol="0" anchor="ctr"/>
          <a:lstStyle/>
          <a:p>
            <a:pPr algn="l" indent="0" marL="0">
              <a:buNone/>
            </a:pPr>
            <a:endParaRPr lang="en-US" sz="740" dirty="0"/>
          </a:p>
        </p:txBody>
      </p:sp>
      <p:sp>
        <p:nvSpPr>
          <p:cNvPr id="34" name="Text 31"/>
          <p:cNvSpPr/>
          <p:nvPr/>
        </p:nvSpPr>
        <p:spPr>
          <a:xfrm>
            <a:off x="3310128" y="3090672"/>
            <a:ext cx="1143000" cy="292608"/>
          </a:xfrm>
          <a:prstGeom prst="rect">
            <a:avLst/>
          </a:prstGeom>
          <a:noFill/>
          <a:ln/>
        </p:spPr>
        <p:txBody>
          <a:bodyPr wrap="square" lIns="0" tIns="0" rIns="0" bIns="0" rtlCol="0" anchor="ctr"/>
          <a:lstStyle/>
          <a:p>
            <a:pPr algn="r" indent="0" marL="0">
              <a:buNone/>
            </a:pPr>
            <a:r>
              <a:rPr lang="en-US" sz="740" b="1" spc="80" kern="0" dirty="0">
                <a:solidFill>
                  <a:srgbClr val="6E6E6E"/>
                </a:solidFill>
                <a:latin typeface="Arial" pitchFamily="34" charset="0"/>
                <a:ea typeface="Arial" pitchFamily="34" charset="-122"/>
                <a:cs typeface="Arial" pitchFamily="34" charset="-120"/>
              </a:rPr>
              <a:t>July budget</a:t>
            </a:r>
            <a:endParaRPr lang="en-US" sz="740" dirty="0"/>
          </a:p>
        </p:txBody>
      </p:sp>
      <p:sp>
        <p:nvSpPr>
          <p:cNvPr id="35" name="Text 32"/>
          <p:cNvSpPr/>
          <p:nvPr/>
        </p:nvSpPr>
        <p:spPr>
          <a:xfrm>
            <a:off x="4544568" y="3090672"/>
            <a:ext cx="1143000" cy="292608"/>
          </a:xfrm>
          <a:prstGeom prst="rect">
            <a:avLst/>
          </a:prstGeom>
          <a:noFill/>
          <a:ln/>
        </p:spPr>
        <p:txBody>
          <a:bodyPr wrap="square" lIns="0" tIns="0" rIns="0" bIns="0" rtlCol="0" anchor="ctr"/>
          <a:lstStyle/>
          <a:p>
            <a:pPr algn="r" indent="0" marL="0">
              <a:buNone/>
            </a:pPr>
            <a:r>
              <a:rPr lang="en-US" sz="740" b="1" spc="80" kern="0" dirty="0">
                <a:solidFill>
                  <a:srgbClr val="6E6E6E"/>
                </a:solidFill>
                <a:latin typeface="Arial" pitchFamily="34" charset="0"/>
                <a:ea typeface="Arial" pitchFamily="34" charset="-122"/>
                <a:cs typeface="Arial" pitchFamily="34" charset="-120"/>
              </a:rPr>
              <a:t>July actual</a:t>
            </a:r>
            <a:endParaRPr lang="en-US" sz="740" dirty="0"/>
          </a:p>
        </p:txBody>
      </p:sp>
      <p:sp>
        <p:nvSpPr>
          <p:cNvPr id="36" name="Text 33"/>
          <p:cNvSpPr/>
          <p:nvPr/>
        </p:nvSpPr>
        <p:spPr>
          <a:xfrm>
            <a:off x="5779008" y="3090672"/>
            <a:ext cx="1124712" cy="292608"/>
          </a:xfrm>
          <a:prstGeom prst="rect">
            <a:avLst/>
          </a:prstGeom>
          <a:noFill/>
          <a:ln/>
        </p:spPr>
        <p:txBody>
          <a:bodyPr wrap="square" lIns="0" tIns="0" rIns="0" bIns="0" rtlCol="0" anchor="ctr"/>
          <a:lstStyle/>
          <a:p>
            <a:pPr algn="r" indent="0" marL="0">
              <a:buNone/>
            </a:pPr>
            <a:r>
              <a:rPr lang="en-US" sz="740" b="1" spc="80" kern="0" dirty="0">
                <a:solidFill>
                  <a:srgbClr val="6E6E6E"/>
                </a:solidFill>
                <a:latin typeface="Arial" pitchFamily="34" charset="0"/>
                <a:ea typeface="Arial" pitchFamily="34" charset="-122"/>
                <a:cs typeface="Arial" pitchFamily="34" charset="-120"/>
              </a:rPr>
              <a:t>Variance</a:t>
            </a:r>
            <a:endParaRPr lang="en-US" sz="740" dirty="0"/>
          </a:p>
        </p:txBody>
      </p:sp>
      <p:sp>
        <p:nvSpPr>
          <p:cNvPr id="37" name="Shape 34"/>
          <p:cNvSpPr/>
          <p:nvPr/>
        </p:nvSpPr>
        <p:spPr>
          <a:xfrm>
            <a:off x="566928" y="3383280"/>
            <a:ext cx="6428232" cy="10973"/>
          </a:xfrm>
          <a:prstGeom prst="rect">
            <a:avLst/>
          </a:prstGeom>
          <a:solidFill>
            <a:srgbClr val="1A1A1A"/>
          </a:solidFill>
          <a:ln/>
        </p:spPr>
      </p:sp>
      <p:sp>
        <p:nvSpPr>
          <p:cNvPr id="38" name="Text 35"/>
          <p:cNvSpPr/>
          <p:nvPr/>
        </p:nvSpPr>
        <p:spPr>
          <a:xfrm>
            <a:off x="658368" y="3419856"/>
            <a:ext cx="2743200" cy="292608"/>
          </a:xfrm>
          <a:prstGeom prst="rect">
            <a:avLst/>
          </a:prstGeom>
          <a:noFill/>
          <a:ln/>
        </p:spPr>
        <p:txBody>
          <a:bodyPr wrap="square" lIns="0" tIns="0" rIns="0" bIns="0" rtlCol="0" anchor="ctr"/>
          <a:lstStyle/>
          <a:p>
            <a:pPr algn="l" indent="0" marL="0">
              <a:buNone/>
            </a:pPr>
            <a:r>
              <a:rPr lang="en-US" sz="920" dirty="0">
                <a:solidFill>
                  <a:srgbClr val="1A1A1A"/>
                </a:solidFill>
                <a:latin typeface="Arial" pitchFamily="34" charset="0"/>
                <a:ea typeface="Arial" pitchFamily="34" charset="-122"/>
                <a:cs typeface="Arial" pitchFamily="34" charset="-120"/>
              </a:rPr>
              <a:t>Personnel</a:t>
            </a:r>
            <a:endParaRPr lang="en-US" sz="920" dirty="0"/>
          </a:p>
        </p:txBody>
      </p:sp>
      <p:sp>
        <p:nvSpPr>
          <p:cNvPr id="39" name="Text 36"/>
          <p:cNvSpPr/>
          <p:nvPr/>
        </p:nvSpPr>
        <p:spPr>
          <a:xfrm>
            <a:off x="3310128" y="3419856"/>
            <a:ext cx="1143000" cy="292608"/>
          </a:xfrm>
          <a:prstGeom prst="rect">
            <a:avLst/>
          </a:prstGeom>
          <a:noFill/>
          <a:ln/>
        </p:spPr>
        <p:txBody>
          <a:bodyPr wrap="square" lIns="0" tIns="0" rIns="0" bIns="0" rtlCol="0" anchor="ctr"/>
          <a:lstStyle/>
          <a:p>
            <a:pPr algn="r" indent="0" marL="0">
              <a:buNone/>
            </a:pPr>
            <a:r>
              <a:rPr lang="en-US" sz="920" dirty="0">
                <a:solidFill>
                  <a:srgbClr val="1A1A1A"/>
                </a:solidFill>
                <a:latin typeface="Arial" pitchFamily="34" charset="0"/>
                <a:ea typeface="Arial" pitchFamily="34" charset="-122"/>
                <a:cs typeface="Arial" pitchFamily="34" charset="-120"/>
              </a:rPr>
              <a:t>$300</a:t>
            </a:r>
            <a:endParaRPr lang="en-US" sz="920" dirty="0"/>
          </a:p>
        </p:txBody>
      </p:sp>
      <p:sp>
        <p:nvSpPr>
          <p:cNvPr id="40" name="Text 37"/>
          <p:cNvSpPr/>
          <p:nvPr/>
        </p:nvSpPr>
        <p:spPr>
          <a:xfrm>
            <a:off x="4544568" y="3419856"/>
            <a:ext cx="1143000" cy="292608"/>
          </a:xfrm>
          <a:prstGeom prst="rect">
            <a:avLst/>
          </a:prstGeom>
          <a:noFill/>
          <a:ln/>
        </p:spPr>
        <p:txBody>
          <a:bodyPr wrap="square" lIns="0" tIns="0" rIns="0" bIns="0" rtlCol="0" anchor="ctr"/>
          <a:lstStyle/>
          <a:p>
            <a:pPr algn="r" indent="0" marL="0">
              <a:buNone/>
            </a:pPr>
            <a:r>
              <a:rPr lang="en-US" sz="920" dirty="0">
                <a:solidFill>
                  <a:srgbClr val="1A1A1A"/>
                </a:solidFill>
                <a:latin typeface="Arial" pitchFamily="34" charset="0"/>
                <a:ea typeface="Arial" pitchFamily="34" charset="-122"/>
                <a:cs typeface="Arial" pitchFamily="34" charset="-120"/>
              </a:rPr>
              <a:t>$6,031</a:t>
            </a:r>
            <a:endParaRPr lang="en-US" sz="920" dirty="0"/>
          </a:p>
        </p:txBody>
      </p:sp>
      <p:sp>
        <p:nvSpPr>
          <p:cNvPr id="41" name="Text 38"/>
          <p:cNvSpPr/>
          <p:nvPr/>
        </p:nvSpPr>
        <p:spPr>
          <a:xfrm>
            <a:off x="5779008" y="3419856"/>
            <a:ext cx="1124712" cy="292608"/>
          </a:xfrm>
          <a:prstGeom prst="rect">
            <a:avLst/>
          </a:prstGeom>
          <a:noFill/>
          <a:ln/>
        </p:spPr>
        <p:txBody>
          <a:bodyPr wrap="square" lIns="0" tIns="0" rIns="0" bIns="0" rtlCol="0" anchor="ctr"/>
          <a:lstStyle/>
          <a:p>
            <a:pPr algn="r" indent="0" marL="0">
              <a:buNone/>
            </a:pPr>
            <a:r>
              <a:rPr lang="en-US" sz="920" dirty="0">
                <a:solidFill>
                  <a:srgbClr val="D31145"/>
                </a:solidFill>
                <a:latin typeface="Arial" pitchFamily="34" charset="0"/>
                <a:ea typeface="Arial" pitchFamily="34" charset="-122"/>
                <a:cs typeface="Arial" pitchFamily="34" charset="-120"/>
              </a:rPr>
              <a:t>($5,731)</a:t>
            </a:r>
            <a:endParaRPr lang="en-US" sz="920" dirty="0"/>
          </a:p>
        </p:txBody>
      </p:sp>
      <p:sp>
        <p:nvSpPr>
          <p:cNvPr id="42" name="Shape 39"/>
          <p:cNvSpPr/>
          <p:nvPr/>
        </p:nvSpPr>
        <p:spPr>
          <a:xfrm>
            <a:off x="566928" y="3712464"/>
            <a:ext cx="6428232" cy="5486"/>
          </a:xfrm>
          <a:prstGeom prst="rect">
            <a:avLst/>
          </a:prstGeom>
          <a:solidFill>
            <a:srgbClr val="C8C8C8"/>
          </a:solidFill>
          <a:ln/>
        </p:spPr>
      </p:sp>
      <p:sp>
        <p:nvSpPr>
          <p:cNvPr id="43" name="Text 40"/>
          <p:cNvSpPr/>
          <p:nvPr/>
        </p:nvSpPr>
        <p:spPr>
          <a:xfrm>
            <a:off x="658368" y="3749040"/>
            <a:ext cx="2743200" cy="292608"/>
          </a:xfrm>
          <a:prstGeom prst="rect">
            <a:avLst/>
          </a:prstGeom>
          <a:noFill/>
          <a:ln/>
        </p:spPr>
        <p:txBody>
          <a:bodyPr wrap="square" lIns="0" tIns="0" rIns="0" bIns="0" rtlCol="0" anchor="ctr"/>
          <a:lstStyle/>
          <a:p>
            <a:pPr algn="l" indent="0" marL="0">
              <a:buNone/>
            </a:pPr>
            <a:r>
              <a:rPr lang="en-US" sz="920" dirty="0">
                <a:solidFill>
                  <a:srgbClr val="1A1A1A"/>
                </a:solidFill>
                <a:latin typeface="Arial" pitchFamily="34" charset="0"/>
                <a:ea typeface="Arial" pitchFamily="34" charset="-122"/>
                <a:cs typeface="Arial" pitchFamily="34" charset="-120"/>
              </a:rPr>
              <a:t>Operating</a:t>
            </a:r>
            <a:endParaRPr lang="en-US" sz="920" dirty="0"/>
          </a:p>
        </p:txBody>
      </p:sp>
      <p:sp>
        <p:nvSpPr>
          <p:cNvPr id="44" name="Text 41"/>
          <p:cNvSpPr/>
          <p:nvPr/>
        </p:nvSpPr>
        <p:spPr>
          <a:xfrm>
            <a:off x="3310128" y="3749040"/>
            <a:ext cx="1143000" cy="292608"/>
          </a:xfrm>
          <a:prstGeom prst="rect">
            <a:avLst/>
          </a:prstGeom>
          <a:noFill/>
          <a:ln/>
        </p:spPr>
        <p:txBody>
          <a:bodyPr wrap="square" lIns="0" tIns="0" rIns="0" bIns="0" rtlCol="0" anchor="ctr"/>
          <a:lstStyle/>
          <a:p>
            <a:pPr algn="r" indent="0" marL="0">
              <a:buNone/>
            </a:pPr>
            <a:r>
              <a:rPr lang="en-US" sz="920" dirty="0">
                <a:solidFill>
                  <a:srgbClr val="1A1A1A"/>
                </a:solidFill>
                <a:latin typeface="Arial" pitchFamily="34" charset="0"/>
                <a:ea typeface="Arial" pitchFamily="34" charset="-122"/>
                <a:cs typeface="Arial" pitchFamily="34" charset="-120"/>
              </a:rPr>
              <a:t>$22,715</a:t>
            </a:r>
            <a:endParaRPr lang="en-US" sz="920" dirty="0"/>
          </a:p>
        </p:txBody>
      </p:sp>
      <p:sp>
        <p:nvSpPr>
          <p:cNvPr id="45" name="Text 42"/>
          <p:cNvSpPr/>
          <p:nvPr/>
        </p:nvSpPr>
        <p:spPr>
          <a:xfrm>
            <a:off x="4544568" y="3749040"/>
            <a:ext cx="1143000" cy="292608"/>
          </a:xfrm>
          <a:prstGeom prst="rect">
            <a:avLst/>
          </a:prstGeom>
          <a:noFill/>
          <a:ln/>
        </p:spPr>
        <p:txBody>
          <a:bodyPr wrap="square" lIns="0" tIns="0" rIns="0" bIns="0" rtlCol="0" anchor="ctr"/>
          <a:lstStyle/>
          <a:p>
            <a:pPr algn="r" indent="0" marL="0">
              <a:buNone/>
            </a:pPr>
            <a:r>
              <a:rPr lang="en-US" sz="920" dirty="0">
                <a:solidFill>
                  <a:srgbClr val="1A1A1A"/>
                </a:solidFill>
                <a:latin typeface="Arial" pitchFamily="34" charset="0"/>
                <a:ea typeface="Arial" pitchFamily="34" charset="-122"/>
                <a:cs typeface="Arial" pitchFamily="34" charset="-120"/>
              </a:rPr>
              <a:t>$34,504</a:t>
            </a:r>
            <a:endParaRPr lang="en-US" sz="920" dirty="0"/>
          </a:p>
        </p:txBody>
      </p:sp>
      <p:sp>
        <p:nvSpPr>
          <p:cNvPr id="46" name="Text 43"/>
          <p:cNvSpPr/>
          <p:nvPr/>
        </p:nvSpPr>
        <p:spPr>
          <a:xfrm>
            <a:off x="5779008" y="3749040"/>
            <a:ext cx="1124712" cy="292608"/>
          </a:xfrm>
          <a:prstGeom prst="rect">
            <a:avLst/>
          </a:prstGeom>
          <a:noFill/>
          <a:ln/>
        </p:spPr>
        <p:txBody>
          <a:bodyPr wrap="square" lIns="0" tIns="0" rIns="0" bIns="0" rtlCol="0" anchor="ctr"/>
          <a:lstStyle/>
          <a:p>
            <a:pPr algn="r" indent="0" marL="0">
              <a:buNone/>
            </a:pPr>
            <a:r>
              <a:rPr lang="en-US" sz="920" dirty="0">
                <a:solidFill>
                  <a:srgbClr val="D31145"/>
                </a:solidFill>
                <a:latin typeface="Arial" pitchFamily="34" charset="0"/>
                <a:ea typeface="Arial" pitchFamily="34" charset="-122"/>
                <a:cs typeface="Arial" pitchFamily="34" charset="-120"/>
              </a:rPr>
              <a:t>($11,789)</a:t>
            </a:r>
            <a:endParaRPr lang="en-US" sz="920" dirty="0"/>
          </a:p>
        </p:txBody>
      </p:sp>
      <p:sp>
        <p:nvSpPr>
          <p:cNvPr id="47" name="Shape 44"/>
          <p:cNvSpPr/>
          <p:nvPr/>
        </p:nvSpPr>
        <p:spPr>
          <a:xfrm>
            <a:off x="566928" y="4041648"/>
            <a:ext cx="6428232" cy="5486"/>
          </a:xfrm>
          <a:prstGeom prst="rect">
            <a:avLst/>
          </a:prstGeom>
          <a:solidFill>
            <a:srgbClr val="C8C8C8"/>
          </a:solidFill>
          <a:ln/>
        </p:spPr>
      </p:sp>
      <p:sp>
        <p:nvSpPr>
          <p:cNvPr id="48" name="Shape 45"/>
          <p:cNvSpPr/>
          <p:nvPr/>
        </p:nvSpPr>
        <p:spPr>
          <a:xfrm>
            <a:off x="566928" y="4078224"/>
            <a:ext cx="6428232" cy="292608"/>
          </a:xfrm>
          <a:prstGeom prst="rect">
            <a:avLst/>
          </a:prstGeom>
          <a:solidFill>
            <a:srgbClr val="F5F5F3"/>
          </a:solidFill>
          <a:ln/>
        </p:spPr>
      </p:sp>
      <p:sp>
        <p:nvSpPr>
          <p:cNvPr id="49" name="Text 46"/>
          <p:cNvSpPr/>
          <p:nvPr/>
        </p:nvSpPr>
        <p:spPr>
          <a:xfrm>
            <a:off x="658368" y="4078224"/>
            <a:ext cx="2743200" cy="292608"/>
          </a:xfrm>
          <a:prstGeom prst="rect">
            <a:avLst/>
          </a:prstGeom>
          <a:noFill/>
          <a:ln/>
        </p:spPr>
        <p:txBody>
          <a:bodyPr wrap="square" lIns="0" tIns="0" rIns="0" bIns="0" rtlCol="0" anchor="ctr"/>
          <a:lstStyle/>
          <a:p>
            <a:pPr algn="l" indent="0" marL="0">
              <a:buNone/>
            </a:pPr>
            <a:r>
              <a:rPr lang="en-US" sz="920" b="1" dirty="0">
                <a:solidFill>
                  <a:srgbClr val="1A1A1A"/>
                </a:solidFill>
                <a:latin typeface="Arial" pitchFamily="34" charset="0"/>
                <a:ea typeface="Arial" pitchFamily="34" charset="-122"/>
                <a:cs typeface="Arial" pitchFamily="34" charset="-120"/>
              </a:rPr>
              <a:t>TOTAL</a:t>
            </a:r>
            <a:endParaRPr lang="en-US" sz="920" dirty="0"/>
          </a:p>
        </p:txBody>
      </p:sp>
      <p:sp>
        <p:nvSpPr>
          <p:cNvPr id="50" name="Text 47"/>
          <p:cNvSpPr/>
          <p:nvPr/>
        </p:nvSpPr>
        <p:spPr>
          <a:xfrm>
            <a:off x="3310128" y="4078224"/>
            <a:ext cx="1143000" cy="292608"/>
          </a:xfrm>
          <a:prstGeom prst="rect">
            <a:avLst/>
          </a:prstGeom>
          <a:noFill/>
          <a:ln/>
        </p:spPr>
        <p:txBody>
          <a:bodyPr wrap="square" lIns="0" tIns="0" rIns="0" bIns="0" rtlCol="0" anchor="ctr"/>
          <a:lstStyle/>
          <a:p>
            <a:pPr algn="r" indent="0" marL="0">
              <a:buNone/>
            </a:pPr>
            <a:r>
              <a:rPr lang="en-US" sz="920" b="1" dirty="0">
                <a:solidFill>
                  <a:srgbClr val="1A1A1A"/>
                </a:solidFill>
                <a:latin typeface="Arial" pitchFamily="34" charset="0"/>
                <a:ea typeface="Arial" pitchFamily="34" charset="-122"/>
                <a:cs typeface="Arial" pitchFamily="34" charset="-120"/>
              </a:rPr>
              <a:t>$23,015</a:t>
            </a:r>
            <a:endParaRPr lang="en-US" sz="920" dirty="0"/>
          </a:p>
        </p:txBody>
      </p:sp>
      <p:sp>
        <p:nvSpPr>
          <p:cNvPr id="51" name="Text 48"/>
          <p:cNvSpPr/>
          <p:nvPr/>
        </p:nvSpPr>
        <p:spPr>
          <a:xfrm>
            <a:off x="4544568" y="4078224"/>
            <a:ext cx="1143000" cy="292608"/>
          </a:xfrm>
          <a:prstGeom prst="rect">
            <a:avLst/>
          </a:prstGeom>
          <a:noFill/>
          <a:ln/>
        </p:spPr>
        <p:txBody>
          <a:bodyPr wrap="square" lIns="0" tIns="0" rIns="0" bIns="0" rtlCol="0" anchor="ctr"/>
          <a:lstStyle/>
          <a:p>
            <a:pPr algn="r" indent="0" marL="0">
              <a:buNone/>
            </a:pPr>
            <a:r>
              <a:rPr lang="en-US" sz="920" b="1" dirty="0">
                <a:solidFill>
                  <a:srgbClr val="1A1A1A"/>
                </a:solidFill>
                <a:latin typeface="Arial" pitchFamily="34" charset="0"/>
                <a:ea typeface="Arial" pitchFamily="34" charset="-122"/>
                <a:cs typeface="Arial" pitchFamily="34" charset="-120"/>
              </a:rPr>
              <a:t>$40,535</a:t>
            </a:r>
            <a:endParaRPr lang="en-US" sz="920" dirty="0"/>
          </a:p>
        </p:txBody>
      </p:sp>
      <p:sp>
        <p:nvSpPr>
          <p:cNvPr id="52" name="Text 49"/>
          <p:cNvSpPr/>
          <p:nvPr/>
        </p:nvSpPr>
        <p:spPr>
          <a:xfrm>
            <a:off x="5779008" y="4078224"/>
            <a:ext cx="1124712" cy="292608"/>
          </a:xfrm>
          <a:prstGeom prst="rect">
            <a:avLst/>
          </a:prstGeom>
          <a:noFill/>
          <a:ln/>
        </p:spPr>
        <p:txBody>
          <a:bodyPr wrap="square" lIns="0" tIns="0" rIns="0" bIns="0" rtlCol="0" anchor="ctr"/>
          <a:lstStyle/>
          <a:p>
            <a:pPr algn="r" indent="0" marL="0">
              <a:buNone/>
            </a:pPr>
            <a:r>
              <a:rPr lang="en-US" sz="920" b="1" dirty="0">
                <a:solidFill>
                  <a:srgbClr val="D31145"/>
                </a:solidFill>
                <a:latin typeface="Arial" pitchFamily="34" charset="0"/>
                <a:ea typeface="Arial" pitchFamily="34" charset="-122"/>
                <a:cs typeface="Arial" pitchFamily="34" charset="-120"/>
              </a:rPr>
              <a:t>($17,520)</a:t>
            </a:r>
            <a:endParaRPr lang="en-US" sz="920" dirty="0"/>
          </a:p>
        </p:txBody>
      </p:sp>
      <p:sp>
        <p:nvSpPr>
          <p:cNvPr id="53" name="Shape 50"/>
          <p:cNvSpPr/>
          <p:nvPr/>
        </p:nvSpPr>
        <p:spPr>
          <a:xfrm>
            <a:off x="566928" y="4370832"/>
            <a:ext cx="6428232" cy="10973"/>
          </a:xfrm>
          <a:prstGeom prst="rect">
            <a:avLst/>
          </a:prstGeom>
          <a:solidFill>
            <a:srgbClr val="1A1A1A"/>
          </a:solidFill>
          <a:ln/>
        </p:spPr>
      </p:sp>
      <p:sp>
        <p:nvSpPr>
          <p:cNvPr id="54" name="Text 51"/>
          <p:cNvSpPr/>
          <p:nvPr/>
        </p:nvSpPr>
        <p:spPr>
          <a:xfrm>
            <a:off x="566928" y="4572000"/>
            <a:ext cx="6428232" cy="164592"/>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MONTH 1 ASSESSMENT</a:t>
            </a:r>
            <a:endParaRPr lang="en-US" sz="740" dirty="0"/>
          </a:p>
        </p:txBody>
      </p:sp>
      <p:sp>
        <p:nvSpPr>
          <p:cNvPr id="55" name="Shape 52"/>
          <p:cNvSpPr/>
          <p:nvPr/>
        </p:nvSpPr>
        <p:spPr>
          <a:xfrm>
            <a:off x="566928" y="4745736"/>
            <a:ext cx="6428232" cy="7315"/>
          </a:xfrm>
          <a:prstGeom prst="rect">
            <a:avLst/>
          </a:prstGeom>
          <a:solidFill>
            <a:srgbClr val="C8C8C8"/>
          </a:solidFill>
          <a:ln/>
        </p:spPr>
      </p:sp>
      <p:sp>
        <p:nvSpPr>
          <p:cNvPr id="56" name="Text 53"/>
          <p:cNvSpPr/>
          <p:nvPr/>
        </p:nvSpPr>
        <p:spPr>
          <a:xfrm>
            <a:off x="566928" y="4882896"/>
            <a:ext cx="6428232" cy="859536"/>
          </a:xfrm>
          <a:prstGeom prst="rect">
            <a:avLst/>
          </a:prstGeom>
          <a:noFill/>
          <a:ln/>
        </p:spPr>
        <p:txBody>
          <a:bodyPr wrap="square" lIns="0" tIns="0" rIns="0" bIns="0" rtlCol="0" anchor="t"/>
          <a:lstStyle/>
          <a:p>
            <a:pPr algn="l" indent="0" marL="0">
              <a:lnSpc>
                <a:spcPct val="124000"/>
              </a:lnSpc>
              <a:buNone/>
            </a:pPr>
            <a:r>
              <a:rPr lang="en-US" sz="900" dirty="0">
                <a:solidFill>
                  <a:srgbClr val="1A1A1A"/>
                </a:solidFill>
                <a:latin typeface="Arial" pitchFamily="34" charset="0"/>
                <a:ea typeface="Arial" pitchFamily="34" charset="-122"/>
                <a:cs typeface="Arial" pitchFamily="34" charset="-120"/>
              </a:rPr>
              <a:t>July expenditure was $17.5k ahead of the SAP monthly profile. This is assessed primarily as an expenditure timing and phasing variance rather than an emerging structural overspend. July was effectively a preparation period ahead of the FY26/27 delivery programme, with no programmed NZALC courses conducted during the month. The first three activities commence on 8, 24 and 31 August, and July expenditure is broadly consistent with the preparation, movement, procurement and enabling activity required ahead of them.</a:t>
            </a:r>
            <a:endParaRPr lang="en-US" sz="900" dirty="0"/>
          </a:p>
        </p:txBody>
      </p:sp>
      <p:sp>
        <p:nvSpPr>
          <p:cNvPr id="57" name="Text 54"/>
          <p:cNvSpPr/>
          <p:nvPr/>
        </p:nvSpPr>
        <p:spPr>
          <a:xfrm>
            <a:off x="566928" y="5779008"/>
            <a:ext cx="6428232" cy="457200"/>
          </a:xfrm>
          <a:prstGeom prst="rect">
            <a:avLst/>
          </a:prstGeom>
          <a:noFill/>
          <a:ln/>
        </p:spPr>
        <p:txBody>
          <a:bodyPr wrap="square" lIns="0" tIns="0" rIns="0" bIns="0" rtlCol="0" anchor="t"/>
          <a:lstStyle/>
          <a:p>
            <a:pPr algn="l" indent="0" marL="0">
              <a:lnSpc>
                <a:spcPct val="124000"/>
              </a:lnSpc>
              <a:buNone/>
            </a:pPr>
            <a:r>
              <a:rPr lang="en-US" sz="900" dirty="0">
                <a:solidFill>
                  <a:srgbClr val="1A1A1A"/>
                </a:solidFill>
                <a:latin typeface="Arial" pitchFamily="34" charset="0"/>
                <a:ea typeface="Arial" pitchFamily="34" charset="-122"/>
                <a:cs typeface="Arial" pitchFamily="34" charset="-120"/>
              </a:rPr>
              <a:t>The FY26/27 budget has been increased by $50k for Winsborough support, bringing the SAP full year plan to $811.6k. That uplift is correctly reflected in SAP, and the full year plan otherwise reconciles to the NZALC budget.</a:t>
            </a:r>
            <a:endParaRPr lang="en-US" sz="900" dirty="0"/>
          </a:p>
        </p:txBody>
      </p:sp>
      <p:sp>
        <p:nvSpPr>
          <p:cNvPr id="58" name="Text 55"/>
          <p:cNvSpPr/>
          <p:nvPr/>
        </p:nvSpPr>
        <p:spPr>
          <a:xfrm>
            <a:off x="566928" y="6309360"/>
            <a:ext cx="6428232" cy="164592"/>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UNDER WATCH</a:t>
            </a:r>
            <a:endParaRPr lang="en-US" sz="740" dirty="0"/>
          </a:p>
        </p:txBody>
      </p:sp>
      <p:sp>
        <p:nvSpPr>
          <p:cNvPr id="59" name="Shape 56"/>
          <p:cNvSpPr/>
          <p:nvPr/>
        </p:nvSpPr>
        <p:spPr>
          <a:xfrm>
            <a:off x="566928" y="6483096"/>
            <a:ext cx="6428232" cy="7315"/>
          </a:xfrm>
          <a:prstGeom prst="rect">
            <a:avLst/>
          </a:prstGeom>
          <a:solidFill>
            <a:srgbClr val="C8C8C8"/>
          </a:solidFill>
          <a:ln/>
        </p:spPr>
      </p:sp>
      <p:sp>
        <p:nvSpPr>
          <p:cNvPr id="60" name="Shape 57"/>
          <p:cNvSpPr/>
          <p:nvPr/>
        </p:nvSpPr>
        <p:spPr>
          <a:xfrm>
            <a:off x="566928" y="6620256"/>
            <a:ext cx="32004" cy="566928"/>
          </a:xfrm>
          <a:prstGeom prst="rect">
            <a:avLst/>
          </a:prstGeom>
          <a:solidFill>
            <a:srgbClr val="B3A650"/>
          </a:solidFill>
          <a:ln/>
        </p:spPr>
      </p:sp>
      <p:sp>
        <p:nvSpPr>
          <p:cNvPr id="61" name="Text 58"/>
          <p:cNvSpPr/>
          <p:nvPr/>
        </p:nvSpPr>
        <p:spPr>
          <a:xfrm>
            <a:off x="713232" y="6620256"/>
            <a:ext cx="5330952" cy="182880"/>
          </a:xfrm>
          <a:prstGeom prst="rect">
            <a:avLst/>
          </a:prstGeom>
          <a:noFill/>
          <a:ln/>
        </p:spPr>
        <p:txBody>
          <a:bodyPr wrap="square" lIns="0" tIns="0" rIns="0" bIns="0" rtlCol="0" anchor="ctr"/>
          <a:lstStyle/>
          <a:p>
            <a:pPr algn="l" indent="0" marL="0">
              <a:buNone/>
            </a:pPr>
            <a:r>
              <a:rPr lang="en-US" sz="920" b="1" dirty="0">
                <a:solidFill>
                  <a:srgbClr val="1A1A1A"/>
                </a:solidFill>
                <a:latin typeface="Arial" pitchFamily="34" charset="0"/>
                <a:ea typeface="Arial" pitchFamily="34" charset="-122"/>
                <a:cs typeface="Arial" pitchFamily="34" charset="-120"/>
              </a:rPr>
              <a:t>Cost elements carrying no budget</a:t>
            </a:r>
            <a:endParaRPr lang="en-US" sz="920" dirty="0"/>
          </a:p>
        </p:txBody>
      </p:sp>
      <p:sp>
        <p:nvSpPr>
          <p:cNvPr id="62" name="Text 59"/>
          <p:cNvSpPr/>
          <p:nvPr/>
        </p:nvSpPr>
        <p:spPr>
          <a:xfrm>
            <a:off x="5989320" y="6620256"/>
            <a:ext cx="1005840" cy="182880"/>
          </a:xfrm>
          <a:prstGeom prst="rect">
            <a:avLst/>
          </a:prstGeom>
          <a:noFill/>
          <a:ln/>
        </p:spPr>
        <p:txBody>
          <a:bodyPr wrap="square" lIns="0" tIns="0" rIns="0" bIns="0" rtlCol="0" anchor="ctr"/>
          <a:lstStyle/>
          <a:p>
            <a:pPr algn="r" indent="0" marL="0">
              <a:buNone/>
            </a:pPr>
            <a:r>
              <a:rPr lang="en-US" sz="960" b="1" dirty="0">
                <a:solidFill>
                  <a:srgbClr val="1A1A1A"/>
                </a:solidFill>
                <a:latin typeface="Arial" pitchFamily="34" charset="0"/>
                <a:ea typeface="Arial" pitchFamily="34" charset="-122"/>
                <a:cs typeface="Arial" pitchFamily="34" charset="-120"/>
              </a:rPr>
              <a:t>$6.1k</a:t>
            </a:r>
            <a:endParaRPr lang="en-US" sz="960" dirty="0"/>
          </a:p>
        </p:txBody>
      </p:sp>
      <p:sp>
        <p:nvSpPr>
          <p:cNvPr id="63" name="Text 60"/>
          <p:cNvSpPr/>
          <p:nvPr/>
        </p:nvSpPr>
        <p:spPr>
          <a:xfrm>
            <a:off x="713232" y="6812280"/>
            <a:ext cx="6153912" cy="384048"/>
          </a:xfrm>
          <a:prstGeom prst="rect">
            <a:avLst/>
          </a:prstGeom>
          <a:noFill/>
          <a:ln/>
        </p:spPr>
        <p:txBody>
          <a:bodyPr wrap="square" lIns="0" tIns="0" rIns="0" bIns="0" rtlCol="0" anchor="t"/>
          <a:lstStyle/>
          <a:p>
            <a:pPr algn="l" indent="0" marL="0">
              <a:lnSpc>
                <a:spcPct val="124000"/>
              </a:lnSpc>
              <a:buNone/>
            </a:pPr>
            <a:r>
              <a:rPr lang="en-US" sz="840" dirty="0">
                <a:solidFill>
                  <a:srgbClr val="1A1A1A"/>
                </a:solidFill>
                <a:latin typeface="Arial" pitchFamily="34" charset="0"/>
                <a:ea typeface="Arial" pitchFamily="34" charset="-122"/>
                <a:cs typeface="Arial" pitchFamily="34" charset="-120"/>
              </a:rPr>
              <a:t>Civilian overtime and sundry expenses were incurred against lines that hold nil for the year. This is a coding or budget-line question rather than a phasing one, and is to be resolved with the Financial Adviser.</a:t>
            </a:r>
            <a:endParaRPr lang="en-US" sz="840" dirty="0"/>
          </a:p>
        </p:txBody>
      </p:sp>
      <p:sp>
        <p:nvSpPr>
          <p:cNvPr id="64" name="Shape 61"/>
          <p:cNvSpPr/>
          <p:nvPr/>
        </p:nvSpPr>
        <p:spPr>
          <a:xfrm>
            <a:off x="566928" y="7278624"/>
            <a:ext cx="32004" cy="402336"/>
          </a:xfrm>
          <a:prstGeom prst="rect">
            <a:avLst/>
          </a:prstGeom>
          <a:solidFill>
            <a:srgbClr val="B3A650"/>
          </a:solidFill>
          <a:ln/>
        </p:spPr>
      </p:sp>
      <p:sp>
        <p:nvSpPr>
          <p:cNvPr id="65" name="Text 62"/>
          <p:cNvSpPr/>
          <p:nvPr/>
        </p:nvSpPr>
        <p:spPr>
          <a:xfrm>
            <a:off x="713232" y="7278624"/>
            <a:ext cx="5330952" cy="182880"/>
          </a:xfrm>
          <a:prstGeom prst="rect">
            <a:avLst/>
          </a:prstGeom>
          <a:noFill/>
          <a:ln/>
        </p:spPr>
        <p:txBody>
          <a:bodyPr wrap="square" lIns="0" tIns="0" rIns="0" bIns="0" rtlCol="0" anchor="ctr"/>
          <a:lstStyle/>
          <a:p>
            <a:pPr algn="l" indent="0" marL="0">
              <a:buNone/>
            </a:pPr>
            <a:r>
              <a:rPr lang="en-US" sz="920" b="1" dirty="0">
                <a:solidFill>
                  <a:srgbClr val="1A1A1A"/>
                </a:solidFill>
                <a:latin typeface="Arial" pitchFamily="34" charset="0"/>
                <a:ea typeface="Arial" pitchFamily="34" charset="-122"/>
                <a:cs typeface="Arial" pitchFamily="34" charset="-120"/>
              </a:rPr>
              <a:t>Civilian allowance run rate</a:t>
            </a:r>
            <a:endParaRPr lang="en-US" sz="920" dirty="0"/>
          </a:p>
        </p:txBody>
      </p:sp>
      <p:sp>
        <p:nvSpPr>
          <p:cNvPr id="66" name="Text 63"/>
          <p:cNvSpPr/>
          <p:nvPr/>
        </p:nvSpPr>
        <p:spPr>
          <a:xfrm>
            <a:off x="5989320" y="7278624"/>
            <a:ext cx="1005840" cy="182880"/>
          </a:xfrm>
          <a:prstGeom prst="rect">
            <a:avLst/>
          </a:prstGeom>
          <a:noFill/>
          <a:ln/>
        </p:spPr>
        <p:txBody>
          <a:bodyPr wrap="square" lIns="0" tIns="0" rIns="0" bIns="0" rtlCol="0" anchor="ctr"/>
          <a:lstStyle/>
          <a:p>
            <a:pPr algn="r" indent="0" marL="0">
              <a:buNone/>
            </a:pPr>
            <a:r>
              <a:rPr lang="en-US" sz="960" b="1" dirty="0">
                <a:solidFill>
                  <a:srgbClr val="1A1A1A"/>
                </a:solidFill>
                <a:latin typeface="Arial" pitchFamily="34" charset="0"/>
                <a:ea typeface="Arial" pitchFamily="34" charset="-122"/>
                <a:cs typeface="Arial" pitchFamily="34" charset="-120"/>
              </a:rPr>
              <a:t>53%</a:t>
            </a:r>
            <a:endParaRPr lang="en-US" sz="960" dirty="0"/>
          </a:p>
        </p:txBody>
      </p:sp>
      <p:sp>
        <p:nvSpPr>
          <p:cNvPr id="67" name="Text 64"/>
          <p:cNvSpPr/>
          <p:nvPr/>
        </p:nvSpPr>
        <p:spPr>
          <a:xfrm>
            <a:off x="713232" y="7470648"/>
            <a:ext cx="6153912" cy="384048"/>
          </a:xfrm>
          <a:prstGeom prst="rect">
            <a:avLst/>
          </a:prstGeom>
          <a:noFill/>
          <a:ln/>
        </p:spPr>
        <p:txBody>
          <a:bodyPr wrap="square" lIns="0" tIns="0" rIns="0" bIns="0" rtlCol="0" anchor="t"/>
          <a:lstStyle/>
          <a:p>
            <a:pPr algn="l" indent="0" marL="0">
              <a:lnSpc>
                <a:spcPct val="124000"/>
              </a:lnSpc>
              <a:buNone/>
            </a:pPr>
            <a:r>
              <a:rPr lang="en-US" sz="840" dirty="0">
                <a:solidFill>
                  <a:srgbClr val="1A1A1A"/>
                </a:solidFill>
                <a:latin typeface="Arial" pitchFamily="34" charset="0"/>
                <a:ea typeface="Arial" pitchFamily="34" charset="-122"/>
                <a:cs typeface="Arial" pitchFamily="34" charset="-120"/>
              </a:rPr>
              <a:t>Just over half the $5.3k annual line was drawn in month 1. The rate is to be confirmed before the position compounds.</a:t>
            </a:r>
            <a:endParaRPr lang="en-US" sz="840" dirty="0"/>
          </a:p>
        </p:txBody>
      </p:sp>
      <p:sp>
        <p:nvSpPr>
          <p:cNvPr id="68" name="Text 65"/>
          <p:cNvSpPr/>
          <p:nvPr/>
        </p:nvSpPr>
        <p:spPr>
          <a:xfrm>
            <a:off x="566928" y="7827264"/>
            <a:ext cx="6428232" cy="164592"/>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OUTLOOK</a:t>
            </a:r>
            <a:endParaRPr lang="en-US" sz="740" dirty="0"/>
          </a:p>
        </p:txBody>
      </p:sp>
      <p:sp>
        <p:nvSpPr>
          <p:cNvPr id="69" name="Shape 66"/>
          <p:cNvSpPr/>
          <p:nvPr/>
        </p:nvSpPr>
        <p:spPr>
          <a:xfrm>
            <a:off x="566928" y="8001000"/>
            <a:ext cx="6428232" cy="7315"/>
          </a:xfrm>
          <a:prstGeom prst="rect">
            <a:avLst/>
          </a:prstGeom>
          <a:solidFill>
            <a:srgbClr val="C8C8C8"/>
          </a:solidFill>
          <a:ln/>
        </p:spPr>
      </p:sp>
      <p:sp>
        <p:nvSpPr>
          <p:cNvPr id="70" name="Text 67"/>
          <p:cNvSpPr/>
          <p:nvPr/>
        </p:nvSpPr>
        <p:spPr>
          <a:xfrm>
            <a:off x="566928" y="8138160"/>
            <a:ext cx="6428232" cy="512064"/>
          </a:xfrm>
          <a:prstGeom prst="rect">
            <a:avLst/>
          </a:prstGeom>
          <a:noFill/>
          <a:ln/>
        </p:spPr>
        <p:txBody>
          <a:bodyPr wrap="square" lIns="0" tIns="0" rIns="0" bIns="0" rtlCol="0" anchor="t"/>
          <a:lstStyle/>
          <a:p>
            <a:pPr algn="l" indent="0" marL="0">
              <a:lnSpc>
                <a:spcPct val="124000"/>
              </a:lnSpc>
              <a:buNone/>
            </a:pPr>
            <a:r>
              <a:rPr lang="en-US" sz="900" dirty="0">
                <a:solidFill>
                  <a:srgbClr val="1A1A1A"/>
                </a:solidFill>
                <a:latin typeface="Arial" pitchFamily="34" charset="0"/>
                <a:ea typeface="Arial" pitchFamily="34" charset="-122"/>
                <a:cs typeface="Arial" pitchFamily="34" charset="-120"/>
              </a:rPr>
              <a:t>At the completion of Month 1 there is no clear indication of underlying FY budget pressure. The July variance will be monitored through August, with the combined July and August position providing a more meaningful assessment of expenditure against the programmed delivery profile.</a:t>
            </a:r>
            <a:endParaRPr lang="en-US" sz="900" dirty="0"/>
          </a:p>
        </p:txBody>
      </p:sp>
      <p:sp>
        <p:nvSpPr>
          <p:cNvPr id="71" name="Text 68"/>
          <p:cNvSpPr/>
          <p:nvPr/>
        </p:nvSpPr>
        <p:spPr>
          <a:xfrm>
            <a:off x="566928" y="8723376"/>
            <a:ext cx="6428232" cy="164592"/>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COMMAND ASSESSMENT</a:t>
            </a:r>
            <a:endParaRPr lang="en-US" sz="740" dirty="0"/>
          </a:p>
        </p:txBody>
      </p:sp>
      <p:sp>
        <p:nvSpPr>
          <p:cNvPr id="72" name="Shape 69"/>
          <p:cNvSpPr/>
          <p:nvPr/>
        </p:nvSpPr>
        <p:spPr>
          <a:xfrm>
            <a:off x="566928" y="8897112"/>
            <a:ext cx="6428232" cy="7315"/>
          </a:xfrm>
          <a:prstGeom prst="rect">
            <a:avLst/>
          </a:prstGeom>
          <a:solidFill>
            <a:srgbClr val="C8C8C8"/>
          </a:solidFill>
          <a:ln/>
        </p:spPr>
      </p:sp>
      <p:sp>
        <p:nvSpPr>
          <p:cNvPr id="73" name="Shape 70"/>
          <p:cNvSpPr/>
          <p:nvPr/>
        </p:nvSpPr>
        <p:spPr>
          <a:xfrm>
            <a:off x="566928" y="9034272"/>
            <a:ext cx="6428232" cy="877824"/>
          </a:xfrm>
          <a:prstGeom prst="rect">
            <a:avLst/>
          </a:prstGeom>
          <a:solidFill>
            <a:srgbClr val="1A1A1A"/>
          </a:solidFill>
          <a:ln/>
        </p:spPr>
      </p:sp>
      <p:sp>
        <p:nvSpPr>
          <p:cNvPr id="74" name="Shape 71"/>
          <p:cNvSpPr/>
          <p:nvPr/>
        </p:nvSpPr>
        <p:spPr>
          <a:xfrm>
            <a:off x="566928" y="9034272"/>
            <a:ext cx="45720" cy="877824"/>
          </a:xfrm>
          <a:prstGeom prst="rect">
            <a:avLst/>
          </a:prstGeom>
          <a:solidFill>
            <a:srgbClr val="B3A650"/>
          </a:solidFill>
          <a:ln/>
        </p:spPr>
      </p:sp>
      <p:sp>
        <p:nvSpPr>
          <p:cNvPr id="75" name="Text 72"/>
          <p:cNvSpPr/>
          <p:nvPr/>
        </p:nvSpPr>
        <p:spPr>
          <a:xfrm>
            <a:off x="822960" y="9162288"/>
            <a:ext cx="5916168" cy="640080"/>
          </a:xfrm>
          <a:prstGeom prst="rect">
            <a:avLst/>
          </a:prstGeom>
          <a:noFill/>
          <a:ln/>
        </p:spPr>
        <p:txBody>
          <a:bodyPr wrap="square" lIns="0" tIns="0" rIns="0" bIns="0" rtlCol="0" anchor="t"/>
          <a:lstStyle/>
          <a:p>
            <a:pPr algn="l" indent="0" marL="0">
              <a:lnSpc>
                <a:spcPct val="124000"/>
              </a:lnSpc>
              <a:buNone/>
            </a:pPr>
            <a:r>
              <a:rPr lang="en-US" sz="920" dirty="0">
                <a:solidFill>
                  <a:srgbClr val="FFFFFF"/>
                </a:solidFill>
                <a:latin typeface="Arial" pitchFamily="34" charset="0"/>
                <a:ea typeface="Arial" pitchFamily="34" charset="-122"/>
                <a:cs typeface="Arial" pitchFamily="34" charset="-120"/>
              </a:rPr>
              <a:t>FY26/27 budget remains on track. July expenditure is $17.5k ahead of the monthly profile; this is assessed predominantly as front-loaded expenditure associated with preparation for the August course programme rather than a structural overspend. Current expenditure represents approximately 5 per cent of the annual budget, with no immediate corrective action required beyond continued monitoring.</a:t>
            </a:r>
            <a:endParaRPr lang="en-US" sz="920" dirty="0"/>
          </a:p>
        </p:txBody>
      </p:sp>
      <p:sp>
        <p:nvSpPr>
          <p:cNvPr id="76" name="Shape 73"/>
          <p:cNvSpPr/>
          <p:nvPr/>
        </p:nvSpPr>
        <p:spPr>
          <a:xfrm>
            <a:off x="566928" y="10131552"/>
            <a:ext cx="6428232" cy="7315"/>
          </a:xfrm>
          <a:prstGeom prst="rect">
            <a:avLst/>
          </a:prstGeom>
          <a:solidFill>
            <a:srgbClr val="C8C8C8"/>
          </a:solidFill>
          <a:ln/>
        </p:spPr>
      </p:sp>
      <p:sp>
        <p:nvSpPr>
          <p:cNvPr id="77" name="Text 74"/>
          <p:cNvSpPr/>
          <p:nvPr/>
        </p:nvSpPr>
        <p:spPr>
          <a:xfrm>
            <a:off x="566928" y="10204704"/>
            <a:ext cx="41148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LEADERSHIP CENTRE   ·   COST CENTRE 43311</a:t>
            </a:r>
            <a:endParaRPr lang="en-US" sz="600" dirty="0"/>
          </a:p>
        </p:txBody>
      </p:sp>
      <p:sp>
        <p:nvSpPr>
          <p:cNvPr id="78" name="Text 75"/>
          <p:cNvSpPr/>
          <p:nvPr/>
        </p:nvSpPr>
        <p:spPr>
          <a:xfrm>
            <a:off x="3337560" y="10204704"/>
            <a:ext cx="3657600" cy="146304"/>
          </a:xfrm>
          <a:prstGeom prst="rect">
            <a:avLst/>
          </a:prstGeom>
          <a:noFill/>
          <a:ln/>
        </p:spPr>
        <p:txBody>
          <a:bodyPr wrap="square" lIns="0" tIns="0" rIns="0" bIns="0" rtlCol="0" anchor="ctr"/>
          <a:lstStyle/>
          <a:p>
            <a:pPr algn="r" indent="0" marL="0">
              <a:buNone/>
            </a:pPr>
            <a:r>
              <a:rPr lang="en-US" sz="600" spc="60" kern="0" dirty="0">
                <a:solidFill>
                  <a:srgbClr val="6E6E6E"/>
                </a:solidFill>
                <a:latin typeface="Arial" pitchFamily="34" charset="0"/>
                <a:ea typeface="Arial" pitchFamily="34" charset="-122"/>
                <a:cs typeface="Arial" pitchFamily="34" charset="-120"/>
              </a:rPr>
              <a:t>SOURCE: SAP FINANCIAL MANAGEMENT REPORT, JULY 26</a:t>
            </a:r>
            <a:endParaRPr lang="en-US" sz="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NZ Army Leadership Centre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NZALC FY26/27 Month 1 Financial Position</dc:title>
  <dc:subject>Month 1 financial position for COMDT ACS</dc:subject>
  <dc:creator>PptxGenJS</dc:creator>
  <cp:lastModifiedBy>PptxGenJS</cp:lastModifiedBy>
  <cp:revision>1</cp:revision>
  <dcterms:created xsi:type="dcterms:W3CDTF">2026-08-09T22:58:34Z</dcterms:created>
  <dcterms:modified xsi:type="dcterms:W3CDTF">2026-08-09T22:58:34Z</dcterms:modified>
</cp:coreProperties>
</file>