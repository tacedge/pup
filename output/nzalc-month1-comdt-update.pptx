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nz-ar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65760"/>
            <a:ext cx="1371600" cy="31315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51960" y="365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251960" y="5486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COMDT ACS</a:t>
            </a:r>
            <a:endParaRPr lang="en-US" sz="760" dirty="0"/>
          </a:p>
        </p:txBody>
      </p:sp>
      <p:sp>
        <p:nvSpPr>
          <p:cNvPr id="5" name="Text 2"/>
          <p:cNvSpPr/>
          <p:nvPr/>
        </p:nvSpPr>
        <p:spPr>
          <a:xfrm>
            <a:off x="566928" y="859536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FY26/27 Month 1 Financial Position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66928" y="1188720"/>
            <a:ext cx="4873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period July 2026   ·   Cost centre 43311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577840" y="896112"/>
            <a:ext cx="1417320" cy="420624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8" name="Text 5"/>
          <p:cNvSpPr/>
          <p:nvPr/>
        </p:nvSpPr>
        <p:spPr>
          <a:xfrm>
            <a:off x="5577840" y="932688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600" dirty="0"/>
          </a:p>
        </p:txBody>
      </p:sp>
      <p:sp>
        <p:nvSpPr>
          <p:cNvPr id="9" name="Text 6"/>
          <p:cNvSpPr/>
          <p:nvPr/>
        </p:nvSpPr>
        <p:spPr>
          <a:xfrm>
            <a:off x="5577840" y="1069848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GREEN–AMBER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1444752"/>
            <a:ext cx="6428232" cy="16459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1828800"/>
            <a:ext cx="1511046" cy="1133856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12" name="Shape 9"/>
          <p:cNvSpPr/>
          <p:nvPr/>
        </p:nvSpPr>
        <p:spPr>
          <a:xfrm>
            <a:off x="566928" y="1828800"/>
            <a:ext cx="1511046" cy="274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1956816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 BUDGET</a:t>
            </a:r>
            <a:endParaRPr lang="en-US" sz="640" dirty="0"/>
          </a:p>
        </p:txBody>
      </p:sp>
      <p:sp>
        <p:nvSpPr>
          <p:cNvPr id="14" name="Text 11"/>
          <p:cNvSpPr/>
          <p:nvPr/>
        </p:nvSpPr>
        <p:spPr>
          <a:xfrm>
            <a:off x="704088" y="2176272"/>
            <a:ext cx="12367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$811.6k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4088" y="2578608"/>
            <a:ext cx="1236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full-year plan, includes $50k Winsborough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2205990" y="1828800"/>
            <a:ext cx="1511046" cy="1133856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17" name="Shape 14"/>
          <p:cNvSpPr/>
          <p:nvPr/>
        </p:nvSpPr>
        <p:spPr>
          <a:xfrm>
            <a:off x="2205990" y="1828800"/>
            <a:ext cx="1511046" cy="274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5"/>
          <p:cNvSpPr/>
          <p:nvPr/>
        </p:nvSpPr>
        <p:spPr>
          <a:xfrm>
            <a:off x="2343150" y="1956816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ACTUAL</a:t>
            </a:r>
            <a:endParaRPr lang="en-US" sz="640" dirty="0"/>
          </a:p>
        </p:txBody>
      </p:sp>
      <p:sp>
        <p:nvSpPr>
          <p:cNvPr id="19" name="Text 16"/>
          <p:cNvSpPr/>
          <p:nvPr/>
        </p:nvSpPr>
        <p:spPr>
          <a:xfrm>
            <a:off x="2343150" y="2176272"/>
            <a:ext cx="12367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$40.5k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343150" y="2578608"/>
            <a:ext cx="1236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$23.0k profile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3845052" y="1828800"/>
            <a:ext cx="1511046" cy="1133856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22" name="Shape 19"/>
          <p:cNvSpPr/>
          <p:nvPr/>
        </p:nvSpPr>
        <p:spPr>
          <a:xfrm>
            <a:off x="3845052" y="1828800"/>
            <a:ext cx="1511046" cy="274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20"/>
          <p:cNvSpPr/>
          <p:nvPr/>
        </p:nvSpPr>
        <p:spPr>
          <a:xfrm>
            <a:off x="3982212" y="1956816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CONSUMED</a:t>
            </a:r>
            <a:endParaRPr lang="en-US" sz="640" dirty="0"/>
          </a:p>
        </p:txBody>
      </p:sp>
      <p:sp>
        <p:nvSpPr>
          <p:cNvPr id="24" name="Text 21"/>
          <p:cNvSpPr/>
          <p:nvPr/>
        </p:nvSpPr>
        <p:spPr>
          <a:xfrm>
            <a:off x="3982212" y="2176272"/>
            <a:ext cx="12367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3982212" y="2578608"/>
            <a:ext cx="1236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annual plan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5484114" y="1828800"/>
            <a:ext cx="1511046" cy="1133856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27" name="Shape 24"/>
          <p:cNvSpPr/>
          <p:nvPr/>
        </p:nvSpPr>
        <p:spPr>
          <a:xfrm>
            <a:off x="5484114" y="1828800"/>
            <a:ext cx="1511046" cy="27432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28" name="Text 25"/>
          <p:cNvSpPr/>
          <p:nvPr/>
        </p:nvSpPr>
        <p:spPr>
          <a:xfrm>
            <a:off x="5621274" y="1956816"/>
            <a:ext cx="123672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VARIANCE</a:t>
            </a:r>
            <a:endParaRPr lang="en-US" sz="640" dirty="0"/>
          </a:p>
        </p:txBody>
      </p:sp>
      <p:sp>
        <p:nvSpPr>
          <p:cNvPr id="29" name="Text 26"/>
          <p:cNvSpPr/>
          <p:nvPr/>
        </p:nvSpPr>
        <p:spPr>
          <a:xfrm>
            <a:off x="5621274" y="2176272"/>
            <a:ext cx="12367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$17.5k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5621274" y="2578608"/>
            <a:ext cx="1236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ahead of profile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566928" y="3438144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2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AT 31 JULY 2026</a:t>
            </a:r>
            <a:endParaRPr lang="en-US" sz="760" dirty="0"/>
          </a:p>
        </p:txBody>
      </p:sp>
      <p:sp>
        <p:nvSpPr>
          <p:cNvPr id="32" name="Shape 29"/>
          <p:cNvSpPr/>
          <p:nvPr/>
        </p:nvSpPr>
        <p:spPr>
          <a:xfrm>
            <a:off x="566928" y="3611880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33" name="Text 30"/>
          <p:cNvSpPr/>
          <p:nvPr/>
        </p:nvSpPr>
        <p:spPr>
          <a:xfrm>
            <a:off x="658368" y="376732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60" dirty="0"/>
          </a:p>
        </p:txBody>
      </p:sp>
      <p:sp>
        <p:nvSpPr>
          <p:cNvPr id="34" name="Text 31"/>
          <p:cNvSpPr/>
          <p:nvPr/>
        </p:nvSpPr>
        <p:spPr>
          <a:xfrm>
            <a:off x="3310128" y="3767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Budget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4544568" y="3767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Actual</a:t>
            </a:r>
            <a:endParaRPr lang="en-US" sz="760" dirty="0"/>
          </a:p>
        </p:txBody>
      </p:sp>
      <p:sp>
        <p:nvSpPr>
          <p:cNvPr id="36" name="Text 33"/>
          <p:cNvSpPr/>
          <p:nvPr/>
        </p:nvSpPr>
        <p:spPr>
          <a:xfrm>
            <a:off x="5779008" y="3767328"/>
            <a:ext cx="1124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spc="8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</a:t>
            </a:r>
            <a:endParaRPr lang="en-US" sz="760" dirty="0"/>
          </a:p>
        </p:txBody>
      </p:sp>
      <p:sp>
        <p:nvSpPr>
          <p:cNvPr id="37" name="Shape 34"/>
          <p:cNvSpPr/>
          <p:nvPr/>
        </p:nvSpPr>
        <p:spPr>
          <a:xfrm>
            <a:off x="566928" y="4169664"/>
            <a:ext cx="642823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/>
          <p:nvPr/>
        </p:nvSpPr>
        <p:spPr>
          <a:xfrm>
            <a:off x="658368" y="420624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Personnel</a:t>
            </a:r>
            <a:endParaRPr lang="en-US" sz="980" dirty="0"/>
          </a:p>
        </p:txBody>
      </p:sp>
      <p:sp>
        <p:nvSpPr>
          <p:cNvPr id="39" name="Text 36"/>
          <p:cNvSpPr/>
          <p:nvPr/>
        </p:nvSpPr>
        <p:spPr>
          <a:xfrm>
            <a:off x="3310128" y="4206240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980" dirty="0"/>
          </a:p>
        </p:txBody>
      </p:sp>
      <p:sp>
        <p:nvSpPr>
          <p:cNvPr id="40" name="Text 37"/>
          <p:cNvSpPr/>
          <p:nvPr/>
        </p:nvSpPr>
        <p:spPr>
          <a:xfrm>
            <a:off x="4544568" y="4206240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$6,031</a:t>
            </a:r>
            <a:endParaRPr lang="en-US" sz="980" dirty="0"/>
          </a:p>
        </p:txBody>
      </p:sp>
      <p:sp>
        <p:nvSpPr>
          <p:cNvPr id="41" name="Text 38"/>
          <p:cNvSpPr/>
          <p:nvPr/>
        </p:nvSpPr>
        <p:spPr>
          <a:xfrm>
            <a:off x="5779008" y="4206240"/>
            <a:ext cx="1124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($5,731)</a:t>
            </a:r>
            <a:endParaRPr lang="en-US" sz="980" dirty="0"/>
          </a:p>
        </p:txBody>
      </p:sp>
      <p:sp>
        <p:nvSpPr>
          <p:cNvPr id="42" name="Shape 39"/>
          <p:cNvSpPr/>
          <p:nvPr/>
        </p:nvSpPr>
        <p:spPr>
          <a:xfrm>
            <a:off x="566928" y="4608576"/>
            <a:ext cx="6428232" cy="5486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43" name="Text 40"/>
          <p:cNvSpPr/>
          <p:nvPr/>
        </p:nvSpPr>
        <p:spPr>
          <a:xfrm>
            <a:off x="658368" y="464515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</a:t>
            </a:r>
            <a:endParaRPr lang="en-US" sz="980" dirty="0"/>
          </a:p>
        </p:txBody>
      </p:sp>
      <p:sp>
        <p:nvSpPr>
          <p:cNvPr id="44" name="Text 41"/>
          <p:cNvSpPr/>
          <p:nvPr/>
        </p:nvSpPr>
        <p:spPr>
          <a:xfrm>
            <a:off x="3310128" y="464515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$22,715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4544568" y="464515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$34,504</a:t>
            </a:r>
            <a:endParaRPr lang="en-US" sz="980" dirty="0"/>
          </a:p>
        </p:txBody>
      </p:sp>
      <p:sp>
        <p:nvSpPr>
          <p:cNvPr id="46" name="Text 43"/>
          <p:cNvSpPr/>
          <p:nvPr/>
        </p:nvSpPr>
        <p:spPr>
          <a:xfrm>
            <a:off x="5779008" y="4645152"/>
            <a:ext cx="1124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($11,789)</a:t>
            </a:r>
            <a:endParaRPr lang="en-US" sz="980" dirty="0"/>
          </a:p>
        </p:txBody>
      </p:sp>
      <p:sp>
        <p:nvSpPr>
          <p:cNvPr id="47" name="Shape 44"/>
          <p:cNvSpPr/>
          <p:nvPr/>
        </p:nvSpPr>
        <p:spPr>
          <a:xfrm>
            <a:off x="566928" y="5047488"/>
            <a:ext cx="6428232" cy="5486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48" name="Shape 45"/>
          <p:cNvSpPr/>
          <p:nvPr/>
        </p:nvSpPr>
        <p:spPr>
          <a:xfrm>
            <a:off x="566928" y="5084064"/>
            <a:ext cx="6428232" cy="402336"/>
          </a:xfrm>
          <a:prstGeom prst="rect">
            <a:avLst/>
          </a:prstGeom>
          <a:solidFill>
            <a:srgbClr val="F5F5F3"/>
          </a:solidFill>
          <a:ln/>
        </p:spPr>
      </p:sp>
      <p:sp>
        <p:nvSpPr>
          <p:cNvPr id="49" name="Text 46"/>
          <p:cNvSpPr/>
          <p:nvPr/>
        </p:nvSpPr>
        <p:spPr>
          <a:xfrm>
            <a:off x="658368" y="508406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980" dirty="0"/>
          </a:p>
        </p:txBody>
      </p:sp>
      <p:sp>
        <p:nvSpPr>
          <p:cNvPr id="50" name="Text 47"/>
          <p:cNvSpPr/>
          <p:nvPr/>
        </p:nvSpPr>
        <p:spPr>
          <a:xfrm>
            <a:off x="3310128" y="5084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$23,015</a:t>
            </a:r>
            <a:endParaRPr lang="en-US" sz="980" dirty="0"/>
          </a:p>
        </p:txBody>
      </p:sp>
      <p:sp>
        <p:nvSpPr>
          <p:cNvPr id="51" name="Text 48"/>
          <p:cNvSpPr/>
          <p:nvPr/>
        </p:nvSpPr>
        <p:spPr>
          <a:xfrm>
            <a:off x="4544568" y="5084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$40,535</a:t>
            </a:r>
            <a:endParaRPr lang="en-US" sz="980" dirty="0"/>
          </a:p>
        </p:txBody>
      </p:sp>
      <p:sp>
        <p:nvSpPr>
          <p:cNvPr id="52" name="Text 49"/>
          <p:cNvSpPr/>
          <p:nvPr/>
        </p:nvSpPr>
        <p:spPr>
          <a:xfrm>
            <a:off x="5779008" y="5084064"/>
            <a:ext cx="1124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D311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($17,520)</a:t>
            </a:r>
            <a:endParaRPr lang="en-US" sz="980" dirty="0"/>
          </a:p>
        </p:txBody>
      </p:sp>
      <p:sp>
        <p:nvSpPr>
          <p:cNvPr id="53" name="Shape 50"/>
          <p:cNvSpPr/>
          <p:nvPr/>
        </p:nvSpPr>
        <p:spPr>
          <a:xfrm>
            <a:off x="566928" y="5486400"/>
            <a:ext cx="642823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4" name="Text 51"/>
          <p:cNvSpPr/>
          <p:nvPr/>
        </p:nvSpPr>
        <p:spPr>
          <a:xfrm>
            <a:off x="566928" y="5797296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2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WATCH</a:t>
            </a:r>
            <a:endParaRPr lang="en-US" sz="760" dirty="0"/>
          </a:p>
        </p:txBody>
      </p:sp>
      <p:sp>
        <p:nvSpPr>
          <p:cNvPr id="55" name="Shape 52"/>
          <p:cNvSpPr/>
          <p:nvPr/>
        </p:nvSpPr>
        <p:spPr>
          <a:xfrm>
            <a:off x="566928" y="5971032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6126480"/>
            <a:ext cx="36576" cy="548640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57" name="Text 54"/>
          <p:cNvSpPr/>
          <p:nvPr/>
        </p:nvSpPr>
        <p:spPr>
          <a:xfrm>
            <a:off x="731520" y="6126480"/>
            <a:ext cx="4965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Nil-budget cost lines</a:t>
            </a:r>
            <a:endParaRPr lang="en-US" sz="960" dirty="0"/>
          </a:p>
        </p:txBody>
      </p:sp>
      <p:sp>
        <p:nvSpPr>
          <p:cNvPr id="58" name="Text 55"/>
          <p:cNvSpPr/>
          <p:nvPr/>
        </p:nvSpPr>
        <p:spPr>
          <a:xfrm>
            <a:off x="5623560" y="61264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$6.1k</a:t>
            </a:r>
            <a:endParaRPr lang="en-US" sz="980" dirty="0"/>
          </a:p>
        </p:txBody>
      </p:sp>
      <p:sp>
        <p:nvSpPr>
          <p:cNvPr id="59" name="Text 56"/>
          <p:cNvSpPr/>
          <p:nvPr/>
        </p:nvSpPr>
        <p:spPr>
          <a:xfrm>
            <a:off x="731520" y="6345936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Civilian overtime and sundry expenses require coding and budget-line confirmation with the Financial Adviser.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566928" y="6876288"/>
            <a:ext cx="36576" cy="438912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61" name="Text 58"/>
          <p:cNvSpPr/>
          <p:nvPr/>
        </p:nvSpPr>
        <p:spPr>
          <a:xfrm>
            <a:off x="731520" y="6876288"/>
            <a:ext cx="4965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Civilian allowances</a:t>
            </a:r>
            <a:endParaRPr lang="en-US" sz="960" dirty="0"/>
          </a:p>
        </p:txBody>
      </p:sp>
      <p:sp>
        <p:nvSpPr>
          <p:cNvPr id="62" name="Text 59"/>
          <p:cNvSpPr/>
          <p:nvPr/>
        </p:nvSpPr>
        <p:spPr>
          <a:xfrm>
            <a:off x="5623560" y="68762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consumed</a:t>
            </a:r>
            <a:endParaRPr lang="en-US" sz="980" dirty="0"/>
          </a:p>
        </p:txBody>
      </p:sp>
      <p:sp>
        <p:nvSpPr>
          <p:cNvPr id="63" name="Text 60"/>
          <p:cNvSpPr/>
          <p:nvPr/>
        </p:nvSpPr>
        <p:spPr>
          <a:xfrm>
            <a:off x="731520" y="7095744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rate to be confirmed before Month 2.</a:t>
            </a:r>
            <a:endParaRPr lang="en-US" sz="900" dirty="0"/>
          </a:p>
        </p:txBody>
      </p:sp>
      <p:sp>
        <p:nvSpPr>
          <p:cNvPr id="64" name="Text 61"/>
          <p:cNvSpPr/>
          <p:nvPr/>
        </p:nvSpPr>
        <p:spPr>
          <a:xfrm>
            <a:off x="566928" y="7918704"/>
            <a:ext cx="6428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b="1" spc="12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 COMMAND ASSESSMENT</a:t>
            </a:r>
            <a:endParaRPr lang="en-US" sz="760" dirty="0"/>
          </a:p>
        </p:txBody>
      </p:sp>
      <p:sp>
        <p:nvSpPr>
          <p:cNvPr id="65" name="Shape 62"/>
          <p:cNvSpPr/>
          <p:nvPr/>
        </p:nvSpPr>
        <p:spPr>
          <a:xfrm>
            <a:off x="566928" y="8092440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66" name="Shape 63"/>
          <p:cNvSpPr/>
          <p:nvPr/>
        </p:nvSpPr>
        <p:spPr>
          <a:xfrm>
            <a:off x="566928" y="8247888"/>
            <a:ext cx="6428232" cy="12252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7" name="Shape 64"/>
          <p:cNvSpPr/>
          <p:nvPr/>
        </p:nvSpPr>
        <p:spPr>
          <a:xfrm>
            <a:off x="566928" y="8247888"/>
            <a:ext cx="50292" cy="1225296"/>
          </a:xfrm>
          <a:prstGeom prst="rect">
            <a:avLst/>
          </a:prstGeom>
          <a:solidFill>
            <a:srgbClr val="B3A650"/>
          </a:solidFill>
          <a:ln/>
        </p:spPr>
      </p:sp>
      <p:sp>
        <p:nvSpPr>
          <p:cNvPr id="68" name="Text 65"/>
          <p:cNvSpPr/>
          <p:nvPr/>
        </p:nvSpPr>
        <p:spPr>
          <a:xfrm>
            <a:off x="877824" y="8467344"/>
            <a:ext cx="5806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4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FY26/27 remains on track. July's $17.5k adverse variance is assessed predominantly as front-loaded expenditure supporting the August course programme, rather than an emerging budget pressure. No corrective action is required at this stage beyond monitoring the combined July and August position.</a:t>
            </a:r>
            <a:endParaRPr lang="en-US" sz="1040" dirty="0"/>
          </a:p>
        </p:txBody>
      </p:sp>
      <p:sp>
        <p:nvSpPr>
          <p:cNvPr id="69" name="Shape 66"/>
          <p:cNvSpPr/>
          <p:nvPr/>
        </p:nvSpPr>
        <p:spPr>
          <a:xfrm>
            <a:off x="566928" y="10131552"/>
            <a:ext cx="6428232" cy="7315"/>
          </a:xfrm>
          <a:prstGeom prst="rect">
            <a:avLst/>
          </a:prstGeom>
          <a:solidFill>
            <a:srgbClr val="C8C8C8"/>
          </a:solidFill>
          <a:ln/>
        </p:spPr>
      </p:sp>
      <p:sp>
        <p:nvSpPr>
          <p:cNvPr id="70" name="Text 67"/>
          <p:cNvSpPr/>
          <p:nvPr/>
        </p:nvSpPr>
        <p:spPr>
          <a:xfrm>
            <a:off x="566928" y="1020470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6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NZ ARMY LEADERSHIP CENTRE   ·   COST CENTRE 43311</a:t>
            </a:r>
            <a:endParaRPr lang="en-US" sz="600" dirty="0"/>
          </a:p>
        </p:txBody>
      </p:sp>
      <p:sp>
        <p:nvSpPr>
          <p:cNvPr id="71" name="Text 68"/>
          <p:cNvSpPr/>
          <p:nvPr/>
        </p:nvSpPr>
        <p:spPr>
          <a:xfrm>
            <a:off x="3337560" y="1020470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60" kern="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SAP FINANCIAL MANAGEMENT REPORT, JULY 26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NZ Army Leadership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NZALC FY26/27 Month 1 Financial Position</dc:title>
  <dc:subject>Month 1 financial position for COMDT ACS</dc:subject>
  <dc:creator>PptxGenJS</dc:creator>
  <cp:lastModifiedBy>PptxGenJS</cp:lastModifiedBy>
  <cp:revision>1</cp:revision>
  <dcterms:created xsi:type="dcterms:W3CDTF">2026-08-10T00:49:03Z</dcterms:created>
  <dcterms:modified xsi:type="dcterms:W3CDTF">2026-08-10T00:49:03Z</dcterms:modified>
</cp:coreProperties>
</file>