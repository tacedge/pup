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nz-ar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65760"/>
            <a:ext cx="1371600" cy="3131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51960" y="3657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251960" y="548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COMDT ACS</a:t>
            </a:r>
            <a:endParaRPr lang="en-US" sz="760" dirty="0"/>
          </a:p>
        </p:txBody>
      </p:sp>
      <p:sp>
        <p:nvSpPr>
          <p:cNvPr id="5" name="Text 2"/>
          <p:cNvSpPr/>
          <p:nvPr/>
        </p:nvSpPr>
        <p:spPr>
          <a:xfrm>
            <a:off x="566928" y="859536"/>
            <a:ext cx="4873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FY26/27 Month 1 Financial Position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66928" y="1188720"/>
            <a:ext cx="4873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period July 2026   ·   Cost centre 43311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577840" y="896112"/>
            <a:ext cx="1417320" cy="420624"/>
          </a:xfrm>
          <a:prstGeom prst="rect">
            <a:avLst/>
          </a:prstGeom>
          <a:solidFill>
            <a:srgbClr val="B3A650"/>
          </a:solidFill>
          <a:ln/>
        </p:spPr>
      </p:sp>
      <p:sp>
        <p:nvSpPr>
          <p:cNvPr id="8" name="Text 5"/>
          <p:cNvSpPr/>
          <p:nvPr/>
        </p:nvSpPr>
        <p:spPr>
          <a:xfrm>
            <a:off x="5577840" y="932688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spc="10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5577840" y="1069848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GREEN–AMBER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444752"/>
            <a:ext cx="6428232" cy="16459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8"/>
          <p:cNvSpPr/>
          <p:nvPr/>
        </p:nvSpPr>
        <p:spPr>
          <a:xfrm>
            <a:off x="566928" y="1938528"/>
            <a:ext cx="1511046" cy="12801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" y="1938528"/>
            <a:ext cx="1511046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2084832"/>
            <a:ext cx="12367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BUDGET</a:t>
            </a:r>
            <a:endParaRPr lang="en-US" sz="640" dirty="0"/>
          </a:p>
        </p:txBody>
      </p:sp>
      <p:sp>
        <p:nvSpPr>
          <p:cNvPr id="14" name="Text 11"/>
          <p:cNvSpPr/>
          <p:nvPr/>
        </p:nvSpPr>
        <p:spPr>
          <a:xfrm>
            <a:off x="713232" y="2322576"/>
            <a:ext cx="1218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$811.6k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13232" y="2798064"/>
            <a:ext cx="1218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full-year plan, includes $50k Winsborough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205990" y="1938528"/>
            <a:ext cx="1511046" cy="12801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17" name="Shape 14"/>
          <p:cNvSpPr/>
          <p:nvPr/>
        </p:nvSpPr>
        <p:spPr>
          <a:xfrm>
            <a:off x="2205990" y="1938528"/>
            <a:ext cx="1511046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2352294" y="2084832"/>
            <a:ext cx="12367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ACTUAL</a:t>
            </a:r>
            <a:endParaRPr lang="en-US" sz="640" dirty="0"/>
          </a:p>
        </p:txBody>
      </p:sp>
      <p:sp>
        <p:nvSpPr>
          <p:cNvPr id="19" name="Text 16"/>
          <p:cNvSpPr/>
          <p:nvPr/>
        </p:nvSpPr>
        <p:spPr>
          <a:xfrm>
            <a:off x="2352294" y="2322576"/>
            <a:ext cx="1218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$40.5k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2352294" y="2798064"/>
            <a:ext cx="1218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against $23.0k profile</a:t>
            </a:r>
            <a:endParaRPr lang="en-US" sz="700" dirty="0"/>
          </a:p>
        </p:txBody>
      </p:sp>
      <p:sp>
        <p:nvSpPr>
          <p:cNvPr id="21" name="Shape 18"/>
          <p:cNvSpPr/>
          <p:nvPr/>
        </p:nvSpPr>
        <p:spPr>
          <a:xfrm>
            <a:off x="3845052" y="1938528"/>
            <a:ext cx="1511046" cy="12801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2" name="Shape 19"/>
          <p:cNvSpPr/>
          <p:nvPr/>
        </p:nvSpPr>
        <p:spPr>
          <a:xfrm>
            <a:off x="3845052" y="1938528"/>
            <a:ext cx="1511046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3" name="Text 20"/>
          <p:cNvSpPr/>
          <p:nvPr/>
        </p:nvSpPr>
        <p:spPr>
          <a:xfrm>
            <a:off x="3991356" y="2084832"/>
            <a:ext cx="12367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CONSUMED</a:t>
            </a:r>
            <a:endParaRPr lang="en-US" sz="640" dirty="0"/>
          </a:p>
        </p:txBody>
      </p:sp>
      <p:sp>
        <p:nvSpPr>
          <p:cNvPr id="24" name="Text 21"/>
          <p:cNvSpPr/>
          <p:nvPr/>
        </p:nvSpPr>
        <p:spPr>
          <a:xfrm>
            <a:off x="3991356" y="2322576"/>
            <a:ext cx="1218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991356" y="2798064"/>
            <a:ext cx="1218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annual plan</a:t>
            </a:r>
            <a:endParaRPr lang="en-US" sz="700" dirty="0"/>
          </a:p>
        </p:txBody>
      </p:sp>
      <p:sp>
        <p:nvSpPr>
          <p:cNvPr id="26" name="Shape 23"/>
          <p:cNvSpPr/>
          <p:nvPr/>
        </p:nvSpPr>
        <p:spPr>
          <a:xfrm>
            <a:off x="5484114" y="1938528"/>
            <a:ext cx="1511046" cy="1280160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27" name="Shape 24"/>
          <p:cNvSpPr/>
          <p:nvPr/>
        </p:nvSpPr>
        <p:spPr>
          <a:xfrm>
            <a:off x="5484114" y="1938528"/>
            <a:ext cx="1511046" cy="27432"/>
          </a:xfrm>
          <a:prstGeom prst="rect">
            <a:avLst/>
          </a:prstGeom>
          <a:solidFill>
            <a:srgbClr val="B3A650"/>
          </a:solidFill>
          <a:ln/>
        </p:spPr>
      </p:sp>
      <p:sp>
        <p:nvSpPr>
          <p:cNvPr id="28" name="Text 25"/>
          <p:cNvSpPr/>
          <p:nvPr/>
        </p:nvSpPr>
        <p:spPr>
          <a:xfrm>
            <a:off x="5630418" y="2084832"/>
            <a:ext cx="123672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VARIANCE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5630418" y="2322576"/>
            <a:ext cx="12184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$17.5k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5630418" y="2798064"/>
            <a:ext cx="12184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ahead of profile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66928" y="3931920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 AT 31 JULY 2026</a:t>
            </a:r>
            <a:endParaRPr lang="en-US" sz="760" dirty="0"/>
          </a:p>
        </p:txBody>
      </p:sp>
      <p:sp>
        <p:nvSpPr>
          <p:cNvPr id="32" name="Shape 29"/>
          <p:cNvSpPr/>
          <p:nvPr/>
        </p:nvSpPr>
        <p:spPr>
          <a:xfrm>
            <a:off x="566928" y="4105656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33" name="Text 30"/>
          <p:cNvSpPr/>
          <p:nvPr/>
        </p:nvSpPr>
        <p:spPr>
          <a:xfrm>
            <a:off x="658368" y="426110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3310128" y="426110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Budget</a:t>
            </a:r>
            <a:endParaRPr lang="en-US" sz="780" dirty="0"/>
          </a:p>
        </p:txBody>
      </p:sp>
      <p:sp>
        <p:nvSpPr>
          <p:cNvPr id="35" name="Text 32"/>
          <p:cNvSpPr/>
          <p:nvPr/>
        </p:nvSpPr>
        <p:spPr>
          <a:xfrm>
            <a:off x="4544568" y="426110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Actual</a:t>
            </a:r>
            <a:endParaRPr lang="en-US" sz="780" dirty="0"/>
          </a:p>
        </p:txBody>
      </p:sp>
      <p:sp>
        <p:nvSpPr>
          <p:cNvPr id="36" name="Text 33"/>
          <p:cNvSpPr/>
          <p:nvPr/>
        </p:nvSpPr>
        <p:spPr>
          <a:xfrm>
            <a:off x="5779008" y="4261104"/>
            <a:ext cx="1124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80" b="1" spc="8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Variance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566928" y="4773168"/>
            <a:ext cx="642823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8" name="Text 35"/>
          <p:cNvSpPr/>
          <p:nvPr/>
        </p:nvSpPr>
        <p:spPr>
          <a:xfrm>
            <a:off x="658368" y="480974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Personnel</a:t>
            </a:r>
            <a:endParaRPr lang="en-US" sz="1060" dirty="0"/>
          </a:p>
        </p:txBody>
      </p:sp>
      <p:sp>
        <p:nvSpPr>
          <p:cNvPr id="39" name="Text 36"/>
          <p:cNvSpPr/>
          <p:nvPr/>
        </p:nvSpPr>
        <p:spPr>
          <a:xfrm>
            <a:off x="3310128" y="480974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$300</a:t>
            </a:r>
            <a:endParaRPr lang="en-US" sz="1060" dirty="0"/>
          </a:p>
        </p:txBody>
      </p:sp>
      <p:sp>
        <p:nvSpPr>
          <p:cNvPr id="40" name="Text 37"/>
          <p:cNvSpPr/>
          <p:nvPr/>
        </p:nvSpPr>
        <p:spPr>
          <a:xfrm>
            <a:off x="4544568" y="480974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$6,031</a:t>
            </a:r>
            <a:endParaRPr lang="en-US" sz="1060" dirty="0"/>
          </a:p>
        </p:txBody>
      </p:sp>
      <p:sp>
        <p:nvSpPr>
          <p:cNvPr id="41" name="Text 38"/>
          <p:cNvSpPr/>
          <p:nvPr/>
        </p:nvSpPr>
        <p:spPr>
          <a:xfrm>
            <a:off x="5779008" y="4809744"/>
            <a:ext cx="1124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($5,731)</a:t>
            </a:r>
            <a:endParaRPr lang="en-US" sz="1060" dirty="0"/>
          </a:p>
        </p:txBody>
      </p:sp>
      <p:sp>
        <p:nvSpPr>
          <p:cNvPr id="42" name="Shape 39"/>
          <p:cNvSpPr/>
          <p:nvPr/>
        </p:nvSpPr>
        <p:spPr>
          <a:xfrm>
            <a:off x="566928" y="5321808"/>
            <a:ext cx="6428232" cy="5486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43" name="Text 40"/>
          <p:cNvSpPr/>
          <p:nvPr/>
        </p:nvSpPr>
        <p:spPr>
          <a:xfrm>
            <a:off x="658368" y="535838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</a:t>
            </a:r>
            <a:endParaRPr lang="en-US" sz="1060" dirty="0"/>
          </a:p>
        </p:txBody>
      </p:sp>
      <p:sp>
        <p:nvSpPr>
          <p:cNvPr id="44" name="Text 41"/>
          <p:cNvSpPr/>
          <p:nvPr/>
        </p:nvSpPr>
        <p:spPr>
          <a:xfrm>
            <a:off x="3310128" y="535838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$22,715</a:t>
            </a:r>
            <a:endParaRPr lang="en-US" sz="1060" dirty="0"/>
          </a:p>
        </p:txBody>
      </p:sp>
      <p:sp>
        <p:nvSpPr>
          <p:cNvPr id="45" name="Text 42"/>
          <p:cNvSpPr/>
          <p:nvPr/>
        </p:nvSpPr>
        <p:spPr>
          <a:xfrm>
            <a:off x="4544568" y="535838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$34,504</a:t>
            </a:r>
            <a:endParaRPr lang="en-US" sz="1060" dirty="0"/>
          </a:p>
        </p:txBody>
      </p:sp>
      <p:sp>
        <p:nvSpPr>
          <p:cNvPr id="46" name="Text 43"/>
          <p:cNvSpPr/>
          <p:nvPr/>
        </p:nvSpPr>
        <p:spPr>
          <a:xfrm>
            <a:off x="5779008" y="5358384"/>
            <a:ext cx="1124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($11,789)</a:t>
            </a:r>
            <a:endParaRPr lang="en-US" sz="1060" dirty="0"/>
          </a:p>
        </p:txBody>
      </p:sp>
      <p:sp>
        <p:nvSpPr>
          <p:cNvPr id="47" name="Shape 44"/>
          <p:cNvSpPr/>
          <p:nvPr/>
        </p:nvSpPr>
        <p:spPr>
          <a:xfrm>
            <a:off x="566928" y="5870448"/>
            <a:ext cx="6428232" cy="5486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48" name="Shape 45"/>
          <p:cNvSpPr/>
          <p:nvPr/>
        </p:nvSpPr>
        <p:spPr>
          <a:xfrm>
            <a:off x="566928" y="5907024"/>
            <a:ext cx="6428232" cy="512064"/>
          </a:xfrm>
          <a:prstGeom prst="rect">
            <a:avLst/>
          </a:prstGeom>
          <a:solidFill>
            <a:srgbClr val="F5F5F3"/>
          </a:solidFill>
          <a:ln/>
        </p:spPr>
      </p:sp>
      <p:sp>
        <p:nvSpPr>
          <p:cNvPr id="49" name="Text 46"/>
          <p:cNvSpPr/>
          <p:nvPr/>
        </p:nvSpPr>
        <p:spPr>
          <a:xfrm>
            <a:off x="658368" y="590702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60" dirty="0"/>
          </a:p>
        </p:txBody>
      </p:sp>
      <p:sp>
        <p:nvSpPr>
          <p:cNvPr id="50" name="Text 47"/>
          <p:cNvSpPr/>
          <p:nvPr/>
        </p:nvSpPr>
        <p:spPr>
          <a:xfrm>
            <a:off x="3310128" y="590702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$23,015</a:t>
            </a:r>
            <a:endParaRPr lang="en-US" sz="1060" dirty="0"/>
          </a:p>
        </p:txBody>
      </p:sp>
      <p:sp>
        <p:nvSpPr>
          <p:cNvPr id="51" name="Text 48"/>
          <p:cNvSpPr/>
          <p:nvPr/>
        </p:nvSpPr>
        <p:spPr>
          <a:xfrm>
            <a:off x="4544568" y="5907024"/>
            <a:ext cx="1143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$40,535</a:t>
            </a:r>
            <a:endParaRPr lang="en-US" sz="1060" dirty="0"/>
          </a:p>
        </p:txBody>
      </p:sp>
      <p:sp>
        <p:nvSpPr>
          <p:cNvPr id="52" name="Text 49"/>
          <p:cNvSpPr/>
          <p:nvPr/>
        </p:nvSpPr>
        <p:spPr>
          <a:xfrm>
            <a:off x="5779008" y="5907024"/>
            <a:ext cx="11247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60" b="1" dirty="0">
                <a:solidFill>
                  <a:srgbClr val="D311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($17,520)</a:t>
            </a:r>
            <a:endParaRPr lang="en-US" sz="1060" dirty="0"/>
          </a:p>
        </p:txBody>
      </p:sp>
      <p:sp>
        <p:nvSpPr>
          <p:cNvPr id="53" name="Shape 50"/>
          <p:cNvSpPr/>
          <p:nvPr/>
        </p:nvSpPr>
        <p:spPr>
          <a:xfrm>
            <a:off x="566928" y="6419088"/>
            <a:ext cx="642823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4" name="Text 51"/>
          <p:cNvSpPr/>
          <p:nvPr/>
        </p:nvSpPr>
        <p:spPr>
          <a:xfrm>
            <a:off x="566928" y="7260336"/>
            <a:ext cx="6428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60" b="1" spc="120" kern="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1 COMMAND ASSESSMENT</a:t>
            </a:r>
            <a:endParaRPr lang="en-US" sz="760" dirty="0"/>
          </a:p>
        </p:txBody>
      </p:sp>
      <p:sp>
        <p:nvSpPr>
          <p:cNvPr id="55" name="Shape 52"/>
          <p:cNvSpPr/>
          <p:nvPr/>
        </p:nvSpPr>
        <p:spPr>
          <a:xfrm>
            <a:off x="566928" y="7434072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56" name="Shape 53"/>
          <p:cNvSpPr/>
          <p:nvPr/>
        </p:nvSpPr>
        <p:spPr>
          <a:xfrm>
            <a:off x="566928" y="7589520"/>
            <a:ext cx="6428232" cy="12984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7" name="Shape 54"/>
          <p:cNvSpPr/>
          <p:nvPr/>
        </p:nvSpPr>
        <p:spPr>
          <a:xfrm>
            <a:off x="566928" y="7589520"/>
            <a:ext cx="54864" cy="1298448"/>
          </a:xfrm>
          <a:prstGeom prst="rect">
            <a:avLst/>
          </a:prstGeom>
          <a:solidFill>
            <a:srgbClr val="B3A650"/>
          </a:solidFill>
          <a:ln/>
        </p:spPr>
      </p:sp>
      <p:sp>
        <p:nvSpPr>
          <p:cNvPr id="58" name="Text 55"/>
          <p:cNvSpPr/>
          <p:nvPr/>
        </p:nvSpPr>
        <p:spPr>
          <a:xfrm>
            <a:off x="914400" y="7863840"/>
            <a:ext cx="5733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FY26/27 remains on track. July's $17.5k overspend is attributed to front-loaded expenditure in support of August course delivery, including the Adventure Race, Pacific Response Group training, and ELDA Lead Systems (Alpine Tour).</a:t>
            </a:r>
            <a:endParaRPr lang="en-US" sz="1140" dirty="0"/>
          </a:p>
        </p:txBody>
      </p:sp>
      <p:sp>
        <p:nvSpPr>
          <p:cNvPr id="59" name="Shape 56"/>
          <p:cNvSpPr/>
          <p:nvPr/>
        </p:nvSpPr>
        <p:spPr>
          <a:xfrm>
            <a:off x="566928" y="10131552"/>
            <a:ext cx="6428232" cy="7315"/>
          </a:xfrm>
          <a:prstGeom prst="rect">
            <a:avLst/>
          </a:prstGeom>
          <a:solidFill>
            <a:srgbClr val="C8C8C8"/>
          </a:solidFill>
          <a:ln/>
        </p:spPr>
      </p:sp>
      <p:sp>
        <p:nvSpPr>
          <p:cNvPr id="60" name="Text 57"/>
          <p:cNvSpPr/>
          <p:nvPr/>
        </p:nvSpPr>
        <p:spPr>
          <a:xfrm>
            <a:off x="566928" y="1020470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NZ ARMY LEADERSHIP CENTRE   ·   COST CENTRE 43311</a:t>
            </a:r>
            <a:endParaRPr lang="en-US" sz="600" dirty="0"/>
          </a:p>
        </p:txBody>
      </p:sp>
      <p:sp>
        <p:nvSpPr>
          <p:cNvPr id="61" name="Text 58"/>
          <p:cNvSpPr/>
          <p:nvPr/>
        </p:nvSpPr>
        <p:spPr>
          <a:xfrm>
            <a:off x="3337560" y="10204704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spc="60" kern="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SAP FINANCIAL MANAGEMENT REPORT, JULY 26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NZ Army Leadership Centre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NZALC FY26/27 Month 1 Financial Position</dc:title>
  <dc:subject>Month 1 financial position for COMDT ACS</dc:subject>
  <dc:creator>PptxGenJS</dc:creator>
  <cp:lastModifiedBy>PptxGenJS</cp:lastModifiedBy>
  <cp:revision>1</cp:revision>
  <dcterms:created xsi:type="dcterms:W3CDTF">2026-08-10T01:31:15Z</dcterms:created>
  <dcterms:modified xsi:type="dcterms:W3CDTF">2026-08-10T01:31:15Z</dcterms:modified>
</cp:coreProperties>
</file>